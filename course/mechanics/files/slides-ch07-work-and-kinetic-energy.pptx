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 id="2147483927" r:id="rId2"/>
    <p:sldMasterId id="2147483945" r:id="rId3"/>
  </p:sldMasterIdLst>
  <p:notesMasterIdLst>
    <p:notesMasterId r:id="rId29"/>
  </p:notesMasterIdLst>
  <p:handoutMasterIdLst>
    <p:handoutMasterId r:id="rId30"/>
  </p:handoutMasterIdLst>
  <p:sldIdLst>
    <p:sldId id="436" r:id="rId4"/>
    <p:sldId id="365" r:id="rId5"/>
    <p:sldId id="354" r:id="rId6"/>
    <p:sldId id="307" r:id="rId7"/>
    <p:sldId id="366" r:id="rId8"/>
    <p:sldId id="356" r:id="rId9"/>
    <p:sldId id="317" r:id="rId10"/>
    <p:sldId id="306" r:id="rId11"/>
    <p:sldId id="362" r:id="rId12"/>
    <p:sldId id="308" r:id="rId13"/>
    <p:sldId id="313" r:id="rId14"/>
    <p:sldId id="367" r:id="rId15"/>
    <p:sldId id="282" r:id="rId16"/>
    <p:sldId id="277" r:id="rId17"/>
    <p:sldId id="278" r:id="rId18"/>
    <p:sldId id="368" r:id="rId19"/>
    <p:sldId id="322" r:id="rId20"/>
    <p:sldId id="324" r:id="rId21"/>
    <p:sldId id="325" r:id="rId22"/>
    <p:sldId id="289" r:id="rId23"/>
    <p:sldId id="326" r:id="rId24"/>
    <p:sldId id="292" r:id="rId25"/>
    <p:sldId id="334" r:id="rId26"/>
    <p:sldId id="359" r:id="rId27"/>
    <p:sldId id="435"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4BEA"/>
    <a:srgbClr val="E5D419"/>
    <a:srgbClr val="6CB255"/>
    <a:srgbClr val="212F62"/>
    <a:srgbClr val="72A510"/>
    <a:srgbClr val="A4EC1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A9B1BC-BD8C-B0C9-AE14-7BED70405424}" v="12" dt="2025-10-14T23:03:46.544"/>
    <p1510:client id="{F2CABC3B-0C22-E696-893D-85777DDD38C6}" v="36" dt="2025-10-14T21:46:12.4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06" autoAdjust="0"/>
  </p:normalViewPr>
  <p:slideViewPr>
    <p:cSldViewPr snapToGrid="0" snapToObjects="1">
      <p:cViewPr varScale="1">
        <p:scale>
          <a:sx n="103" d="100"/>
          <a:sy n="103" d="100"/>
        </p:scale>
        <p:origin x="724" y="56"/>
      </p:cViewPr>
      <p:guideLst>
        <p:guide orient="horz" pos="2160"/>
        <p:guide pos="2880"/>
      </p:guideLst>
    </p:cSldViewPr>
  </p:slideViewPr>
  <p:outlineViewPr>
    <p:cViewPr>
      <p:scale>
        <a:sx n="33" d="100"/>
        <a:sy n="33" d="100"/>
      </p:scale>
      <p:origin x="0" y="500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sree Kannampuzha" userId="S::rkannampuzha@collin.edu::94045377-cf84-4a1c-b9ee-8be93f9e6e89" providerId="AD" clId="Web-{F2CABC3B-0C22-E696-893D-85777DDD38C6}"/>
    <pc:docChg chg="modSld">
      <pc:chgData name="Rajasree Kannampuzha" userId="S::rkannampuzha@collin.edu::94045377-cf84-4a1c-b9ee-8be93f9e6e89" providerId="AD" clId="Web-{F2CABC3B-0C22-E696-893D-85777DDD38C6}" dt="2025-10-14T21:46:12.487" v="23" actId="1076"/>
      <pc:docMkLst>
        <pc:docMk/>
      </pc:docMkLst>
      <pc:sldChg chg="modSp">
        <pc:chgData name="Rajasree Kannampuzha" userId="S::rkannampuzha@collin.edu::94045377-cf84-4a1c-b9ee-8be93f9e6e89" providerId="AD" clId="Web-{F2CABC3B-0C22-E696-893D-85777DDD38C6}" dt="2025-10-14T21:46:12.487" v="23" actId="1076"/>
        <pc:sldMkLst>
          <pc:docMk/>
          <pc:sldMk cId="201616528" sldId="436"/>
        </pc:sldMkLst>
        <pc:spChg chg="mod">
          <ac:chgData name="Rajasree Kannampuzha" userId="S::rkannampuzha@collin.edu::94045377-cf84-4a1c-b9ee-8be93f9e6e89" providerId="AD" clId="Web-{F2CABC3B-0C22-E696-893D-85777DDD38C6}" dt="2025-10-14T21:46:12.487" v="23" actId="1076"/>
          <ac:spMkLst>
            <pc:docMk/>
            <pc:sldMk cId="201616528" sldId="436"/>
            <ac:spMk id="4" creationId="{69AF53B8-AEA0-124B-F7E7-DB21550AB102}"/>
          </ac:spMkLst>
        </pc:spChg>
        <pc:spChg chg="mod">
          <ac:chgData name="Rajasree Kannampuzha" userId="S::rkannampuzha@collin.edu::94045377-cf84-4a1c-b9ee-8be93f9e6e89" providerId="AD" clId="Web-{F2CABC3B-0C22-E696-893D-85777DDD38C6}" dt="2025-10-14T21:46:06.892" v="19" actId="20577"/>
          <ac:spMkLst>
            <pc:docMk/>
            <pc:sldMk cId="201616528" sldId="436"/>
            <ac:spMk id="9" creationId="{0A064A47-CEA7-59B0-0459-E9AEF9D147EC}"/>
          </ac:spMkLst>
        </pc:spChg>
      </pc:sldChg>
    </pc:docChg>
  </pc:docChgLst>
  <pc:docChgLst>
    <pc:chgData name="Rajasree Kannampuzha" userId="S::rkannampuzha@collin.edu::94045377-cf84-4a1c-b9ee-8be93f9e6e89" providerId="AD" clId="Web-{7AA9B1BC-BD8C-B0C9-AE14-7BED70405424}"/>
    <pc:docChg chg="modSld">
      <pc:chgData name="Rajasree Kannampuzha" userId="S::rkannampuzha@collin.edu::94045377-cf84-4a1c-b9ee-8be93f9e6e89" providerId="AD" clId="Web-{7AA9B1BC-BD8C-B0C9-AE14-7BED70405424}" dt="2025-10-14T23:03:42.137" v="4" actId="20577"/>
      <pc:docMkLst>
        <pc:docMk/>
      </pc:docMkLst>
      <pc:sldChg chg="modSp">
        <pc:chgData name="Rajasree Kannampuzha" userId="S::rkannampuzha@collin.edu::94045377-cf84-4a1c-b9ee-8be93f9e6e89" providerId="AD" clId="Web-{7AA9B1BC-BD8C-B0C9-AE14-7BED70405424}" dt="2025-10-14T23:03:42.137" v="4" actId="20577"/>
        <pc:sldMkLst>
          <pc:docMk/>
          <pc:sldMk cId="201616528" sldId="436"/>
        </pc:sldMkLst>
        <pc:spChg chg="mod">
          <ac:chgData name="Rajasree Kannampuzha" userId="S::rkannampuzha@collin.edu::94045377-cf84-4a1c-b9ee-8be93f9e6e89" providerId="AD" clId="Web-{7AA9B1BC-BD8C-B0C9-AE14-7BED70405424}" dt="2025-10-14T23:03:42.137" v="4" actId="20577"/>
          <ac:spMkLst>
            <pc:docMk/>
            <pc:sldMk cId="201616528" sldId="436"/>
            <ac:spMk id="4" creationId="{69AF53B8-AEA0-124B-F7E7-DB21550AB10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8D041A-73BB-E643-A8C7-50D88C2F22F5}" type="datetimeFigureOut">
              <a:rPr lang="en-US" smtClean="0"/>
              <a:t>10/23/2025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36EFEC5-3018-A548-B247-453C6EC1EC1A}" type="slidenum">
              <a:rPr lang="en-US" smtClean="0"/>
              <a:t>‹#›</a:t>
            </a:fld>
            <a:endParaRPr lang="en-US"/>
          </a:p>
        </p:txBody>
      </p:sp>
    </p:spTree>
    <p:extLst>
      <p:ext uri="{BB962C8B-B14F-4D97-AF65-F5344CB8AC3E}">
        <p14:creationId xmlns:p14="http://schemas.microsoft.com/office/powerpoint/2010/main" val="13300572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488926-340B-403C-B9D6-86DCA42D58DD}" type="datetimeFigureOut">
              <a:rPr lang="en-US" smtClean="0"/>
              <a:t>10/23/2025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5A2651-5871-497B-B81C-67EE0D7AD088}" type="slidenum">
              <a:rPr lang="en-US" smtClean="0"/>
              <a:t>‹#›</a:t>
            </a:fld>
            <a:endParaRPr lang="en-US"/>
          </a:p>
        </p:txBody>
      </p:sp>
    </p:spTree>
    <p:extLst>
      <p:ext uri="{BB962C8B-B14F-4D97-AF65-F5344CB8AC3E}">
        <p14:creationId xmlns:p14="http://schemas.microsoft.com/office/powerpoint/2010/main" val="3664232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22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0BFF699-C8FC-47BA-8CDF-A1BA26F6E986}"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Tree>
    <p:extLst>
      <p:ext uri="{BB962C8B-B14F-4D97-AF65-F5344CB8AC3E}">
        <p14:creationId xmlns:p14="http://schemas.microsoft.com/office/powerpoint/2010/main" val="4152792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C064FDC-2CBD-499B-AF46-423D2FB8A83F}"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401850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557369C-842B-48B0-9A3D-089B91F31766}" type="slidenum">
              <a:rPr lang="en-US" altLang="en-US">
                <a:solidFill>
                  <a:srgbClr val="000000"/>
                </a:solidFill>
                <a:latin typeface="Calibri" panose="020F0502020204030204" pitchFamily="34" charset="0"/>
              </a:rPr>
              <a:pPr eaLnBrk="1" hangingPunct="1"/>
              <a:t>17</a:t>
            </a:fld>
            <a:endParaRPr lang="en-US" altLang="en-US">
              <a:solidFill>
                <a:srgbClr val="000000"/>
              </a:solidFill>
              <a:latin typeface="Calibri" panose="020F0502020204030204" pitchFamily="34" charset="0"/>
            </a:endParaRPr>
          </a:p>
        </p:txBody>
      </p:sp>
      <p:sp>
        <p:nvSpPr>
          <p:cNvPr id="1955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55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1520052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7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38BE5D5-8846-4F8B-B423-143CD4DFFC12}" type="slidenum">
              <a:rPr lang="en-US" altLang="en-US">
                <a:solidFill>
                  <a:srgbClr val="000000"/>
                </a:solidFill>
                <a:latin typeface="Calibri" panose="020F0502020204030204" pitchFamily="34" charset="0"/>
              </a:rPr>
              <a:pPr eaLnBrk="1" hangingPunct="1"/>
              <a:t>18</a:t>
            </a:fld>
            <a:endParaRPr lang="en-US" altLang="en-US">
              <a:solidFill>
                <a:srgbClr val="000000"/>
              </a:solidFill>
              <a:latin typeface="Calibri" panose="020F0502020204030204" pitchFamily="34" charset="0"/>
            </a:endParaRPr>
          </a:p>
        </p:txBody>
      </p:sp>
    </p:spTree>
    <p:extLst>
      <p:ext uri="{BB962C8B-B14F-4D97-AF65-F5344CB8AC3E}">
        <p14:creationId xmlns:p14="http://schemas.microsoft.com/office/powerpoint/2010/main" val="1073722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8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1F28CF9-05EB-4276-BC7A-64F525DC63D2}" type="slidenum">
              <a:rPr lang="en-US" altLang="en-US">
                <a:solidFill>
                  <a:srgbClr val="000000"/>
                </a:solidFill>
                <a:latin typeface="Calibri" panose="020F0502020204030204" pitchFamily="34" charset="0"/>
              </a:rPr>
              <a:pPr eaLnBrk="1" hangingPunct="1"/>
              <a:t>19</a:t>
            </a:fld>
            <a:endParaRPr lang="en-US" altLang="en-US">
              <a:solidFill>
                <a:srgbClr val="000000"/>
              </a:solidFill>
              <a:latin typeface="Calibri" panose="020F0502020204030204" pitchFamily="34" charset="0"/>
            </a:endParaRPr>
          </a:p>
        </p:txBody>
      </p:sp>
    </p:spTree>
    <p:extLst>
      <p:ext uri="{BB962C8B-B14F-4D97-AF65-F5344CB8AC3E}">
        <p14:creationId xmlns:p14="http://schemas.microsoft.com/office/powerpoint/2010/main" val="1348921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C064FDC-2CBD-499B-AF46-423D2FB8A83F}" type="slidenum">
              <a:rPr 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2018323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4C870F1-83D1-4857-901F-767BFB529ED4}" type="slidenum">
              <a:rPr lang="en-US" altLang="en-US"/>
              <a:pPr>
                <a:spcBef>
                  <a:spcPct val="0"/>
                </a:spcBef>
              </a:pPr>
              <a:t>23</a:t>
            </a:fld>
            <a:endParaRPr lang="en-US" altLang="en-US"/>
          </a:p>
        </p:txBody>
      </p:sp>
    </p:spTree>
    <p:extLst>
      <p:ext uri="{BB962C8B-B14F-4D97-AF65-F5344CB8AC3E}">
        <p14:creationId xmlns:p14="http://schemas.microsoft.com/office/powerpoint/2010/main" val="2571965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p>
            <a:fld id="{79B19C71-EC74-44AF-B27E-FC7DC3C3A61D}" type="datetime4">
              <a:rPr lang="en-US" smtClean="0"/>
              <a:pPr/>
              <a:t>October 23,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Picture Placeholder 8"/>
          <p:cNvSpPr>
            <a:spLocks noGrp="1"/>
          </p:cNvSpPr>
          <p:nvPr>
            <p:ph type="pic" sz="quarter" idx="13"/>
          </p:nvPr>
        </p:nvSpPr>
        <p:spPr>
          <a:xfrm>
            <a:off x="457199" y="1107618"/>
            <a:ext cx="4031619" cy="4607689"/>
          </a:xfrm>
        </p:spPr>
        <p:txBody>
          <a:bodyPr/>
          <a:lstStyle/>
          <a:p>
            <a:endParaRPr lang="en-US"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333F43-3E86-47E4-BFBB-2476D384E1C6}" type="datetime4">
              <a:rPr lang="en-US" smtClean="0"/>
              <a:pPr/>
              <a:t>October 23,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a:lstStyle/>
          <a:p>
            <a:endParaRPr lang="en-US"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6EAD5615-7F4F-4584-84D5-CC95918C321F}" type="datetime4">
              <a:rPr lang="en-US" smtClean="0"/>
              <a:pPr/>
              <a:t>October 23,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1DEABC-D766-4322-8E78-B830FAE35C72}" type="datetime4">
              <a:rPr lang="en-US" smtClean="0"/>
              <a:pPr/>
              <a:t>October 23,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Title 1"/>
          <p:cNvSpPr txBox="1">
            <a:spLocks/>
          </p:cNvSpPr>
          <p:nvPr userDrawn="1"/>
        </p:nvSpPr>
        <p:spPr>
          <a:xfrm>
            <a:off x="0" y="789677"/>
            <a:ext cx="9144000" cy="709154"/>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r>
              <a:rPr lang="en-US" sz="3500" dirty="0"/>
              <a:t>College Physics</a:t>
            </a:r>
          </a:p>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 Chapter Title</a:t>
            </a:r>
          </a:p>
          <a:p>
            <a:pPr algn="ctr"/>
            <a:r>
              <a:rPr lang="en-US" sz="1600" cap="none" dirty="0">
                <a:solidFill>
                  <a:schemeClr val="tx1"/>
                </a:solidFill>
                <a:latin typeface="+mn-lt"/>
              </a:rPr>
              <a:t>PowerPoint Image Slideshow</a:t>
            </a:r>
          </a:p>
        </p:txBody>
      </p:sp>
      <p:pic>
        <p:nvPicPr>
          <p:cNvPr id="9" name="Picture 8" descr="medium_covers_Page_2.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auto">
              <a:spcBef>
                <a:spcPts val="0"/>
              </a:spcBef>
              <a:spcAft>
                <a:spcPts val="0"/>
              </a:spcAft>
              <a:defRPr/>
            </a:lvl1pPr>
          </a:lstStyle>
          <a:p>
            <a:pPr>
              <a:defRPr/>
            </a:pPr>
            <a:endParaRPr lang="en-US"/>
          </a:p>
        </p:txBody>
      </p:sp>
      <p:sp>
        <p:nvSpPr>
          <p:cNvPr id="5" name="Footer Placeholder 4"/>
          <p:cNvSpPr>
            <a:spLocks noGrp="1"/>
          </p:cNvSpPr>
          <p:nvPr>
            <p:ph type="ftr" sz="quarter" idx="11"/>
          </p:nvPr>
        </p:nvSpPr>
        <p:spPr/>
        <p:txBody>
          <a:bodyPr/>
          <a:lstStyle>
            <a:lvl1pPr fontAlgn="auto">
              <a:spcBef>
                <a:spcPts val="0"/>
              </a:spcBef>
              <a:spcAft>
                <a:spcPts val="0"/>
              </a:spcAft>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403AD85-4D92-4909-9DB9-3F96DDFFE7E2}" type="slidenum">
              <a:rPr lang="en-US" altLang="en-US"/>
              <a:pPr/>
              <a:t>‹#›</a:t>
            </a:fld>
            <a:endParaRPr lang="en-US" altLang="en-US"/>
          </a:p>
        </p:txBody>
      </p:sp>
    </p:spTree>
    <p:extLst>
      <p:ext uri="{BB962C8B-B14F-4D97-AF65-F5344CB8AC3E}">
        <p14:creationId xmlns:p14="http://schemas.microsoft.com/office/powerpoint/2010/main" val="4144652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9" name="Picture Placeholder 8"/>
          <p:cNvSpPr>
            <a:spLocks noGrp="1"/>
          </p:cNvSpPr>
          <p:nvPr>
            <p:ph type="pic" sz="quarter" idx="13"/>
          </p:nvPr>
        </p:nvSpPr>
        <p:spPr>
          <a:xfrm>
            <a:off x="457199" y="1107618"/>
            <a:ext cx="4031619" cy="4607689"/>
          </a:xfrm>
        </p:spPr>
        <p:txBody>
          <a:bodyPr rtlCol="0">
            <a:normAutofit/>
          </a:bodyPr>
          <a:lstStyle/>
          <a:p>
            <a:pPr lvl="0"/>
            <a:endParaRPr lang="en-US" noProof="0"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5"/>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AF5D7D9-81E5-4EEC-85C7-A3D8780B97A4}"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Footer Placeholder 5"/>
          <p:cNvSpPr>
            <a:spLocks noGrp="1"/>
          </p:cNvSpPr>
          <p:nvPr>
            <p:ph type="ftr" sz="quarter" idx="16"/>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7" name="Slide Number Placeholder 6"/>
          <p:cNvSpPr>
            <a:spLocks noGrp="1"/>
          </p:cNvSpPr>
          <p:nvPr>
            <p:ph type="sldNum" sz="quarter" idx="17"/>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6124547-4185-4266-B4E4-2581C1A87319}"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847122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rtlCol="0">
            <a:normAutofit/>
          </a:bodyPr>
          <a:lstStyle/>
          <a:p>
            <a:pPr lvl="0"/>
            <a:endParaRPr lang="en-US" noProof="0"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5"/>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DBDB5D-5956-4717-B2E0-D781475071B8}"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Footer Placeholder 4"/>
          <p:cNvSpPr>
            <a:spLocks noGrp="1"/>
          </p:cNvSpPr>
          <p:nvPr>
            <p:ph type="ftr" sz="quarter" idx="16"/>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0" name="Slide Number Placeholder 5"/>
          <p:cNvSpPr>
            <a:spLocks noGrp="1"/>
          </p:cNvSpPr>
          <p:nvPr>
            <p:ph type="sldNum" sz="quarter" idx="17"/>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C3785B0-FE98-4A5B-9A50-1292CD97EBC4}"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6316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5939DFD-AF57-4C83-8053-60D32C84DF7C}"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158F162-EC8D-4B5B-975F-B8B0EEBB18C6}"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469918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txBox="1">
            <a:spLocks/>
          </p:cNvSpPr>
          <p:nvPr userDrawn="1"/>
        </p:nvSpPr>
        <p:spPr>
          <a:xfrm>
            <a:off x="0" y="788988"/>
            <a:ext cx="9144000" cy="709612"/>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500" b="0" i="0" u="none" strike="noStrike" kern="1200" cap="all" spc="-60" normalizeH="0" baseline="0" noProof="0" dirty="0">
                <a:ln>
                  <a:noFill/>
                </a:ln>
                <a:solidFill>
                  <a:srgbClr val="6CB255"/>
                </a:solidFill>
                <a:effectLst/>
                <a:uLnTx/>
                <a:uFillTx/>
                <a:latin typeface="Arial Black"/>
                <a:ea typeface="+mj-ea"/>
                <a:cs typeface="+mj-cs"/>
              </a:rPr>
              <a:t>College Physics</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800" b="0" i="0" u="none" strike="noStrike" kern="1200" cap="none" spc="-60" normalizeH="0" baseline="0" noProof="0" dirty="0">
              <a:ln>
                <a:noFill/>
              </a:ln>
              <a:solidFill>
                <a:srgbClr val="9BBB59">
                  <a:lumMod val="20000"/>
                  <a:lumOff val="80000"/>
                </a:srgbClr>
              </a:solidFill>
              <a:effectLst/>
              <a:uLnTx/>
              <a:uFillTx/>
              <a:latin typeface="Arial"/>
              <a:ea typeface="+mj-ea"/>
              <a:cs typeface="+mj-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60" normalizeH="0" baseline="0" noProof="0" dirty="0">
                <a:ln>
                  <a:noFill/>
                </a:ln>
                <a:solidFill>
                  <a:srgbClr val="212F62"/>
                </a:solidFill>
                <a:effectLst/>
                <a:uLnTx/>
                <a:uFillTx/>
                <a:latin typeface="Arial"/>
                <a:ea typeface="+mj-ea"/>
                <a:cs typeface="+mj-cs"/>
              </a:rPr>
              <a:t>Chapter # Chapter Title</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60" normalizeH="0" baseline="0" noProof="0" dirty="0">
                <a:ln>
                  <a:noFill/>
                </a:ln>
                <a:solidFill>
                  <a:prstClr val="black"/>
                </a:solidFill>
                <a:effectLst/>
                <a:uLnTx/>
                <a:uFillTx/>
                <a:latin typeface="Arial"/>
                <a:ea typeface="+mj-ea"/>
                <a:cs typeface="+mj-cs"/>
              </a:rPr>
              <a:t>PowerPoint Image Slideshow</a:t>
            </a:r>
          </a:p>
        </p:txBody>
      </p:sp>
      <p:pic>
        <p:nvPicPr>
          <p:cNvPr id="3" name="Picture 8" descr="medium_covers_Page_2.png"/>
          <p:cNvPicPr>
            <a:picLocks noChangeAspect="1"/>
          </p:cNvPicPr>
          <p:nvPr userDrawn="1"/>
        </p:nvPicPr>
        <p:blipFill>
          <a:blip r:embed="rId2" cstate="print"/>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6933B52-B7B0-4435-A810-D5A8ECCD14B8}"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702209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330C81C-D89A-4E8C-9055-894A7EB3129C}" type="datetime1">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10/23/2025</a:t>
            </a:fld>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CCBE99-5551-4688-8F8A-2E4F443F3160}"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4182217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719263"/>
            <a:ext cx="4038600" cy="4411662"/>
          </a:xfrm>
        </p:spPr>
        <p:txBody>
          <a:bodyPr/>
          <a:lstStyle/>
          <a:p>
            <a:pPr lvl="0"/>
            <a:endParaRPr lang="en-US" noProof="0"/>
          </a:p>
        </p:txBody>
      </p:sp>
      <p:sp>
        <p:nvSpPr>
          <p:cNvPr id="5" name="Date Placeholder 4"/>
          <p:cNvSpPr>
            <a:spLocks noGrp="1"/>
          </p:cNvSpPr>
          <p:nvPr>
            <p:ph type="dt" sz="half" idx="10"/>
          </p:nvPr>
        </p:nvSpPr>
        <p:spPr/>
        <p:txBody>
          <a:bodyPr/>
          <a:lstStyle>
            <a:lvl1pPr>
              <a:defRPr>
                <a:cs typeface="Arial" charset="0"/>
              </a:defRPr>
            </a:lvl1pPr>
          </a:lstStyle>
          <a:p>
            <a:pPr>
              <a:defRPr/>
            </a:pPr>
            <a:endParaRPr lang="en-US"/>
          </a:p>
        </p:txBody>
      </p:sp>
      <p:sp>
        <p:nvSpPr>
          <p:cNvPr id="6" name="Footer Placeholder 5"/>
          <p:cNvSpPr>
            <a:spLocks noGrp="1"/>
          </p:cNvSpPr>
          <p:nvPr>
            <p:ph type="ftr" sz="quarter" idx="11"/>
          </p:nvPr>
        </p:nvSpPr>
        <p:spPr/>
        <p:txBody>
          <a:bodyPr/>
          <a:lstStyle>
            <a:lvl1pPr>
              <a:defRPr>
                <a:cs typeface="Arial" charset="0"/>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fld id="{9D923F4E-353D-4771-A684-2DEBC4D92B9C}" type="slidenum">
              <a:rPr lang="en-US" altLang="en-US"/>
              <a:pPr/>
              <a:t>‹#›</a:t>
            </a:fld>
            <a:endParaRPr lang="en-US" altLang="en-US"/>
          </a:p>
        </p:txBody>
      </p:sp>
    </p:spTree>
    <p:extLst>
      <p:ext uri="{BB962C8B-B14F-4D97-AF65-F5344CB8AC3E}">
        <p14:creationId xmlns:p14="http://schemas.microsoft.com/office/powerpoint/2010/main" val="2083282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9" name="Picture Placeholder 8"/>
          <p:cNvSpPr>
            <a:spLocks noGrp="1"/>
          </p:cNvSpPr>
          <p:nvPr>
            <p:ph type="pic" sz="quarter" idx="13"/>
          </p:nvPr>
        </p:nvSpPr>
        <p:spPr>
          <a:xfrm>
            <a:off x="457199" y="1107618"/>
            <a:ext cx="4031619" cy="4607689"/>
          </a:xfrm>
        </p:spPr>
        <p:txBody>
          <a:bodyPr rtlCol="0">
            <a:normAutofit/>
          </a:bodyPr>
          <a:lstStyle/>
          <a:p>
            <a:pPr lvl="0"/>
            <a:endParaRPr lang="en-US" noProof="0"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5"/>
          </p:nvPr>
        </p:nvSpPr>
        <p:spPr/>
        <p:txBody>
          <a:bodyPr/>
          <a:lstStyle>
            <a:lvl1pPr>
              <a:defRPr/>
            </a:lvl1pPr>
          </a:lstStyle>
          <a:p>
            <a:pPr>
              <a:defRPr/>
            </a:pPr>
            <a:fld id="{2AF5D7D9-81E5-4EEC-85C7-A3D8780B97A4}" type="datetime4">
              <a:rPr lang="en-US">
                <a:solidFill>
                  <a:prstClr val="black"/>
                </a:solidFill>
              </a:rPr>
              <a:pPr>
                <a:defRPr/>
              </a:pPr>
              <a:t>October 23, 2025</a:t>
            </a:fld>
            <a:endParaRPr lang="en-US">
              <a:solidFill>
                <a:prstClr val="black"/>
              </a:solidFill>
            </a:endParaRPr>
          </a:p>
        </p:txBody>
      </p:sp>
      <p:sp>
        <p:nvSpPr>
          <p:cNvPr id="6" name="Footer Placeholder 5"/>
          <p:cNvSpPr>
            <a:spLocks noGrp="1"/>
          </p:cNvSpPr>
          <p:nvPr>
            <p:ph type="ftr" sz="quarter" idx="16"/>
          </p:nvPr>
        </p:nvSpPr>
        <p:spPr/>
        <p:txBody>
          <a:bodyPr/>
          <a:lstStyle>
            <a:lvl1pPr>
              <a:defRPr/>
            </a:lvl1pPr>
          </a:lstStyle>
          <a:p>
            <a:pPr>
              <a:defRPr/>
            </a:pPr>
            <a:endParaRPr lang="en-US">
              <a:solidFill>
                <a:prstClr val="black"/>
              </a:solidFill>
            </a:endParaRPr>
          </a:p>
        </p:txBody>
      </p:sp>
      <p:sp>
        <p:nvSpPr>
          <p:cNvPr id="7" name="Slide Number Placeholder 6"/>
          <p:cNvSpPr>
            <a:spLocks noGrp="1"/>
          </p:cNvSpPr>
          <p:nvPr>
            <p:ph type="sldNum" sz="quarter" idx="17"/>
          </p:nvPr>
        </p:nvSpPr>
        <p:spPr/>
        <p:txBody>
          <a:bodyPr/>
          <a:lstStyle>
            <a:lvl1pPr>
              <a:defRPr/>
            </a:lvl1pPr>
          </a:lstStyle>
          <a:p>
            <a:pPr>
              <a:defRPr/>
            </a:pPr>
            <a:fld id="{76124547-4185-4266-B4E4-2581C1A87319}" type="slidenum">
              <a:rPr lang="en-US"/>
              <a:pPr>
                <a:defRPr/>
              </a:pPr>
              <a:t>‹#›</a:t>
            </a:fld>
            <a:endParaRPr lang="en-US"/>
          </a:p>
        </p:txBody>
      </p:sp>
    </p:spTree>
    <p:extLst>
      <p:ext uri="{BB962C8B-B14F-4D97-AF65-F5344CB8AC3E}">
        <p14:creationId xmlns:p14="http://schemas.microsoft.com/office/powerpoint/2010/main" val="12715985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rtlCol="0">
            <a:normAutofit/>
          </a:bodyPr>
          <a:lstStyle/>
          <a:p>
            <a:pPr lvl="0"/>
            <a:endParaRPr lang="en-US" noProof="0"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5"/>
          </p:nvPr>
        </p:nvSpPr>
        <p:spPr/>
        <p:txBody>
          <a:bodyPr/>
          <a:lstStyle>
            <a:lvl1pPr>
              <a:defRPr/>
            </a:lvl1pPr>
          </a:lstStyle>
          <a:p>
            <a:pPr>
              <a:defRPr/>
            </a:pPr>
            <a:fld id="{A1DBDB5D-5956-4717-B2E0-D781475071B8}" type="datetime4">
              <a:rPr lang="en-US">
                <a:solidFill>
                  <a:prstClr val="black"/>
                </a:solidFill>
              </a:rPr>
              <a:pPr>
                <a:defRPr/>
              </a:pPr>
              <a:t>October 23, 2025</a:t>
            </a:fld>
            <a:endParaRPr lang="en-US">
              <a:solidFill>
                <a:prstClr val="black"/>
              </a:solidFill>
            </a:endParaRPr>
          </a:p>
        </p:txBody>
      </p:sp>
      <p:sp>
        <p:nvSpPr>
          <p:cNvPr id="6" name="Footer Placeholder 4"/>
          <p:cNvSpPr>
            <a:spLocks noGrp="1"/>
          </p:cNvSpPr>
          <p:nvPr>
            <p:ph type="ftr" sz="quarter" idx="16"/>
          </p:nvPr>
        </p:nvSpPr>
        <p:spPr/>
        <p:txBody>
          <a:bodyPr/>
          <a:lstStyle>
            <a:lvl1pPr>
              <a:defRPr/>
            </a:lvl1pPr>
          </a:lstStyle>
          <a:p>
            <a:pPr>
              <a:defRPr/>
            </a:pPr>
            <a:endParaRPr lang="en-US">
              <a:solidFill>
                <a:prstClr val="black"/>
              </a:solidFill>
            </a:endParaRPr>
          </a:p>
        </p:txBody>
      </p:sp>
      <p:sp>
        <p:nvSpPr>
          <p:cNvPr id="10" name="Slide Number Placeholder 5"/>
          <p:cNvSpPr>
            <a:spLocks noGrp="1"/>
          </p:cNvSpPr>
          <p:nvPr>
            <p:ph type="sldNum" sz="quarter" idx="17"/>
          </p:nvPr>
        </p:nvSpPr>
        <p:spPr/>
        <p:txBody>
          <a:bodyPr/>
          <a:lstStyle>
            <a:lvl1pPr>
              <a:defRPr/>
            </a:lvl1pPr>
          </a:lstStyle>
          <a:p>
            <a:pPr>
              <a:defRPr/>
            </a:pPr>
            <a:fld id="{2C3785B0-FE98-4A5B-9A50-1292CD97EBC4}" type="slidenum">
              <a:rPr lang="en-US"/>
              <a:pPr>
                <a:defRPr/>
              </a:pPr>
              <a:t>‹#›</a:t>
            </a:fld>
            <a:endParaRPr lang="en-US"/>
          </a:p>
        </p:txBody>
      </p:sp>
    </p:spTree>
    <p:extLst>
      <p:ext uri="{BB962C8B-B14F-4D97-AF65-F5344CB8AC3E}">
        <p14:creationId xmlns:p14="http://schemas.microsoft.com/office/powerpoint/2010/main" val="3223213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lvl1pPr>
              <a:defRPr/>
            </a:lvl1pPr>
          </a:lstStyle>
          <a:p>
            <a:pPr>
              <a:defRPr/>
            </a:pPr>
            <a:fld id="{A5939DFD-AF57-4C83-8053-60D32C84DF7C}" type="datetime4">
              <a:rPr lang="en-US">
                <a:solidFill>
                  <a:prstClr val="black"/>
                </a:solidFill>
              </a:rPr>
              <a:pPr>
                <a:defRPr/>
              </a:pPr>
              <a:t>October 23, 2025</a:t>
            </a:fld>
            <a:endParaRPr lang="en-US">
              <a:solidFill>
                <a:prstClr val="black"/>
              </a:solidFill>
            </a:endParaRPr>
          </a:p>
        </p:txBody>
      </p:sp>
      <p:sp>
        <p:nvSpPr>
          <p:cNvPr id="6" name="Footer Placeholder 5"/>
          <p:cNvSpPr>
            <a:spLocks noGrp="1"/>
          </p:cNvSpPr>
          <p:nvPr>
            <p:ph type="ftr" sz="quarter" idx="11"/>
          </p:nvPr>
        </p:nvSpPr>
        <p:spPr/>
        <p:txBody>
          <a:bodyPr/>
          <a:lstStyle>
            <a:lvl1pPr>
              <a:defRPr/>
            </a:lvl1pPr>
          </a:lstStyle>
          <a:p>
            <a:pPr>
              <a:defRPr/>
            </a:pPr>
            <a:endParaRPr lang="en-US">
              <a:solidFill>
                <a:prstClr val="black"/>
              </a:solidFill>
            </a:endParaRPr>
          </a:p>
        </p:txBody>
      </p:sp>
      <p:sp>
        <p:nvSpPr>
          <p:cNvPr id="7" name="Slide Number Placeholder 6"/>
          <p:cNvSpPr>
            <a:spLocks noGrp="1"/>
          </p:cNvSpPr>
          <p:nvPr>
            <p:ph type="sldNum" sz="quarter" idx="12"/>
          </p:nvPr>
        </p:nvSpPr>
        <p:spPr/>
        <p:txBody>
          <a:bodyPr/>
          <a:lstStyle>
            <a:lvl1pPr>
              <a:defRPr/>
            </a:lvl1pPr>
          </a:lstStyle>
          <a:p>
            <a:pPr>
              <a:defRPr/>
            </a:pPr>
            <a:fld id="{6158F162-EC8D-4B5B-975F-B8B0EEBB18C6}" type="slidenum">
              <a:rPr lang="en-US"/>
              <a:pPr>
                <a:defRPr/>
              </a:pPr>
              <a:t>‹#›</a:t>
            </a:fld>
            <a:endParaRPr lang="en-US"/>
          </a:p>
        </p:txBody>
      </p:sp>
    </p:spTree>
    <p:extLst>
      <p:ext uri="{BB962C8B-B14F-4D97-AF65-F5344CB8AC3E}">
        <p14:creationId xmlns:p14="http://schemas.microsoft.com/office/powerpoint/2010/main" val="28107953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txBox="1">
            <a:spLocks/>
          </p:cNvSpPr>
          <p:nvPr userDrawn="1"/>
        </p:nvSpPr>
        <p:spPr>
          <a:xfrm>
            <a:off x="0" y="788988"/>
            <a:ext cx="9144000" cy="709612"/>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defRPr/>
            </a:pPr>
            <a:r>
              <a:rPr lang="en-US" sz="3500" dirty="0"/>
              <a:t>College Physics</a:t>
            </a:r>
          </a:p>
          <a:p>
            <a:pPr algn="ctr">
              <a:defRPr/>
            </a:pPr>
            <a:endParaRPr lang="en-US" sz="1800" cap="none" dirty="0">
              <a:solidFill>
                <a:srgbClr val="9BBB59">
                  <a:lumMod val="20000"/>
                  <a:lumOff val="80000"/>
                </a:srgbClr>
              </a:solidFill>
              <a:latin typeface="Arial"/>
            </a:endParaRPr>
          </a:p>
          <a:p>
            <a:pPr algn="ctr">
              <a:defRPr/>
            </a:pPr>
            <a:r>
              <a:rPr lang="en-US" sz="2000" b="1" cap="none" dirty="0">
                <a:solidFill>
                  <a:srgbClr val="212F62"/>
                </a:solidFill>
                <a:latin typeface="Arial"/>
              </a:rPr>
              <a:t>Chapter # Chapter Title</a:t>
            </a:r>
          </a:p>
          <a:p>
            <a:pPr algn="ctr">
              <a:defRPr/>
            </a:pPr>
            <a:r>
              <a:rPr lang="en-US" sz="1600" cap="none" dirty="0">
                <a:solidFill>
                  <a:prstClr val="black"/>
                </a:solidFill>
                <a:latin typeface="Arial"/>
              </a:rPr>
              <a:t>PowerPoint Image Slideshow</a:t>
            </a:r>
          </a:p>
        </p:txBody>
      </p:sp>
      <p:pic>
        <p:nvPicPr>
          <p:cNvPr id="3" name="Picture 8" descr="medium_covers_Page_2.png"/>
          <p:cNvPicPr>
            <a:picLocks noChangeAspect="1"/>
          </p:cNvPicPr>
          <p:nvPr userDrawn="1"/>
        </p:nvPicPr>
        <p:blipFill>
          <a:blip r:embed="rId2" cstate="print"/>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
        <p:nvSpPr>
          <p:cNvPr id="4" name="Date Placeholder 3"/>
          <p:cNvSpPr>
            <a:spLocks noGrp="1"/>
          </p:cNvSpPr>
          <p:nvPr>
            <p:ph type="dt" sz="half" idx="10"/>
          </p:nvPr>
        </p:nvSpPr>
        <p:spPr/>
        <p:txBody>
          <a:bodyPr/>
          <a:lstStyle>
            <a:lvl1pPr>
              <a:defRPr/>
            </a:lvl1pPr>
          </a:lstStyle>
          <a:p>
            <a:pPr>
              <a:defRPr/>
            </a:pPr>
            <a:fld id="{E6933B52-B7B0-4435-A810-D5A8ECCD14B8}" type="datetime4">
              <a:rPr lang="en-US">
                <a:solidFill>
                  <a:prstClr val="black"/>
                </a:solidFill>
              </a:rPr>
              <a:pPr>
                <a:defRPr/>
              </a:pPr>
              <a:t>October 23, 2025</a:t>
            </a:fld>
            <a:endParaRPr lang="en-US" dirty="0">
              <a:solidFill>
                <a:prstClr val="black"/>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solidFill>
            </a:endParaRPr>
          </a:p>
        </p:txBody>
      </p:sp>
    </p:spTree>
    <p:extLst>
      <p:ext uri="{BB962C8B-B14F-4D97-AF65-F5344CB8AC3E}">
        <p14:creationId xmlns:p14="http://schemas.microsoft.com/office/powerpoint/2010/main" val="37733089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8330C81C-D89A-4E8C-9055-894A7EB3129C}" type="datetime1">
              <a:rPr lang="en-US">
                <a:solidFill>
                  <a:prstClr val="black"/>
                </a:solidFill>
              </a:rPr>
              <a:pPr>
                <a:defRPr/>
              </a:pPr>
              <a:t>10/23/2025</a:t>
            </a:fld>
            <a:endParaRPr lang="en-US">
              <a:solidFill>
                <a:prstClr val="black"/>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prstClr val="black"/>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FCCBE99-5551-4688-8F8A-2E4F443F3160}" type="slidenum">
              <a:rPr lang="en-US"/>
              <a:pPr>
                <a:defRPr/>
              </a:pPr>
              <a:t>‹#›</a:t>
            </a:fld>
            <a:endParaRPr lang="en-US"/>
          </a:p>
        </p:txBody>
      </p:sp>
    </p:spTree>
    <p:extLst>
      <p:ext uri="{BB962C8B-B14F-4D97-AF65-F5344CB8AC3E}">
        <p14:creationId xmlns:p14="http://schemas.microsoft.com/office/powerpoint/2010/main" val="10917369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24C1CF8B-C3C1-491A-9C79-ED232B6CEBDF}" type="slidenum">
              <a:rPr lang="en-US" altLang="en-US"/>
              <a:pPr>
                <a:defRPr/>
              </a:pPr>
              <a:t>‹#›</a:t>
            </a:fld>
            <a:endParaRPr lang="en-US" altLang="en-US"/>
          </a:p>
        </p:txBody>
      </p:sp>
    </p:spTree>
    <p:extLst>
      <p:ext uri="{BB962C8B-B14F-4D97-AF65-F5344CB8AC3E}">
        <p14:creationId xmlns:p14="http://schemas.microsoft.com/office/powerpoint/2010/main" val="11758110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17D0EFEE-2756-4A20-BF2A-63F0A94F99AC}" type="datetime4">
              <a:rPr lang="en-US" smtClean="0"/>
              <a:pPr/>
              <a:t>October 23, 2025</a:t>
            </a:fld>
            <a:endParaRPr lang="en-US" dirty="0"/>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rot="16200000">
            <a:off x="8044814" y="683895"/>
            <a:ext cx="1315721" cy="365125"/>
          </a:xfrm>
          <a:prstGeom prst="rect">
            <a:avLst/>
          </a:prstGeom>
        </p:spPr>
        <p:txBody>
          <a:bodyPr vert="horz" lIns="91440" tIns="45720" rIns="91440" bIns="45720" rtlCol="0" anchor="ctr"/>
          <a:lstStyle>
            <a:lvl1pPr algn="r">
              <a:defRPr sz="2400" b="1">
                <a:solidFill>
                  <a:srgbClr val="FFFFFF"/>
                </a:solidFill>
              </a:defRPr>
            </a:lvl1pPr>
          </a:lstStyle>
          <a:p>
            <a:fld id="{F38DF745-7D3F-47F4-83A3-874385CFAA6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916" r:id="rId1"/>
    <p:sldLayoutId id="2147483914" r:id="rId2"/>
    <p:sldLayoutId id="2147483920" r:id="rId3"/>
    <p:sldLayoutId id="2147483913" r:id="rId4"/>
    <p:sldLayoutId id="2147483935" r:id="rId5"/>
  </p:sldLayoutIdLst>
  <p:hf sldNum="0" hdr="0" ftr="0" dt="0"/>
  <p:txStyles>
    <p:titleStyle>
      <a:lvl1pPr algn="l" defTabSz="914400" rtl="0" eaLnBrk="1" latinLnBrk="0" hangingPunct="1">
        <a:spcBef>
          <a:spcPct val="0"/>
        </a:spcBef>
        <a:buNone/>
        <a:defRPr sz="2400" kern="1200" cap="all" spc="-60" baseline="0">
          <a:solidFill>
            <a:srgbClr val="6CB255"/>
          </a:solidFill>
          <a:latin typeface="+mj-lt"/>
          <a:ea typeface="+mj-ea"/>
          <a:cs typeface="+mj-cs"/>
        </a:defRPr>
      </a:lvl1pPr>
    </p:titleStyle>
    <p:bodyStyle>
      <a:lvl1pPr marL="0" indent="0" algn="l" defTabSz="914400" rtl="0" eaLnBrk="1" latinLnBrk="0" hangingPunct="1">
        <a:spcBef>
          <a:spcPct val="20000"/>
        </a:spcBef>
        <a:spcAft>
          <a:spcPts val="600"/>
        </a:spcAft>
        <a:buClr>
          <a:srgbClr val="6CB255"/>
        </a:buClr>
        <a:buFont typeface="Arial" pitchFamily="34" charset="0"/>
        <a:buNone/>
        <a:defRPr sz="2000" b="0" kern="1200">
          <a:solidFill>
            <a:schemeClr val="tx1"/>
          </a:solidFill>
          <a:latin typeface="+mn-lt"/>
          <a:ea typeface="+mn-ea"/>
          <a:cs typeface="+mn-cs"/>
        </a:defRPr>
      </a:lvl1pPr>
      <a:lvl2pPr marL="457200" indent="-182880" algn="l" defTabSz="914400" rtl="0" eaLnBrk="1" latinLnBrk="0" hangingPunct="1">
        <a:spcBef>
          <a:spcPct val="20000"/>
        </a:spcBef>
        <a:buClr>
          <a:srgbClr val="6CB255"/>
        </a:buClr>
        <a:buFont typeface="Arial" pitchFamily="34" charset="0"/>
        <a:buChar char="•"/>
        <a:defRPr sz="2000" kern="1200">
          <a:solidFill>
            <a:srgbClr val="000000"/>
          </a:solidFill>
          <a:latin typeface="+mn-lt"/>
          <a:ea typeface="+mn-ea"/>
          <a:cs typeface="+mn-cs"/>
        </a:defRPr>
      </a:lvl2pPr>
      <a:lvl3pPr marL="11430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3pPr>
      <a:lvl4pPr marL="16002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4pPr>
      <a:lvl5pPr marL="2057400" indent="-228600" algn="l" defTabSz="914400" rtl="0" eaLnBrk="1" latinLnBrk="0" hangingPunct="1">
        <a:spcBef>
          <a:spcPct val="20000"/>
        </a:spcBef>
        <a:buClr>
          <a:srgbClr val="6CB255"/>
        </a:buClr>
        <a:buFont typeface="Arial" pitchFamily="34" charset="0"/>
        <a:buChar char="•"/>
        <a:defRPr sz="1800" kern="1200" baseline="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8"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7" name="Text Placeholder 2"/>
          <p:cNvSpPr>
            <a:spLocks noGrp="1"/>
          </p:cNvSpPr>
          <p:nvPr>
            <p:ph type="body" idx="1"/>
          </p:nvPr>
        </p:nvSpPr>
        <p:spPr bwMode="auto">
          <a:xfrm>
            <a:off x="457200" y="1752600"/>
            <a:ext cx="7620000" cy="437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fontAlgn="auto">
              <a:spcBef>
                <a:spcPts val="0"/>
              </a:spcBef>
              <a:spcAft>
                <a:spcPts val="0"/>
              </a:spcAft>
              <a:defRPr sz="1000" smtClean="0">
                <a:solidFill>
                  <a:schemeClr val="tx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D8C27C6-00DF-4890-8154-3F9BE9A134E3}"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fontAlgn="auto">
              <a:spcBef>
                <a:spcPts val="0"/>
              </a:spcBef>
              <a:spcAft>
                <a:spcPts val="0"/>
              </a:spcAft>
              <a:defRPr sz="1000" dirty="0">
                <a:solidFill>
                  <a:schemeClr val="tx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Slide Number Placeholder 5"/>
          <p:cNvSpPr>
            <a:spLocks noGrp="1"/>
          </p:cNvSpPr>
          <p:nvPr>
            <p:ph type="sldNum" sz="quarter" idx="4"/>
          </p:nvPr>
        </p:nvSpPr>
        <p:spPr>
          <a:xfrm rot="16200000">
            <a:off x="8044657" y="683419"/>
            <a:ext cx="1316037" cy="365125"/>
          </a:xfrm>
          <a:prstGeom prst="rect">
            <a:avLst/>
          </a:prstGeom>
        </p:spPr>
        <p:txBody>
          <a:bodyPr vert="horz" lIns="91440" tIns="45720" rIns="91440" bIns="45720" rtlCol="0" anchor="ctr"/>
          <a:lstStyle>
            <a:lvl1pPr algn="r" fontAlgn="auto">
              <a:spcBef>
                <a:spcPts val="0"/>
              </a:spcBef>
              <a:spcAft>
                <a:spcPts val="0"/>
              </a:spcAft>
              <a:defRPr sz="2400" b="1" smtClean="0">
                <a:solidFill>
                  <a:srgbClr val="FFFFFF"/>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56169A9-3380-4EA0-9DA0-2D35F2C8DA18}"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870585944"/>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7" r:id="rId6"/>
  </p:sldLayoutIdLst>
  <p:hf sldNum="0" hdr="0" ftr="0" dt="0"/>
  <p:txStyles>
    <p:titleStyle>
      <a:lvl1pPr algn="l" rtl="0" fontAlgn="base">
        <a:spcBef>
          <a:spcPct val="0"/>
        </a:spcBef>
        <a:spcAft>
          <a:spcPct val="0"/>
        </a:spcAft>
        <a:defRPr sz="2400" kern="1200" cap="all" spc="-60">
          <a:solidFill>
            <a:srgbClr val="6CB255"/>
          </a:solidFill>
          <a:latin typeface="+mj-lt"/>
          <a:ea typeface="+mj-ea"/>
          <a:cs typeface="+mj-cs"/>
        </a:defRPr>
      </a:lvl1pPr>
      <a:lvl2pPr algn="l" rtl="0" fontAlgn="base">
        <a:spcBef>
          <a:spcPct val="0"/>
        </a:spcBef>
        <a:spcAft>
          <a:spcPct val="0"/>
        </a:spcAft>
        <a:defRPr sz="2400">
          <a:solidFill>
            <a:srgbClr val="6CB255"/>
          </a:solidFill>
          <a:latin typeface="Arial Black" pitchFamily="34" charset="0"/>
        </a:defRPr>
      </a:lvl2pPr>
      <a:lvl3pPr algn="l" rtl="0" fontAlgn="base">
        <a:spcBef>
          <a:spcPct val="0"/>
        </a:spcBef>
        <a:spcAft>
          <a:spcPct val="0"/>
        </a:spcAft>
        <a:defRPr sz="2400">
          <a:solidFill>
            <a:srgbClr val="6CB255"/>
          </a:solidFill>
          <a:latin typeface="Arial Black" pitchFamily="34" charset="0"/>
        </a:defRPr>
      </a:lvl3pPr>
      <a:lvl4pPr algn="l" rtl="0" fontAlgn="base">
        <a:spcBef>
          <a:spcPct val="0"/>
        </a:spcBef>
        <a:spcAft>
          <a:spcPct val="0"/>
        </a:spcAft>
        <a:defRPr sz="2400">
          <a:solidFill>
            <a:srgbClr val="6CB255"/>
          </a:solidFill>
          <a:latin typeface="Arial Black" pitchFamily="34" charset="0"/>
        </a:defRPr>
      </a:lvl4pPr>
      <a:lvl5pPr algn="l" rtl="0" fontAlgn="base">
        <a:spcBef>
          <a:spcPct val="0"/>
        </a:spcBef>
        <a:spcAft>
          <a:spcPct val="0"/>
        </a:spcAft>
        <a:defRPr sz="2400">
          <a:solidFill>
            <a:srgbClr val="6CB255"/>
          </a:solidFill>
          <a:latin typeface="Arial Black" pitchFamily="34" charset="0"/>
        </a:defRPr>
      </a:lvl5pPr>
      <a:lvl6pPr marL="457200" algn="l" rtl="0" fontAlgn="base">
        <a:spcBef>
          <a:spcPct val="0"/>
        </a:spcBef>
        <a:spcAft>
          <a:spcPct val="0"/>
        </a:spcAft>
        <a:defRPr sz="2400">
          <a:solidFill>
            <a:srgbClr val="6CB255"/>
          </a:solidFill>
          <a:latin typeface="Arial Black" pitchFamily="34" charset="0"/>
        </a:defRPr>
      </a:lvl6pPr>
      <a:lvl7pPr marL="914400" algn="l" rtl="0" fontAlgn="base">
        <a:spcBef>
          <a:spcPct val="0"/>
        </a:spcBef>
        <a:spcAft>
          <a:spcPct val="0"/>
        </a:spcAft>
        <a:defRPr sz="2400">
          <a:solidFill>
            <a:srgbClr val="6CB255"/>
          </a:solidFill>
          <a:latin typeface="Arial Black" pitchFamily="34" charset="0"/>
        </a:defRPr>
      </a:lvl7pPr>
      <a:lvl8pPr marL="1371600" algn="l" rtl="0" fontAlgn="base">
        <a:spcBef>
          <a:spcPct val="0"/>
        </a:spcBef>
        <a:spcAft>
          <a:spcPct val="0"/>
        </a:spcAft>
        <a:defRPr sz="2400">
          <a:solidFill>
            <a:srgbClr val="6CB255"/>
          </a:solidFill>
          <a:latin typeface="Arial Black" pitchFamily="34" charset="0"/>
        </a:defRPr>
      </a:lvl8pPr>
      <a:lvl9pPr marL="1828800" algn="l" rtl="0" fontAlgn="base">
        <a:spcBef>
          <a:spcPct val="0"/>
        </a:spcBef>
        <a:spcAft>
          <a:spcPct val="0"/>
        </a:spcAft>
        <a:defRPr sz="2400">
          <a:solidFill>
            <a:srgbClr val="6CB255"/>
          </a:solidFill>
          <a:latin typeface="Arial Black" pitchFamily="34" charset="0"/>
        </a:defRPr>
      </a:lvl9pPr>
    </p:titleStyle>
    <p:bodyStyle>
      <a:lvl1pPr algn="l" rtl="0" fontAlgn="base">
        <a:spcBef>
          <a:spcPct val="20000"/>
        </a:spcBef>
        <a:spcAft>
          <a:spcPts val="600"/>
        </a:spcAft>
        <a:buClr>
          <a:srgbClr val="6CB255"/>
        </a:buClr>
        <a:buFont typeface="Arial" charset="0"/>
        <a:defRPr sz="2000" kern="1200">
          <a:solidFill>
            <a:schemeClr val="tx1"/>
          </a:solidFill>
          <a:latin typeface="+mn-lt"/>
          <a:ea typeface="+mn-ea"/>
          <a:cs typeface="+mn-cs"/>
        </a:defRPr>
      </a:lvl1pPr>
      <a:lvl2pPr marL="457200" indent="-182563" algn="l" rtl="0" fontAlgn="base">
        <a:spcBef>
          <a:spcPct val="20000"/>
        </a:spcBef>
        <a:spcAft>
          <a:spcPct val="0"/>
        </a:spcAft>
        <a:buClr>
          <a:srgbClr val="6CB255"/>
        </a:buClr>
        <a:buFont typeface="Arial" charset="0"/>
        <a:buChar char="•"/>
        <a:defRPr sz="2000" kern="1200">
          <a:solidFill>
            <a:srgbClr val="000000"/>
          </a:solidFill>
          <a:latin typeface="+mn-lt"/>
          <a:ea typeface="+mn-ea"/>
          <a:cs typeface="+mn-cs"/>
        </a:defRPr>
      </a:lvl2pPr>
      <a:lvl3pPr marL="11430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3pPr>
      <a:lvl4pPr marL="16002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4pPr>
      <a:lvl5pPr marL="20574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8"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7" name="Text Placeholder 2"/>
          <p:cNvSpPr>
            <a:spLocks noGrp="1"/>
          </p:cNvSpPr>
          <p:nvPr>
            <p:ph type="body" idx="1"/>
          </p:nvPr>
        </p:nvSpPr>
        <p:spPr bwMode="auto">
          <a:xfrm>
            <a:off x="457200" y="1752600"/>
            <a:ext cx="7620000" cy="437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fontAlgn="auto">
              <a:spcBef>
                <a:spcPts val="0"/>
              </a:spcBef>
              <a:spcAft>
                <a:spcPts val="0"/>
              </a:spcAft>
              <a:defRPr sz="1000" smtClean="0">
                <a:solidFill>
                  <a:schemeClr val="tx1"/>
                </a:solidFill>
                <a:latin typeface="+mn-lt"/>
              </a:defRPr>
            </a:lvl1pPr>
          </a:lstStyle>
          <a:p>
            <a:pPr>
              <a:defRPr/>
            </a:pPr>
            <a:fld id="{7D8C27C6-00DF-4890-8154-3F9BE9A134E3}" type="datetime4">
              <a:rPr lang="en-US">
                <a:solidFill>
                  <a:prstClr val="black"/>
                </a:solidFill>
              </a:rPr>
              <a:pPr>
                <a:defRPr/>
              </a:pPr>
              <a:t>October 23, 2025</a:t>
            </a:fld>
            <a:endParaRPr lang="en-US" dirty="0">
              <a:solidFill>
                <a:prstClr val="black"/>
              </a:solidFill>
            </a:endParaRPr>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fontAlgn="auto">
              <a:spcBef>
                <a:spcPts val="0"/>
              </a:spcBef>
              <a:spcAft>
                <a:spcPts val="0"/>
              </a:spcAft>
              <a:defRPr sz="1000" dirty="0">
                <a:solidFill>
                  <a:schemeClr val="tx1"/>
                </a:solidFill>
                <a:latin typeface="+mn-lt"/>
              </a:defRPr>
            </a:lvl1pPr>
          </a:lstStyle>
          <a:p>
            <a:pPr>
              <a:defRPr/>
            </a:pPr>
            <a:endParaRPr lang="en-US">
              <a:solidFill>
                <a:prstClr val="black"/>
              </a:solidFill>
            </a:endParaRPr>
          </a:p>
        </p:txBody>
      </p:sp>
      <p:sp>
        <p:nvSpPr>
          <p:cNvPr id="6" name="Slide Number Placeholder 5"/>
          <p:cNvSpPr>
            <a:spLocks noGrp="1"/>
          </p:cNvSpPr>
          <p:nvPr>
            <p:ph type="sldNum" sz="quarter" idx="4"/>
          </p:nvPr>
        </p:nvSpPr>
        <p:spPr>
          <a:xfrm rot="16200000">
            <a:off x="8044657" y="683419"/>
            <a:ext cx="1316037" cy="365125"/>
          </a:xfrm>
          <a:prstGeom prst="rect">
            <a:avLst/>
          </a:prstGeom>
        </p:spPr>
        <p:txBody>
          <a:bodyPr vert="horz" lIns="91440" tIns="45720" rIns="91440" bIns="45720" rtlCol="0" anchor="ctr"/>
          <a:lstStyle>
            <a:lvl1pPr algn="r" fontAlgn="auto">
              <a:spcBef>
                <a:spcPts val="0"/>
              </a:spcBef>
              <a:spcAft>
                <a:spcPts val="0"/>
              </a:spcAft>
              <a:defRPr sz="2400" b="1" smtClean="0">
                <a:solidFill>
                  <a:srgbClr val="FFFFFF"/>
                </a:solidFill>
                <a:latin typeface="+mn-lt"/>
              </a:defRPr>
            </a:lvl1pPr>
          </a:lstStyle>
          <a:p>
            <a:pPr>
              <a:defRPr/>
            </a:pPr>
            <a:fld id="{C56169A9-3380-4EA0-9DA0-2D35F2C8DA18}" type="slidenum">
              <a:rPr lang="en-US"/>
              <a:pPr>
                <a:defRPr/>
              </a:pPr>
              <a:t>‹#›</a:t>
            </a:fld>
            <a:endParaRPr lang="en-US" dirty="0"/>
          </a:p>
        </p:txBody>
      </p:sp>
    </p:spTree>
    <p:extLst>
      <p:ext uri="{BB962C8B-B14F-4D97-AF65-F5344CB8AC3E}">
        <p14:creationId xmlns:p14="http://schemas.microsoft.com/office/powerpoint/2010/main" val="2540616175"/>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Lst>
  <p:hf sldNum="0" hdr="0" ftr="0" dt="0"/>
  <p:txStyles>
    <p:titleStyle>
      <a:lvl1pPr algn="l" rtl="0" fontAlgn="base">
        <a:spcBef>
          <a:spcPct val="0"/>
        </a:spcBef>
        <a:spcAft>
          <a:spcPct val="0"/>
        </a:spcAft>
        <a:defRPr sz="2400" kern="1200" cap="all" spc="-60">
          <a:solidFill>
            <a:srgbClr val="6CB255"/>
          </a:solidFill>
          <a:latin typeface="+mj-lt"/>
          <a:ea typeface="+mj-ea"/>
          <a:cs typeface="+mj-cs"/>
        </a:defRPr>
      </a:lvl1pPr>
      <a:lvl2pPr algn="l" rtl="0" fontAlgn="base">
        <a:spcBef>
          <a:spcPct val="0"/>
        </a:spcBef>
        <a:spcAft>
          <a:spcPct val="0"/>
        </a:spcAft>
        <a:defRPr sz="2400">
          <a:solidFill>
            <a:srgbClr val="6CB255"/>
          </a:solidFill>
          <a:latin typeface="Arial Black" pitchFamily="34" charset="0"/>
        </a:defRPr>
      </a:lvl2pPr>
      <a:lvl3pPr algn="l" rtl="0" fontAlgn="base">
        <a:spcBef>
          <a:spcPct val="0"/>
        </a:spcBef>
        <a:spcAft>
          <a:spcPct val="0"/>
        </a:spcAft>
        <a:defRPr sz="2400">
          <a:solidFill>
            <a:srgbClr val="6CB255"/>
          </a:solidFill>
          <a:latin typeface="Arial Black" pitchFamily="34" charset="0"/>
        </a:defRPr>
      </a:lvl3pPr>
      <a:lvl4pPr algn="l" rtl="0" fontAlgn="base">
        <a:spcBef>
          <a:spcPct val="0"/>
        </a:spcBef>
        <a:spcAft>
          <a:spcPct val="0"/>
        </a:spcAft>
        <a:defRPr sz="2400">
          <a:solidFill>
            <a:srgbClr val="6CB255"/>
          </a:solidFill>
          <a:latin typeface="Arial Black" pitchFamily="34" charset="0"/>
        </a:defRPr>
      </a:lvl4pPr>
      <a:lvl5pPr algn="l" rtl="0" fontAlgn="base">
        <a:spcBef>
          <a:spcPct val="0"/>
        </a:spcBef>
        <a:spcAft>
          <a:spcPct val="0"/>
        </a:spcAft>
        <a:defRPr sz="2400">
          <a:solidFill>
            <a:srgbClr val="6CB255"/>
          </a:solidFill>
          <a:latin typeface="Arial Black" pitchFamily="34" charset="0"/>
        </a:defRPr>
      </a:lvl5pPr>
      <a:lvl6pPr marL="457200" algn="l" rtl="0" fontAlgn="base">
        <a:spcBef>
          <a:spcPct val="0"/>
        </a:spcBef>
        <a:spcAft>
          <a:spcPct val="0"/>
        </a:spcAft>
        <a:defRPr sz="2400">
          <a:solidFill>
            <a:srgbClr val="6CB255"/>
          </a:solidFill>
          <a:latin typeface="Arial Black" pitchFamily="34" charset="0"/>
        </a:defRPr>
      </a:lvl6pPr>
      <a:lvl7pPr marL="914400" algn="l" rtl="0" fontAlgn="base">
        <a:spcBef>
          <a:spcPct val="0"/>
        </a:spcBef>
        <a:spcAft>
          <a:spcPct val="0"/>
        </a:spcAft>
        <a:defRPr sz="2400">
          <a:solidFill>
            <a:srgbClr val="6CB255"/>
          </a:solidFill>
          <a:latin typeface="Arial Black" pitchFamily="34" charset="0"/>
        </a:defRPr>
      </a:lvl7pPr>
      <a:lvl8pPr marL="1371600" algn="l" rtl="0" fontAlgn="base">
        <a:spcBef>
          <a:spcPct val="0"/>
        </a:spcBef>
        <a:spcAft>
          <a:spcPct val="0"/>
        </a:spcAft>
        <a:defRPr sz="2400">
          <a:solidFill>
            <a:srgbClr val="6CB255"/>
          </a:solidFill>
          <a:latin typeface="Arial Black" pitchFamily="34" charset="0"/>
        </a:defRPr>
      </a:lvl8pPr>
      <a:lvl9pPr marL="1828800" algn="l" rtl="0" fontAlgn="base">
        <a:spcBef>
          <a:spcPct val="0"/>
        </a:spcBef>
        <a:spcAft>
          <a:spcPct val="0"/>
        </a:spcAft>
        <a:defRPr sz="2400">
          <a:solidFill>
            <a:srgbClr val="6CB255"/>
          </a:solidFill>
          <a:latin typeface="Arial Black" pitchFamily="34" charset="0"/>
        </a:defRPr>
      </a:lvl9pPr>
    </p:titleStyle>
    <p:bodyStyle>
      <a:lvl1pPr algn="l" rtl="0" fontAlgn="base">
        <a:spcBef>
          <a:spcPct val="20000"/>
        </a:spcBef>
        <a:spcAft>
          <a:spcPts val="600"/>
        </a:spcAft>
        <a:buClr>
          <a:srgbClr val="6CB255"/>
        </a:buClr>
        <a:buFont typeface="Arial" charset="0"/>
        <a:defRPr sz="2000" kern="1200">
          <a:solidFill>
            <a:schemeClr val="tx1"/>
          </a:solidFill>
          <a:latin typeface="+mn-lt"/>
          <a:ea typeface="+mn-ea"/>
          <a:cs typeface="+mn-cs"/>
        </a:defRPr>
      </a:lvl1pPr>
      <a:lvl2pPr marL="457200" indent="-182563" algn="l" rtl="0" fontAlgn="base">
        <a:spcBef>
          <a:spcPct val="20000"/>
        </a:spcBef>
        <a:spcAft>
          <a:spcPct val="0"/>
        </a:spcAft>
        <a:buClr>
          <a:srgbClr val="6CB255"/>
        </a:buClr>
        <a:buFont typeface="Arial" charset="0"/>
        <a:buChar char="•"/>
        <a:defRPr sz="2000" kern="1200">
          <a:solidFill>
            <a:srgbClr val="000000"/>
          </a:solidFill>
          <a:latin typeface="+mn-lt"/>
          <a:ea typeface="+mn-ea"/>
          <a:cs typeface="+mn-cs"/>
        </a:defRPr>
      </a:lvl2pPr>
      <a:lvl3pPr marL="11430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3pPr>
      <a:lvl4pPr marL="16002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4pPr>
      <a:lvl5pPr marL="20574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16.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hyperlink" Target="https://openstax.org/books/university-physics-volume-1/pages/7-2-kinetic-energy" TargetMode="External"/><Relationship Id="rId2" Type="http://schemas.openxmlformats.org/officeDocument/2006/relationships/hyperlink" Target="https://openstax.org/books/university-physics-volume-1/pages/7-1-work" TargetMode="Externa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hyperlink" Target="https://openstax.org/books/university-physics-volume-1/pages/7-4-power" TargetMode="External"/><Relationship Id="rId4" Type="http://schemas.openxmlformats.org/officeDocument/2006/relationships/hyperlink" Target="https://openstax.org/books/university-physics-volume-1/pages/7-3-work-energy-theore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hyperlink" Target="https://youtu.be/T92h8VtdfnA" TargetMode="External"/><Relationship Id="rId2" Type="http://schemas.openxmlformats.org/officeDocument/2006/relationships/hyperlink" Target="https://youtu.be/UIh73IQvJPo" TargetMode="Externa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youtu.be/fgJbT-Vf-pk" TargetMode="External"/><Relationship Id="rId1" Type="http://schemas.openxmlformats.org/officeDocument/2006/relationships/slideLayout" Target="../slideLayouts/slideLayout1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hyperlink" Target="https://youtu.be/7Nr2UwHm4lI"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hyperlink" Target="https://youtu.be/Kp_1NIG-0jM"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hyperlink" Target="https://openstax.org/books/university-physics-volume-1/pages/7-1-work#CNX_UPhysics_07_01_VarForce" TargetMode="External"/><Relationship Id="rId2" Type="http://schemas.openxmlformats.org/officeDocument/2006/relationships/image" Target="../media/image8.jp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hyperlink" Target="https://youtu.be/mJ3odjRuzL0" TargetMode="External"/><Relationship Id="rId2" Type="http://schemas.openxmlformats.org/officeDocument/2006/relationships/hyperlink" Target="https://youtu.be/jTkknXVjBl4" TargetMode="Externa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10.jpe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6.xml"/><Relationship Id="rId4" Type="http://schemas.openxmlformats.org/officeDocument/2006/relationships/hyperlink" Target="https://youtu.be/QAkcLm26az0"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9.png"/><Relationship Id="rId1" Type="http://schemas.openxmlformats.org/officeDocument/2006/relationships/slideLayout" Target="../slideLayouts/slideLayout10.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hyperlink" Target="https://youtu.be/uUgMK8wQAcU" TargetMode="Externa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6.jpeg"/><Relationship Id="rId1" Type="http://schemas.openxmlformats.org/officeDocument/2006/relationships/slideLayout" Target="../slideLayouts/slideLayout8.xml"/><Relationship Id="rId4" Type="http://schemas.openxmlformats.org/officeDocument/2006/relationships/image" Target="../media/image170.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hyperlink" Target="https://youtu.be/3X5xzbAKzqY" TargetMode="External"/><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hyperlink" Target="https://youtu.be/3X5xzbAKzqY" TargetMode="External"/><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image" Target="../media/image4.png"/><Relationship Id="rId4" Type="http://schemas.openxmlformats.org/officeDocument/2006/relationships/hyperlink" Target="https://youtu.be/2HbaAXhgjEY"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youtu.be/lV0cYXVNaCk" TargetMode="External"/><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16.jpeg"/><Relationship Id="rId4" Type="http://schemas.openxmlformats.org/officeDocument/2006/relationships/hyperlink" Target="https://openstax.org/books/college-physics/pages/7-2-kinetic-energy-and-the-work-energy-theorem"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openstax.org/books/university-physics-volume-1/pages/7-3-work-energy-theorem#CNX_UPhysics_07_03_Ex2" TargetMode="External"/><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hyperlink" Target="https://youtu.be/qlH97jY4_GI" TargetMode="External"/><Relationship Id="rId4" Type="http://schemas.openxmlformats.org/officeDocument/2006/relationships/hyperlink" Target="https://youtu.be/O_PFzj4ntaU"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hyperlink" Target="https://youtu.be/KoyW7AmZ2nA" TargetMode="External"/><Relationship Id="rId2" Type="http://schemas.openxmlformats.org/officeDocument/2006/relationships/hyperlink" Target="https://youtu.be/rtYNYgSNuE8" TargetMode="Externa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hyperlink" Target="https://openstax.org/books/university-physics-volume-1/pages/7-key-equations" TargetMode="External"/><Relationship Id="rId2" Type="http://schemas.openxmlformats.org/officeDocument/2006/relationships/hyperlink" Target="https://openstax.org/books/university-physics-volume-1/pages/7-key-terms" TargetMode="Externa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hyperlink" Target="https://openstax.org/books/university-physics-volume-1/pages/7-summa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63384-4A7E-3033-2AB7-CD8EC3C2ED67}"/>
            </a:ext>
          </a:extLst>
        </p:cNvPr>
        <p:cNvGrpSpPr/>
        <p:nvPr/>
      </p:nvGrpSpPr>
      <p:grpSpPr>
        <a:xfrm>
          <a:off x="0" y="0"/>
          <a:ext cx="0" cy="0"/>
          <a:chOff x="0" y="0"/>
          <a:chExt cx="0" cy="0"/>
        </a:xfrm>
      </p:grpSpPr>
      <p:sp>
        <p:nvSpPr>
          <p:cNvPr id="4" name="TextBox 7">
            <a:extLst>
              <a:ext uri="{FF2B5EF4-FFF2-40B4-BE49-F238E27FC236}">
                <a16:creationId xmlns:a16="http://schemas.microsoft.com/office/drawing/2014/main" id="{69AF53B8-AEA0-124B-F7E7-DB21550AB102}"/>
              </a:ext>
            </a:extLst>
          </p:cNvPr>
          <p:cNvSpPr txBox="1">
            <a:spLocks noGrp="1"/>
          </p:cNvSpPr>
          <p:nvPr>
            <p:ph type="title"/>
          </p:nvPr>
        </p:nvSpPr>
        <p:spPr>
          <a:xfrm>
            <a:off x="105508" y="490025"/>
            <a:ext cx="8886093" cy="86177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defRPr/>
            </a:pPr>
            <a:r>
              <a:rPr lang="en-US" sz="2800" b="1" spc="0" dirty="0">
                <a:solidFill>
                  <a:srgbClr val="000000"/>
                </a:solidFill>
                <a:ea typeface="Glacial Indifference Bold"/>
                <a:cs typeface="Glacial Indifference Bold"/>
                <a:sym typeface="Glacial Indifference Bold"/>
              </a:rPr>
              <a:t>university</a:t>
            </a:r>
            <a:r>
              <a:rPr kumimoji="0" lang="en-US" sz="2800" b="1" i="0" u="none" strike="noStrike" kern="1200" spc="0" normalizeH="0" baseline="0" noProof="0" dirty="0">
                <a:ln>
                  <a:noFill/>
                </a:ln>
                <a:solidFill>
                  <a:srgbClr val="000000"/>
                </a:solidFill>
                <a:effectLst/>
                <a:uLnTx/>
                <a:uFillTx/>
                <a:latin typeface="+mj-lt"/>
                <a:ea typeface="Glacial Indifference Bold"/>
                <a:cs typeface="Glacial Indifference Bold"/>
                <a:sym typeface="Glacial Indifference Bold"/>
              </a:rPr>
              <a:t> Physics I</a:t>
            </a:r>
            <a:r>
              <a:rPr lang="en-US" sz="2800" b="1" spc="0" dirty="0">
                <a:solidFill>
                  <a:srgbClr val="000000"/>
                </a:solidFill>
                <a:ea typeface="Glacial Indifference Bold"/>
                <a:cs typeface="Glacial Indifference Bold"/>
                <a:sym typeface="Glacial Indifference Bold"/>
              </a:rPr>
              <a:t> </a:t>
            </a:r>
            <a:r>
              <a:rPr kumimoji="0" lang="en-US" sz="2800" b="1" i="0" u="none" strike="noStrike" kern="1200" spc="0" normalizeH="0" baseline="0" noProof="0" dirty="0">
                <a:ln>
                  <a:noFill/>
                </a:ln>
                <a:solidFill>
                  <a:srgbClr val="000000"/>
                </a:solidFill>
                <a:effectLst/>
                <a:uLnTx/>
                <a:uFillTx/>
                <a:latin typeface="+mj-lt"/>
                <a:ea typeface="Glacial Indifference Bold"/>
                <a:cs typeface="Glacial Indifference Bold"/>
                <a:sym typeface="Glacial Indifference Bold"/>
              </a:rPr>
              <a:t>Lecture Slides</a:t>
            </a:r>
            <a:r>
              <a:rPr lang="en-US" sz="2800" b="1" spc="0" dirty="0">
                <a:solidFill>
                  <a:srgbClr val="000000"/>
                </a:solidFill>
                <a:ea typeface="Glacial Indifference Bold"/>
                <a:cs typeface="Glacial Indifference Bold"/>
                <a:sym typeface="Glacial Indifference Bold"/>
              </a:rPr>
              <a:t> </a:t>
            </a:r>
            <a:br>
              <a:rPr lang="en-US" sz="2800" b="1" spc="0" dirty="0">
                <a:solidFill>
                  <a:srgbClr val="000000"/>
                </a:solidFill>
                <a:ea typeface="Glacial Indifference Bold"/>
                <a:cs typeface="Glacial Indifference Bold"/>
                <a:sym typeface="Glacial Indifference Bold"/>
              </a:rPr>
            </a:br>
            <a:r>
              <a:rPr lang="en-US" sz="2800" b="1" spc="0" dirty="0">
                <a:solidFill>
                  <a:schemeClr val="tx1"/>
                </a:solidFill>
                <a:ea typeface="Glacial Indifference Bold"/>
                <a:cs typeface="Glacial Indifference Bold"/>
                <a:sym typeface="Glacial Indifference Bold"/>
              </a:rPr>
              <a:t>CHAPTER 7 </a:t>
            </a:r>
            <a:r>
              <a:rPr lang="en-US" sz="2800" spc="0" dirty="0">
                <a:solidFill>
                  <a:schemeClr val="tx1"/>
                </a:solidFill>
                <a:ea typeface="Glacial Indifference Bold"/>
                <a:cs typeface="Glacial Indifference Bold"/>
                <a:sym typeface="Glacial Indifference Bold"/>
              </a:rPr>
              <a:t>Work and Kinetic Energy</a:t>
            </a:r>
            <a:endParaRPr lang="en-US" sz="2800" cap="none" spc="0" dirty="0">
              <a:solidFill>
                <a:schemeClr val="tx1"/>
              </a:solidFill>
              <a:ea typeface="Glacial Indifference Bold"/>
              <a:cs typeface="Glacial Indifference Bold"/>
              <a:sym typeface="Glacial Indifference Bold"/>
            </a:endParaRPr>
          </a:p>
        </p:txBody>
      </p:sp>
      <p:sp>
        <p:nvSpPr>
          <p:cNvPr id="9" name="Content Placeholder 8">
            <a:extLst>
              <a:ext uri="{FF2B5EF4-FFF2-40B4-BE49-F238E27FC236}">
                <a16:creationId xmlns:a16="http://schemas.microsoft.com/office/drawing/2014/main" id="{0A064A47-CEA7-59B0-0459-E9AEF9D147EC}"/>
              </a:ext>
            </a:extLst>
          </p:cNvPr>
          <p:cNvSpPr txBox="1">
            <a:spLocks noGrp="1"/>
          </p:cNvSpPr>
          <p:nvPr>
            <p:ph idx="1"/>
          </p:nvPr>
        </p:nvSpPr>
        <p:spPr>
          <a:xfrm>
            <a:off x="533400" y="1765083"/>
            <a:ext cx="8229600" cy="4081887"/>
          </a:xfrm>
          <a:prstGeom prst="rect">
            <a:avLst/>
          </a:prstGeom>
          <a:ln>
            <a:noFill/>
            <a:headEnd type="none" w="med" len="med"/>
            <a:tailEnd type="none" w="med" len="med"/>
          </a:ln>
          <a:effectLst>
            <a:outerShdw blurRad="50800" dist="38100" dir="5400000" algn="t"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3"/>
          </a:lnRef>
          <a:fillRef idx="1">
            <a:schemeClr val="lt1"/>
          </a:fillRef>
          <a:effectRef idx="0">
            <a:schemeClr val="accent3"/>
          </a:effectRef>
          <a:fontRef idx="minor">
            <a:schemeClr val="dk1"/>
          </a:fontRef>
        </p:style>
        <p:txBody>
          <a:bodyPr wrap="square" lIns="0" tIns="0" rIns="0" bIns="0" rtlCol="0" anchor="t">
            <a:spAutoFit/>
          </a:bodyPr>
          <a:lstStyle/>
          <a:p>
            <a:r>
              <a:rPr lang="en-US" b="1" dirty="0"/>
              <a:t>  </a:t>
            </a:r>
          </a:p>
          <a:p>
            <a:r>
              <a:rPr lang="en-US" b="1" dirty="0"/>
              <a:t> Author: Dr. Raji Kannampuzha</a:t>
            </a:r>
          </a:p>
          <a:p>
            <a:endParaRPr lang="en-US" b="1" dirty="0"/>
          </a:p>
          <a:p>
            <a:r>
              <a:rPr lang="en-US" b="1" dirty="0">
                <a:ea typeface="Canva Sans"/>
                <a:cs typeface="Canva Sans"/>
                <a:sym typeface="Canva Sans"/>
              </a:rPr>
              <a:t> This work, "University Physics I Lecture Slides, </a:t>
            </a:r>
            <a:r>
              <a:rPr lang="en-US" b="1" dirty="0">
                <a:solidFill>
                  <a:schemeClr val="tx1"/>
                </a:solidFill>
                <a:latin typeface="Arial"/>
                <a:ea typeface="Canva Sans"/>
                <a:cs typeface="Canva Sans"/>
                <a:sym typeface="Canva Sans"/>
              </a:rPr>
              <a:t>Chapter 7 Work And Kinetic Energy</a:t>
            </a:r>
            <a:r>
              <a:rPr lang="en-US" b="1" dirty="0">
                <a:ea typeface="Canva Sans"/>
                <a:cs typeface="Canva Sans"/>
                <a:sym typeface="Canva Sans"/>
              </a:rPr>
              <a:t>" is adapted from </a:t>
            </a:r>
            <a:r>
              <a:rPr lang="en-US" b="1" u="sng" dirty="0">
                <a:ea typeface="Canva Sans"/>
                <a:cs typeface="Canva Sans"/>
                <a:sym typeface="Canva Sans"/>
                <a:hlinkClick r:id="rId2" tooltip="https://openstax.org/details/books/university-physics-volume-1">
                  <a:extLst>
                    <a:ext uri="{A12FA001-AC4F-418D-AE19-62706E023703}">
                      <ahyp:hlinkClr xmlns:ahyp="http://schemas.microsoft.com/office/drawing/2018/hyperlinkcolor" val="tx"/>
                    </a:ext>
                  </a:extLst>
                </a:hlinkClick>
              </a:rPr>
              <a:t>"</a:t>
            </a:r>
            <a:r>
              <a:rPr lang="en-US" b="1" u="sng" dirty="0">
                <a:solidFill>
                  <a:srgbClr val="3333FF"/>
                </a:solidFill>
                <a:ea typeface="Canva Sans"/>
                <a:cs typeface="Canva Sans"/>
                <a:sym typeface="Canva Sans"/>
                <a:hlinkClick r:id="rId2" tooltip="https://openstax.org/details/books/university-physics-volume-1">
                  <a:extLst>
                    <a:ext uri="{A12FA001-AC4F-418D-AE19-62706E023703}">
                      <ahyp:hlinkClr xmlns:ahyp="http://schemas.microsoft.com/office/drawing/2018/hyperlinkcolor" val="tx"/>
                    </a:ext>
                  </a:extLst>
                </a:hlinkClick>
              </a:rPr>
              <a:t>University Physics Volume 1</a:t>
            </a:r>
            <a:r>
              <a:rPr lang="en-US" b="1" u="sng" dirty="0">
                <a:ea typeface="Canva Sans"/>
                <a:cs typeface="Canva Sans"/>
                <a:sym typeface="Canva Sans"/>
                <a:hlinkClick r:id="rId2" tooltip="https://openstax.org/details/books/university-physics-volume-1">
                  <a:extLst>
                    <a:ext uri="{A12FA001-AC4F-418D-AE19-62706E023703}">
                      <ahyp:hlinkClr xmlns:ahyp="http://schemas.microsoft.com/office/drawing/2018/hyperlinkcolor" val="tx"/>
                    </a:ext>
                  </a:extLst>
                </a:hlinkClick>
              </a:rPr>
              <a:t>"</a:t>
            </a:r>
            <a:r>
              <a:rPr lang="en-US" b="1" dirty="0">
                <a:ea typeface="Canva Sans"/>
                <a:cs typeface="Canva Sans"/>
                <a:sym typeface="Canva Sans"/>
              </a:rPr>
              <a:t>  by William Moebs, Samuel J. Ling, Jeff   Sanny, et al., used under </a:t>
            </a:r>
            <a:r>
              <a:rPr lang="en-US" b="1" u="sng" dirty="0">
                <a:solidFill>
                  <a:srgbClr val="3333FF"/>
                </a:solidFill>
                <a:ea typeface="Canva Sans"/>
                <a:cs typeface="Canva Sans"/>
                <a:sym typeface="Canva Sans"/>
                <a:hlinkClick r:id="rId3" tooltip="https://creativecommons.org/licenses/by/4.0/">
                  <a:extLst>
                    <a:ext uri="{A12FA001-AC4F-418D-AE19-62706E023703}">
                      <ahyp:hlinkClr xmlns:ahyp="http://schemas.microsoft.com/office/drawing/2018/hyperlinkcolor" val="tx"/>
                    </a:ext>
                  </a:extLst>
                </a:hlinkClick>
              </a:rPr>
              <a:t>CC BY 4.0</a:t>
            </a:r>
            <a:r>
              <a:rPr lang="en-US" b="1" dirty="0">
                <a:ea typeface="Canva Sans"/>
                <a:cs typeface="Canva Sans"/>
                <a:sym typeface="Canva Sans"/>
              </a:rPr>
              <a:t> </a:t>
            </a:r>
            <a:endParaRPr lang="en-US" b="1" dirty="0">
              <a:latin typeface="+mn-lt"/>
              <a:ea typeface="Canva Sans"/>
              <a:cs typeface="Canva Sans"/>
              <a:sym typeface="Canva Sans"/>
            </a:endParaRPr>
          </a:p>
          <a:p>
            <a:pPr>
              <a:lnSpc>
                <a:spcPts val="1750"/>
              </a:lnSpc>
            </a:pPr>
            <a:endParaRPr lang="en-US" b="1" dirty="0">
              <a:latin typeface="+mn-lt"/>
              <a:ea typeface="Canva Sans"/>
              <a:cs typeface="Canva Sans"/>
              <a:sym typeface="Canva Sans"/>
            </a:endParaRPr>
          </a:p>
          <a:p>
            <a:r>
              <a:rPr lang="en-US" b="1" dirty="0">
                <a:latin typeface="+mn-lt"/>
                <a:ea typeface="Canva Sans"/>
                <a:cs typeface="Canva Sans"/>
                <a:sym typeface="Canva Sans"/>
              </a:rPr>
              <a:t>"University Physics I Lecture Slides" is licensed under </a:t>
            </a:r>
            <a:r>
              <a:rPr lang="en-US" b="1" u="sng" dirty="0">
                <a:solidFill>
                  <a:srgbClr val="3333FF"/>
                </a:solidFill>
                <a:ea typeface="Canva Sans"/>
                <a:cs typeface="Canva Sans"/>
                <a:sym typeface="Canva Sans"/>
                <a:hlinkClick r:id="rId3" tooltip="https://creativecommons.org/licenses/by/4.0/">
                  <a:extLst>
                    <a:ext uri="{A12FA001-AC4F-418D-AE19-62706E023703}">
                      <ahyp:hlinkClr xmlns:ahyp="http://schemas.microsoft.com/office/drawing/2018/hyperlinkcolor" val="tx"/>
                    </a:ext>
                  </a:extLst>
                </a:hlinkClick>
              </a:rPr>
              <a:t>CC BY 4.0</a:t>
            </a:r>
            <a:r>
              <a:rPr lang="en-US" b="1" dirty="0">
                <a:ea typeface="Canva Sans"/>
                <a:cs typeface="Canva Sans"/>
                <a:sym typeface="Canva Sans"/>
              </a:rPr>
              <a:t> </a:t>
            </a:r>
            <a:r>
              <a:rPr lang="en-US" b="1" dirty="0">
                <a:latin typeface="+mn-lt"/>
                <a:ea typeface="Canva Sans"/>
                <a:cs typeface="Canva Sans"/>
                <a:sym typeface="Canva Sans"/>
              </a:rPr>
              <a:t>by Raji Kannampuzha</a:t>
            </a:r>
          </a:p>
          <a:p>
            <a:pPr>
              <a:lnSpc>
                <a:spcPts val="2380"/>
              </a:lnSpc>
            </a:pPr>
            <a:endParaRPr lang="en-US" sz="1250" dirty="0">
              <a:solidFill>
                <a:srgbClr val="623A2A"/>
              </a:solidFill>
              <a:latin typeface="Canva Sans"/>
              <a:ea typeface="Canva Sans"/>
              <a:cs typeface="Canva Sans"/>
              <a:sym typeface="Canva Sans"/>
            </a:endParaRPr>
          </a:p>
        </p:txBody>
      </p:sp>
      <p:pic>
        <p:nvPicPr>
          <p:cNvPr id="10" name="Picture 9" descr="Raji K Physics Logo">
            <a:extLst>
              <a:ext uri="{FF2B5EF4-FFF2-40B4-BE49-F238E27FC236}">
                <a16:creationId xmlns:a16="http://schemas.microsoft.com/office/drawing/2014/main" id="{328515F0-B276-8FE4-D89F-5A561458C7EC}"/>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01616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B5A1-2C71-D5C3-876F-8BC0B1A27035}"/>
              </a:ext>
            </a:extLst>
          </p:cNvPr>
          <p:cNvSpPr>
            <a:spLocks noGrp="1"/>
          </p:cNvSpPr>
          <p:nvPr>
            <p:ph type="title"/>
          </p:nvPr>
        </p:nvSpPr>
        <p:spPr/>
        <p:txBody>
          <a:bodyPr>
            <a:normAutofit/>
          </a:bodyPr>
          <a:lstStyle/>
          <a:p>
            <a:pPr algn="ctr"/>
            <a:r>
              <a:rPr lang="en-US" sz="2800" b="1" dirty="0">
                <a:solidFill>
                  <a:schemeClr val="tx1"/>
                </a:solidFill>
              </a:rPr>
              <a:t>CHAPTER 7 </a:t>
            </a:r>
            <a:r>
              <a:rPr lang="en-US" sz="2800" dirty="0">
                <a:solidFill>
                  <a:schemeClr val="tx1"/>
                </a:solidFill>
              </a:rPr>
              <a:t>Work and Kinetic Energy</a:t>
            </a:r>
          </a:p>
        </p:txBody>
      </p:sp>
      <p:sp>
        <p:nvSpPr>
          <p:cNvPr id="5" name="Picture Placeholder 2">
            <a:extLst>
              <a:ext uri="{FF2B5EF4-FFF2-40B4-BE49-F238E27FC236}">
                <a16:creationId xmlns:a16="http://schemas.microsoft.com/office/drawing/2014/main" id="{340574FC-FCBB-4378-F46D-C14B813FABE1}"/>
              </a:ext>
            </a:extLst>
          </p:cNvPr>
          <p:cNvSpPr>
            <a:spLocks noGrp="1"/>
          </p:cNvSpPr>
          <p:nvPr>
            <p:ph type="body" sz="quarter" idx="14"/>
          </p:nvPr>
        </p:nvSpPr>
        <p:spPr>
          <a:xfrm>
            <a:off x="487100" y="1207757"/>
            <a:ext cx="8062913" cy="4566260"/>
          </a:xfrm>
        </p:spPr>
        <p:txBody>
          <a:bodyPr/>
          <a:lstStyle/>
          <a:p>
            <a:r>
              <a:rPr lang="en-US" sz="2800" b="1" dirty="0"/>
              <a:t>Chapter Outline</a:t>
            </a:r>
          </a:p>
          <a:p>
            <a:endParaRPr lang="en-US" sz="2800" b="1" dirty="0"/>
          </a:p>
          <a:p>
            <a:pPr>
              <a:lnSpc>
                <a:spcPct val="150000"/>
              </a:lnSpc>
            </a:pPr>
            <a:r>
              <a:rPr lang="en-US" sz="2800" b="1" dirty="0">
                <a:hlinkClick r:id="rId2"/>
              </a:rPr>
              <a:t>7.1 Work </a:t>
            </a:r>
            <a:endParaRPr lang="en-US" sz="2800" b="1" dirty="0"/>
          </a:p>
          <a:p>
            <a:pPr>
              <a:lnSpc>
                <a:spcPct val="150000"/>
              </a:lnSpc>
            </a:pPr>
            <a:r>
              <a:rPr lang="en-US" sz="2800" b="1" dirty="0">
                <a:hlinkClick r:id="rId3"/>
              </a:rPr>
              <a:t>7.2 Kinetic Energy </a:t>
            </a:r>
            <a:endParaRPr lang="en-US" sz="2800" b="1" dirty="0"/>
          </a:p>
          <a:p>
            <a:pPr>
              <a:lnSpc>
                <a:spcPct val="150000"/>
              </a:lnSpc>
            </a:pPr>
            <a:r>
              <a:rPr lang="en-US" sz="2800" b="1" dirty="0">
                <a:hlinkClick r:id="rId4"/>
              </a:rPr>
              <a:t>7.3 Work-Energy Theorem </a:t>
            </a:r>
            <a:endParaRPr lang="en-US" sz="2800" b="1" dirty="0"/>
          </a:p>
          <a:p>
            <a:pPr>
              <a:lnSpc>
                <a:spcPct val="150000"/>
              </a:lnSpc>
            </a:pPr>
            <a:r>
              <a:rPr lang="en-US" sz="2800" b="1" dirty="0">
                <a:hlinkClick r:id="rId5"/>
              </a:rPr>
              <a:t>7.4 Power </a:t>
            </a:r>
            <a:endParaRPr lang="en-US" sz="2800" b="1" dirty="0"/>
          </a:p>
          <a:p>
            <a:endParaRPr lang="en-US" dirty="0"/>
          </a:p>
        </p:txBody>
      </p:sp>
      <p:pic>
        <p:nvPicPr>
          <p:cNvPr id="3" name="Picture 2" descr="Raji K Physics Logo">
            <a:extLst>
              <a:ext uri="{FF2B5EF4-FFF2-40B4-BE49-F238E27FC236}">
                <a16:creationId xmlns:a16="http://schemas.microsoft.com/office/drawing/2014/main" id="{7F080AAD-AA4D-DEE7-E385-7B604EEB7B64}"/>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907267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42" y="187088"/>
            <a:ext cx="9031458" cy="673644"/>
          </a:xfrm>
        </p:spPr>
        <p:txBody>
          <a:bodyPr>
            <a:normAutofit/>
          </a:bodyPr>
          <a:lstStyle/>
          <a:p>
            <a:pPr algn="ctr"/>
            <a:r>
              <a:rPr lang="en-US" altLang="en-US" sz="2800" b="1" cap="all" spc="-45" dirty="0">
                <a:solidFill>
                  <a:schemeClr val="tx1"/>
                </a:solidFill>
                <a:ea typeface="+mj-ea"/>
                <a:cs typeface="Arial" panose="020B0604020202020204" pitchFamily="34" charset="0"/>
              </a:rPr>
              <a:t>Work Done by a Force</a:t>
            </a:r>
            <a:r>
              <a:rPr lang="en-US" sz="2800" b="1" dirty="0">
                <a:solidFill>
                  <a:schemeClr val="tx1"/>
                </a:solidFill>
              </a:rPr>
              <a:t> </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5005" y="1282718"/>
                <a:ext cx="7913989" cy="4034869"/>
              </a:xfrm>
            </p:spPr>
            <p:txBody>
              <a:bodyPr/>
              <a:lstStyle/>
              <a:p>
                <a:pPr marL="342900" indent="-342900">
                  <a:buClrTx/>
                  <a:buFont typeface="Wingdings" panose="05000000000000000000" pitchFamily="2" charset="2"/>
                  <a:buChar char="Ø"/>
                </a:pPr>
                <a:r>
                  <a:rPr lang="en-US" altLang="en-US" b="1" dirty="0"/>
                  <a:t>A force acting on a body does work if the body undergoes a displacement (though there are a few interesting exceptions which we will discuss later).</a:t>
                </a:r>
              </a:p>
              <a:p>
                <a:pPr marL="342900" indent="-342900">
                  <a:buClrTx/>
                  <a:buFont typeface="Wingdings" panose="05000000000000000000" pitchFamily="2" charset="2"/>
                  <a:buChar char="Ø"/>
                </a:pPr>
                <a:r>
                  <a:rPr lang="en-US" altLang="en-US" b="1" dirty="0"/>
                  <a:t>The simplest case is a work done by a constant force acting in the same direction as a straig</a:t>
                </a:r>
                <a:r>
                  <a:rPr lang="en-US" altLang="en-US" dirty="0"/>
                  <a:t>ht </a:t>
                </a:r>
                <a:r>
                  <a:rPr lang="en-US" altLang="en-US" b="1" dirty="0"/>
                  <a:t>– line displacement:</a:t>
                </a:r>
              </a:p>
              <a:p>
                <a:pPr marL="342900" indent="-342900">
                  <a:buClrTx/>
                  <a:buFont typeface="Wingdings" panose="05000000000000000000" pitchFamily="2" charset="2"/>
                  <a:buChar char="Ø"/>
                </a:pPr>
                <a14:m>
                  <m:oMath xmlns:m="http://schemas.openxmlformats.org/officeDocument/2006/math">
                    <m:r>
                      <a:rPr lang="en-US" b="1" i="1">
                        <a:latin typeface="Cambria Math" panose="02040503050406030204" pitchFamily="18" charset="0"/>
                      </a:rPr>
                      <m:t>𝑾</m:t>
                    </m:r>
                    <m:r>
                      <a:rPr lang="en-US" b="1" i="1">
                        <a:latin typeface="Cambria Math" panose="02040503050406030204" pitchFamily="18" charset="0"/>
                      </a:rPr>
                      <m:t>=</m:t>
                    </m:r>
                    <m:r>
                      <a:rPr lang="en-US" b="1" i="1">
                        <a:latin typeface="Cambria Math" panose="02040503050406030204" pitchFamily="18" charset="0"/>
                      </a:rPr>
                      <m:t>𝑭𝒅</m:t>
                    </m:r>
                  </m:oMath>
                </a14:m>
                <a:r>
                  <a:rPr lang="en-US" b="1" dirty="0"/>
                  <a:t>,  where </a:t>
                </a:r>
                <a:r>
                  <a:rPr lang="en-US" b="1" i="1" dirty="0"/>
                  <a:t>W</a:t>
                </a:r>
                <a:r>
                  <a:rPr lang="en-US" b="1" dirty="0"/>
                  <a:t> is the work done by a force </a:t>
                </a:r>
              </a:p>
              <a:p>
                <a:pPr marL="1485900" lvl="2" indent="-342900">
                  <a:buClrTx/>
                  <a:buFont typeface="Wingdings" panose="05000000000000000000" pitchFamily="2" charset="2"/>
                  <a:buChar char="v"/>
                </a:pPr>
                <a:r>
                  <a:rPr lang="en-US" b="1" i="1" dirty="0"/>
                  <a:t>F</a:t>
                </a:r>
                <a:r>
                  <a:rPr lang="en-US" b="1" dirty="0"/>
                  <a:t> is the magnitude of the force </a:t>
                </a:r>
              </a:p>
              <a:p>
                <a:pPr marL="1485900" lvl="2" indent="-342900">
                  <a:buClrTx/>
                  <a:buFont typeface="Wingdings" panose="05000000000000000000" pitchFamily="2" charset="2"/>
                  <a:buChar char="v"/>
                </a:pPr>
                <a:r>
                  <a:rPr lang="en-US" b="1" i="1" dirty="0"/>
                  <a:t>d</a:t>
                </a:r>
                <a:r>
                  <a:rPr lang="en-US" b="1" dirty="0"/>
                  <a:t> is the magnitude of displacement</a:t>
                </a:r>
              </a:p>
              <a:p>
                <a:pPr marL="342900" indent="-342900">
                  <a:buClrTx/>
                  <a:buFont typeface="Wingdings" panose="05000000000000000000" pitchFamily="2" charset="2"/>
                  <a:buChar char="Ø"/>
                </a:pPr>
                <a:endParaRPr lang="en-US" b="1" dirty="0"/>
              </a:p>
              <a:p>
                <a:pPr marL="342900" indent="-342900">
                  <a:buClrTx/>
                  <a:buFont typeface="Wingdings" panose="05000000000000000000" pitchFamily="2" charset="2"/>
                  <a:buChar char="Ø"/>
                </a:pPr>
                <a:r>
                  <a:rPr lang="en-US" b="1" dirty="0">
                    <a:solidFill>
                      <a:prstClr val="black"/>
                    </a:solidFill>
                    <a:latin typeface="Calibri" panose="020F0502020204030204"/>
                  </a:rPr>
                  <a:t>Note: Do not confuse </a:t>
                </a:r>
                <a:r>
                  <a:rPr lang="en-US" b="1" i="1" dirty="0">
                    <a:solidFill>
                      <a:prstClr val="black"/>
                    </a:solidFill>
                    <a:latin typeface="Calibri" panose="020F0502020204030204"/>
                  </a:rPr>
                  <a:t>W</a:t>
                </a:r>
                <a:r>
                  <a:rPr lang="en-US" b="1" dirty="0">
                    <a:solidFill>
                      <a:prstClr val="black"/>
                    </a:solidFill>
                    <a:latin typeface="Calibri" panose="020F0502020204030204"/>
                  </a:rPr>
                  <a:t> (work) with </a:t>
                </a:r>
                <a:r>
                  <a:rPr lang="en-US" b="1" i="1" dirty="0">
                    <a:solidFill>
                      <a:prstClr val="black"/>
                    </a:solidFill>
                    <a:latin typeface="Calibri" panose="020F0502020204030204"/>
                  </a:rPr>
                  <a:t>w</a:t>
                </a:r>
                <a:r>
                  <a:rPr lang="en-US" b="1" dirty="0">
                    <a:solidFill>
                      <a:prstClr val="black"/>
                    </a:solidFill>
                    <a:latin typeface="Calibri" panose="020F0502020204030204"/>
                  </a:rPr>
                  <a:t> (weight)! </a:t>
                </a:r>
                <a:endParaRPr lang="en-US" b="1" dirty="0"/>
              </a:p>
              <a:p>
                <a:r>
                  <a:rPr lang="en-US" altLang="en-US" b="1" dirty="0">
                    <a:latin typeface="Arial" panose="020B0604020202020204" pitchFamily="34" charset="0"/>
                    <a:cs typeface="Arial" panose="020B0604020202020204" pitchFamily="34" charset="0"/>
                  </a:rPr>
                  <a:t> </a:t>
                </a:r>
                <a:endParaRPr lang="en-US" altLang="en-US" b="1" dirty="0">
                  <a:latin typeface="Cambria Math" panose="02040503050406030204" pitchFamily="18" charset="0"/>
                  <a:ea typeface="Cambria Math" panose="02040503050406030204" pitchFamily="18" charset="0"/>
                  <a:cs typeface="Arial" panose="020B0604020202020204" pitchFamily="34" charset="0"/>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5005" y="1282718"/>
                <a:ext cx="7913989" cy="4034869"/>
              </a:xfrm>
              <a:blipFill>
                <a:blip r:embed="rId2"/>
                <a:stretch>
                  <a:fillRect l="-693" t="-604"/>
                </a:stretch>
              </a:blipFill>
            </p:spPr>
            <p:txBody>
              <a:bodyPr/>
              <a:lstStyle/>
              <a:p>
                <a:r>
                  <a:rPr lang="en-US">
                    <a:noFill/>
                  </a:rPr>
                  <a:t> </a:t>
                </a:r>
              </a:p>
            </p:txBody>
          </p:sp>
        </mc:Fallback>
      </mc:AlternateContent>
      <p:pic>
        <p:nvPicPr>
          <p:cNvPr id="4" name="Picture 3" descr="Raji K Physics Logo">
            <a:extLst>
              <a:ext uri="{FF2B5EF4-FFF2-40B4-BE49-F238E27FC236}">
                <a16:creationId xmlns:a16="http://schemas.microsoft.com/office/drawing/2014/main" id="{9AD20B65-070E-68E4-FEF0-4EE2676F22D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3984980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994" y="163944"/>
            <a:ext cx="8062912" cy="659535"/>
          </a:xfrm>
        </p:spPr>
        <p:txBody>
          <a:bodyPr>
            <a:normAutofit/>
          </a:bodyPr>
          <a:lstStyle/>
          <a:p>
            <a:pPr algn="ctr"/>
            <a:r>
              <a:rPr lang="en-US" sz="2800" b="1" dirty="0">
                <a:solidFill>
                  <a:srgbClr val="000000"/>
                </a:solidFill>
              </a:rPr>
              <a:t>Work done by a constant force</a:t>
            </a:r>
          </a:p>
        </p:txBody>
      </p:sp>
      <p:pic>
        <p:nvPicPr>
          <p:cNvPr id="2" name="Picture Placeholder 1" descr="Figure a shows a person pushing a lawn mower with a constant force. The displacement is a horizontal vector d pointing to the right. The force F is a vector pointing down and to the right, along the handle of the lawn mower, at an angle theta below the horizontal. The component of the force parallel to the displacement is F cosine theta. The equation W equals F d cosine theta is shown in the figure. Figure b shows a person holding a briefcase. The force F is upward. The displacement is zero. Figure c shows the person in b walking horizontally while holding the briefcase. The force F is upward, as in b. The displacement d is horizontal to the right. Theta equals ninety degrees and cosine theta equals zero."/>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766" r="-1766"/>
          <a:stretch>
            <a:fillRect/>
          </a:stretch>
        </p:blipFill>
        <p:spPr>
          <a:xfrm>
            <a:off x="457200" y="1108075"/>
            <a:ext cx="4032250" cy="5256213"/>
          </a:xfrm>
        </p:spPr>
      </p:pic>
      <mc:AlternateContent xmlns:mc="http://schemas.openxmlformats.org/markup-compatibility/2006" xmlns:a14="http://schemas.microsoft.com/office/drawing/2010/main">
        <mc:Choice Requires="a14">
          <p:sp>
            <p:nvSpPr>
              <p:cNvPr id="14" name="Text Placeholder 13"/>
              <p:cNvSpPr>
                <a:spLocks noGrp="1"/>
              </p:cNvSpPr>
              <p:nvPr>
                <p:ph type="body" sz="quarter" idx="14"/>
              </p:nvPr>
            </p:nvSpPr>
            <p:spPr>
              <a:xfrm>
                <a:off x="4654552" y="1107315"/>
                <a:ext cx="4184862" cy="5256973"/>
              </a:xfrm>
            </p:spPr>
            <p:txBody>
              <a:bodyPr>
                <a:noAutofit/>
              </a:bodyPr>
              <a:lstStyle/>
              <a:p>
                <a:pPr marL="457200" indent="-457200">
                  <a:buClrTx/>
                  <a:buFont typeface="+mj-lt"/>
                  <a:buAutoNum type="alphaLcParenR"/>
                </a:pPr>
                <a:r>
                  <a:rPr lang="en-US" b="1" dirty="0">
                    <a:solidFill>
                      <a:schemeClr val="tx1"/>
                    </a:solidFill>
                  </a:rPr>
                  <a:t>A person pushes a lawn mower with a constant force. The component of the force parallel to the displacement is the work done, as shown in the equation in the figure. Here,</a:t>
                </a:r>
                <a:r>
                  <a:rPr kumimoji="0" lang="en-US" altLang="en-US" b="1" i="0" u="none" strike="noStrike" kern="1200" cap="none" spc="0" normalizeH="0" baseline="0" noProof="0" dirty="0">
                    <a:ln>
                      <a:noFill/>
                    </a:ln>
                    <a:solidFill>
                      <a:schemeClr val="tx1"/>
                    </a:solidFill>
                    <a:effectLst/>
                    <a:uLnTx/>
                    <a:uFillTx/>
                    <a:latin typeface="Cambria Math" panose="02040503050406030204" pitchFamily="18" charset="0"/>
                    <a:ea typeface="Cambria Math" panose="02040503050406030204" pitchFamily="18" charset="0"/>
                    <a:cs typeface="Arial" panose="020B0604020202020204" pitchFamily="34" charset="0"/>
                  </a:rPr>
                  <a:t>    </a:t>
                </a:r>
                <a:r>
                  <a:rPr kumimoji="0" lang="en-US" altLang="en-US" sz="2400" b="1" u="none" strike="noStrike" kern="1200" cap="none" spc="0" normalizeH="0" baseline="0" noProof="0" dirty="0">
                    <a:ln>
                      <a:noFill/>
                    </a:ln>
                    <a:solidFill>
                      <a:schemeClr val="tx1"/>
                    </a:solidFill>
                    <a:effectLst/>
                    <a:uLnTx/>
                    <a:uFillTx/>
                    <a:latin typeface="Cambria Math" panose="02040503050406030204" pitchFamily="18" charset="0"/>
                    <a:ea typeface="Cambria Math" panose="02040503050406030204" pitchFamily="18" charset="0"/>
                    <a:cs typeface="Arial" panose="020B0604020202020204" pitchFamily="34" charset="0"/>
                  </a:rPr>
                  <a:t>W= (F cos</a:t>
                </a:r>
                <a:r>
                  <a:rPr kumimoji="0" lang="el-GR" altLang="en-US" sz="2400" b="1" u="none" strike="noStrike" kern="1200" cap="none" spc="0" normalizeH="0" baseline="0" noProof="0" dirty="0">
                    <a:ln>
                      <a:noFill/>
                    </a:ln>
                    <a:solidFill>
                      <a:schemeClr val="tx1"/>
                    </a:solidFill>
                    <a:effectLst/>
                    <a:uLnTx/>
                    <a:uFillTx/>
                    <a:latin typeface="Cambria Math" panose="02040503050406030204" pitchFamily="18" charset="0"/>
                    <a:ea typeface="Cambria Math" panose="02040503050406030204" pitchFamily="18" charset="0"/>
                    <a:cs typeface="Arial" panose="020B0604020202020204" pitchFamily="34" charset="0"/>
                  </a:rPr>
                  <a:t>θ</a:t>
                </a:r>
                <a:r>
                  <a:rPr kumimoji="0" lang="en-US" altLang="en-US" sz="2400" b="1" u="none" strike="noStrike" kern="1200" cap="none" spc="0" normalizeH="0" baseline="0" noProof="0" dirty="0">
                    <a:ln>
                      <a:noFill/>
                    </a:ln>
                    <a:solidFill>
                      <a:schemeClr val="tx1"/>
                    </a:solidFill>
                    <a:effectLst/>
                    <a:uLnTx/>
                    <a:uFillTx/>
                    <a:latin typeface="Cambria Math" panose="02040503050406030204" pitchFamily="18" charset="0"/>
                    <a:ea typeface="Cambria Math" panose="02040503050406030204" pitchFamily="18" charset="0"/>
                    <a:cs typeface="Arial" panose="020B0604020202020204" pitchFamily="34" charset="0"/>
                  </a:rPr>
                  <a:t>)d </a:t>
                </a:r>
                <a:endParaRPr lang="en-US" sz="2400" b="1" dirty="0">
                  <a:solidFill>
                    <a:schemeClr val="tx1"/>
                  </a:solidFill>
                  <a:latin typeface="Cambria Math" panose="02040503050406030204" pitchFamily="18" charset="0"/>
                  <a:ea typeface="Cambria Math" panose="02040503050406030204" pitchFamily="18" charset="0"/>
                </a:endParaRPr>
              </a:p>
              <a:p>
                <a:pPr marL="457200" indent="-457200">
                  <a:buClrTx/>
                  <a:buFont typeface="+mj-lt"/>
                  <a:buAutoNum type="alphaLcParenR"/>
                </a:pPr>
                <a:r>
                  <a:rPr lang="en-US" b="1" dirty="0">
                    <a:solidFill>
                      <a:schemeClr val="tx1"/>
                    </a:solidFill>
                  </a:rPr>
                  <a:t>A person holds a briefcase. No work is done because the displacement is zero.</a:t>
                </a:r>
              </a:p>
              <a:p>
                <a:pPr marL="457200" indent="-457200">
                  <a:buClrTx/>
                  <a:buFont typeface="+mj-lt"/>
                  <a:buAutoNum type="alphaLcParenR"/>
                </a:pPr>
                <a:r>
                  <a:rPr lang="en-US" b="1" dirty="0">
                    <a:solidFill>
                      <a:schemeClr val="tx1"/>
                    </a:solidFill>
                  </a:rPr>
                  <a:t>The person in (b) </a:t>
                </a:r>
                <a:r>
                  <a:rPr lang="en-US" b="1" dirty="0">
                    <a:solidFill>
                      <a:srgbClr val="000000"/>
                    </a:solidFill>
                  </a:rPr>
                  <a:t>walks horizontally while holding the briefcase. No work is done because cos </a:t>
                </a:r>
                <a14:m>
                  <m:oMath xmlns:m="http://schemas.openxmlformats.org/officeDocument/2006/math">
                    <m:r>
                      <a:rPr lang="en-US" b="1" i="1" dirty="0" smtClean="0">
                        <a:solidFill>
                          <a:srgbClr val="000000"/>
                        </a:solidFill>
                        <a:latin typeface="Cambria Math"/>
                      </a:rPr>
                      <m:t>𝜽</m:t>
                    </m:r>
                  </m:oMath>
                </a14:m>
                <a:r>
                  <a:rPr lang="en-US" b="1" dirty="0">
                    <a:solidFill>
                      <a:srgbClr val="000000"/>
                    </a:solidFill>
                  </a:rPr>
                  <a:t> is zero.</a:t>
                </a:r>
              </a:p>
            </p:txBody>
          </p:sp>
        </mc:Choice>
        <mc:Fallback xmlns="">
          <p:sp>
            <p:nvSpPr>
              <p:cNvPr id="14" name="Text Placeholder 13"/>
              <p:cNvSpPr>
                <a:spLocks noGrp="1" noRot="1" noChangeAspect="1" noMove="1" noResize="1" noEditPoints="1" noAdjustHandles="1" noChangeArrowheads="1" noChangeShapeType="1" noTextEdit="1"/>
              </p:cNvSpPr>
              <p:nvPr>
                <p:ph type="body" sz="quarter" idx="14"/>
              </p:nvPr>
            </p:nvSpPr>
            <p:spPr>
              <a:xfrm>
                <a:off x="4654552" y="1107315"/>
                <a:ext cx="4184862" cy="5256973"/>
              </a:xfrm>
              <a:blipFill>
                <a:blip r:embed="rId3"/>
                <a:stretch>
                  <a:fillRect l="-1312" t="-580" r="-2041"/>
                </a:stretch>
              </a:blipFill>
            </p:spPr>
            <p:txBody>
              <a:bodyPr/>
              <a:lstStyle/>
              <a:p>
                <a:r>
                  <a:rPr lang="en-US">
                    <a:noFill/>
                  </a:rPr>
                  <a:t> </a:t>
                </a:r>
              </a:p>
            </p:txBody>
          </p:sp>
        </mc:Fallback>
      </mc:AlternateContent>
      <p:pic>
        <p:nvPicPr>
          <p:cNvPr id="6" name="Picture 5" descr="OpenStax logo">
            <a:extLst>
              <a:ext uri="{FF2B5EF4-FFF2-40B4-BE49-F238E27FC236}">
                <a16:creationId xmlns:a16="http://schemas.microsoft.com/office/drawing/2014/main" id="{60EDB635-6EB5-39C7-4202-95DD43AA001E}"/>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479402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5E1D6-151C-6638-B14D-B755E986D104}"/>
              </a:ext>
            </a:extLst>
          </p:cNvPr>
          <p:cNvSpPr>
            <a:spLocks noGrp="1"/>
          </p:cNvSpPr>
          <p:nvPr>
            <p:ph type="title"/>
          </p:nvPr>
        </p:nvSpPr>
        <p:spPr/>
        <p:txBody>
          <a:bodyPr>
            <a:normAutofit/>
          </a:bodyPr>
          <a:lstStyle/>
          <a:p>
            <a:pPr algn="ctr"/>
            <a:r>
              <a:rPr lang="en-US" sz="2800" dirty="0">
                <a:solidFill>
                  <a:schemeClr val="tx1"/>
                </a:solidFill>
              </a:rPr>
              <a:t>MAGNITUDE OF WORK</a:t>
            </a:r>
          </a:p>
        </p:txBody>
      </p:sp>
      <p:sp>
        <p:nvSpPr>
          <p:cNvPr id="4" name="Text Placeholder 3">
            <a:extLst>
              <a:ext uri="{FF2B5EF4-FFF2-40B4-BE49-F238E27FC236}">
                <a16:creationId xmlns:a16="http://schemas.microsoft.com/office/drawing/2014/main" id="{402A5057-8907-71D1-E004-D2A7038CC795}"/>
              </a:ext>
            </a:extLst>
          </p:cNvPr>
          <p:cNvSpPr>
            <a:spLocks noGrp="1"/>
          </p:cNvSpPr>
          <p:nvPr>
            <p:ph type="body" sz="quarter" idx="14"/>
          </p:nvPr>
        </p:nvSpPr>
        <p:spPr>
          <a:xfrm>
            <a:off x="592667" y="1321847"/>
            <a:ext cx="8062912" cy="4272926"/>
          </a:xfrm>
        </p:spPr>
        <p:txBody>
          <a:bodyPr/>
          <a:lstStyle/>
          <a:p>
            <a:pPr lvl="0" fontAlgn="auto">
              <a:spcBef>
                <a:spcPct val="50000"/>
              </a:spcBef>
              <a:spcAft>
                <a:spcPts val="0"/>
              </a:spcAft>
              <a:buClrTx/>
            </a:pPr>
            <a:r>
              <a:rPr lang="en-US" altLang="en-US" sz="2000" b="1" dirty="0">
                <a:solidFill>
                  <a:prstClr val="black"/>
                </a:solidFill>
              </a:rPr>
              <a:t>If the force (or a component) is in the direction of motion, the work done </a:t>
            </a:r>
            <a:r>
              <a:rPr lang="en-US" altLang="en-US" sz="2000" b="1" dirty="0"/>
              <a:t>is positive.</a:t>
            </a:r>
          </a:p>
          <a:p>
            <a:pPr lvl="0" fontAlgn="auto">
              <a:spcBef>
                <a:spcPct val="50000"/>
              </a:spcBef>
              <a:spcAft>
                <a:spcPts val="0"/>
              </a:spcAft>
              <a:buClrTx/>
            </a:pPr>
            <a:r>
              <a:rPr lang="en-US" altLang="en-US" sz="2000" b="1" dirty="0"/>
              <a:t>If the force (or a component) is opposite to the direction of motion, </a:t>
            </a:r>
            <a:r>
              <a:rPr lang="en-US" altLang="en-US" sz="2000" b="1" dirty="0">
                <a:solidFill>
                  <a:prstClr val="black"/>
                </a:solidFill>
              </a:rPr>
              <a:t>the work done is </a:t>
            </a:r>
            <a:r>
              <a:rPr lang="en-US" altLang="en-US" sz="2000" b="1" dirty="0"/>
              <a:t>negative.</a:t>
            </a:r>
          </a:p>
          <a:p>
            <a:pPr lvl="0" fontAlgn="auto">
              <a:spcBef>
                <a:spcPct val="50000"/>
              </a:spcBef>
              <a:spcAft>
                <a:spcPts val="0"/>
              </a:spcAft>
              <a:buClrTx/>
            </a:pPr>
            <a:r>
              <a:rPr lang="en-US" altLang="en-US" sz="2000" b="1" u="sng" dirty="0">
                <a:hlinkClick r:id="rId2"/>
              </a:rPr>
              <a:t> </a:t>
            </a:r>
            <a:endParaRPr lang="en-US" altLang="en-US" sz="2000" b="1" u="sng" dirty="0"/>
          </a:p>
          <a:p>
            <a:pPr>
              <a:spcBef>
                <a:spcPct val="50000"/>
              </a:spcBef>
              <a:buNone/>
            </a:pPr>
            <a:r>
              <a:rPr lang="en-US" altLang="en-US" b="1" dirty="0">
                <a:latin typeface="Arial" panose="020B0604020202020204" pitchFamily="34" charset="0"/>
                <a:cs typeface="Arial" panose="020B0604020202020204" pitchFamily="34" charset="0"/>
              </a:rPr>
              <a:t>Unit of work: newton • meter (N • m)</a:t>
            </a:r>
          </a:p>
          <a:p>
            <a:pPr>
              <a:spcBef>
                <a:spcPct val="50000"/>
              </a:spcBef>
              <a:buNone/>
            </a:pPr>
            <a:r>
              <a:rPr lang="en-US" altLang="en-US" sz="2000" b="1" dirty="0">
                <a:latin typeface="Arial" panose="020B0604020202020204" pitchFamily="34" charset="0"/>
                <a:cs typeface="Arial" panose="020B0604020202020204" pitchFamily="34" charset="0"/>
              </a:rPr>
              <a:t>1 N • m is called 1 joule.</a:t>
            </a:r>
          </a:p>
          <a:p>
            <a:pPr>
              <a:spcBef>
                <a:spcPct val="50000"/>
              </a:spcBef>
              <a:buNone/>
            </a:pPr>
            <a:r>
              <a:rPr lang="en-US" altLang="en-US" sz="2000" b="1" dirty="0">
                <a:latin typeface="Arial" panose="020B0604020202020204" pitchFamily="34" charset="0"/>
                <a:cs typeface="Arial" panose="020B0604020202020204" pitchFamily="34" charset="0"/>
                <a:hlinkClick r:id="rId3"/>
              </a:rPr>
              <a:t> Video-Work by Constant Force</a:t>
            </a:r>
            <a:endParaRPr lang="en-US" altLang="en-US" sz="2000" b="1" dirty="0">
              <a:latin typeface="Arial" panose="020B0604020202020204" pitchFamily="34" charset="0"/>
              <a:cs typeface="Arial" panose="020B0604020202020204" pitchFamily="34" charset="0"/>
            </a:endParaRPr>
          </a:p>
          <a:p>
            <a:pPr>
              <a:spcBef>
                <a:spcPct val="50000"/>
              </a:spcBef>
              <a:buNone/>
            </a:pPr>
            <a:r>
              <a:rPr lang="en-US" altLang="en-US" sz="2000" b="1" u="sng" dirty="0">
                <a:hlinkClick r:id="rId2"/>
              </a:rPr>
              <a:t>Video - Work by Constant Force Example</a:t>
            </a:r>
            <a:r>
              <a:rPr lang="en-US" altLang="en-US" b="1" u="sng" dirty="0">
                <a:latin typeface="Arial" panose="020B0604020202020204" pitchFamily="34" charset="0"/>
                <a:cs typeface="Arial" panose="020B0604020202020204" pitchFamily="34" charset="0"/>
              </a:rPr>
              <a:t> </a:t>
            </a:r>
            <a:endParaRPr lang="en-US" altLang="en-US" sz="2000" b="1" dirty="0">
              <a:latin typeface="Arial" panose="020B0604020202020204" pitchFamily="34" charset="0"/>
              <a:cs typeface="Arial" panose="020B0604020202020204" pitchFamily="34" charset="0"/>
            </a:endParaRPr>
          </a:p>
          <a:p>
            <a:endParaRPr lang="en-US" dirty="0"/>
          </a:p>
        </p:txBody>
      </p:sp>
      <p:pic>
        <p:nvPicPr>
          <p:cNvPr id="3" name="Picture 2" descr="Raji K Physics Logo">
            <a:extLst>
              <a:ext uri="{FF2B5EF4-FFF2-40B4-BE49-F238E27FC236}">
                <a16:creationId xmlns:a16="http://schemas.microsoft.com/office/drawing/2014/main" id="{626ED9FA-10CC-71FD-F5F8-024336F2D9CF}"/>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475224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845" y="42202"/>
            <a:ext cx="8454260" cy="665871"/>
          </a:xfrm>
        </p:spPr>
        <p:txBody>
          <a:bodyPr>
            <a:normAutofit/>
          </a:bodyPr>
          <a:lstStyle/>
          <a:p>
            <a:pPr algn="ctr"/>
            <a:r>
              <a:rPr lang="en-US" altLang="en-US" sz="2800" b="1" dirty="0">
                <a:solidFill>
                  <a:schemeClr val="tx1"/>
                </a:solidFill>
                <a:latin typeface="Arial Black" panose="020B0A04020102020204" pitchFamily="34" charset="0"/>
              </a:rPr>
              <a:t>Scalar Product of Two Vectors</a:t>
            </a:r>
            <a:endParaRPr lang="en-US" sz="2800" dirty="0">
              <a:solidFill>
                <a:schemeClr val="tx1"/>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37066" y="1249940"/>
                <a:ext cx="8568267" cy="4385473"/>
              </a:xfrm>
            </p:spPr>
            <p:txBody>
              <a:bodyPr>
                <a:normAutofit/>
              </a:bodyPr>
              <a:lstStyle/>
              <a:p>
                <a:r>
                  <a:rPr lang="en-US" altLang="en-US" sz="2400" b="1" dirty="0">
                    <a:solidFill>
                      <a:prstClr val="black"/>
                    </a:solidFill>
                  </a:rPr>
                  <a:t>The scalar product of two vectors is  written as</a:t>
                </a:r>
                <a:r>
                  <a:rPr lang="en-US" sz="2400" b="1" dirty="0">
                    <a:solidFill>
                      <a:srgbClr val="000000"/>
                    </a:solidFill>
                  </a:rPr>
                  <a:t> </a:t>
                </a:r>
                <a14:m>
                  <m:oMath xmlns:m="http://schemas.openxmlformats.org/officeDocument/2006/math">
                    <m:acc>
                      <m:accPr>
                        <m:chr m:val="⃗"/>
                        <m:ctrlPr>
                          <a:rPr lang="en-US" sz="2400" b="1" i="1">
                            <a:solidFill>
                              <a:srgbClr val="000000"/>
                            </a:solidFill>
                            <a:latin typeface="Cambria Math" panose="02040503050406030204" pitchFamily="18" charset="0"/>
                          </a:rPr>
                        </m:ctrlPr>
                      </m:accPr>
                      <m:e>
                        <m:r>
                          <a:rPr lang="en-US" sz="2400" b="1" i="1">
                            <a:solidFill>
                              <a:srgbClr val="000000"/>
                            </a:solidFill>
                            <a:latin typeface="Cambria Math" panose="02040503050406030204" pitchFamily="18" charset="0"/>
                          </a:rPr>
                          <m:t>𝑨</m:t>
                        </m:r>
                      </m:e>
                    </m:acc>
                    <m:r>
                      <a:rPr lang="en-US" sz="2400" b="1" i="1">
                        <a:solidFill>
                          <a:srgbClr val="000000"/>
                        </a:solidFill>
                        <a:latin typeface="Cambria Math" panose="02040503050406030204" pitchFamily="18" charset="0"/>
                      </a:rPr>
                      <m:t>⋅</m:t>
                    </m:r>
                    <m:acc>
                      <m:accPr>
                        <m:chr m:val="⃗"/>
                        <m:ctrlPr>
                          <a:rPr lang="en-US" sz="2400" b="1" i="1">
                            <a:solidFill>
                              <a:srgbClr val="000000"/>
                            </a:solidFill>
                            <a:latin typeface="Cambria Math" panose="02040503050406030204" pitchFamily="18" charset="0"/>
                          </a:rPr>
                        </m:ctrlPr>
                      </m:accPr>
                      <m:e>
                        <m:r>
                          <a:rPr lang="en-US" sz="2400" b="1" i="1">
                            <a:solidFill>
                              <a:srgbClr val="000000"/>
                            </a:solidFill>
                            <a:latin typeface="Cambria Math" panose="02040503050406030204" pitchFamily="18" charset="0"/>
                          </a:rPr>
                          <m:t>𝑩</m:t>
                        </m:r>
                      </m:e>
                    </m:acc>
                    <m:r>
                      <a:rPr lang="en-US" sz="2400" b="1" i="0" smtClean="0">
                        <a:solidFill>
                          <a:srgbClr val="000000"/>
                        </a:solidFill>
                        <a:latin typeface="Cambria Math" panose="02040503050406030204" pitchFamily="18" charset="0"/>
                      </a:rPr>
                      <m:t>.  </m:t>
                    </m:r>
                  </m:oMath>
                </a14:m>
                <a:r>
                  <a:rPr lang="en-US" altLang="en-US" sz="2400" b="1" dirty="0"/>
                  <a:t>It is also called the dot product.</a:t>
                </a:r>
                <a:r>
                  <a:rPr lang="en-US" sz="2400" b="1" dirty="0">
                    <a:solidFill>
                      <a:srgbClr val="000000"/>
                    </a:solidFill>
                  </a:rPr>
                  <a:t> </a:t>
                </a:r>
              </a:p>
              <a:p>
                <a:pPr/>
                <a14:m>
                  <m:oMathPara xmlns:m="http://schemas.openxmlformats.org/officeDocument/2006/math">
                    <m:oMathParaPr>
                      <m:jc m:val="centerGroup"/>
                    </m:oMathParaPr>
                    <m:oMath xmlns:m="http://schemas.openxmlformats.org/officeDocument/2006/math">
                      <m:acc>
                        <m:accPr>
                          <m:chr m:val="⃗"/>
                          <m:ctrlPr>
                            <a:rPr lang="en-US" sz="2400" b="1" i="1">
                              <a:solidFill>
                                <a:srgbClr val="000000"/>
                              </a:solidFill>
                              <a:latin typeface="Cambria Math" panose="02040503050406030204" pitchFamily="18" charset="0"/>
                            </a:rPr>
                          </m:ctrlPr>
                        </m:accPr>
                        <m:e>
                          <m:r>
                            <a:rPr lang="en-US" sz="2400" b="1" i="1">
                              <a:solidFill>
                                <a:srgbClr val="000000"/>
                              </a:solidFill>
                              <a:latin typeface="Cambria Math" panose="02040503050406030204" pitchFamily="18" charset="0"/>
                            </a:rPr>
                            <m:t>𝑨</m:t>
                          </m:r>
                        </m:e>
                      </m:acc>
                      <m:r>
                        <a:rPr lang="en-US" sz="2400" b="1" i="1">
                          <a:solidFill>
                            <a:srgbClr val="000000"/>
                          </a:solidFill>
                          <a:latin typeface="Cambria Math" panose="02040503050406030204" pitchFamily="18" charset="0"/>
                        </a:rPr>
                        <m:t>⋅</m:t>
                      </m:r>
                      <m:acc>
                        <m:accPr>
                          <m:chr m:val="⃗"/>
                          <m:ctrlPr>
                            <a:rPr lang="en-US" sz="2400" b="1" i="1">
                              <a:solidFill>
                                <a:srgbClr val="000000"/>
                              </a:solidFill>
                              <a:latin typeface="Cambria Math" panose="02040503050406030204" pitchFamily="18" charset="0"/>
                            </a:rPr>
                          </m:ctrlPr>
                        </m:accPr>
                        <m:e>
                          <m:r>
                            <a:rPr lang="en-US" sz="2400" b="1" i="1">
                              <a:solidFill>
                                <a:srgbClr val="000000"/>
                              </a:solidFill>
                              <a:latin typeface="Cambria Math" panose="02040503050406030204" pitchFamily="18" charset="0"/>
                            </a:rPr>
                            <m:t>𝑩</m:t>
                          </m:r>
                        </m:e>
                      </m:acc>
                      <m:r>
                        <a:rPr lang="en-US" sz="2400" b="1" i="1">
                          <a:solidFill>
                            <a:srgbClr val="000000"/>
                          </a:solidFill>
                          <a:latin typeface="Cambria Math" panose="02040503050406030204" pitchFamily="18" charset="0"/>
                        </a:rPr>
                        <m:t>≡</m:t>
                      </m:r>
                      <m:r>
                        <m:rPr>
                          <m:nor/>
                        </m:rPr>
                        <a:rPr lang="en-US" sz="2400" b="1">
                          <a:solidFill>
                            <a:srgbClr val="000000"/>
                          </a:solidFill>
                        </a:rPr>
                        <m:t> </m:t>
                      </m:r>
                      <m:r>
                        <m:rPr>
                          <m:nor/>
                        </m:rPr>
                        <a:rPr lang="en-US" sz="2400" b="1">
                          <a:solidFill>
                            <a:srgbClr val="000000"/>
                          </a:solidFill>
                        </a:rPr>
                        <m:t>A</m:t>
                      </m:r>
                      <m:r>
                        <m:rPr>
                          <m:nor/>
                        </m:rPr>
                        <a:rPr lang="en-US" sz="2400" b="1">
                          <a:solidFill>
                            <a:srgbClr val="000000"/>
                          </a:solidFill>
                        </a:rPr>
                        <m:t> </m:t>
                      </m:r>
                      <m:r>
                        <m:rPr>
                          <m:nor/>
                        </m:rPr>
                        <a:rPr lang="en-US" sz="2400" b="1">
                          <a:solidFill>
                            <a:srgbClr val="000000"/>
                          </a:solidFill>
                        </a:rPr>
                        <m:t>B</m:t>
                      </m:r>
                      <m:r>
                        <m:rPr>
                          <m:nor/>
                        </m:rPr>
                        <a:rPr lang="en-US" sz="2400" b="1">
                          <a:solidFill>
                            <a:srgbClr val="000000"/>
                          </a:solidFill>
                        </a:rPr>
                        <m:t> </m:t>
                      </m:r>
                      <m:r>
                        <m:rPr>
                          <m:nor/>
                        </m:rPr>
                        <a:rPr lang="en-US" sz="2400" b="1">
                          <a:solidFill>
                            <a:srgbClr val="000000"/>
                          </a:solidFill>
                        </a:rPr>
                        <m:t>cos</m:t>
                      </m:r>
                      <m:r>
                        <m:rPr>
                          <m:nor/>
                        </m:rPr>
                        <a:rPr lang="en-US" sz="2400" b="1">
                          <a:solidFill>
                            <a:srgbClr val="000000"/>
                          </a:solidFill>
                        </a:rPr>
                        <m:t> </m:t>
                      </m:r>
                      <m:r>
                        <a:rPr lang="en-US" sz="2400" b="1" i="1">
                          <a:solidFill>
                            <a:srgbClr val="000000"/>
                          </a:solidFill>
                          <a:latin typeface="Cambria Math" panose="02040503050406030204" pitchFamily="18" charset="0"/>
                        </a:rPr>
                        <m:t>𝜽</m:t>
                      </m:r>
                    </m:oMath>
                  </m:oMathPara>
                </a14:m>
                <a:endParaRPr lang="en-US" altLang="en-US" sz="2400" b="1" dirty="0"/>
              </a:p>
              <a:p>
                <a:r>
                  <a:rPr lang="el-GR" altLang="en-US" sz="2400" b="1" dirty="0"/>
                  <a:t>θ</a:t>
                </a:r>
                <a:r>
                  <a:rPr lang="en-US" altLang="en-US" sz="2400" b="1" dirty="0"/>
                  <a:t>  is the angle between A and B this means</a:t>
                </a:r>
              </a:p>
              <a:p>
                <a:r>
                  <a:rPr lang="en-US" altLang="en-US" sz="2400" b="1" dirty="0"/>
                  <a:t>Work is the dot product of Force and displacement. </a:t>
                </a:r>
                <a:endParaRPr lang="en-US" altLang="en-US" sz="2400" dirty="0"/>
              </a:p>
              <a:p>
                <a:pPr marL="205740" lvl="1" indent="0">
                  <a:buNone/>
                </a:pPr>
                <a14:m>
                  <m:oMathPara xmlns:m="http://schemas.openxmlformats.org/officeDocument/2006/math">
                    <m:oMathParaPr>
                      <m:jc m:val="centerGroup"/>
                    </m:oMathParaPr>
                    <m:oMath xmlns:m="http://schemas.openxmlformats.org/officeDocument/2006/math">
                      <m:r>
                        <a:rPr lang="en-US" sz="2400" b="1" i="1">
                          <a:latin typeface="Cambria Math" panose="02040503050406030204" pitchFamily="18" charset="0"/>
                          <a:ea typeface="Cambria Math" panose="02040503050406030204" pitchFamily="18" charset="0"/>
                        </a:rPr>
                        <m:t>𝑾</m:t>
                      </m:r>
                      <m:r>
                        <a:rPr lang="en-US" sz="2400" b="1" i="1">
                          <a:latin typeface="Cambria Math" panose="02040503050406030204" pitchFamily="18" charset="0"/>
                          <a:ea typeface="Cambria Math" panose="02040503050406030204" pitchFamily="18" charset="0"/>
                        </a:rPr>
                        <m:t>=</m:t>
                      </m:r>
                      <m:acc>
                        <m:accPr>
                          <m:chr m:val="⃗"/>
                          <m:ctrlPr>
                            <a:rPr lang="en-US" sz="2400" b="1" i="1">
                              <a:latin typeface="Cambria Math" panose="02040503050406030204" pitchFamily="18" charset="0"/>
                            </a:rPr>
                          </m:ctrlPr>
                        </m:accPr>
                        <m:e>
                          <m:r>
                            <a:rPr lang="en-US" sz="2400" b="1" i="1">
                              <a:latin typeface="Cambria Math" panose="02040503050406030204" pitchFamily="18" charset="0"/>
                            </a:rPr>
                            <m:t>𝑭</m:t>
                          </m:r>
                        </m:e>
                      </m:acc>
                      <m:r>
                        <a:rPr lang="en-US" sz="2400" b="1" i="1">
                          <a:latin typeface="Cambria Math" panose="02040503050406030204" pitchFamily="18" charset="0"/>
                        </a:rPr>
                        <m:t>∙</m:t>
                      </m:r>
                      <m:acc>
                        <m:accPr>
                          <m:chr m:val="⃗"/>
                          <m:ctrlPr>
                            <a:rPr lang="en-US" sz="2400" b="1" i="1">
                              <a:latin typeface="Cambria Math" panose="02040503050406030204" pitchFamily="18" charset="0"/>
                            </a:rPr>
                          </m:ctrlPr>
                        </m:accPr>
                        <m:e>
                          <m:r>
                            <a:rPr lang="en-US" sz="2400" b="1" i="1">
                              <a:latin typeface="Cambria Math" panose="02040503050406030204" pitchFamily="18" charset="0"/>
                            </a:rPr>
                            <m:t>𝒅𝒓</m:t>
                          </m:r>
                        </m:e>
                      </m:acc>
                      <m:r>
                        <a:rPr lang="en-US" sz="2400" b="1" i="1" smtClean="0">
                          <a:latin typeface="Cambria Math" panose="02040503050406030204" pitchFamily="18" charset="0"/>
                        </a:rPr>
                        <m:t> </m:t>
                      </m:r>
                      <m:r>
                        <a:rPr lang="en-US" sz="2400" b="1" i="1" smtClean="0">
                          <a:latin typeface="Cambria Math" panose="02040503050406030204" pitchFamily="18" charset="0"/>
                          <a:ea typeface="Cambria Math" panose="02040503050406030204" pitchFamily="18" charset="0"/>
                        </a:rPr>
                        <m:t> </m:t>
                      </m:r>
                      <m:func>
                        <m:funcPr>
                          <m:ctrlPr>
                            <a:rPr lang="en-US" sz="2400" b="1" i="1">
                              <a:latin typeface="Cambria Math" panose="02040503050406030204" pitchFamily="18" charset="0"/>
                              <a:ea typeface="Cambria Math" panose="02040503050406030204" pitchFamily="18" charset="0"/>
                            </a:rPr>
                          </m:ctrlPr>
                        </m:funcPr>
                        <m:fName>
                          <m:r>
                            <a:rPr lang="en-US" sz="2400" b="1" i="1">
                              <a:latin typeface="Cambria Math" panose="02040503050406030204" pitchFamily="18" charset="0"/>
                              <a:ea typeface="Cambria Math" panose="02040503050406030204" pitchFamily="18" charset="0"/>
                            </a:rPr>
                            <m:t>𝒄𝒐𝒔</m:t>
                          </m:r>
                        </m:fName>
                        <m:e>
                          <m:r>
                            <a:rPr lang="en-US" sz="2400" b="1" i="1">
                              <a:latin typeface="Cambria Math" panose="02040503050406030204" pitchFamily="18" charset="0"/>
                              <a:ea typeface="Cambria Math" panose="02040503050406030204" pitchFamily="18" charset="0"/>
                            </a:rPr>
                            <m:t>𝜽</m:t>
                          </m:r>
                        </m:e>
                      </m:func>
                      <m:r>
                        <a:rPr lang="en-US" sz="2400" b="1" i="1">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 </m:t>
                      </m:r>
                      <m:acc>
                        <m:accPr>
                          <m:chr m:val="⃗"/>
                          <m:ctrlPr>
                            <a:rPr lang="en-US" sz="2400" b="1" i="1">
                              <a:latin typeface="Cambria Math" panose="02040503050406030204" pitchFamily="18" charset="0"/>
                            </a:rPr>
                          </m:ctrlPr>
                        </m:accPr>
                        <m:e>
                          <m:r>
                            <a:rPr lang="en-US" sz="2400" b="1" i="1">
                              <a:latin typeface="Cambria Math" panose="02040503050406030204" pitchFamily="18" charset="0"/>
                            </a:rPr>
                            <m:t>𝑭</m:t>
                          </m:r>
                        </m:e>
                      </m:acc>
                      <m:r>
                        <a:rPr lang="en-US" sz="2400" b="1" i="1">
                          <a:latin typeface="Cambria Math" panose="02040503050406030204" pitchFamily="18" charset="0"/>
                        </a:rPr>
                        <m:t>∙</m:t>
                      </m:r>
                      <m:acc>
                        <m:accPr>
                          <m:chr m:val="⃗"/>
                          <m:ctrlPr>
                            <a:rPr lang="en-US" sz="2400" b="1" i="1">
                              <a:latin typeface="Cambria Math" panose="02040503050406030204" pitchFamily="18" charset="0"/>
                            </a:rPr>
                          </m:ctrlPr>
                        </m:accPr>
                        <m:e>
                          <m:r>
                            <a:rPr lang="en-US" sz="2400" b="1" i="1">
                              <a:latin typeface="Cambria Math" panose="02040503050406030204" pitchFamily="18" charset="0"/>
                            </a:rPr>
                            <m:t>𝒅𝒓</m:t>
                          </m:r>
                        </m:e>
                      </m:acc>
                      <m:r>
                        <a:rPr lang="en-US" sz="2400" b="1" i="1">
                          <a:latin typeface="Cambria Math" panose="02040503050406030204" pitchFamily="18" charset="0"/>
                        </a:rPr>
                        <m:t> </m:t>
                      </m:r>
                    </m:oMath>
                  </m:oMathPara>
                </a14:m>
                <a:endParaRPr lang="en-US" altLang="en-US" sz="2400" b="1" dirty="0"/>
              </a:p>
              <a:p>
                <a:pPr marL="205740" lvl="1" indent="0">
                  <a:buNone/>
                </a:pPr>
                <a:endParaRPr lang="en-US" altLang="en-US" b="1" dirty="0"/>
              </a:p>
              <a:p>
                <a:r>
                  <a:rPr lang="en-US" sz="2400" b="1" dirty="0">
                    <a:solidFill>
                      <a:srgbClr val="3A4BEA"/>
                    </a:solidFill>
                    <a:hlinkClick r:id="rId2"/>
                  </a:rPr>
                  <a:t>Dot Product-Video</a:t>
                </a:r>
                <a:endParaRPr lang="en-US" sz="2400" b="1" dirty="0">
                  <a:solidFill>
                    <a:srgbClr val="3A4BEA"/>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37066" y="1249940"/>
                <a:ext cx="8568267" cy="4385473"/>
              </a:xfrm>
              <a:blipFill>
                <a:blip r:embed="rId3"/>
                <a:stretch>
                  <a:fillRect l="-1139"/>
                </a:stretch>
              </a:blipFill>
            </p:spPr>
            <p:txBody>
              <a:bodyPr/>
              <a:lstStyle/>
              <a:p>
                <a:r>
                  <a:rPr lang="en-US">
                    <a:noFill/>
                  </a:rPr>
                  <a:t> </a:t>
                </a:r>
              </a:p>
            </p:txBody>
          </p:sp>
        </mc:Fallback>
      </mc:AlternateContent>
      <p:pic>
        <p:nvPicPr>
          <p:cNvPr id="4" name="Picture 3" descr="Raji K Physics Logo">
            <a:extLst>
              <a:ext uri="{FF2B5EF4-FFF2-40B4-BE49-F238E27FC236}">
                <a16:creationId xmlns:a16="http://schemas.microsoft.com/office/drawing/2014/main" id="{2CC473C7-ADFF-FA41-FDE5-F40201AD17B4}"/>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3253533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450344" y="141746"/>
            <a:ext cx="8040029" cy="721430"/>
          </a:xfrm>
        </p:spPr>
        <p:txBody>
          <a:bodyPr>
            <a:normAutofit/>
          </a:bodyPr>
          <a:lstStyle/>
          <a:p>
            <a:pPr algn="ctr"/>
            <a:r>
              <a:rPr lang="en-US" altLang="en-US" sz="2800" dirty="0">
                <a:solidFill>
                  <a:schemeClr val="tx1"/>
                </a:solidFill>
              </a:rPr>
              <a:t>Dot Products of Unit Vectors</a:t>
            </a:r>
          </a:p>
        </p:txBody>
      </p:sp>
      <mc:AlternateContent xmlns:mc="http://schemas.openxmlformats.org/markup-compatibility/2006" xmlns:a14="http://schemas.microsoft.com/office/drawing/2010/main">
        <mc:Choice Requires="a14">
          <p:sp>
            <p:nvSpPr>
              <p:cNvPr id="4101" name="Rectangle 3"/>
              <p:cNvSpPr>
                <a:spLocks noGrp="1" noChangeArrowheads="1"/>
              </p:cNvSpPr>
              <p:nvPr>
                <p:ph type="body" idx="1"/>
              </p:nvPr>
            </p:nvSpPr>
            <p:spPr>
              <a:xfrm>
                <a:off x="450344" y="1018604"/>
                <a:ext cx="8367046" cy="5697650"/>
              </a:xfrm>
            </p:spPr>
            <p:txBody>
              <a:bodyPr>
                <a:normAutofit/>
              </a:bodyPr>
              <a:lstStyle/>
              <a:p>
                <a:pPr/>
                <a:r>
                  <a:rPr lang="en-US" altLang="en-US" sz="3600" b="1" dirty="0">
                    <a:latin typeface="Cambria Math" panose="02040503050406030204" pitchFamily="18" charset="0"/>
                    <a:ea typeface="Cambria Math" panose="02040503050406030204" pitchFamily="18" charset="0"/>
                  </a:rPr>
                  <a:t> </a:t>
                </a:r>
                <a14:m>
                  <m:oMath xmlns:m="http://schemas.openxmlformats.org/officeDocument/2006/math">
                    <m:acc>
                      <m:accPr>
                        <m:chr m:val="̂"/>
                        <m:ctrlPr>
                          <a:rPr lang="en-US" sz="3200" b="1" i="1">
                            <a:solidFill>
                              <a:srgbClr val="000000"/>
                            </a:solidFill>
                            <a:latin typeface="Cambria Math" panose="02040503050406030204" pitchFamily="18" charset="0"/>
                            <a:ea typeface="Cambria Math" panose="02040503050406030204" pitchFamily="18" charset="0"/>
                          </a:rPr>
                        </m:ctrlPr>
                      </m:accPr>
                      <m:e>
                        <m:r>
                          <a:rPr lang="en-US" sz="3200" b="1" i="1">
                            <a:solidFill>
                              <a:srgbClr val="000000"/>
                            </a:solidFill>
                            <a:latin typeface="Cambria Math" panose="02040503050406030204" pitchFamily="18" charset="0"/>
                            <a:ea typeface="Cambria Math" panose="02040503050406030204" pitchFamily="18" charset="0"/>
                          </a:rPr>
                          <m:t>𝒊</m:t>
                        </m:r>
                      </m:e>
                    </m:acc>
                    <m:r>
                      <a:rPr lang="en-US" sz="3200" b="1" i="1">
                        <a:solidFill>
                          <a:srgbClr val="000000"/>
                        </a:solidFill>
                        <a:latin typeface="Cambria Math" panose="02040503050406030204" pitchFamily="18" charset="0"/>
                        <a:ea typeface="Cambria Math" panose="02040503050406030204" pitchFamily="18" charset="0"/>
                      </a:rPr>
                      <m:t>⋅</m:t>
                    </m:r>
                    <m:acc>
                      <m:accPr>
                        <m:chr m:val="̂"/>
                        <m:ctrlPr>
                          <a:rPr lang="en-US" sz="3200" b="1" i="1">
                            <a:solidFill>
                              <a:srgbClr val="000000"/>
                            </a:solidFill>
                            <a:latin typeface="Cambria Math" panose="02040503050406030204" pitchFamily="18" charset="0"/>
                            <a:ea typeface="Cambria Math" panose="02040503050406030204" pitchFamily="18" charset="0"/>
                          </a:rPr>
                        </m:ctrlPr>
                      </m:accPr>
                      <m:e>
                        <m:r>
                          <a:rPr lang="en-US" sz="3200" b="1" i="1">
                            <a:solidFill>
                              <a:srgbClr val="000000"/>
                            </a:solidFill>
                            <a:latin typeface="Cambria Math" panose="02040503050406030204" pitchFamily="18" charset="0"/>
                            <a:ea typeface="Cambria Math" panose="02040503050406030204" pitchFamily="18" charset="0"/>
                          </a:rPr>
                          <m:t>𝒊</m:t>
                        </m:r>
                      </m:e>
                    </m:acc>
                    <m:r>
                      <a:rPr lang="en-US" sz="3200" b="1" i="1">
                        <a:solidFill>
                          <a:srgbClr val="000000"/>
                        </a:solidFill>
                        <a:latin typeface="Cambria Math" panose="02040503050406030204" pitchFamily="18" charset="0"/>
                        <a:ea typeface="Cambria Math" panose="02040503050406030204" pitchFamily="18" charset="0"/>
                      </a:rPr>
                      <m:t>=</m:t>
                    </m:r>
                    <m:acc>
                      <m:accPr>
                        <m:chr m:val="̂"/>
                        <m:ctrlPr>
                          <a:rPr lang="en-US" sz="3200" b="1" i="1">
                            <a:solidFill>
                              <a:srgbClr val="000000"/>
                            </a:solidFill>
                            <a:latin typeface="Cambria Math" panose="02040503050406030204" pitchFamily="18" charset="0"/>
                            <a:ea typeface="Cambria Math" panose="02040503050406030204" pitchFamily="18" charset="0"/>
                          </a:rPr>
                        </m:ctrlPr>
                      </m:accPr>
                      <m:e>
                        <m:r>
                          <a:rPr lang="en-US" sz="3200" b="1" i="1">
                            <a:solidFill>
                              <a:srgbClr val="000000"/>
                            </a:solidFill>
                            <a:latin typeface="Cambria Math" panose="02040503050406030204" pitchFamily="18" charset="0"/>
                            <a:ea typeface="Cambria Math" panose="02040503050406030204" pitchFamily="18" charset="0"/>
                          </a:rPr>
                          <m:t>𝒋</m:t>
                        </m:r>
                      </m:e>
                    </m:acc>
                    <m:r>
                      <a:rPr lang="en-US" sz="3200" b="1" i="1">
                        <a:solidFill>
                          <a:srgbClr val="000000"/>
                        </a:solidFill>
                        <a:latin typeface="Cambria Math" panose="02040503050406030204" pitchFamily="18" charset="0"/>
                        <a:ea typeface="Cambria Math" panose="02040503050406030204" pitchFamily="18" charset="0"/>
                      </a:rPr>
                      <m:t>⋅</m:t>
                    </m:r>
                    <m:acc>
                      <m:accPr>
                        <m:chr m:val="̂"/>
                        <m:ctrlPr>
                          <a:rPr lang="en-US" sz="3200" b="1" i="1">
                            <a:solidFill>
                              <a:srgbClr val="000000"/>
                            </a:solidFill>
                            <a:latin typeface="Cambria Math" panose="02040503050406030204" pitchFamily="18" charset="0"/>
                            <a:ea typeface="Cambria Math" panose="02040503050406030204" pitchFamily="18" charset="0"/>
                          </a:rPr>
                        </m:ctrlPr>
                      </m:accPr>
                      <m:e>
                        <m:r>
                          <a:rPr lang="en-US" sz="3200" b="1" i="1">
                            <a:solidFill>
                              <a:srgbClr val="000000"/>
                            </a:solidFill>
                            <a:latin typeface="Cambria Math" panose="02040503050406030204" pitchFamily="18" charset="0"/>
                            <a:ea typeface="Cambria Math" panose="02040503050406030204" pitchFamily="18" charset="0"/>
                          </a:rPr>
                          <m:t>𝒋</m:t>
                        </m:r>
                      </m:e>
                    </m:acc>
                    <m:r>
                      <a:rPr lang="en-US" sz="3200" b="1" i="1">
                        <a:solidFill>
                          <a:srgbClr val="000000"/>
                        </a:solidFill>
                        <a:latin typeface="Cambria Math" panose="02040503050406030204" pitchFamily="18" charset="0"/>
                        <a:ea typeface="Cambria Math" panose="02040503050406030204" pitchFamily="18" charset="0"/>
                      </a:rPr>
                      <m:t>=</m:t>
                    </m:r>
                    <m:acc>
                      <m:accPr>
                        <m:chr m:val="̂"/>
                        <m:ctrlPr>
                          <a:rPr lang="en-US" sz="3200" b="1" i="1">
                            <a:solidFill>
                              <a:srgbClr val="000000"/>
                            </a:solidFill>
                            <a:latin typeface="Cambria Math" panose="02040503050406030204" pitchFamily="18" charset="0"/>
                            <a:ea typeface="Cambria Math" panose="02040503050406030204" pitchFamily="18" charset="0"/>
                          </a:rPr>
                        </m:ctrlPr>
                      </m:accPr>
                      <m:e>
                        <m:r>
                          <a:rPr lang="en-US" sz="3200" b="1" i="1">
                            <a:solidFill>
                              <a:srgbClr val="000000"/>
                            </a:solidFill>
                            <a:latin typeface="Cambria Math" panose="02040503050406030204" pitchFamily="18" charset="0"/>
                            <a:ea typeface="Cambria Math" panose="02040503050406030204" pitchFamily="18" charset="0"/>
                          </a:rPr>
                          <m:t>𝒌</m:t>
                        </m:r>
                      </m:e>
                    </m:acc>
                    <m:r>
                      <a:rPr lang="en-US" sz="3200" b="1" i="1">
                        <a:solidFill>
                          <a:srgbClr val="000000"/>
                        </a:solidFill>
                        <a:latin typeface="Cambria Math" panose="02040503050406030204" pitchFamily="18" charset="0"/>
                        <a:ea typeface="Cambria Math" panose="02040503050406030204" pitchFamily="18" charset="0"/>
                      </a:rPr>
                      <m:t>⋅</m:t>
                    </m:r>
                    <m:acc>
                      <m:accPr>
                        <m:chr m:val="̂"/>
                        <m:ctrlPr>
                          <a:rPr lang="en-US" sz="3200" b="1" i="1">
                            <a:solidFill>
                              <a:srgbClr val="000000"/>
                            </a:solidFill>
                            <a:latin typeface="Cambria Math" panose="02040503050406030204" pitchFamily="18" charset="0"/>
                            <a:ea typeface="Cambria Math" panose="02040503050406030204" pitchFamily="18" charset="0"/>
                          </a:rPr>
                        </m:ctrlPr>
                      </m:accPr>
                      <m:e>
                        <m:r>
                          <a:rPr lang="en-US" sz="3200" b="1" i="1">
                            <a:solidFill>
                              <a:srgbClr val="000000"/>
                            </a:solidFill>
                            <a:latin typeface="Cambria Math" panose="02040503050406030204" pitchFamily="18" charset="0"/>
                            <a:ea typeface="Cambria Math" panose="02040503050406030204" pitchFamily="18" charset="0"/>
                          </a:rPr>
                          <m:t>𝒌</m:t>
                        </m:r>
                      </m:e>
                    </m:acc>
                    <m:r>
                      <a:rPr lang="en-US" sz="3200" b="1" i="1">
                        <a:solidFill>
                          <a:srgbClr val="000000"/>
                        </a:solidFill>
                        <a:latin typeface="Cambria Math" panose="02040503050406030204" pitchFamily="18" charset="0"/>
                        <a:ea typeface="Cambria Math" panose="02040503050406030204" pitchFamily="18" charset="0"/>
                      </a:rPr>
                      <m:t>=</m:t>
                    </m:r>
                    <m:r>
                      <a:rPr lang="en-US" sz="3200" b="1" i="1">
                        <a:solidFill>
                          <a:srgbClr val="000000"/>
                        </a:solidFill>
                        <a:latin typeface="Cambria Math" panose="02040503050406030204" pitchFamily="18" charset="0"/>
                        <a:ea typeface="Cambria Math" panose="02040503050406030204" pitchFamily="18" charset="0"/>
                      </a:rPr>
                      <m:t>𝟏</m:t>
                    </m:r>
                  </m:oMath>
                </a14:m>
                <a:br>
                  <a:rPr lang="en-US" sz="3200" b="1" i="1" dirty="0">
                    <a:solidFill>
                      <a:srgbClr val="000000"/>
                    </a:solidFill>
                    <a:latin typeface="Cambria Math" panose="02040503050406030204" pitchFamily="18" charset="0"/>
                    <a:ea typeface="Cambria Math" panose="02040503050406030204" pitchFamily="18" charset="0"/>
                  </a:rPr>
                </a:br>
                <a14:m>
                  <m:oMathPara xmlns:m="http://schemas.openxmlformats.org/officeDocument/2006/math">
                    <m:oMathParaPr>
                      <m:jc m:val="left"/>
                    </m:oMathParaPr>
                    <m:oMath xmlns:m="http://schemas.openxmlformats.org/officeDocument/2006/math">
                      <m:acc>
                        <m:accPr>
                          <m:chr m:val="̂"/>
                          <m:ctrlPr>
                            <a:rPr lang="en-US" sz="3200" b="1" i="1">
                              <a:solidFill>
                                <a:srgbClr val="000000"/>
                              </a:solidFill>
                              <a:latin typeface="Cambria Math" panose="02040503050406030204" pitchFamily="18" charset="0"/>
                              <a:ea typeface="Cambria Math" panose="02040503050406030204" pitchFamily="18" charset="0"/>
                            </a:rPr>
                          </m:ctrlPr>
                        </m:accPr>
                        <m:e>
                          <m:r>
                            <a:rPr lang="en-US" sz="3200" b="1" i="1">
                              <a:solidFill>
                                <a:srgbClr val="000000"/>
                              </a:solidFill>
                              <a:latin typeface="Cambria Math" panose="02040503050406030204" pitchFamily="18" charset="0"/>
                              <a:ea typeface="Cambria Math" panose="02040503050406030204" pitchFamily="18" charset="0"/>
                            </a:rPr>
                            <m:t>𝒊</m:t>
                          </m:r>
                        </m:e>
                      </m:acc>
                      <m:r>
                        <a:rPr lang="en-US" sz="3200" b="1" i="1">
                          <a:solidFill>
                            <a:srgbClr val="000000"/>
                          </a:solidFill>
                          <a:latin typeface="Cambria Math" panose="02040503050406030204" pitchFamily="18" charset="0"/>
                          <a:ea typeface="Cambria Math" panose="02040503050406030204" pitchFamily="18" charset="0"/>
                        </a:rPr>
                        <m:t>⋅</m:t>
                      </m:r>
                      <m:acc>
                        <m:accPr>
                          <m:chr m:val="̂"/>
                          <m:ctrlPr>
                            <a:rPr lang="en-US" sz="3200" b="1" i="1">
                              <a:solidFill>
                                <a:srgbClr val="000000"/>
                              </a:solidFill>
                              <a:latin typeface="Cambria Math" panose="02040503050406030204" pitchFamily="18" charset="0"/>
                              <a:ea typeface="Cambria Math" panose="02040503050406030204" pitchFamily="18" charset="0"/>
                            </a:rPr>
                          </m:ctrlPr>
                        </m:accPr>
                        <m:e>
                          <m:r>
                            <a:rPr lang="en-US" sz="3200" b="1" i="1">
                              <a:solidFill>
                                <a:srgbClr val="000000"/>
                              </a:solidFill>
                              <a:latin typeface="Cambria Math" panose="02040503050406030204" pitchFamily="18" charset="0"/>
                              <a:ea typeface="Cambria Math" panose="02040503050406030204" pitchFamily="18" charset="0"/>
                            </a:rPr>
                            <m:t>𝒋</m:t>
                          </m:r>
                        </m:e>
                      </m:acc>
                      <m:r>
                        <a:rPr lang="en-US" sz="3200" b="1" i="1">
                          <a:solidFill>
                            <a:srgbClr val="000000"/>
                          </a:solidFill>
                          <a:latin typeface="Cambria Math" panose="02040503050406030204" pitchFamily="18" charset="0"/>
                          <a:ea typeface="Cambria Math" panose="02040503050406030204" pitchFamily="18" charset="0"/>
                        </a:rPr>
                        <m:t>=</m:t>
                      </m:r>
                      <m:acc>
                        <m:accPr>
                          <m:chr m:val="̂"/>
                          <m:ctrlPr>
                            <a:rPr lang="en-US" sz="3200" b="1" i="1">
                              <a:solidFill>
                                <a:srgbClr val="000000"/>
                              </a:solidFill>
                              <a:latin typeface="Cambria Math" panose="02040503050406030204" pitchFamily="18" charset="0"/>
                              <a:ea typeface="Cambria Math" panose="02040503050406030204" pitchFamily="18" charset="0"/>
                            </a:rPr>
                          </m:ctrlPr>
                        </m:accPr>
                        <m:e>
                          <m:r>
                            <a:rPr lang="en-US" sz="3200" b="1" i="1">
                              <a:solidFill>
                                <a:srgbClr val="000000"/>
                              </a:solidFill>
                              <a:latin typeface="Cambria Math" panose="02040503050406030204" pitchFamily="18" charset="0"/>
                              <a:ea typeface="Cambria Math" panose="02040503050406030204" pitchFamily="18" charset="0"/>
                            </a:rPr>
                            <m:t>𝒊</m:t>
                          </m:r>
                        </m:e>
                      </m:acc>
                      <m:r>
                        <a:rPr lang="en-US" sz="3200" b="1" i="1">
                          <a:solidFill>
                            <a:srgbClr val="000000"/>
                          </a:solidFill>
                          <a:latin typeface="Cambria Math" panose="02040503050406030204" pitchFamily="18" charset="0"/>
                          <a:ea typeface="Cambria Math" panose="02040503050406030204" pitchFamily="18" charset="0"/>
                        </a:rPr>
                        <m:t>⋅</m:t>
                      </m:r>
                      <m:acc>
                        <m:accPr>
                          <m:chr m:val="̂"/>
                          <m:ctrlPr>
                            <a:rPr lang="en-US" sz="3200" b="1" i="1">
                              <a:solidFill>
                                <a:srgbClr val="000000"/>
                              </a:solidFill>
                              <a:latin typeface="Cambria Math" panose="02040503050406030204" pitchFamily="18" charset="0"/>
                              <a:ea typeface="Cambria Math" panose="02040503050406030204" pitchFamily="18" charset="0"/>
                            </a:rPr>
                          </m:ctrlPr>
                        </m:accPr>
                        <m:e>
                          <m:r>
                            <a:rPr lang="en-US" sz="3200" b="1" i="1">
                              <a:solidFill>
                                <a:srgbClr val="000000"/>
                              </a:solidFill>
                              <a:latin typeface="Cambria Math" panose="02040503050406030204" pitchFamily="18" charset="0"/>
                              <a:ea typeface="Cambria Math" panose="02040503050406030204" pitchFamily="18" charset="0"/>
                            </a:rPr>
                            <m:t>𝒌</m:t>
                          </m:r>
                        </m:e>
                      </m:acc>
                      <m:r>
                        <a:rPr lang="en-US" sz="3200" b="1" i="1">
                          <a:solidFill>
                            <a:srgbClr val="000000"/>
                          </a:solidFill>
                          <a:latin typeface="Cambria Math" panose="02040503050406030204" pitchFamily="18" charset="0"/>
                          <a:ea typeface="Cambria Math" panose="02040503050406030204" pitchFamily="18" charset="0"/>
                        </a:rPr>
                        <m:t>=</m:t>
                      </m:r>
                      <m:acc>
                        <m:accPr>
                          <m:chr m:val="̂"/>
                          <m:ctrlPr>
                            <a:rPr lang="en-US" sz="3200" b="1" i="1">
                              <a:solidFill>
                                <a:srgbClr val="000000"/>
                              </a:solidFill>
                              <a:latin typeface="Cambria Math" panose="02040503050406030204" pitchFamily="18" charset="0"/>
                              <a:ea typeface="Cambria Math" panose="02040503050406030204" pitchFamily="18" charset="0"/>
                            </a:rPr>
                          </m:ctrlPr>
                        </m:accPr>
                        <m:e>
                          <m:r>
                            <a:rPr lang="en-US" sz="3200" b="1" i="1">
                              <a:solidFill>
                                <a:srgbClr val="000000"/>
                              </a:solidFill>
                              <a:latin typeface="Cambria Math" panose="02040503050406030204" pitchFamily="18" charset="0"/>
                              <a:ea typeface="Cambria Math" panose="02040503050406030204" pitchFamily="18" charset="0"/>
                            </a:rPr>
                            <m:t>𝒋</m:t>
                          </m:r>
                        </m:e>
                      </m:acc>
                      <m:r>
                        <a:rPr lang="en-US" sz="3200" b="1" i="1">
                          <a:solidFill>
                            <a:srgbClr val="000000"/>
                          </a:solidFill>
                          <a:latin typeface="Cambria Math" panose="02040503050406030204" pitchFamily="18" charset="0"/>
                          <a:ea typeface="Cambria Math" panose="02040503050406030204" pitchFamily="18" charset="0"/>
                        </a:rPr>
                        <m:t>⋅</m:t>
                      </m:r>
                      <m:acc>
                        <m:accPr>
                          <m:chr m:val="̂"/>
                          <m:ctrlPr>
                            <a:rPr lang="en-US" sz="3200" b="1" i="1">
                              <a:solidFill>
                                <a:srgbClr val="000000"/>
                              </a:solidFill>
                              <a:latin typeface="Cambria Math" panose="02040503050406030204" pitchFamily="18" charset="0"/>
                              <a:ea typeface="Cambria Math" panose="02040503050406030204" pitchFamily="18" charset="0"/>
                            </a:rPr>
                          </m:ctrlPr>
                        </m:accPr>
                        <m:e>
                          <m:r>
                            <a:rPr lang="en-US" sz="3200" b="1" i="1">
                              <a:solidFill>
                                <a:srgbClr val="000000"/>
                              </a:solidFill>
                              <a:latin typeface="Cambria Math" panose="02040503050406030204" pitchFamily="18" charset="0"/>
                              <a:ea typeface="Cambria Math" panose="02040503050406030204" pitchFamily="18" charset="0"/>
                            </a:rPr>
                            <m:t>𝒌</m:t>
                          </m:r>
                        </m:e>
                      </m:acc>
                      <m:r>
                        <a:rPr lang="en-US" sz="3200" b="1" i="1">
                          <a:solidFill>
                            <a:srgbClr val="000000"/>
                          </a:solidFill>
                          <a:latin typeface="Cambria Math" panose="02040503050406030204" pitchFamily="18" charset="0"/>
                          <a:ea typeface="Cambria Math" panose="02040503050406030204" pitchFamily="18" charset="0"/>
                        </a:rPr>
                        <m:t>=</m:t>
                      </m:r>
                      <m:r>
                        <a:rPr lang="en-US" sz="3200" b="1" i="1">
                          <a:solidFill>
                            <a:srgbClr val="000000"/>
                          </a:solidFill>
                          <a:latin typeface="Cambria Math" panose="02040503050406030204" pitchFamily="18" charset="0"/>
                          <a:ea typeface="Cambria Math" panose="02040503050406030204" pitchFamily="18" charset="0"/>
                        </a:rPr>
                        <m:t>𝟎</m:t>
                      </m:r>
                      <m:r>
                        <a:rPr lang="en-US" sz="3200" b="1" i="1">
                          <a:solidFill>
                            <a:srgbClr val="000000"/>
                          </a:solidFill>
                          <a:latin typeface="Cambria Math" panose="02040503050406030204" pitchFamily="18" charset="0"/>
                          <a:ea typeface="Cambria Math" panose="02040503050406030204" pitchFamily="18" charset="0"/>
                        </a:rPr>
                        <m:t> </m:t>
                      </m:r>
                    </m:oMath>
                  </m:oMathPara>
                </a14:m>
                <a:endParaRPr lang="en-US" altLang="en-US" sz="3200" b="1" dirty="0">
                  <a:latin typeface="Cambria Math" panose="02040503050406030204" pitchFamily="18" charset="0"/>
                  <a:ea typeface="Cambria Math" panose="02040503050406030204" pitchFamily="18" charset="0"/>
                </a:endParaRPr>
              </a:p>
              <a:p>
                <a:r>
                  <a:rPr lang="en-US" altLang="en-US" sz="3200" b="1" dirty="0">
                    <a:latin typeface="Cambria Math" panose="02040503050406030204" pitchFamily="18" charset="0"/>
                    <a:ea typeface="Cambria Math" panose="02040503050406030204" pitchFamily="18" charset="0"/>
                  </a:rPr>
                  <a:t>Using component form with vectors:</a:t>
                </a:r>
              </a:p>
              <a:p>
                <a:pPr/>
                <a14:m>
                  <m:oMathPara xmlns:m="http://schemas.openxmlformats.org/officeDocument/2006/math">
                    <m:oMathParaPr>
                      <m:jc m:val="centerGroup"/>
                    </m:oMathParaPr>
                    <m:oMath xmlns:m="http://schemas.openxmlformats.org/officeDocument/2006/math">
                      <m:acc>
                        <m:accPr>
                          <m:chr m:val="⃗"/>
                          <m:ctrlPr>
                            <a:rPr lang="en-US" sz="3200" b="1" i="1">
                              <a:latin typeface="Cambria Math" panose="02040503050406030204" pitchFamily="18" charset="0"/>
                              <a:ea typeface="Cambria Math" panose="02040503050406030204" pitchFamily="18" charset="0"/>
                            </a:rPr>
                          </m:ctrlPr>
                        </m:accPr>
                        <m:e>
                          <m:r>
                            <a:rPr lang="en-US" sz="3200" b="1" i="1">
                              <a:latin typeface="Cambria Math" panose="02040503050406030204" pitchFamily="18" charset="0"/>
                              <a:ea typeface="Cambria Math" panose="02040503050406030204" pitchFamily="18" charset="0"/>
                            </a:rPr>
                            <m:t>𝑨</m:t>
                          </m:r>
                        </m:e>
                      </m:acc>
                      <m:r>
                        <a:rPr lang="en-US" sz="3200" b="1" i="1">
                          <a:latin typeface="Cambria Math" panose="02040503050406030204" pitchFamily="18" charset="0"/>
                          <a:ea typeface="Cambria Math" panose="02040503050406030204" pitchFamily="18" charset="0"/>
                        </a:rPr>
                        <m:t>=</m:t>
                      </m:r>
                      <m:sSub>
                        <m:sSubPr>
                          <m:ctrlPr>
                            <a:rPr lang="en-US" sz="3200" b="1" i="1">
                              <a:latin typeface="Cambria Math" panose="02040503050406030204" pitchFamily="18" charset="0"/>
                              <a:ea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𝑨</m:t>
                          </m:r>
                        </m:e>
                        <m:sub>
                          <m:r>
                            <a:rPr lang="en-US" sz="3200" b="1" i="1">
                              <a:latin typeface="Cambria Math" panose="02040503050406030204" pitchFamily="18" charset="0"/>
                              <a:ea typeface="Cambria Math" panose="02040503050406030204" pitchFamily="18" charset="0"/>
                            </a:rPr>
                            <m:t>𝒙</m:t>
                          </m:r>
                        </m:sub>
                      </m:sSub>
                      <m:acc>
                        <m:accPr>
                          <m:chr m:val="̂"/>
                          <m:ctrlPr>
                            <a:rPr lang="en-US" sz="3200" b="1" i="1">
                              <a:latin typeface="Cambria Math" panose="02040503050406030204" pitchFamily="18" charset="0"/>
                              <a:ea typeface="Cambria Math" panose="02040503050406030204" pitchFamily="18" charset="0"/>
                            </a:rPr>
                          </m:ctrlPr>
                        </m:accPr>
                        <m:e>
                          <m:r>
                            <a:rPr lang="en-US" sz="3200" b="1" i="1">
                              <a:latin typeface="Cambria Math" panose="02040503050406030204" pitchFamily="18" charset="0"/>
                              <a:ea typeface="Cambria Math" panose="02040503050406030204" pitchFamily="18" charset="0"/>
                            </a:rPr>
                            <m:t>𝒊</m:t>
                          </m:r>
                        </m:e>
                      </m:acc>
                      <m:r>
                        <a:rPr lang="en-US" sz="3200" b="1" i="1">
                          <a:latin typeface="Cambria Math" panose="02040503050406030204" pitchFamily="18" charset="0"/>
                          <a:ea typeface="Cambria Math" panose="02040503050406030204" pitchFamily="18" charset="0"/>
                        </a:rPr>
                        <m:t>+</m:t>
                      </m:r>
                      <m:sSub>
                        <m:sSubPr>
                          <m:ctrlPr>
                            <a:rPr lang="en-US" sz="3200" b="1" i="1">
                              <a:latin typeface="Cambria Math" panose="02040503050406030204" pitchFamily="18" charset="0"/>
                              <a:ea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𝑨</m:t>
                          </m:r>
                        </m:e>
                        <m:sub>
                          <m:r>
                            <a:rPr lang="en-US" sz="3200" b="1" i="1">
                              <a:latin typeface="Cambria Math" panose="02040503050406030204" pitchFamily="18" charset="0"/>
                              <a:ea typeface="Cambria Math" panose="02040503050406030204" pitchFamily="18" charset="0"/>
                            </a:rPr>
                            <m:t>𝒚</m:t>
                          </m:r>
                        </m:sub>
                      </m:sSub>
                      <m:acc>
                        <m:accPr>
                          <m:chr m:val="̂"/>
                          <m:ctrlPr>
                            <a:rPr lang="en-US" sz="3200" b="1" i="1">
                              <a:latin typeface="Cambria Math" panose="02040503050406030204" pitchFamily="18" charset="0"/>
                              <a:ea typeface="Cambria Math" panose="02040503050406030204" pitchFamily="18" charset="0"/>
                            </a:rPr>
                          </m:ctrlPr>
                        </m:accPr>
                        <m:e>
                          <m:r>
                            <a:rPr lang="en-US" sz="3200" b="1" i="1">
                              <a:latin typeface="Cambria Math" panose="02040503050406030204" pitchFamily="18" charset="0"/>
                              <a:ea typeface="Cambria Math" panose="02040503050406030204" pitchFamily="18" charset="0"/>
                            </a:rPr>
                            <m:t>𝒋</m:t>
                          </m:r>
                        </m:e>
                      </m:acc>
                      <m:r>
                        <a:rPr lang="en-US" sz="3200" b="1" i="1">
                          <a:latin typeface="Cambria Math" panose="02040503050406030204" pitchFamily="18" charset="0"/>
                          <a:ea typeface="Cambria Math" panose="02040503050406030204" pitchFamily="18" charset="0"/>
                        </a:rPr>
                        <m:t>+</m:t>
                      </m:r>
                      <m:sSub>
                        <m:sSubPr>
                          <m:ctrlPr>
                            <a:rPr lang="en-US" sz="3200" b="1" i="1">
                              <a:latin typeface="Cambria Math" panose="02040503050406030204" pitchFamily="18" charset="0"/>
                              <a:ea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𝑨</m:t>
                          </m:r>
                        </m:e>
                        <m:sub>
                          <m:r>
                            <a:rPr lang="en-US" sz="3200" b="1" i="1">
                              <a:latin typeface="Cambria Math" panose="02040503050406030204" pitchFamily="18" charset="0"/>
                              <a:ea typeface="Cambria Math" panose="02040503050406030204" pitchFamily="18" charset="0"/>
                            </a:rPr>
                            <m:t>𝒛</m:t>
                          </m:r>
                        </m:sub>
                      </m:sSub>
                      <m:acc>
                        <m:accPr>
                          <m:chr m:val="̂"/>
                          <m:ctrlPr>
                            <a:rPr lang="en-US" sz="3200" b="1" i="1">
                              <a:latin typeface="Cambria Math" panose="02040503050406030204" pitchFamily="18" charset="0"/>
                              <a:ea typeface="Cambria Math" panose="02040503050406030204" pitchFamily="18" charset="0"/>
                            </a:rPr>
                          </m:ctrlPr>
                        </m:accPr>
                        <m:e>
                          <m:r>
                            <a:rPr lang="en-US" sz="3200" b="1" i="1">
                              <a:latin typeface="Cambria Math" panose="02040503050406030204" pitchFamily="18" charset="0"/>
                              <a:ea typeface="Cambria Math" panose="02040503050406030204" pitchFamily="18" charset="0"/>
                            </a:rPr>
                            <m:t>𝒌</m:t>
                          </m:r>
                        </m:e>
                      </m:acc>
                    </m:oMath>
                    <m:oMath xmlns:m="http://schemas.openxmlformats.org/officeDocument/2006/math">
                      <m:acc>
                        <m:accPr>
                          <m:chr m:val="⃗"/>
                          <m:ctrlPr>
                            <a:rPr lang="en-US" sz="3200" b="1" i="1">
                              <a:latin typeface="Cambria Math" panose="02040503050406030204" pitchFamily="18" charset="0"/>
                              <a:ea typeface="Cambria Math" panose="02040503050406030204" pitchFamily="18" charset="0"/>
                            </a:rPr>
                          </m:ctrlPr>
                        </m:accPr>
                        <m:e>
                          <m:r>
                            <a:rPr lang="en-US" sz="3200" b="1" i="1">
                              <a:latin typeface="Cambria Math" panose="02040503050406030204" pitchFamily="18" charset="0"/>
                              <a:ea typeface="Cambria Math" panose="02040503050406030204" pitchFamily="18" charset="0"/>
                            </a:rPr>
                            <m:t>𝑩</m:t>
                          </m:r>
                        </m:e>
                      </m:acc>
                      <m:r>
                        <a:rPr lang="en-US" sz="3200" b="1" i="1">
                          <a:latin typeface="Cambria Math" panose="02040503050406030204" pitchFamily="18" charset="0"/>
                          <a:ea typeface="Cambria Math" panose="02040503050406030204" pitchFamily="18" charset="0"/>
                        </a:rPr>
                        <m:t>=</m:t>
                      </m:r>
                      <m:sSub>
                        <m:sSubPr>
                          <m:ctrlPr>
                            <a:rPr lang="en-US" sz="3200" b="1" i="1">
                              <a:latin typeface="Cambria Math" panose="02040503050406030204" pitchFamily="18" charset="0"/>
                              <a:ea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𝑩</m:t>
                          </m:r>
                        </m:e>
                        <m:sub>
                          <m:r>
                            <a:rPr lang="en-US" sz="3200" b="1" i="1">
                              <a:latin typeface="Cambria Math" panose="02040503050406030204" pitchFamily="18" charset="0"/>
                              <a:ea typeface="Cambria Math" panose="02040503050406030204" pitchFamily="18" charset="0"/>
                            </a:rPr>
                            <m:t>𝒙</m:t>
                          </m:r>
                        </m:sub>
                      </m:sSub>
                      <m:acc>
                        <m:accPr>
                          <m:chr m:val="̂"/>
                          <m:ctrlPr>
                            <a:rPr lang="en-US" sz="3200" b="1" i="1">
                              <a:latin typeface="Cambria Math" panose="02040503050406030204" pitchFamily="18" charset="0"/>
                              <a:ea typeface="Cambria Math" panose="02040503050406030204" pitchFamily="18" charset="0"/>
                            </a:rPr>
                          </m:ctrlPr>
                        </m:accPr>
                        <m:e>
                          <m:r>
                            <a:rPr lang="en-US" sz="3200" b="1" i="1">
                              <a:latin typeface="Cambria Math" panose="02040503050406030204" pitchFamily="18" charset="0"/>
                              <a:ea typeface="Cambria Math" panose="02040503050406030204" pitchFamily="18" charset="0"/>
                            </a:rPr>
                            <m:t>𝒊</m:t>
                          </m:r>
                        </m:e>
                      </m:acc>
                      <m:r>
                        <a:rPr lang="en-US" sz="3200" b="1" i="1">
                          <a:latin typeface="Cambria Math" panose="02040503050406030204" pitchFamily="18" charset="0"/>
                          <a:ea typeface="Cambria Math" panose="02040503050406030204" pitchFamily="18" charset="0"/>
                        </a:rPr>
                        <m:t>+</m:t>
                      </m:r>
                      <m:sSub>
                        <m:sSubPr>
                          <m:ctrlPr>
                            <a:rPr lang="en-US" sz="3200" b="1" i="1">
                              <a:latin typeface="Cambria Math" panose="02040503050406030204" pitchFamily="18" charset="0"/>
                              <a:ea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𝑩</m:t>
                          </m:r>
                        </m:e>
                        <m:sub>
                          <m:r>
                            <a:rPr lang="en-US" sz="3200" b="1" i="1">
                              <a:latin typeface="Cambria Math" panose="02040503050406030204" pitchFamily="18" charset="0"/>
                              <a:ea typeface="Cambria Math" panose="02040503050406030204" pitchFamily="18" charset="0"/>
                            </a:rPr>
                            <m:t>𝒚</m:t>
                          </m:r>
                        </m:sub>
                      </m:sSub>
                      <m:acc>
                        <m:accPr>
                          <m:chr m:val="̂"/>
                          <m:ctrlPr>
                            <a:rPr lang="en-US" sz="3200" b="1" i="1">
                              <a:latin typeface="Cambria Math" panose="02040503050406030204" pitchFamily="18" charset="0"/>
                              <a:ea typeface="Cambria Math" panose="02040503050406030204" pitchFamily="18" charset="0"/>
                            </a:rPr>
                          </m:ctrlPr>
                        </m:accPr>
                        <m:e>
                          <m:r>
                            <a:rPr lang="en-US" sz="3200" b="1" i="1">
                              <a:latin typeface="Cambria Math" panose="02040503050406030204" pitchFamily="18" charset="0"/>
                              <a:ea typeface="Cambria Math" panose="02040503050406030204" pitchFamily="18" charset="0"/>
                            </a:rPr>
                            <m:t>𝒋</m:t>
                          </m:r>
                        </m:e>
                      </m:acc>
                      <m:r>
                        <a:rPr lang="en-US" sz="3200" b="1" i="1">
                          <a:latin typeface="Cambria Math" panose="02040503050406030204" pitchFamily="18" charset="0"/>
                          <a:ea typeface="Cambria Math" panose="02040503050406030204" pitchFamily="18" charset="0"/>
                        </a:rPr>
                        <m:t>+</m:t>
                      </m:r>
                      <m:sSub>
                        <m:sSubPr>
                          <m:ctrlPr>
                            <a:rPr lang="en-US" sz="3200" b="1" i="1">
                              <a:latin typeface="Cambria Math" panose="02040503050406030204" pitchFamily="18" charset="0"/>
                              <a:ea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𝑩</m:t>
                          </m:r>
                        </m:e>
                        <m:sub>
                          <m:r>
                            <a:rPr lang="en-US" sz="3200" b="1" i="1">
                              <a:latin typeface="Cambria Math" panose="02040503050406030204" pitchFamily="18" charset="0"/>
                              <a:ea typeface="Cambria Math" panose="02040503050406030204" pitchFamily="18" charset="0"/>
                            </a:rPr>
                            <m:t>𝒛</m:t>
                          </m:r>
                        </m:sub>
                      </m:sSub>
                      <m:acc>
                        <m:accPr>
                          <m:chr m:val="̂"/>
                          <m:ctrlPr>
                            <a:rPr lang="en-US" sz="3200" b="1" i="1">
                              <a:latin typeface="Cambria Math" panose="02040503050406030204" pitchFamily="18" charset="0"/>
                              <a:ea typeface="Cambria Math" panose="02040503050406030204" pitchFamily="18" charset="0"/>
                            </a:rPr>
                          </m:ctrlPr>
                        </m:accPr>
                        <m:e>
                          <m:r>
                            <a:rPr lang="en-US" sz="3200" b="1" i="1">
                              <a:latin typeface="Cambria Math" panose="02040503050406030204" pitchFamily="18" charset="0"/>
                              <a:ea typeface="Cambria Math" panose="02040503050406030204" pitchFamily="18" charset="0"/>
                            </a:rPr>
                            <m:t>𝒌</m:t>
                          </m:r>
                        </m:e>
                      </m:acc>
                    </m:oMath>
                    <m:oMath xmlns:m="http://schemas.openxmlformats.org/officeDocument/2006/math">
                      <m:acc>
                        <m:accPr>
                          <m:chr m:val="⃗"/>
                          <m:ctrlPr>
                            <a:rPr lang="en-US" sz="3200" b="1" i="1">
                              <a:latin typeface="Cambria Math" panose="02040503050406030204" pitchFamily="18" charset="0"/>
                              <a:ea typeface="Cambria Math" panose="02040503050406030204" pitchFamily="18" charset="0"/>
                            </a:rPr>
                          </m:ctrlPr>
                        </m:accPr>
                        <m:e>
                          <m:r>
                            <a:rPr lang="en-US" sz="3200" b="1" i="1">
                              <a:latin typeface="Cambria Math" panose="02040503050406030204" pitchFamily="18" charset="0"/>
                              <a:ea typeface="Cambria Math" panose="02040503050406030204" pitchFamily="18" charset="0"/>
                            </a:rPr>
                            <m:t>𝑨</m:t>
                          </m:r>
                        </m:e>
                      </m:acc>
                      <m:r>
                        <a:rPr lang="en-US" sz="3200" b="1" i="1">
                          <a:latin typeface="Cambria Math" panose="02040503050406030204" pitchFamily="18" charset="0"/>
                          <a:ea typeface="Cambria Math" panose="02040503050406030204" pitchFamily="18" charset="0"/>
                        </a:rPr>
                        <m:t>. </m:t>
                      </m:r>
                      <m:acc>
                        <m:accPr>
                          <m:chr m:val="⃗"/>
                          <m:ctrlPr>
                            <a:rPr lang="en-US" sz="3200" b="1" i="1">
                              <a:latin typeface="Cambria Math" panose="02040503050406030204" pitchFamily="18" charset="0"/>
                              <a:ea typeface="Cambria Math" panose="02040503050406030204" pitchFamily="18" charset="0"/>
                            </a:rPr>
                          </m:ctrlPr>
                        </m:accPr>
                        <m:e>
                          <m:r>
                            <a:rPr lang="en-US" sz="3200" b="1" i="1">
                              <a:latin typeface="Cambria Math" panose="02040503050406030204" pitchFamily="18" charset="0"/>
                              <a:ea typeface="Cambria Math" panose="02040503050406030204" pitchFamily="18" charset="0"/>
                            </a:rPr>
                            <m:t>𝑩</m:t>
                          </m:r>
                        </m:e>
                      </m:acc>
                      <m:r>
                        <a:rPr lang="en-US" sz="3200" b="1" i="1">
                          <a:latin typeface="Cambria Math" panose="02040503050406030204" pitchFamily="18" charset="0"/>
                          <a:ea typeface="Cambria Math" panose="02040503050406030204" pitchFamily="18" charset="0"/>
                        </a:rPr>
                        <m:t>=</m:t>
                      </m:r>
                      <m:sSub>
                        <m:sSubPr>
                          <m:ctrlPr>
                            <a:rPr lang="en-US" sz="3200" b="1" i="1">
                              <a:latin typeface="Cambria Math" panose="02040503050406030204" pitchFamily="18" charset="0"/>
                              <a:ea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𝑨</m:t>
                          </m:r>
                        </m:e>
                        <m:sub>
                          <m:r>
                            <a:rPr lang="en-US" sz="3200" b="1" i="1">
                              <a:latin typeface="Cambria Math" panose="02040503050406030204" pitchFamily="18" charset="0"/>
                              <a:ea typeface="Cambria Math" panose="02040503050406030204" pitchFamily="18" charset="0"/>
                            </a:rPr>
                            <m:t>𝒙</m:t>
                          </m:r>
                        </m:sub>
                      </m:sSub>
                      <m:sSub>
                        <m:sSubPr>
                          <m:ctrlPr>
                            <a:rPr lang="en-US" sz="3200" b="1" i="1">
                              <a:latin typeface="Cambria Math" panose="02040503050406030204" pitchFamily="18" charset="0"/>
                              <a:ea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𝑩</m:t>
                          </m:r>
                        </m:e>
                        <m:sub>
                          <m:r>
                            <a:rPr lang="en-US" sz="3200" b="1" i="1">
                              <a:latin typeface="Cambria Math" panose="02040503050406030204" pitchFamily="18" charset="0"/>
                              <a:ea typeface="Cambria Math" panose="02040503050406030204" pitchFamily="18" charset="0"/>
                            </a:rPr>
                            <m:t>𝒙</m:t>
                          </m:r>
                        </m:sub>
                      </m:sSub>
                      <m:r>
                        <a:rPr lang="en-US" sz="3200" b="1" i="1">
                          <a:latin typeface="Cambria Math" panose="02040503050406030204" pitchFamily="18" charset="0"/>
                          <a:ea typeface="Cambria Math" panose="02040503050406030204" pitchFamily="18" charset="0"/>
                        </a:rPr>
                        <m:t>+</m:t>
                      </m:r>
                      <m:sSub>
                        <m:sSubPr>
                          <m:ctrlPr>
                            <a:rPr lang="en-US" sz="3200" b="1" i="1">
                              <a:latin typeface="Cambria Math" panose="02040503050406030204" pitchFamily="18" charset="0"/>
                              <a:ea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𝑨</m:t>
                          </m:r>
                        </m:e>
                        <m:sub>
                          <m:r>
                            <a:rPr lang="en-US" sz="3200" b="1" i="1">
                              <a:latin typeface="Cambria Math" panose="02040503050406030204" pitchFamily="18" charset="0"/>
                              <a:ea typeface="Cambria Math" panose="02040503050406030204" pitchFamily="18" charset="0"/>
                            </a:rPr>
                            <m:t>𝒚</m:t>
                          </m:r>
                        </m:sub>
                      </m:sSub>
                      <m:sSub>
                        <m:sSubPr>
                          <m:ctrlPr>
                            <a:rPr lang="en-US" sz="3200" b="1" i="1">
                              <a:latin typeface="Cambria Math" panose="02040503050406030204" pitchFamily="18" charset="0"/>
                              <a:ea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𝑩</m:t>
                          </m:r>
                        </m:e>
                        <m:sub>
                          <m:r>
                            <a:rPr lang="en-US" sz="3200" b="1" i="1">
                              <a:latin typeface="Cambria Math" panose="02040503050406030204" pitchFamily="18" charset="0"/>
                              <a:ea typeface="Cambria Math" panose="02040503050406030204" pitchFamily="18" charset="0"/>
                            </a:rPr>
                            <m:t>𝒚</m:t>
                          </m:r>
                        </m:sub>
                      </m:sSub>
                      <m:r>
                        <a:rPr lang="en-US" sz="3200" b="1" i="1">
                          <a:latin typeface="Cambria Math" panose="02040503050406030204" pitchFamily="18" charset="0"/>
                          <a:ea typeface="Cambria Math" panose="02040503050406030204" pitchFamily="18" charset="0"/>
                        </a:rPr>
                        <m:t>+</m:t>
                      </m:r>
                      <m:sSub>
                        <m:sSubPr>
                          <m:ctrlPr>
                            <a:rPr lang="en-US" sz="3200" b="1" i="1">
                              <a:latin typeface="Cambria Math" panose="02040503050406030204" pitchFamily="18" charset="0"/>
                              <a:ea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𝑨</m:t>
                          </m:r>
                        </m:e>
                        <m:sub>
                          <m:r>
                            <a:rPr lang="en-US" sz="3200" b="1" i="1">
                              <a:latin typeface="Cambria Math" panose="02040503050406030204" pitchFamily="18" charset="0"/>
                              <a:ea typeface="Cambria Math" panose="02040503050406030204" pitchFamily="18" charset="0"/>
                            </a:rPr>
                            <m:t>𝒛</m:t>
                          </m:r>
                        </m:sub>
                      </m:sSub>
                      <m:sSub>
                        <m:sSubPr>
                          <m:ctrlPr>
                            <a:rPr lang="en-US" sz="3200" b="1" i="1">
                              <a:latin typeface="Cambria Math" panose="02040503050406030204" pitchFamily="18" charset="0"/>
                              <a:ea typeface="Cambria Math" panose="02040503050406030204" pitchFamily="18" charset="0"/>
                            </a:rPr>
                          </m:ctrlPr>
                        </m:sSubPr>
                        <m:e>
                          <m:r>
                            <a:rPr lang="en-US" sz="3200" b="1" i="1">
                              <a:latin typeface="Cambria Math" panose="02040503050406030204" pitchFamily="18" charset="0"/>
                              <a:ea typeface="Cambria Math" panose="02040503050406030204" pitchFamily="18" charset="0"/>
                            </a:rPr>
                            <m:t>𝑩</m:t>
                          </m:r>
                        </m:e>
                        <m:sub>
                          <m:r>
                            <a:rPr lang="en-US" sz="3200" b="1" i="1">
                              <a:latin typeface="Cambria Math" panose="02040503050406030204" pitchFamily="18" charset="0"/>
                              <a:ea typeface="Cambria Math" panose="02040503050406030204" pitchFamily="18" charset="0"/>
                            </a:rPr>
                            <m:t>𝒛</m:t>
                          </m:r>
                        </m:sub>
                      </m:sSub>
                    </m:oMath>
                  </m:oMathPara>
                </a14:m>
                <a:endParaRPr lang="en-US" sz="3200" b="1" dirty="0">
                  <a:latin typeface="Cambria Math" panose="02040503050406030204" pitchFamily="18" charset="0"/>
                  <a:ea typeface="Cambria Math" panose="02040503050406030204" pitchFamily="18" charset="0"/>
                </a:endParaRPr>
              </a:p>
              <a:p>
                <a:r>
                  <a:rPr lang="en-US" sz="3600" b="1" dirty="0">
                    <a:latin typeface="Cambria Math" panose="02040503050406030204" pitchFamily="18" charset="0"/>
                    <a:ea typeface="Cambria Math" panose="02040503050406030204" pitchFamily="18" charset="0"/>
                    <a:hlinkClick r:id="rId3"/>
                  </a:rPr>
                  <a:t> </a:t>
                </a:r>
                <a:r>
                  <a:rPr lang="en-US" sz="2800" b="1" dirty="0">
                    <a:latin typeface="Cambria Math" panose="02040503050406030204" pitchFamily="18" charset="0"/>
                    <a:ea typeface="Cambria Math" panose="02040503050406030204" pitchFamily="18" charset="0"/>
                    <a:hlinkClick r:id="rId3"/>
                  </a:rPr>
                  <a:t>Video - Dot Product Example # 1</a:t>
                </a:r>
                <a:endParaRPr lang="en-US" sz="2800" b="1" dirty="0">
                  <a:latin typeface="Cambria Math" panose="02040503050406030204" pitchFamily="18" charset="0"/>
                  <a:ea typeface="Cambria Math" panose="02040503050406030204" pitchFamily="18" charset="0"/>
                </a:endParaRPr>
              </a:p>
              <a:p>
                <a:r>
                  <a:rPr lang="en-US" sz="2800" b="1" dirty="0">
                    <a:latin typeface="Cambria Math" panose="02040503050406030204" pitchFamily="18" charset="0"/>
                    <a:ea typeface="Cambria Math" panose="02040503050406030204" pitchFamily="18" charset="0"/>
                    <a:hlinkClick r:id="rId4"/>
                  </a:rPr>
                  <a:t> </a:t>
                </a:r>
                <a:r>
                  <a:rPr lang="en-US" sz="2800" b="1" dirty="0">
                    <a:latin typeface="Cambria Math" panose="02040503050406030204" pitchFamily="18" charset="0"/>
                    <a:ea typeface="Cambria Math" panose="02040503050406030204" pitchFamily="18" charset="0"/>
                    <a:hlinkClick r:id="rId3"/>
                  </a:rPr>
                  <a:t>Video - </a:t>
                </a:r>
                <a:r>
                  <a:rPr lang="en-US" sz="2800" b="1" dirty="0">
                    <a:latin typeface="Cambria Math" panose="02040503050406030204" pitchFamily="18" charset="0"/>
                    <a:ea typeface="Cambria Math" panose="02040503050406030204" pitchFamily="18" charset="0"/>
                    <a:hlinkClick r:id="rId4"/>
                  </a:rPr>
                  <a:t>Dot Product Example # 2</a:t>
                </a:r>
                <a:endParaRPr lang="en-US" sz="2800" b="1" dirty="0">
                  <a:latin typeface="Cambria Math" panose="02040503050406030204" pitchFamily="18" charset="0"/>
                  <a:ea typeface="Cambria Math" panose="02040503050406030204" pitchFamily="18" charset="0"/>
                </a:endParaRPr>
              </a:p>
              <a:p>
                <a:endParaRPr lang="en-US" sz="3600" b="1" dirty="0">
                  <a:latin typeface="Cambria Math" panose="02040503050406030204" pitchFamily="18" charset="0"/>
                  <a:ea typeface="Cambria Math" panose="02040503050406030204" pitchFamily="18" charset="0"/>
                </a:endParaRPr>
              </a:p>
            </p:txBody>
          </p:sp>
        </mc:Choice>
        <mc:Fallback xmlns="">
          <p:sp>
            <p:nvSpPr>
              <p:cNvPr id="4101" name="Rectangle 3"/>
              <p:cNvSpPr>
                <a:spLocks noGrp="1" noRot="1" noChangeAspect="1" noMove="1" noResize="1" noEditPoints="1" noAdjustHandles="1" noChangeArrowheads="1" noChangeShapeType="1" noTextEdit="1"/>
              </p:cNvSpPr>
              <p:nvPr>
                <p:ph type="body" idx="1"/>
              </p:nvPr>
            </p:nvSpPr>
            <p:spPr>
              <a:xfrm>
                <a:off x="450344" y="1018604"/>
                <a:ext cx="8367046" cy="5697650"/>
              </a:xfrm>
              <a:blipFill>
                <a:blip r:embed="rId5"/>
                <a:stretch>
                  <a:fillRect l="-1895"/>
                </a:stretch>
              </a:blipFill>
            </p:spPr>
            <p:txBody>
              <a:bodyPr/>
              <a:lstStyle/>
              <a:p>
                <a:r>
                  <a:rPr lang="en-US">
                    <a:noFill/>
                  </a:rPr>
                  <a:t> </a:t>
                </a:r>
              </a:p>
            </p:txBody>
          </p:sp>
        </mc:Fallback>
      </mc:AlternateContent>
      <p:pic>
        <p:nvPicPr>
          <p:cNvPr id="2" name="Picture 1" descr="Raji K Physics Logo">
            <a:extLst>
              <a:ext uri="{FF2B5EF4-FFF2-40B4-BE49-F238E27FC236}">
                <a16:creationId xmlns:a16="http://schemas.microsoft.com/office/drawing/2014/main" id="{ECB1CC67-2CDA-90D1-C602-8547B7D011A2}"/>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1348158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OpenStax logo">
            <a:extLst>
              <a:ext uri="{FF2B5EF4-FFF2-40B4-BE49-F238E27FC236}">
                <a16:creationId xmlns:a16="http://schemas.microsoft.com/office/drawing/2014/main" id="{52A0991B-90C9-0CCF-3451-B33CC03EE41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96982" y="4522066"/>
                <a:ext cx="8950036" cy="1514774"/>
              </a:xfrm>
              <a:prstGeom prst="rect">
                <a:avLst/>
              </a:prstGeom>
            </p:spPr>
            <p:txBody>
              <a:bodyPr wrap="square">
                <a:spAutoFit/>
              </a:bodyPr>
              <a:lstStyle/>
              <a:p>
                <a:r>
                  <a:rPr lang="en-US" b="1" dirty="0"/>
                  <a:t>Factor out the force; the remaining integral is just the total displacement, which only depends on the end points </a:t>
                </a:r>
                <a:r>
                  <a:rPr lang="en-US" b="1" i="1" dirty="0"/>
                  <a:t>A</a:t>
                </a:r>
                <a:r>
                  <a:rPr lang="en-US" b="1" dirty="0"/>
                  <a:t> and </a:t>
                </a:r>
                <a:r>
                  <a:rPr lang="en-US" b="1" i="1" dirty="0"/>
                  <a:t>B</a:t>
                </a:r>
                <a:r>
                  <a:rPr lang="en-US" b="1" dirty="0"/>
                  <a:t>, but not on the path between them:</a:t>
                </a:r>
              </a:p>
              <a:p>
                <a:endParaRPr lang="en-US" sz="1800" b="1" i="1" dirty="0">
                  <a:effectLst/>
                  <a:latin typeface="Cambria Math" panose="02040503050406030204" pitchFamily="18" charset="0"/>
                  <a:ea typeface="Calibri" panose="020F0502020204030204" pitchFamily="34" charset="0"/>
                  <a:cs typeface="Times New Roman" panose="02020603050405020304" pitchFamily="18" charset="0"/>
                </a:endParaRPr>
              </a:p>
              <a:p>
                <a14:m>
                  <m:oMath xmlns:m="http://schemas.openxmlformats.org/officeDocument/2006/math">
                    <m:sSub>
                      <m:sSubPr>
                        <m:ctrlPr>
                          <a:rPr lang="en-US" sz="2800" b="1"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800" b="1" i="1">
                            <a:effectLst/>
                            <a:latin typeface="Cambria Math" panose="02040503050406030204" pitchFamily="18" charset="0"/>
                            <a:ea typeface="Calibri" panose="020F0502020204030204" pitchFamily="34" charset="0"/>
                            <a:cs typeface="Times New Roman" panose="02020603050405020304" pitchFamily="18" charset="0"/>
                          </a:rPr>
                          <m:t>𝑾</m:t>
                        </m:r>
                      </m:e>
                      <m:sub>
                        <m:r>
                          <a:rPr lang="en-US" sz="2800" b="1" i="1">
                            <a:effectLst/>
                            <a:latin typeface="Cambria Math" panose="02040503050406030204" pitchFamily="18" charset="0"/>
                            <a:ea typeface="Calibri" panose="020F0502020204030204" pitchFamily="34" charset="0"/>
                            <a:cs typeface="Times New Roman" panose="02020603050405020304" pitchFamily="18" charset="0"/>
                          </a:rPr>
                          <m:t>𝑨𝑩</m:t>
                        </m:r>
                      </m:sub>
                    </m:s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𝑭</m:t>
                        </m:r>
                      </m:e>
                    </m:acc>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m:t>
                    </m:r>
                    <m:nary>
                      <m:naryPr>
                        <m:limLoc m:val="subSup"/>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𝑨</m:t>
                        </m:r>
                      </m:sub>
                      <m:sup>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𝑩</m:t>
                        </m:r>
                      </m:sup>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𝒅𝒓</m:t>
                            </m:r>
                          </m:e>
                        </m:acc>
                      </m:e>
                    </m:nary>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𝑭</m:t>
                        </m:r>
                      </m:e>
                    </m:acc>
                    <m:d>
                      <m:d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dPr>
                      <m:e>
                        <m:acc>
                          <m:accPr>
                            <m: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𝒓</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𝑩</m:t>
                                </m:r>
                              </m:sub>
                            </m:sSub>
                          </m:e>
                        </m:acc>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𝒓</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𝑨</m:t>
                                </m:r>
                              </m:sub>
                            </m:sSub>
                          </m:e>
                        </m:acc>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e>
                    </m:d>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𝑭</m:t>
                        </m:r>
                      </m:e>
                    </m:d>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dPr>
                      <m:e>
                        <m:acc>
                          <m:accPr>
                            <m: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𝒓</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𝑩</m:t>
                                </m:r>
                              </m:sub>
                            </m:sSub>
                          </m:e>
                        </m:acc>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 </m:t>
                        </m:r>
                        <m:acc>
                          <m:accPr>
                            <m: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𝒓</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𝑨</m:t>
                                </m:r>
                              </m:sub>
                            </m:sSub>
                          </m:e>
                        </m:acc>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e>
                    </m:d>
                    <m:func>
                      <m:func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a:rPr lang="en-US" sz="2800" b="1" i="1">
                            <a:effectLst/>
                            <a:latin typeface="Cambria Math" panose="02040503050406030204" pitchFamily="18" charset="0"/>
                            <a:ea typeface="Calibri" panose="020F0502020204030204" pitchFamily="34" charset="0"/>
                            <a:cs typeface="Times New Roman" panose="02020603050405020304" pitchFamily="18" charset="0"/>
                          </a:rPr>
                          <m:t>𝒄𝒐𝒔</m:t>
                        </m:r>
                      </m:fName>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𝜽</m:t>
                        </m:r>
                      </m:e>
                    </m:func>
                  </m:oMath>
                </a14:m>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96982" y="4522066"/>
                <a:ext cx="8950036" cy="1514774"/>
              </a:xfrm>
              <a:prstGeom prst="rect">
                <a:avLst/>
              </a:prstGeom>
              <a:blipFill>
                <a:blip r:embed="rId3"/>
                <a:stretch>
                  <a:fillRect l="-613" t="-2419"/>
                </a:stretch>
              </a:blipFill>
            </p:spPr>
            <p:txBody>
              <a:bodyPr/>
              <a:lstStyle/>
              <a:p>
                <a:r>
                  <a:rPr lang="en-US">
                    <a:noFill/>
                  </a:rPr>
                  <a:t> </a:t>
                </a:r>
              </a:p>
            </p:txBody>
          </p:sp>
        </mc:Fallback>
      </mc:AlternateContent>
      <p:pic>
        <p:nvPicPr>
          <p:cNvPr id="2" name="Picture Placeholder 1" descr=" A curved path connecting two points, A and B, is shown. The vector d r is a small displacement tangent to the path. The force F is a vector at the location of the displacement d r, at an angle theta to d r."/>
          <p:cNvPicPr>
            <a:picLocks noGrp="1" noChangeAspect="1"/>
          </p:cNvPicPr>
          <p:nvPr>
            <p:ph type="pic" sz="quarter" idx="13"/>
          </p:nvPr>
        </p:nvPicPr>
        <p:blipFill rotWithShape="1">
          <a:blip r:embed="rId4">
            <a:extLst>
              <a:ext uri="{28A0092B-C50C-407E-A947-70E740481C1C}">
                <a14:useLocalDpi xmlns:a14="http://schemas.microsoft.com/office/drawing/2010/main" val="0"/>
              </a:ext>
            </a:extLst>
          </a:blip>
          <a:srcRect l="637" r="-1253" b="-1515"/>
          <a:stretch/>
        </p:blipFill>
        <p:spPr>
          <a:xfrm>
            <a:off x="6040727" y="758520"/>
            <a:ext cx="2757268" cy="3553072"/>
          </a:xfrm>
        </p:spPr>
      </p:pic>
      <p:sp>
        <p:nvSpPr>
          <p:cNvPr id="7" name="Text Placeholder 6"/>
          <p:cNvSpPr>
            <a:spLocks noGrp="1"/>
          </p:cNvSpPr>
          <p:nvPr>
            <p:ph type="body" sz="quarter" idx="14"/>
          </p:nvPr>
        </p:nvSpPr>
        <p:spPr>
          <a:xfrm>
            <a:off x="346004" y="1024388"/>
            <a:ext cx="4957515" cy="3021336"/>
          </a:xfrm>
        </p:spPr>
        <p:txBody>
          <a:bodyPr>
            <a:noAutofit/>
          </a:bodyPr>
          <a:lstStyle/>
          <a:p>
            <a:pPr marL="342900" indent="-342900">
              <a:buClrTx/>
              <a:buFont typeface="Wingdings" panose="05000000000000000000" pitchFamily="2" charset="2"/>
              <a:buChar char="Ø"/>
            </a:pPr>
            <a:r>
              <a:rPr lang="en-US" b="1" dirty="0">
                <a:solidFill>
                  <a:schemeClr val="tx1"/>
                </a:solidFill>
              </a:rPr>
              <a:t>The force acting on a particle and its infinitesimal displacement are shown at one point along the path between </a:t>
            </a:r>
            <a:r>
              <a:rPr lang="en-US" b="1" i="1" dirty="0">
                <a:solidFill>
                  <a:schemeClr val="tx1"/>
                </a:solidFill>
              </a:rPr>
              <a:t>A</a:t>
            </a:r>
            <a:r>
              <a:rPr lang="en-US" b="1" dirty="0">
                <a:solidFill>
                  <a:schemeClr val="tx1"/>
                </a:solidFill>
              </a:rPr>
              <a:t> and </a:t>
            </a:r>
            <a:r>
              <a:rPr lang="en-US" b="1" i="1" dirty="0">
                <a:solidFill>
                  <a:schemeClr val="tx1"/>
                </a:solidFill>
              </a:rPr>
              <a:t>B</a:t>
            </a:r>
            <a:r>
              <a:rPr lang="en-US" b="1" dirty="0">
                <a:solidFill>
                  <a:schemeClr val="tx1"/>
                </a:solidFill>
              </a:rPr>
              <a:t>. </a:t>
            </a:r>
          </a:p>
          <a:p>
            <a:pPr marL="342900" indent="-342900">
              <a:buClrTx/>
              <a:buFont typeface="Wingdings" panose="05000000000000000000" pitchFamily="2" charset="2"/>
              <a:buChar char="Ø"/>
            </a:pPr>
            <a:r>
              <a:rPr lang="en-US" b="1" dirty="0">
                <a:solidFill>
                  <a:schemeClr val="tx1"/>
                </a:solidFill>
              </a:rPr>
              <a:t>The infinitesimal work is the dot product of these two vectors</a:t>
            </a:r>
          </a:p>
          <a:p>
            <a:pPr marL="342900" indent="-342900">
              <a:buClrTx/>
              <a:buFont typeface="Wingdings" panose="05000000000000000000" pitchFamily="2" charset="2"/>
              <a:buChar char="Ø"/>
            </a:pPr>
            <a:r>
              <a:rPr lang="en-US" b="1" dirty="0">
                <a:solidFill>
                  <a:schemeClr val="tx1"/>
                </a:solidFill>
              </a:rPr>
              <a:t>the total work is the integral of the dot product along the path.</a:t>
            </a:r>
          </a:p>
        </p:txBody>
      </p:sp>
      <p:sp>
        <p:nvSpPr>
          <p:cNvPr id="5" name="Title 4"/>
          <p:cNvSpPr>
            <a:spLocks noGrp="1"/>
          </p:cNvSpPr>
          <p:nvPr>
            <p:ph type="title"/>
          </p:nvPr>
        </p:nvSpPr>
        <p:spPr>
          <a:xfrm>
            <a:off x="253768" y="108387"/>
            <a:ext cx="8361064" cy="636665"/>
          </a:xfrm>
        </p:spPr>
        <p:txBody>
          <a:bodyPr>
            <a:normAutofit/>
          </a:bodyPr>
          <a:lstStyle/>
          <a:p>
            <a:pPr algn="ctr"/>
            <a:r>
              <a:rPr lang="en-US" dirty="0"/>
              <a:t> </a:t>
            </a:r>
            <a:r>
              <a:rPr lang="en-US" sz="2800" b="1" dirty="0">
                <a:solidFill>
                  <a:schemeClr val="tx1"/>
                </a:solidFill>
              </a:rPr>
              <a:t>W</a:t>
            </a:r>
            <a:r>
              <a:rPr lang="en-US" sz="2800" dirty="0">
                <a:solidFill>
                  <a:schemeClr val="tx1"/>
                </a:solidFill>
              </a:rPr>
              <a:t>ork  done by a constant force  </a:t>
            </a:r>
            <a:endParaRPr lang="en-US" sz="2800" u="sng" dirty="0">
              <a:solidFill>
                <a:schemeClr val="tx1"/>
              </a:solidFill>
            </a:endParaRPr>
          </a:p>
        </p:txBody>
      </p:sp>
    </p:spTree>
    <p:extLst>
      <p:ext uri="{BB962C8B-B14F-4D97-AF65-F5344CB8AC3E}">
        <p14:creationId xmlns:p14="http://schemas.microsoft.com/office/powerpoint/2010/main" val="3528811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1265663" y="220718"/>
                <a:ext cx="6612673" cy="832942"/>
              </a:xfrm>
            </p:spPr>
            <p:txBody>
              <a:bodyPr>
                <a:normAutofit/>
              </a:bodyPr>
              <a:lstStyle/>
              <a:p>
                <a:pPr algn="ctr"/>
                <a14:m>
                  <m:oMath xmlns:m="http://schemas.openxmlformats.org/officeDocument/2006/math">
                    <m:r>
                      <a:rPr lang="en-US" sz="2800" b="1" i="0" cap="none" smtClean="0">
                        <a:solidFill>
                          <a:schemeClr val="tx1"/>
                        </a:solidFill>
                        <a:latin typeface="Cambria Math" panose="02040503050406030204" pitchFamily="18" charset="0"/>
                      </a:rPr>
                      <m:t> </m:t>
                    </m:r>
                  </m:oMath>
                </a14:m>
                <a:r>
                  <a:rPr lang="en-US" sz="2800" cap="none" dirty="0">
                    <a:solidFill>
                      <a:schemeClr val="tx1"/>
                    </a:solidFill>
                  </a:rPr>
                  <a:t>THREE-dimensional ANALYSIS</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265663" y="220718"/>
                <a:ext cx="6612673" cy="832942"/>
              </a:xfrm>
              <a:blipFill>
                <a:blip r:embed="rId2"/>
                <a:stretch>
                  <a:fillRect b="-204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1600" y="1384458"/>
                <a:ext cx="8735906" cy="4914742"/>
              </a:xfrm>
            </p:spPr>
            <p:txBody>
              <a:bodyPr>
                <a:normAutofit/>
              </a:bodyPr>
              <a:lstStyle/>
              <a:p>
                <a14:m>
                  <m:oMath xmlns:m="http://schemas.openxmlformats.org/officeDocument/2006/math">
                    <m:r>
                      <a:rPr lang="en-US" b="1" i="0" smtClean="0">
                        <a:latin typeface="Cambria Math" panose="02040503050406030204" pitchFamily="18" charset="0"/>
                      </a:rPr>
                      <m:t>𝐖𝐡𝐞𝐧</m:t>
                    </m:r>
                    <m:r>
                      <a:rPr lang="en-US" b="1" i="1" smtClean="0">
                        <a:latin typeface="Cambria Math" panose="02040503050406030204" pitchFamily="18" charset="0"/>
                      </a:rPr>
                      <m:t>  </m:t>
                    </m:r>
                    <m:acc>
                      <m:accPr>
                        <m:chr m:val="⃗"/>
                        <m:ctrlPr>
                          <a:rPr lang="en-US" sz="2200" b="1" i="1" smtClean="0">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2200" b="1" i="1">
                            <a:effectLst/>
                            <a:latin typeface="Cambria Math" panose="02040503050406030204" pitchFamily="18" charset="0"/>
                            <a:ea typeface="Calibri" panose="020F0502020204030204" pitchFamily="34" charset="0"/>
                            <a:cs typeface="Times New Roman" panose="02020603050405020304" pitchFamily="18" charset="0"/>
                          </a:rPr>
                          <m:t>𝑭</m:t>
                        </m:r>
                      </m:e>
                    </m:acc>
                  </m:oMath>
                </a14:m>
                <a:r>
                  <a:rPr lang="en-US" sz="2200" b="1" dirty="0">
                    <a:effectLst/>
                    <a:latin typeface="Calibri" panose="020F0502020204030204" pitchFamily="34" charset="0"/>
                    <a:ea typeface="Calibri" panose="020F0502020204030204" pitchFamily="34" charset="0"/>
                    <a:cs typeface="Times New Roman" panose="02020603050405020304" pitchFamily="18" charset="0"/>
                  </a:rPr>
                  <a:t> acts in three−dimensional space and moves an object on a three−dimensional path from an initial point </a:t>
                </a:r>
                <a:r>
                  <a:rPr lang="en-US" sz="2200" b="1" dirty="0">
                    <a:effectLst/>
                    <a:latin typeface="Cambria Math" panose="02040503050406030204" pitchFamily="18" charset="0"/>
                    <a:ea typeface="Calibri" panose="020F0502020204030204" pitchFamily="34" charset="0"/>
                    <a:cs typeface="Cambria Math" panose="02040503050406030204" pitchFamily="18" charset="0"/>
                  </a:rPr>
                  <a:t>𝑨</a:t>
                </a:r>
                <a:r>
                  <a:rPr lang="en-US" sz="2200" b="1" dirty="0">
                    <a:effectLst/>
                    <a:latin typeface="Calibri" panose="020F0502020204030204" pitchFamily="34" charset="0"/>
                    <a:ea typeface="Calibri" panose="020F0502020204030204" pitchFamily="34" charset="0"/>
                    <a:cs typeface="Times New Roman" panose="02020603050405020304" pitchFamily="18" charset="0"/>
                  </a:rPr>
                  <a:t> to a final point </a:t>
                </a:r>
                <a:r>
                  <a:rPr lang="en-US" sz="2200" b="1" dirty="0">
                    <a:effectLst/>
                    <a:latin typeface="Cambria Math" panose="02040503050406030204" pitchFamily="18" charset="0"/>
                    <a:ea typeface="Calibri" panose="020F0502020204030204" pitchFamily="34" charset="0"/>
                    <a:cs typeface="Cambria Math" panose="02040503050406030204" pitchFamily="18" charset="0"/>
                  </a:rPr>
                  <a:t>𝑩</a:t>
                </a:r>
                <a:r>
                  <a:rPr lang="en-US" sz="2200" b="1" dirty="0">
                    <a:effectLst/>
                    <a:latin typeface="Calibri" panose="020F0502020204030204" pitchFamily="34" charset="0"/>
                    <a:ea typeface="Calibri" panose="020F0502020204030204" pitchFamily="34" charset="0"/>
                    <a:cs typeface="Times New Roman" panose="02020603050405020304" pitchFamily="18" charset="0"/>
                  </a:rPr>
                  <a:t>.</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b="1" dirty="0">
                  <a:ea typeface="Cambria Math" panose="02040503050406030204" pitchFamily="18" charset="0"/>
                </a:endParaRPr>
              </a:p>
              <a:p>
                <a:r>
                  <a:rPr lang="en-US" b="1" dirty="0">
                    <a:ea typeface="Cambria Math" panose="02040503050406030204" pitchFamily="18" charset="0"/>
                  </a:rPr>
                  <a:t>Since force is constant,</a:t>
                </a:r>
              </a:p>
              <a:p>
                <a14:m>
                  <m:oMath xmlns:m="http://schemas.openxmlformats.org/officeDocument/2006/math">
                    <m:sSub>
                      <m:sSubPr>
                        <m:ctrlPr>
                          <a:rPr lang="en-US" sz="2800" b="1"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800" b="1" i="1">
                            <a:effectLst/>
                            <a:latin typeface="Cambria Math" panose="02040503050406030204" pitchFamily="18" charset="0"/>
                            <a:ea typeface="Calibri" panose="020F0502020204030204" pitchFamily="34" charset="0"/>
                            <a:cs typeface="Times New Roman" panose="02020603050405020304" pitchFamily="18" charset="0"/>
                          </a:rPr>
                          <m:t>𝑾</m:t>
                        </m:r>
                      </m:e>
                      <m:sub>
                        <m:r>
                          <a:rPr lang="en-US" sz="2800" b="1" i="1">
                            <a:effectLst/>
                            <a:latin typeface="Cambria Math" panose="02040503050406030204" pitchFamily="18" charset="0"/>
                            <a:ea typeface="Calibri" panose="020F0502020204030204" pitchFamily="34" charset="0"/>
                            <a:cs typeface="Times New Roman" panose="02020603050405020304" pitchFamily="18" charset="0"/>
                          </a:rPr>
                          <m:t>𝑨𝑩</m:t>
                        </m:r>
                      </m:sub>
                    </m:s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𝑭</m:t>
                        </m:r>
                      </m:e>
                    </m:acc>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m:t>
                    </m:r>
                    <m:nary>
                      <m:naryPr>
                        <m:limLoc m:val="subSup"/>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𝑨</m:t>
                        </m:r>
                      </m:sub>
                      <m:sup>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𝑩</m:t>
                        </m:r>
                      </m:sup>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𝒅𝒓</m:t>
                            </m:r>
                          </m:e>
                        </m:acc>
                      </m:e>
                    </m:nary>
                  </m:oMath>
                </a14:m>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b="1"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latin typeface="Cambria Math" panose="02040503050406030204" pitchFamily="18" charset="0"/>
                            <a:ea typeface="Times New Roman" panose="02020603050405020304" pitchFamily="18" charset="0"/>
                            <a:cs typeface="Times New Roman" panose="02020603050405020304" pitchFamily="18" charset="0"/>
                          </a:rPr>
                          <m:t>𝑭</m:t>
                        </m:r>
                      </m:e>
                      <m:sub>
                        <m:r>
                          <a:rPr lang="en-US" sz="2800" b="1" i="1">
                            <a:latin typeface="Cambria Math" panose="02040503050406030204" pitchFamily="18" charset="0"/>
                            <a:ea typeface="Times New Roman" panose="02020603050405020304" pitchFamily="18" charset="0"/>
                            <a:cs typeface="Times New Roman" panose="02020603050405020304" pitchFamily="18" charset="0"/>
                          </a:rPr>
                          <m:t>𝒙</m:t>
                        </m:r>
                      </m:sub>
                    </m:sSub>
                    <m:nary>
                      <m:naryPr>
                        <m:limLoc m:val="subSup"/>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𝑨</m:t>
                        </m:r>
                      </m:sub>
                      <m:sup>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𝑩</m:t>
                        </m:r>
                      </m:sup>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e>
                    </m:nary>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𝒅𝒙</m:t>
                    </m:r>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b="1"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latin typeface="Cambria Math" panose="02040503050406030204" pitchFamily="18" charset="0"/>
                            <a:ea typeface="Times New Roman" panose="02020603050405020304" pitchFamily="18" charset="0"/>
                            <a:cs typeface="Times New Roman" panose="02020603050405020304" pitchFamily="18" charset="0"/>
                          </a:rPr>
                          <m:t>𝑭</m:t>
                        </m:r>
                      </m:e>
                      <m:sub>
                        <m:r>
                          <a:rPr lang="en-US" sz="2800" b="1" i="1" smtClean="0">
                            <a:latin typeface="Cambria Math" panose="02040503050406030204" pitchFamily="18" charset="0"/>
                            <a:ea typeface="Times New Roman" panose="02020603050405020304" pitchFamily="18" charset="0"/>
                            <a:cs typeface="Times New Roman" panose="02020603050405020304" pitchFamily="18" charset="0"/>
                          </a:rPr>
                          <m:t>𝒚</m:t>
                        </m:r>
                      </m:sub>
                    </m:sSub>
                    <m:nary>
                      <m:naryPr>
                        <m:limLoc m:val="subSup"/>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𝑨</m:t>
                        </m:r>
                      </m:sub>
                      <m:sup>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𝑩</m:t>
                        </m:r>
                      </m:sup>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e>
                    </m:nary>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𝒅</m:t>
                    </m:r>
                    <m:r>
                      <a:rPr lang="en-US" sz="2800" b="1" i="1" smtClean="0">
                        <a:effectLst/>
                        <a:latin typeface="Cambria Math" panose="02040503050406030204" pitchFamily="18" charset="0"/>
                        <a:ea typeface="Times New Roman" panose="02020603050405020304" pitchFamily="18" charset="0"/>
                        <a:cs typeface="Times New Roman" panose="02020603050405020304" pitchFamily="18" charset="0"/>
                      </a:rPr>
                      <m:t>𝒚</m:t>
                    </m:r>
                    <m:r>
                      <a:rPr lang="en-US" sz="2800" b="1" i="1" smtClea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b="1"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latin typeface="Cambria Math" panose="02040503050406030204" pitchFamily="18" charset="0"/>
                            <a:ea typeface="Times New Roman" panose="02020603050405020304" pitchFamily="18" charset="0"/>
                            <a:cs typeface="Times New Roman" panose="02020603050405020304" pitchFamily="18" charset="0"/>
                          </a:rPr>
                          <m:t>𝑭</m:t>
                        </m:r>
                      </m:e>
                      <m:sub>
                        <m:r>
                          <a:rPr lang="en-US" sz="2800" b="1" i="1" smtClean="0">
                            <a:latin typeface="Cambria Math" panose="02040503050406030204" pitchFamily="18" charset="0"/>
                            <a:ea typeface="Times New Roman" panose="02020603050405020304" pitchFamily="18" charset="0"/>
                            <a:cs typeface="Times New Roman" panose="02020603050405020304" pitchFamily="18" charset="0"/>
                          </a:rPr>
                          <m:t>𝒛</m:t>
                        </m:r>
                      </m:sub>
                    </m:sSub>
                    <m:nary>
                      <m:naryPr>
                        <m:limLoc m:val="subSup"/>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𝑨</m:t>
                        </m:r>
                      </m:sub>
                      <m:sup>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𝑩</m:t>
                        </m:r>
                      </m:sup>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e>
                    </m:nary>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𝒅𝒛</m:t>
                    </m:r>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oMath>
                </a14:m>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14:m>
                  <m:oMath xmlns:m="http://schemas.openxmlformats.org/officeDocument/2006/math">
                    <m:r>
                      <a:rPr lang="en-US" sz="28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𝑭</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𝒙</m:t>
                        </m:r>
                      </m:sub>
                    </m:sSub>
                    <m:d>
                      <m:d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𝒙</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𝑩</m:t>
                            </m:r>
                          </m:sub>
                        </m:s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𝒙</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𝑨</m:t>
                            </m:r>
                          </m:sub>
                        </m:sSub>
                      </m:e>
                    </m:d>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𝑭</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𝒚</m:t>
                        </m:r>
                      </m:sub>
                    </m:sSub>
                    <m:d>
                      <m:d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𝒚</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𝑩</m:t>
                            </m:r>
                          </m:sub>
                        </m:s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𝒚</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𝑨</m:t>
                            </m:r>
                          </m:sub>
                        </m:sSub>
                      </m:e>
                    </m:d>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𝑭</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𝒛</m:t>
                        </m:r>
                      </m:sub>
                    </m:sSub>
                    <m:d>
                      <m:d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𝒛</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𝑩</m:t>
                            </m:r>
                          </m:sub>
                        </m:s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𝒛</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𝑨</m:t>
                            </m:r>
                          </m:sub>
                        </m:sSub>
                      </m:e>
                    </m:d>
                  </m:oMath>
                </a14:m>
                <a:endParaRPr lang="en-US" sz="2800" b="1" i="1" dirty="0">
                  <a:effectLst/>
                  <a:latin typeface="Cambria Math"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en-US" sz="2800" b="1" i="1" dirty="0">
                  <a:effectLst/>
                  <a:latin typeface="Cambria Math"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800" b="1" dirty="0">
                    <a:effectLst/>
                    <a:ea typeface="Times New Roman" panose="02020603050405020304" pitchFamily="18" charset="0"/>
                    <a:cs typeface="Times New Roman" panose="02020603050405020304" pitchFamily="18" charset="0"/>
                  </a:rPr>
                  <a:t>          </a:t>
                </a:r>
                <a14:m>
                  <m:oMath xmlns:m="http://schemas.openxmlformats.org/officeDocument/2006/math">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𝑭</m:t>
                        </m:r>
                      </m:e>
                    </m:acc>
                    <m:d>
                      <m:d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dPr>
                      <m:e>
                        <m:acc>
                          <m:accPr>
                            <m: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𝒓</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𝑩</m:t>
                                </m:r>
                              </m:sub>
                            </m:sSub>
                          </m:e>
                        </m:acc>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𝒓</m:t>
                                </m:r>
                              </m:e>
                              <m:sub>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𝑨</m:t>
                                </m:r>
                              </m:sub>
                            </m:sSub>
                          </m:e>
                        </m:acc>
                        <m:r>
                          <a:rPr lang="en-US" sz="2800" b="1" i="1">
                            <a:effectLst/>
                            <a:latin typeface="Cambria Math" panose="02040503050406030204" pitchFamily="18" charset="0"/>
                            <a:ea typeface="Times New Roman" panose="02020603050405020304" pitchFamily="18" charset="0"/>
                            <a:cs typeface="Times New Roman" panose="02020603050405020304" pitchFamily="18" charset="0"/>
                          </a:rPr>
                          <m:t> </m:t>
                        </m:r>
                      </m:e>
                    </m:d>
                  </m:oMath>
                </a14:m>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1600" y="1384458"/>
                <a:ext cx="8735906" cy="4914742"/>
              </a:xfrm>
              <a:blipFill>
                <a:blip r:embed="rId3"/>
                <a:stretch>
                  <a:fillRect l="-907"/>
                </a:stretch>
              </a:blipFill>
            </p:spPr>
            <p:txBody>
              <a:bodyPr/>
              <a:lstStyle/>
              <a:p>
                <a:r>
                  <a:rPr lang="en-US">
                    <a:noFill/>
                  </a:rPr>
                  <a:t> </a:t>
                </a:r>
              </a:p>
            </p:txBody>
          </p:sp>
        </mc:Fallback>
      </mc:AlternateContent>
      <p:pic>
        <p:nvPicPr>
          <p:cNvPr id="4" name="Picture 3" descr="Raji K Physics Logo">
            <a:extLst>
              <a:ext uri="{FF2B5EF4-FFF2-40B4-BE49-F238E27FC236}">
                <a16:creationId xmlns:a16="http://schemas.microsoft.com/office/drawing/2014/main" id="{6A641244-8936-C2C0-F952-B2118C81DB5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567661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 y="160566"/>
            <a:ext cx="8981440" cy="900861"/>
          </a:xfrm>
        </p:spPr>
        <p:txBody>
          <a:bodyPr>
            <a:noAutofit/>
          </a:bodyPr>
          <a:lstStyle/>
          <a:p>
            <a:pPr algn="ctr"/>
            <a:r>
              <a:rPr lang="en-US" sz="2800" b="1" dirty="0">
                <a:solidFill>
                  <a:schemeClr val="tx1"/>
                </a:solidFill>
              </a:rPr>
              <a:t>Work Done by a Variable Force PROBLEM</a:t>
            </a:r>
          </a:p>
        </p:txBody>
      </p:sp>
      <p:pic>
        <p:nvPicPr>
          <p:cNvPr id="2" name="Picture Placeholder 1" descr="A graph of y in meters versus x in meters is shown. A parabolic path labeled as y of x starts at 0, 0 and curves up and to the right. The point (2, 2) is on the parabola. Vector F of x, y is shown at a point between the origin and coordinate 2, 2. Vector F points to the right and up, at some angle to the curve y of x."/>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1973" r="-31973"/>
          <a:stretch>
            <a:fillRect/>
          </a:stretch>
        </p:blipFill>
        <p:spPr>
          <a:xfrm>
            <a:off x="1718046" y="1303035"/>
            <a:ext cx="5707907" cy="2477774"/>
          </a:xfrm>
        </p:spPr>
      </p:pic>
      <mc:AlternateContent xmlns:mc="http://schemas.openxmlformats.org/markup-compatibility/2006" xmlns:a14="http://schemas.microsoft.com/office/drawing/2010/main">
        <mc:Choice Requires="a14">
          <p:sp>
            <p:nvSpPr>
              <p:cNvPr id="7" name="Text Placeholder 6"/>
              <p:cNvSpPr>
                <a:spLocks noGrp="1"/>
              </p:cNvSpPr>
              <p:nvPr>
                <p:ph type="body" sz="quarter" idx="14"/>
              </p:nvPr>
            </p:nvSpPr>
            <p:spPr>
              <a:xfrm>
                <a:off x="289933" y="4215332"/>
                <a:ext cx="8260080" cy="2172768"/>
              </a:xfrm>
            </p:spPr>
            <p:txBody>
              <a:bodyPr>
                <a:normAutofit fontScale="92500" lnSpcReduction="20000"/>
              </a:bodyPr>
              <a:lstStyle/>
              <a:p>
                <a:r>
                  <a:rPr lang="en-US" sz="2400" b="1" dirty="0"/>
                  <a:t> </a:t>
                </a:r>
                <a:r>
                  <a:rPr lang="en-US" sz="2400" b="1" dirty="0">
                    <a:effectLst/>
                    <a:ea typeface="Times New Roman" panose="02020603050405020304" pitchFamily="18" charset="0"/>
                    <a:cs typeface="Times New Roman" panose="02020603050405020304" pitchFamily="18" charset="0"/>
                  </a:rPr>
                  <a:t>An object moves along a parabolic path y=(0.5m</a:t>
                </a:r>
                <a:r>
                  <a:rPr lang="en-US" sz="2400" b="1" baseline="30000" dirty="0">
                    <a:effectLst/>
                    <a:ea typeface="Times New Roman" panose="02020603050405020304" pitchFamily="18" charset="0"/>
                    <a:cs typeface="Times New Roman" panose="02020603050405020304" pitchFamily="18" charset="0"/>
                  </a:rPr>
                  <a:t>−1</a:t>
                </a:r>
                <a:r>
                  <a:rPr lang="en-US" sz="2400" b="1" dirty="0">
                    <a:effectLst/>
                    <a:ea typeface="Times New Roman" panose="02020603050405020304" pitchFamily="18" charset="0"/>
                    <a:cs typeface="Times New Roman" panose="02020603050405020304" pitchFamily="18" charset="0"/>
                  </a:rPr>
                  <a:t>)x</a:t>
                </a:r>
                <a:r>
                  <a:rPr lang="en-US" sz="2400" b="1" baseline="30000" dirty="0">
                    <a:effectLst/>
                    <a:ea typeface="Times New Roman" panose="02020603050405020304" pitchFamily="18" charset="0"/>
                    <a:cs typeface="Times New Roman" panose="02020603050405020304" pitchFamily="18" charset="0"/>
                  </a:rPr>
                  <a:t>2</a:t>
                </a:r>
                <a:r>
                  <a:rPr lang="en-US" sz="2400" b="1" dirty="0">
                    <a:effectLst/>
                    <a:ea typeface="Times New Roman" panose="02020603050405020304" pitchFamily="18" charset="0"/>
                    <a:cs typeface="Times New Roman" panose="02020603050405020304" pitchFamily="18" charset="0"/>
                  </a:rPr>
                  <a:t> from the origin A=(0,0) to the point B=(2m,2m) under the action of a force </a:t>
                </a:r>
                <a:r>
                  <a:rPr lang="en-US" sz="2400" b="1" dirty="0">
                    <a:effectLst/>
                    <a:ea typeface="Times New Roman" panose="02020603050405020304" pitchFamily="18" charset="0"/>
                    <a:cs typeface="Cambria Math" panose="02040503050406030204" pitchFamily="18" charset="0"/>
                  </a:rPr>
                  <a:t> </a:t>
                </a:r>
                <a14:m>
                  <m:oMath xmlns:m="http://schemas.openxmlformats.org/officeDocument/2006/math">
                    <m:acc>
                      <m:accPr>
                        <m:chr m:val="⃗"/>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𝑭</m:t>
                        </m:r>
                      </m:e>
                    </m:acc>
                  </m:oMath>
                </a14:m>
                <a:r>
                  <a:rPr lang="en-US" sz="2400" b="1" dirty="0">
                    <a:effectLst/>
                    <a:ea typeface="Times New Roman" panose="02020603050405020304" pitchFamily="18" charset="0"/>
                    <a:cs typeface="Times New Roman" panose="02020603050405020304" pitchFamily="18" charset="0"/>
                  </a:rPr>
                  <a:t> =(5N/m) y</a:t>
                </a:r>
                <a:r>
                  <a:rPr lang="en-US" sz="2400" b="1" dirty="0">
                    <a:effectLst/>
                    <a:ea typeface="Times New Roman" panose="02020603050405020304" pitchFamily="18" charset="0"/>
                    <a:cs typeface="Calibri" panose="020F0502020204030204" pitchFamily="34" charset="0"/>
                  </a:rPr>
                  <a:t> </a:t>
                </a:r>
                <a14:m>
                  <m:oMath xmlns:m="http://schemas.openxmlformats.org/officeDocument/2006/math">
                    <m:acc>
                      <m:accPr>
                        <m:chr m:val="̂"/>
                        <m:ctrlPr>
                          <a:rPr lang="en-US" sz="2400" b="1" i="1" kern="12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sz="2400" b="1" i="1" kern="12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𝒊</m:t>
                        </m:r>
                      </m:e>
                    </m:acc>
                  </m:oMath>
                </a14:m>
                <a:r>
                  <a:rPr lang="en-US" sz="2400" b="1" dirty="0">
                    <a:effectLst/>
                    <a:ea typeface="Times New Roman" panose="02020603050405020304" pitchFamily="18" charset="0"/>
                    <a:cs typeface="Cambria Math" panose="02040503050406030204" pitchFamily="18" charset="0"/>
                  </a:rPr>
                  <a:t> </a:t>
                </a:r>
                <a:r>
                  <a:rPr lang="en-US" sz="2400" b="1" dirty="0">
                    <a:effectLst/>
                    <a:ea typeface="Times New Roman" panose="02020603050405020304" pitchFamily="18" charset="0"/>
                    <a:cs typeface="Times New Roman" panose="02020603050405020304" pitchFamily="18" charset="0"/>
                  </a:rPr>
                  <a:t>+(10N/m) x </a:t>
                </a:r>
                <a14:m>
                  <m:oMath xmlns:m="http://schemas.openxmlformats.org/officeDocument/2006/math">
                    <m:acc>
                      <m:accPr>
                        <m:chr m:val="̂"/>
                        <m:ctrlPr>
                          <a:rPr lang="en-US" sz="2400" b="1" i="1" kern="12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sz="2400" b="1" i="1" kern="12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𝒋</m:t>
                        </m:r>
                      </m:e>
                    </m:acc>
                  </m:oMath>
                </a14:m>
                <a:r>
                  <a:rPr lang="en-US" sz="2400" b="1" dirty="0">
                    <a:effectLst/>
                    <a:ea typeface="Times New Roman" panose="02020603050405020304" pitchFamily="18" charset="0"/>
                    <a:cs typeface="Times New Roman" panose="02020603050405020304" pitchFamily="18" charset="0"/>
                  </a:rPr>
                  <a:t>  (Figure above). Calculate the work done.</a:t>
                </a:r>
              </a:p>
              <a:p>
                <a:r>
                  <a:rPr lang="en-US" sz="2400" b="1" dirty="0">
                    <a:hlinkClick r:id="rId3"/>
                  </a:rPr>
                  <a:t>Click Here for Solution</a:t>
                </a:r>
                <a:endParaRPr lang="en-US" sz="2400" b="1" dirty="0">
                  <a:effectLst/>
                  <a:ea typeface="Times New Roman" panose="02020603050405020304" pitchFamily="18" charset="0"/>
                  <a:cs typeface="Times New Roman" panose="02020603050405020304" pitchFamily="18" charset="0"/>
                </a:endParaRPr>
              </a:p>
              <a:p>
                <a:r>
                  <a:rPr lang="en-US" sz="2400" b="1" dirty="0">
                    <a:ea typeface="Calibri" panose="020F0502020204030204" pitchFamily="34" charset="0"/>
                    <a:cs typeface="Times New Roman" panose="02020603050405020304" pitchFamily="18" charset="0"/>
                  </a:rPr>
                  <a:t> </a:t>
                </a:r>
                <a:endParaRPr lang="en-US" sz="2400" b="1" dirty="0">
                  <a:effectLst/>
                  <a:ea typeface="Calibri" panose="020F0502020204030204" pitchFamily="34" charset="0"/>
                  <a:cs typeface="Times New Roman" panose="02020603050405020304" pitchFamily="18" charset="0"/>
                </a:endParaRPr>
              </a:p>
              <a:p>
                <a:endParaRPr lang="en-US" sz="1600" dirty="0"/>
              </a:p>
            </p:txBody>
          </p:sp>
        </mc:Choice>
        <mc:Fallback xmlns="">
          <p:sp>
            <p:nvSpPr>
              <p:cNvPr id="7" name="Text Placeholder 6"/>
              <p:cNvSpPr>
                <a:spLocks noGrp="1" noRot="1" noChangeAspect="1" noMove="1" noResize="1" noEditPoints="1" noAdjustHandles="1" noChangeArrowheads="1" noChangeShapeType="1" noTextEdit="1"/>
              </p:cNvSpPr>
              <p:nvPr>
                <p:ph type="body" sz="quarter" idx="14"/>
              </p:nvPr>
            </p:nvSpPr>
            <p:spPr>
              <a:xfrm>
                <a:off x="289933" y="4215332"/>
                <a:ext cx="8260080" cy="2172768"/>
              </a:xfrm>
              <a:blipFill>
                <a:blip r:embed="rId4"/>
                <a:stretch>
                  <a:fillRect l="-959" t="-4482" r="-1033"/>
                </a:stretch>
              </a:blipFill>
            </p:spPr>
            <p:txBody>
              <a:bodyPr/>
              <a:lstStyle/>
              <a:p>
                <a:r>
                  <a:rPr lang="en-US">
                    <a:noFill/>
                  </a:rPr>
                  <a:t> </a:t>
                </a:r>
              </a:p>
            </p:txBody>
          </p:sp>
        </mc:Fallback>
      </mc:AlternateContent>
      <p:pic>
        <p:nvPicPr>
          <p:cNvPr id="6" name="Picture 5" descr="OpenStax logo">
            <a:extLst>
              <a:ext uri="{FF2B5EF4-FFF2-40B4-BE49-F238E27FC236}">
                <a16:creationId xmlns:a16="http://schemas.microsoft.com/office/drawing/2014/main" id="{0B9B7E8A-73F7-0015-D0A3-E85573E45B64}"/>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98427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descr="OpenStax logo">
            <a:extLst>
              <a:ext uri="{FF2B5EF4-FFF2-40B4-BE49-F238E27FC236}">
                <a16:creationId xmlns:a16="http://schemas.microsoft.com/office/drawing/2014/main" id="{E870DB05-7D38-BDD7-9A3A-EFFE121DDA5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
        <p:nvSpPr>
          <p:cNvPr id="8195" name="Text Placeholder 13"/>
          <p:cNvSpPr>
            <a:spLocks noGrp="1"/>
          </p:cNvSpPr>
          <p:nvPr>
            <p:ph type="body" sz="quarter" idx="14"/>
          </p:nvPr>
        </p:nvSpPr>
        <p:spPr>
          <a:xfrm>
            <a:off x="381423" y="4541331"/>
            <a:ext cx="8216054" cy="1185301"/>
          </a:xfrm>
        </p:spPr>
        <p:txBody>
          <a:bodyPr/>
          <a:lstStyle/>
          <a:p>
            <a:pPr marL="520700" indent="-520700">
              <a:lnSpc>
                <a:spcPts val="2900"/>
              </a:lnSpc>
              <a:buClrTx/>
              <a:buFont typeface="+mj-lt"/>
              <a:buAutoNum type="alphaLcParenR"/>
            </a:pPr>
            <a:r>
              <a:rPr lang="en-US" sz="2400" b="1" dirty="0">
                <a:solidFill>
                  <a:schemeClr val="tx1"/>
                </a:solidFill>
              </a:rPr>
              <a:t>A graph of </a:t>
            </a:r>
            <a:r>
              <a:rPr lang="en-US" sz="2400" b="1" i="1" dirty="0">
                <a:solidFill>
                  <a:schemeClr val="tx1"/>
                </a:solidFill>
              </a:rPr>
              <a:t>F</a:t>
            </a:r>
            <a:r>
              <a:rPr lang="en-US" sz="2400" b="1" dirty="0">
                <a:solidFill>
                  <a:schemeClr val="tx1"/>
                </a:solidFill>
              </a:rPr>
              <a:t>cos </a:t>
            </a:r>
            <a:r>
              <a:rPr lang="en-US" sz="2400" b="1" i="1" dirty="0">
                <a:solidFill>
                  <a:schemeClr val="tx1"/>
                </a:solidFill>
              </a:rPr>
              <a:t>θ </a:t>
            </a:r>
            <a:r>
              <a:rPr lang="en-US" sz="2400" b="1" dirty="0">
                <a:solidFill>
                  <a:schemeClr val="tx1"/>
                </a:solidFill>
              </a:rPr>
              <a:t>vs. </a:t>
            </a:r>
            <a:r>
              <a:rPr lang="en-US" sz="2400" b="1" i="1" dirty="0">
                <a:solidFill>
                  <a:schemeClr val="tx1"/>
                </a:solidFill>
              </a:rPr>
              <a:t>d</a:t>
            </a:r>
            <a:r>
              <a:rPr lang="en-US" sz="2400" b="1" dirty="0">
                <a:solidFill>
                  <a:schemeClr val="tx1"/>
                </a:solidFill>
              </a:rPr>
              <a:t>, when </a:t>
            </a:r>
            <a:r>
              <a:rPr lang="en-US" sz="2400" b="1" i="1" dirty="0">
                <a:solidFill>
                  <a:schemeClr val="tx1"/>
                </a:solidFill>
              </a:rPr>
              <a:t>F</a:t>
            </a:r>
            <a:r>
              <a:rPr lang="en-US" sz="2400" b="1" dirty="0">
                <a:solidFill>
                  <a:schemeClr val="tx1"/>
                </a:solidFill>
              </a:rPr>
              <a:t>cos </a:t>
            </a:r>
            <a:r>
              <a:rPr lang="en-US" sz="2400" b="1" i="1" dirty="0">
                <a:solidFill>
                  <a:schemeClr val="tx1"/>
                </a:solidFill>
              </a:rPr>
              <a:t>θ </a:t>
            </a:r>
            <a:r>
              <a:rPr lang="en-US" sz="2400" b="1" dirty="0">
                <a:solidFill>
                  <a:schemeClr val="tx1"/>
                </a:solidFill>
              </a:rPr>
              <a:t>is </a:t>
            </a:r>
            <a:r>
              <a:rPr lang="en-US" sz="2400" b="1" i="1" dirty="0">
                <a:solidFill>
                  <a:schemeClr val="tx1"/>
                </a:solidFill>
              </a:rPr>
              <a:t>constant</a:t>
            </a:r>
            <a:r>
              <a:rPr lang="en-US" sz="2400" b="1" dirty="0">
                <a:solidFill>
                  <a:schemeClr val="tx1"/>
                </a:solidFill>
              </a:rPr>
              <a:t>. The </a:t>
            </a:r>
            <a:r>
              <a:rPr lang="en-US" sz="2400" b="1" i="1" dirty="0">
                <a:solidFill>
                  <a:schemeClr val="tx1"/>
                </a:solidFill>
              </a:rPr>
              <a:t>area</a:t>
            </a:r>
            <a:r>
              <a:rPr lang="en-US" sz="2400" b="1" dirty="0">
                <a:solidFill>
                  <a:schemeClr val="tx1"/>
                </a:solidFill>
              </a:rPr>
              <a:t> under the curve represents the work done by the force.</a:t>
            </a:r>
          </a:p>
        </p:txBody>
      </p:sp>
      <p:pic>
        <p:nvPicPr>
          <p:cNvPr id="2" name="Picture Placeholder 1" descr=" A graph of F cos θ vs. d, when F cos θ is constant. The area under represents the work done by the force.&#10;&#10;"/>
          <p:cNvPicPr>
            <a:picLocks noGrp="1" noChangeAspect="1"/>
          </p:cNvPicPr>
          <p:nvPr>
            <p:ph type="pic" sz="quarter" idx="13"/>
          </p:nvPr>
        </p:nvPicPr>
        <p:blipFill rotWithShape="1">
          <a:blip r:embed="rId4" cstate="email">
            <a:extLst>
              <a:ext uri="{28A0092B-C50C-407E-A947-70E740481C1C}">
                <a14:useLocalDpi xmlns:a14="http://schemas.microsoft.com/office/drawing/2010/main" val="0"/>
              </a:ext>
            </a:extLst>
          </a:blip>
          <a:srcRect l="-11032" r="-4086" b="62024"/>
          <a:stretch/>
        </p:blipFill>
        <p:spPr>
          <a:xfrm>
            <a:off x="1977813" y="1823018"/>
            <a:ext cx="4489450" cy="2024236"/>
          </a:xfrm>
        </p:spPr>
      </p:pic>
      <p:sp>
        <p:nvSpPr>
          <p:cNvPr id="7" name="Title 4"/>
          <p:cNvSpPr>
            <a:spLocks noGrp="1"/>
          </p:cNvSpPr>
          <p:nvPr>
            <p:ph type="title"/>
          </p:nvPr>
        </p:nvSpPr>
        <p:spPr>
          <a:xfrm>
            <a:off x="-82550" y="144966"/>
            <a:ext cx="9144000" cy="647042"/>
          </a:xfrm>
        </p:spPr>
        <p:txBody>
          <a:bodyPr>
            <a:noAutofit/>
          </a:bodyPr>
          <a:lstStyle/>
          <a:p>
            <a:pPr algn="ctr" fontAlgn="auto">
              <a:spcAft>
                <a:spcPts val="0"/>
              </a:spcAft>
              <a:defRPr/>
            </a:pPr>
            <a:r>
              <a:rPr lang="en-US" sz="2800" b="1" dirty="0">
                <a:solidFill>
                  <a:schemeClr val="tx1"/>
                </a:solidFill>
              </a:rPr>
              <a:t>Work done – Graphical Analysis</a:t>
            </a:r>
            <a:r>
              <a:rPr lang="en-US" sz="2200" b="1" dirty="0"/>
              <a:t> </a:t>
            </a:r>
            <a:r>
              <a:rPr lang="en-US" sz="3200" b="1" u="sng" dirty="0">
                <a:solidFill>
                  <a:schemeClr val="tx1"/>
                </a:solidFill>
              </a:rPr>
              <a:t> </a:t>
            </a:r>
            <a:endParaRPr lang="en-US" sz="2800" dirty="0">
              <a:solidFill>
                <a:schemeClr val="tx1"/>
              </a:solidFill>
            </a:endParaRPr>
          </a:p>
        </p:txBody>
      </p:sp>
    </p:spTree>
    <p:extLst>
      <p:ext uri="{BB962C8B-B14F-4D97-AF65-F5344CB8AC3E}">
        <p14:creationId xmlns:p14="http://schemas.microsoft.com/office/powerpoint/2010/main" val="1833402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92A9A-E0AC-A65E-5888-8D4F31ADA083}"/>
              </a:ext>
            </a:extLst>
          </p:cNvPr>
          <p:cNvSpPr>
            <a:spLocks noGrp="1"/>
          </p:cNvSpPr>
          <p:nvPr>
            <p:ph type="title"/>
          </p:nvPr>
        </p:nvSpPr>
        <p:spPr>
          <a:xfrm>
            <a:off x="196427" y="101601"/>
            <a:ext cx="8751146" cy="894087"/>
          </a:xfrm>
        </p:spPr>
        <p:txBody>
          <a:bodyPr>
            <a:noAutofit/>
          </a:bodyPr>
          <a:lstStyle/>
          <a:p>
            <a:pPr algn="ctr"/>
            <a:r>
              <a:rPr lang="en-US" sz="2800" b="1" dirty="0">
                <a:solidFill>
                  <a:schemeClr val="tx1"/>
                </a:solidFill>
              </a:rPr>
              <a:t>Work done </a:t>
            </a:r>
            <a:r>
              <a:rPr lang="en-US" sz="2800" b="1" cap="none" spc="0" dirty="0">
                <a:solidFill>
                  <a:schemeClr val="tx1"/>
                </a:solidFill>
                <a:ea typeface="+mn-ea"/>
                <a:cs typeface="+mn-cs"/>
              </a:rPr>
              <a:t>BY A VARYING FORCE</a:t>
            </a:r>
            <a:r>
              <a:rPr lang="en-US" sz="2800" b="1" dirty="0">
                <a:solidFill>
                  <a:schemeClr val="tx1"/>
                </a:solidFill>
              </a:rPr>
              <a:t>  Graphical Analysis</a:t>
            </a:r>
            <a:r>
              <a:rPr lang="en-US" sz="2800" b="1" dirty="0"/>
              <a:t> </a:t>
            </a:r>
            <a:endParaRPr lang="en-US" sz="2800"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F05E3DDF-9E8E-EAB0-D901-817DADB91256}"/>
                  </a:ext>
                </a:extLst>
              </p:cNvPr>
              <p:cNvSpPr>
                <a:spLocks noGrp="1"/>
              </p:cNvSpPr>
              <p:nvPr>
                <p:ph type="body" sz="quarter" idx="14"/>
              </p:nvPr>
            </p:nvSpPr>
            <p:spPr>
              <a:xfrm>
                <a:off x="317024" y="3857588"/>
                <a:ext cx="8562816" cy="2665132"/>
              </a:xfrm>
            </p:spPr>
            <p:txBody>
              <a:bodyPr/>
              <a:lstStyle/>
              <a:p>
                <a:r>
                  <a:rPr lang="en-US" sz="2000" b="1" dirty="0">
                    <a:solidFill>
                      <a:schemeClr val="tx1"/>
                    </a:solidFill>
                  </a:rPr>
                  <a:t>A graph of </a:t>
                </a:r>
                <a:r>
                  <a:rPr lang="en-US" sz="2000" b="1" i="1" dirty="0">
                    <a:solidFill>
                      <a:schemeClr val="tx1"/>
                    </a:solidFill>
                  </a:rPr>
                  <a:t>F </a:t>
                </a:r>
                <a:r>
                  <a:rPr lang="en-US" sz="2000" b="1" dirty="0">
                    <a:solidFill>
                      <a:schemeClr val="tx1"/>
                    </a:solidFill>
                  </a:rPr>
                  <a:t>cos </a:t>
                </a:r>
                <a:r>
                  <a:rPr lang="en-US" sz="2000" b="1" i="1" dirty="0">
                    <a:solidFill>
                      <a:schemeClr val="tx1"/>
                    </a:solidFill>
                  </a:rPr>
                  <a:t>θ </a:t>
                </a:r>
                <a:r>
                  <a:rPr lang="en-US" sz="2000" b="1" dirty="0">
                    <a:solidFill>
                      <a:schemeClr val="tx1"/>
                    </a:solidFill>
                  </a:rPr>
                  <a:t>vs. </a:t>
                </a:r>
                <a:r>
                  <a:rPr lang="en-US" sz="2000" b="1" i="1" dirty="0">
                    <a:solidFill>
                      <a:schemeClr val="tx1"/>
                    </a:solidFill>
                  </a:rPr>
                  <a:t>d </a:t>
                </a:r>
                <a:r>
                  <a:rPr lang="en-US" sz="2000" b="1" dirty="0">
                    <a:solidFill>
                      <a:schemeClr val="tx1"/>
                    </a:solidFill>
                  </a:rPr>
                  <a:t>in the curve which the force </a:t>
                </a:r>
                <a:r>
                  <a:rPr lang="en-US" sz="2000" b="1" i="1" dirty="0">
                    <a:solidFill>
                      <a:schemeClr val="tx1"/>
                    </a:solidFill>
                  </a:rPr>
                  <a:t>varies</a:t>
                </a:r>
                <a:r>
                  <a:rPr lang="en-US" sz="2000" b="1" dirty="0">
                    <a:solidFill>
                      <a:schemeClr val="tx1"/>
                    </a:solidFill>
                  </a:rPr>
                  <a:t>. The work done for each interval is the area of each strip; thus, the </a:t>
                </a:r>
                <a:r>
                  <a:rPr lang="en-US" sz="2000" b="1" i="1" dirty="0">
                    <a:solidFill>
                      <a:schemeClr val="tx1"/>
                    </a:solidFill>
                  </a:rPr>
                  <a:t>total area </a:t>
                </a:r>
                <a:r>
                  <a:rPr lang="en-US" sz="2000" b="1" dirty="0">
                    <a:solidFill>
                      <a:schemeClr val="tx1"/>
                    </a:solidFill>
                  </a:rPr>
                  <a:t>under the curve equals the total work done</a:t>
                </a:r>
                <a:r>
                  <a:rPr lang="en-US" sz="2000" dirty="0">
                    <a:solidFill>
                      <a:schemeClr val="tx1"/>
                    </a:solidFill>
                  </a:rPr>
                  <a:t>.</a:t>
                </a:r>
              </a:p>
              <a:p>
                <a14:m>
                  <m:oMath xmlns:m="http://schemas.openxmlformats.org/officeDocument/2006/math">
                    <m:r>
                      <a:rPr lang="en-US" sz="2400" b="1" i="0" smtClean="0">
                        <a:latin typeface="Cambria Math" panose="02040503050406030204" pitchFamily="18" charset="0"/>
                        <a:ea typeface="Cambria Math" panose="02040503050406030204" pitchFamily="18" charset="0"/>
                      </a:rPr>
                      <m:t>𝐖</m:t>
                    </m:r>
                    <m:r>
                      <a:rPr lang="en-US" sz="2400" b="1" i="0" smtClean="0">
                        <a:latin typeface="Cambria Math" panose="02040503050406030204" pitchFamily="18" charset="0"/>
                        <a:ea typeface="Cambria Math" panose="02040503050406030204" pitchFamily="18" charset="0"/>
                      </a:rPr>
                      <m:t>=  </m:t>
                    </m:r>
                    <m:nary>
                      <m:naryPr>
                        <m:chr m:val="∑"/>
                        <m:limLoc m:val="undOvr"/>
                        <m:ctrlPr>
                          <a:rPr lang="en-US" sz="2400" b="1" i="1">
                            <a:latin typeface="Cambria Math" panose="02040503050406030204" pitchFamily="18" charset="0"/>
                            <a:ea typeface="Cambria Math" panose="02040503050406030204" pitchFamily="18" charset="0"/>
                          </a:rPr>
                        </m:ctrlPr>
                      </m:naryPr>
                      <m:sub>
                        <m:r>
                          <a:rPr lang="en-US" sz="2400" b="1" i="0">
                            <a:latin typeface="Cambria Math" panose="02040503050406030204" pitchFamily="18" charset="0"/>
                            <a:ea typeface="Cambria Math" panose="02040503050406030204" pitchFamily="18" charset="0"/>
                          </a:rPr>
                          <m:t>𝐢</m:t>
                        </m:r>
                        <m:r>
                          <a:rPr lang="en-US" sz="2400" b="1" i="0">
                            <a:latin typeface="Cambria Math" panose="02040503050406030204" pitchFamily="18" charset="0"/>
                            <a:ea typeface="Cambria Math" panose="02040503050406030204" pitchFamily="18" charset="0"/>
                          </a:rPr>
                          <m:t>=</m:t>
                        </m:r>
                        <m:r>
                          <a:rPr lang="en-US" sz="2400" b="1" i="0">
                            <a:latin typeface="Cambria Math" panose="02040503050406030204" pitchFamily="18" charset="0"/>
                            <a:ea typeface="Cambria Math" panose="02040503050406030204" pitchFamily="18" charset="0"/>
                          </a:rPr>
                          <m:t>𝟏</m:t>
                        </m:r>
                      </m:sub>
                      <m:sup>
                        <m:r>
                          <a:rPr lang="en-US" sz="2400" b="1" i="0" smtClean="0">
                            <a:latin typeface="Cambria Math" panose="02040503050406030204" pitchFamily="18" charset="0"/>
                            <a:ea typeface="Cambria Math" panose="02040503050406030204" pitchFamily="18" charset="0"/>
                          </a:rPr>
                          <m:t>𝟔</m:t>
                        </m:r>
                      </m:sup>
                      <m:e>
                        <m:r>
                          <m:rPr>
                            <m:nor/>
                          </m:rPr>
                          <a:rPr lang="en-US" sz="2400" b="1">
                            <a:latin typeface="Cambria Math" panose="02040503050406030204" pitchFamily="18" charset="0"/>
                            <a:ea typeface="Cambria Math" panose="02040503050406030204" pitchFamily="18" charset="0"/>
                          </a:rPr>
                          <m:t> </m:t>
                        </m:r>
                        <m:sSub>
                          <m:sSubPr>
                            <m:ctrlPr>
                              <a:rPr lang="en-US" sz="2400" b="1" i="1">
                                <a:latin typeface="Cambria Math" panose="02040503050406030204" pitchFamily="18" charset="0"/>
                                <a:ea typeface="Cambria Math" panose="02040503050406030204" pitchFamily="18" charset="0"/>
                              </a:rPr>
                            </m:ctrlPr>
                          </m:sSubPr>
                          <m:e>
                            <m:r>
                              <m:rPr>
                                <m:nor/>
                              </m:rPr>
                              <a:rPr lang="en-US" sz="2400" b="1">
                                <a:latin typeface="Cambria Math" panose="02040503050406030204" pitchFamily="18" charset="0"/>
                                <a:ea typeface="Cambria Math" panose="02040503050406030204" pitchFamily="18" charset="0"/>
                              </a:rPr>
                              <m:t>F</m:t>
                            </m:r>
                          </m:e>
                          <m:sub>
                            <m:r>
                              <m:rPr>
                                <m:nor/>
                              </m:rPr>
                              <a:rPr lang="en-US" sz="2400" b="1">
                                <a:latin typeface="Cambria Math" panose="02040503050406030204" pitchFamily="18" charset="0"/>
                                <a:ea typeface="Cambria Math" panose="02040503050406030204" pitchFamily="18" charset="0"/>
                              </a:rPr>
                              <m:t>i</m:t>
                            </m:r>
                          </m:sub>
                        </m:sSub>
                        <m:r>
                          <a:rPr lang="en-US" sz="2400" b="1" i="0">
                            <a:latin typeface="Cambria Math" panose="02040503050406030204" pitchFamily="18" charset="0"/>
                            <a:ea typeface="Cambria Math" panose="02040503050406030204" pitchFamily="18" charset="0"/>
                          </a:rPr>
                          <m:t>𝐜𝐨𝐬</m:t>
                        </m:r>
                        <m:sSub>
                          <m:sSubPr>
                            <m:ctrlPr>
                              <a:rPr lang="en-US" sz="2400" b="1" i="1">
                                <a:latin typeface="Cambria Math" panose="02040503050406030204" pitchFamily="18" charset="0"/>
                                <a:ea typeface="Cambria Math" panose="02040503050406030204" pitchFamily="18" charset="0"/>
                              </a:rPr>
                            </m:ctrlPr>
                          </m:sSubPr>
                          <m:e>
                            <m:r>
                              <a:rPr lang="en-US" sz="2400" b="1" i="0">
                                <a:latin typeface="Cambria Math" panose="02040503050406030204" pitchFamily="18" charset="0"/>
                                <a:ea typeface="Cambria Math" panose="02040503050406030204" pitchFamily="18" charset="0"/>
                              </a:rPr>
                              <m:t>𝛉</m:t>
                            </m:r>
                          </m:e>
                          <m:sub>
                            <m:r>
                              <m:rPr>
                                <m:nor/>
                              </m:rPr>
                              <a:rPr lang="en-US" sz="2400" b="1">
                                <a:latin typeface="Cambria Math" panose="02040503050406030204" pitchFamily="18" charset="0"/>
                                <a:ea typeface="Cambria Math" panose="02040503050406030204" pitchFamily="18" charset="0"/>
                              </a:rPr>
                              <m:t>i</m:t>
                            </m:r>
                          </m:sub>
                        </m:sSub>
                        <m:r>
                          <a:rPr lang="en-US" sz="2400" b="1" i="0">
                            <a:latin typeface="Cambria Math" panose="02040503050406030204" pitchFamily="18" charset="0"/>
                            <a:ea typeface="Cambria Math" panose="02040503050406030204" pitchFamily="18" charset="0"/>
                          </a:rPr>
                          <m:t>∆</m:t>
                        </m:r>
                        <m:r>
                          <a:rPr lang="en-US" sz="2400" b="1" i="0" smtClean="0">
                            <a:latin typeface="Cambria Math" panose="02040503050406030204" pitchFamily="18" charset="0"/>
                            <a:ea typeface="Cambria Math" panose="02040503050406030204" pitchFamily="18" charset="0"/>
                          </a:rPr>
                          <m:t>𝐝</m:t>
                        </m:r>
                        <m:sSub>
                          <m:sSubPr>
                            <m:ctrlPr>
                              <a:rPr lang="en-US" sz="2400" b="1" i="1" smtClean="0">
                                <a:latin typeface="Cambria Math" panose="02040503050406030204" pitchFamily="18" charset="0"/>
                                <a:ea typeface="Cambria Math" panose="02040503050406030204" pitchFamily="18" charset="0"/>
                              </a:rPr>
                            </m:ctrlPr>
                          </m:sSubPr>
                          <m:e>
                            <m:r>
                              <a:rPr lang="en-US" sz="2400" b="1" i="0" smtClean="0">
                                <a:latin typeface="Cambria Math" panose="02040503050406030204" pitchFamily="18" charset="0"/>
                                <a:ea typeface="Cambria Math" panose="02040503050406030204" pitchFamily="18" charset="0"/>
                              </a:rPr>
                              <m:t> </m:t>
                            </m:r>
                          </m:e>
                          <m:sub>
                            <m:r>
                              <m:rPr>
                                <m:nor/>
                              </m:rPr>
                              <a:rPr lang="en-US" sz="2400" b="1">
                                <a:latin typeface="Cambria Math" panose="02040503050406030204" pitchFamily="18" charset="0"/>
                                <a:ea typeface="Cambria Math" panose="02040503050406030204" pitchFamily="18" charset="0"/>
                              </a:rPr>
                              <m:t>i</m:t>
                            </m:r>
                          </m:sub>
                        </m:sSub>
                        <m:r>
                          <m:rPr>
                            <m:nor/>
                          </m:rPr>
                          <a:rPr lang="en-US" sz="2400" b="1">
                            <a:latin typeface="Cambria Math" panose="02040503050406030204" pitchFamily="18" charset="0"/>
                            <a:ea typeface="Cambria Math" panose="02040503050406030204" pitchFamily="18" charset="0"/>
                          </a:rPr>
                          <m:t> </m:t>
                        </m:r>
                      </m:e>
                    </m:nary>
                  </m:oMath>
                </a14:m>
                <a:r>
                  <a:rPr lang="en-US" sz="2400" dirty="0">
                    <a:solidFill>
                      <a:schemeClr val="tx1"/>
                    </a:solidFill>
                  </a:rPr>
                  <a:t>   </a:t>
                </a:r>
                <a:r>
                  <a:rPr lang="en-US" sz="2400" b="1" dirty="0">
                    <a:latin typeface="Cambria Math" panose="02040503050406030204" pitchFamily="18" charset="0"/>
                    <a:ea typeface="Cambria Math" panose="02040503050406030204" pitchFamily="18" charset="0"/>
                  </a:rPr>
                  <a:t>=</a:t>
                </a:r>
                <a14:m>
                  <m:oMath xmlns:m="http://schemas.openxmlformats.org/officeDocument/2006/math">
                    <m:r>
                      <a:rPr lang="en-US" sz="2400" b="1" i="1">
                        <a:latin typeface="Cambria Math" panose="02040503050406030204" pitchFamily="18" charset="0"/>
                        <a:ea typeface="Cambria Math" panose="02040503050406030204" pitchFamily="18" charset="0"/>
                      </a:rPr>
                      <m:t> </m:t>
                    </m:r>
                    <m:nary>
                      <m:naryPr>
                        <m:limLoc m:val="subSup"/>
                        <m:ctrlPr>
                          <a:rPr lang="en-US" sz="2400" b="1" i="1">
                            <a:latin typeface="Cambria Math" panose="02040503050406030204" pitchFamily="18" charset="0"/>
                            <a:ea typeface="Cambria Math" panose="02040503050406030204" pitchFamily="18" charset="0"/>
                          </a:rPr>
                        </m:ctrlPr>
                      </m:naryPr>
                      <m:sub>
                        <m:r>
                          <a:rPr lang="en-US" sz="2400" b="1" i="1">
                            <a:latin typeface="Cambria Math" panose="02040503050406030204" pitchFamily="18" charset="0"/>
                            <a:ea typeface="Cambria Math" panose="02040503050406030204" pitchFamily="18" charset="0"/>
                          </a:rPr>
                          <m:t>𝒂</m:t>
                        </m:r>
                      </m:sub>
                      <m:sup>
                        <m:r>
                          <a:rPr lang="en-US" sz="2400" b="1" i="1">
                            <a:latin typeface="Cambria Math" panose="02040503050406030204" pitchFamily="18" charset="0"/>
                            <a:ea typeface="Cambria Math" panose="02040503050406030204" pitchFamily="18" charset="0"/>
                          </a:rPr>
                          <m:t>𝒃</m:t>
                        </m:r>
                      </m:sup>
                      <m:e>
                        <m:r>
                          <a:rPr lang="en-US" sz="2400" b="1" i="1">
                            <a:latin typeface="Cambria Math" panose="02040503050406030204" pitchFamily="18" charset="0"/>
                            <a:ea typeface="Cambria Math" panose="02040503050406030204" pitchFamily="18" charset="0"/>
                          </a:rPr>
                          <m:t>𝑭</m:t>
                        </m:r>
                        <m:func>
                          <m:funcPr>
                            <m:ctrlPr>
                              <a:rPr lang="en-US" sz="2400" b="1" i="1">
                                <a:latin typeface="Cambria Math" panose="02040503050406030204" pitchFamily="18" charset="0"/>
                                <a:ea typeface="Cambria Math" panose="02040503050406030204" pitchFamily="18" charset="0"/>
                              </a:rPr>
                            </m:ctrlPr>
                          </m:funcPr>
                          <m:fName>
                            <m:r>
                              <a:rPr lang="en-US" sz="2400" b="1" i="1">
                                <a:latin typeface="Cambria Math" panose="02040503050406030204" pitchFamily="18" charset="0"/>
                                <a:ea typeface="Cambria Math" panose="02040503050406030204" pitchFamily="18" charset="0"/>
                              </a:rPr>
                              <m:t>𝐜𝐨𝐬</m:t>
                            </m:r>
                          </m:fName>
                          <m:e>
                            <m:r>
                              <a:rPr lang="en-US" sz="2400" b="1" i="1">
                                <a:latin typeface="Cambria Math" panose="02040503050406030204" pitchFamily="18" charset="0"/>
                                <a:ea typeface="Cambria Math" panose="02040503050406030204" pitchFamily="18" charset="0"/>
                              </a:rPr>
                              <m:t>𝜽</m:t>
                            </m:r>
                            <m:r>
                              <a:rPr lang="en-US" sz="2400" b="1" i="1">
                                <a:latin typeface="Cambria Math" panose="02040503050406030204" pitchFamily="18" charset="0"/>
                                <a:ea typeface="Cambria Math" panose="02040503050406030204" pitchFamily="18" charset="0"/>
                              </a:rPr>
                              <m:t>𝒅𝒓</m:t>
                            </m:r>
                          </m:e>
                        </m:func>
                      </m:e>
                    </m:nary>
                  </m:oMath>
                </a14:m>
                <a:r>
                  <a:rPr lang="en-US" sz="2400" b="1" dirty="0">
                    <a:ea typeface="Cambria Math" panose="02040503050406030204" pitchFamily="18" charset="0"/>
                  </a:rPr>
                  <a:t>= </a:t>
                </a:r>
                <a14:m>
                  <m:oMath xmlns:m="http://schemas.openxmlformats.org/officeDocument/2006/math">
                    <m:nary>
                      <m:naryPr>
                        <m:limLoc m:val="subSup"/>
                        <m:ctrlPr>
                          <a:rPr lang="en-US" sz="2400" b="1" i="1">
                            <a:latin typeface="Cambria Math" panose="02040503050406030204" pitchFamily="18" charset="0"/>
                            <a:ea typeface="Cambria Math" panose="02040503050406030204" pitchFamily="18" charset="0"/>
                          </a:rPr>
                        </m:ctrlPr>
                      </m:naryPr>
                      <m:sub>
                        <m:r>
                          <a:rPr lang="en-US" sz="2400" b="1" i="1">
                            <a:latin typeface="Cambria Math" panose="02040503050406030204" pitchFamily="18" charset="0"/>
                            <a:ea typeface="Cambria Math" panose="02040503050406030204" pitchFamily="18" charset="0"/>
                          </a:rPr>
                          <m:t>𝒂</m:t>
                        </m:r>
                      </m:sub>
                      <m:sup>
                        <m:r>
                          <a:rPr lang="en-US" sz="2400" b="1" i="1">
                            <a:latin typeface="Cambria Math" panose="02040503050406030204" pitchFamily="18" charset="0"/>
                            <a:ea typeface="Cambria Math" panose="02040503050406030204" pitchFamily="18" charset="0"/>
                          </a:rPr>
                          <m:t>𝒃</m:t>
                        </m:r>
                      </m:sup>
                      <m:e>
                        <m:r>
                          <a:rPr lang="en-US" sz="2400" b="1" i="1">
                            <a:latin typeface="Cambria Math" panose="02040503050406030204" pitchFamily="18" charset="0"/>
                            <a:ea typeface="Cambria Math" panose="02040503050406030204" pitchFamily="18" charset="0"/>
                          </a:rPr>
                          <m:t>𝑭</m:t>
                        </m:r>
                        <m:func>
                          <m:funcPr>
                            <m:ctrlPr>
                              <a:rPr lang="en-US" sz="2400" b="1" i="1">
                                <a:latin typeface="Cambria Math" panose="02040503050406030204" pitchFamily="18" charset="0"/>
                                <a:ea typeface="Cambria Math" panose="02040503050406030204" pitchFamily="18" charset="0"/>
                              </a:rPr>
                            </m:ctrlPr>
                          </m:funcPr>
                          <m:fName>
                            <m:r>
                              <a:rPr lang="en-US" sz="2400" b="1" i="1">
                                <a:latin typeface="Cambria Math" panose="02040503050406030204" pitchFamily="18" charset="0"/>
                                <a:ea typeface="Cambria Math" panose="02040503050406030204" pitchFamily="18" charset="0"/>
                              </a:rPr>
                              <m:t> .</m:t>
                            </m:r>
                          </m:fName>
                          <m:e>
                            <m:r>
                              <a:rPr lang="en-US" sz="2400" b="1" i="1">
                                <a:latin typeface="Cambria Math" panose="02040503050406030204" pitchFamily="18" charset="0"/>
                                <a:ea typeface="Cambria Math" panose="02040503050406030204" pitchFamily="18" charset="0"/>
                              </a:rPr>
                              <m:t>𝒅</m:t>
                            </m:r>
                            <m:r>
                              <a:rPr lang="en-US" sz="2400" b="1" i="1" smtClean="0">
                                <a:latin typeface="Cambria Math" panose="02040503050406030204" pitchFamily="18" charset="0"/>
                                <a:ea typeface="Cambria Math" panose="02040503050406030204" pitchFamily="18" charset="0"/>
                              </a:rPr>
                              <m:t>𝒓</m:t>
                            </m:r>
                          </m:e>
                        </m:func>
                      </m:e>
                    </m:nary>
                  </m:oMath>
                </a14:m>
                <a:endParaRPr lang="en-US" sz="2400" dirty="0">
                  <a:solidFill>
                    <a:schemeClr val="tx1"/>
                  </a:solidFill>
                </a:endParaRPr>
              </a:p>
              <a:p>
                <a:r>
                  <a:rPr lang="en-US" b="1" dirty="0">
                    <a:ea typeface="Cambria Math" panose="02040503050406030204" pitchFamily="18" charset="0"/>
                    <a:hlinkClick r:id="rId2"/>
                  </a:rPr>
                  <a:t>Work by Non-Constant Force Video</a:t>
                </a:r>
                <a:r>
                  <a:rPr lang="en-US" b="1" dirty="0">
                    <a:ea typeface="Cambria Math" panose="02040503050406030204" pitchFamily="18" charset="0"/>
                  </a:rPr>
                  <a:t>  </a:t>
                </a:r>
              </a:p>
              <a:p>
                <a:r>
                  <a:rPr lang="en-US" b="1" dirty="0">
                    <a:hlinkClick r:id="rId3"/>
                  </a:rPr>
                  <a:t>Work by Non-Constant Force Example Video</a:t>
                </a:r>
                <a:endParaRPr lang="en-US" sz="2000" dirty="0">
                  <a:solidFill>
                    <a:schemeClr val="tx1"/>
                  </a:solidFill>
                </a:endParaRPr>
              </a:p>
              <a:p>
                <a:endParaRPr lang="en-US" dirty="0"/>
              </a:p>
            </p:txBody>
          </p:sp>
        </mc:Choice>
        <mc:Fallback xmlns="">
          <p:sp>
            <p:nvSpPr>
              <p:cNvPr id="4" name="Text Placeholder 3">
                <a:extLst>
                  <a:ext uri="{FF2B5EF4-FFF2-40B4-BE49-F238E27FC236}">
                    <a16:creationId xmlns:a16="http://schemas.microsoft.com/office/drawing/2014/main" id="{F05E3DDF-9E8E-EAB0-D901-817DADB91256}"/>
                  </a:ext>
                </a:extLst>
              </p:cNvPr>
              <p:cNvSpPr>
                <a:spLocks noGrp="1" noRot="1" noChangeAspect="1" noMove="1" noResize="1" noEditPoints="1" noAdjustHandles="1" noChangeArrowheads="1" noChangeShapeType="1" noTextEdit="1"/>
              </p:cNvSpPr>
              <p:nvPr>
                <p:ph type="body" sz="quarter" idx="14"/>
              </p:nvPr>
            </p:nvSpPr>
            <p:spPr>
              <a:xfrm>
                <a:off x="317024" y="3857588"/>
                <a:ext cx="8562816" cy="2665132"/>
              </a:xfrm>
              <a:blipFill>
                <a:blip r:embed="rId4"/>
                <a:stretch>
                  <a:fillRect l="-712" t="-1144" r="-1068" b="-1144"/>
                </a:stretch>
              </a:blipFill>
            </p:spPr>
            <p:txBody>
              <a:bodyPr/>
              <a:lstStyle/>
              <a:p>
                <a:r>
                  <a:rPr lang="en-US">
                    <a:noFill/>
                  </a:rPr>
                  <a:t> </a:t>
                </a:r>
              </a:p>
            </p:txBody>
          </p:sp>
        </mc:Fallback>
      </mc:AlternateContent>
      <p:pic>
        <p:nvPicPr>
          <p:cNvPr id="5" name="Picture Placeholder 1" descr="A graph of F cos θ vs. d in the curve which the force varies. The work done for each interval is the area of each strip; thus, the total area under the curve equals the total work done.&#10;">
            <a:extLst>
              <a:ext uri="{FF2B5EF4-FFF2-40B4-BE49-F238E27FC236}">
                <a16:creationId xmlns:a16="http://schemas.microsoft.com/office/drawing/2014/main" id="{61FEBEEC-01E5-6BDD-8753-07DCF1201269}"/>
              </a:ext>
            </a:extLst>
          </p:cNvPr>
          <p:cNvPicPr>
            <a:picLocks noGrp="1" noChangeAspect="1"/>
          </p:cNvPicPr>
          <p:nvPr>
            <p:ph type="pic" sz="quarter" idx="13"/>
          </p:nvPr>
        </p:nvPicPr>
        <p:blipFill rotWithShape="1">
          <a:blip r:embed="rId5" cstate="email">
            <a:extLst>
              <a:ext uri="{28A0092B-C50C-407E-A947-70E740481C1C}">
                <a14:useLocalDpi xmlns:a14="http://schemas.microsoft.com/office/drawing/2010/main" val="0"/>
              </a:ext>
            </a:extLst>
          </a:blip>
          <a:srcRect l="-7559" t="42042" r="-7559" b="3824"/>
          <a:stretch/>
        </p:blipFill>
        <p:spPr>
          <a:xfrm>
            <a:off x="2761443" y="995688"/>
            <a:ext cx="4377649" cy="2813584"/>
          </a:xfrm>
        </p:spPr>
      </p:pic>
      <p:pic>
        <p:nvPicPr>
          <p:cNvPr id="6" name="Picture 5" descr="OpenStax logo">
            <a:extLst>
              <a:ext uri="{FF2B5EF4-FFF2-40B4-BE49-F238E27FC236}">
                <a16:creationId xmlns:a16="http://schemas.microsoft.com/office/drawing/2014/main" id="{80BA2B0D-F528-9646-6BF2-B76DD00BC7C6}"/>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2445192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OpenStax logo">
            <a:extLst>
              <a:ext uri="{FF2B5EF4-FFF2-40B4-BE49-F238E27FC236}">
                <a16:creationId xmlns:a16="http://schemas.microsoft.com/office/drawing/2014/main" id="{2D38D03A-F28D-D2C6-6650-89137868449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pic>
        <p:nvPicPr>
          <p:cNvPr id="2" name="Picture Placeholder 1" descr="A horizontal spring whose left end is attached to a wall is shown in three different states. In all the diagrams, the displacement x is measured as the displacement to the right of the right end of the spring from its equilibrium location. In figure a, the spring is relaxed and the right end is at x = 0. In figure b, the spring is stretched. The right end of the spring is a vector delta x to the right of x = 0 and feels a leftward force F equals minus k times the vector delta x. In figure c, the spring is compressed. The right end of the spring is a vector delta x to the left of x = 0 and feels a rightward force F equals minus k times the vector delta x."/>
          <p:cNvPicPr>
            <a:picLocks noGrp="1" noChangeAspect="1"/>
          </p:cNvPicPr>
          <p:nvPr>
            <p:ph type="pic" sz="quarter" idx="13"/>
          </p:nvPr>
        </p:nvPicPr>
        <p:blipFill>
          <a:blip r:embed="rId3" cstate="email">
            <a:extLst>
              <a:ext uri="{28A0092B-C50C-407E-A947-70E740481C1C}">
                <a14:useLocalDpi xmlns:a14="http://schemas.microsoft.com/office/drawing/2010/main" val="0"/>
              </a:ext>
            </a:extLst>
          </a:blip>
          <a:srcRect l="-2364" r="-2364"/>
          <a:stretch>
            <a:fillRect/>
          </a:stretch>
        </p:blipFill>
        <p:spPr>
          <a:xfrm>
            <a:off x="6290659" y="945058"/>
            <a:ext cx="2716551" cy="3542536"/>
          </a:xfrm>
        </p:spPr>
      </p:pic>
      <p:sp>
        <p:nvSpPr>
          <p:cNvPr id="14" name="Text Placeholder 13"/>
          <p:cNvSpPr>
            <a:spLocks noGrp="1"/>
          </p:cNvSpPr>
          <p:nvPr>
            <p:ph type="body" sz="quarter" idx="14"/>
          </p:nvPr>
        </p:nvSpPr>
        <p:spPr>
          <a:xfrm>
            <a:off x="98022" y="605633"/>
            <a:ext cx="6192637" cy="6168069"/>
          </a:xfrm>
        </p:spPr>
        <p:txBody>
          <a:bodyPr>
            <a:noAutofit/>
          </a:bodyPr>
          <a:lstStyle/>
          <a:p>
            <a:r>
              <a:rPr lang="en-US" altLang="en-US" b="1" dirty="0">
                <a:solidFill>
                  <a:schemeClr val="tx1"/>
                </a:solidFill>
              </a:rPr>
              <a:t>Many forces, such as the force to stretch a spring, are not constant.</a:t>
            </a:r>
          </a:p>
          <a:p>
            <a:r>
              <a:rPr lang="en-US" altLang="en-US" b="1" dirty="0">
                <a:solidFill>
                  <a:schemeClr val="tx1"/>
                </a:solidFill>
              </a:rPr>
              <a:t>Here applied force is equal to the </a:t>
            </a:r>
            <a:r>
              <a:rPr lang="en-US" altLang="en-US" sz="2000" b="1" dirty="0">
                <a:solidFill>
                  <a:schemeClr val="tx1"/>
                </a:solidFill>
              </a:rPr>
              <a:t>spring force </a:t>
            </a:r>
            <a:r>
              <a:rPr lang="en-US" altLang="en-US" sz="2400" b="1" dirty="0">
                <a:solidFill>
                  <a:schemeClr val="tx1"/>
                </a:solidFill>
                <a:ea typeface="Cambria Math" panose="02040503050406030204" pitchFamily="18" charset="0"/>
              </a:rPr>
              <a:t>F</a:t>
            </a:r>
            <a:r>
              <a:rPr lang="en-US" altLang="en-US" sz="2400" b="1" baseline="-25000" dirty="0">
                <a:solidFill>
                  <a:schemeClr val="tx1"/>
                </a:solidFill>
                <a:ea typeface="Cambria Math" panose="02040503050406030204" pitchFamily="18" charset="0"/>
              </a:rPr>
              <a:t>s </a:t>
            </a:r>
            <a:endParaRPr lang="en-US" altLang="en-US" b="1" dirty="0">
              <a:solidFill>
                <a:schemeClr val="tx1"/>
              </a:solidFill>
            </a:endParaRPr>
          </a:p>
          <a:p>
            <a:pPr marL="457200" indent="-457200">
              <a:buClrTx/>
              <a:buFont typeface="+mj-lt"/>
              <a:buAutoNum type="alphaLcParenR"/>
            </a:pPr>
            <a:r>
              <a:rPr lang="en-US" b="1" dirty="0">
                <a:solidFill>
                  <a:schemeClr val="tx1"/>
                </a:solidFill>
              </a:rPr>
              <a:t>The spring exerts no force at its equilibrium position. </a:t>
            </a:r>
          </a:p>
          <a:p>
            <a:pPr marL="457200" indent="-457200">
              <a:buClrTx/>
              <a:buFont typeface="+mj-lt"/>
              <a:buAutoNum type="alphaLcParenR"/>
            </a:pPr>
            <a:r>
              <a:rPr lang="en-US" b="1" dirty="0">
                <a:solidFill>
                  <a:schemeClr val="tx1"/>
                </a:solidFill>
              </a:rPr>
              <a:t>The spring exerts a force in the opposite direction to  an extension or stretch, and </a:t>
            </a:r>
          </a:p>
          <a:p>
            <a:pPr marL="457200" indent="-457200">
              <a:buClrTx/>
              <a:buFont typeface="+mj-lt"/>
              <a:buAutoNum type="alphaLcParenR"/>
            </a:pPr>
            <a:r>
              <a:rPr lang="en-US" b="1" dirty="0">
                <a:solidFill>
                  <a:schemeClr val="tx1"/>
                </a:solidFill>
              </a:rPr>
              <a:t> a compression.</a:t>
            </a:r>
          </a:p>
          <a:p>
            <a:r>
              <a:rPr lang="en-US" altLang="en-US" sz="2000" b="1" dirty="0">
                <a:solidFill>
                  <a:schemeClr val="tx1"/>
                </a:solidFill>
              </a:rPr>
              <a:t>The force exerted by a spring is given by:</a:t>
            </a:r>
          </a:p>
          <a:p>
            <a:r>
              <a:rPr lang="en-US" altLang="en-US" sz="2800" b="1" i="1" dirty="0">
                <a:solidFill>
                  <a:schemeClr val="tx1"/>
                </a:solidFill>
                <a:latin typeface="Cambria Math" panose="02040503050406030204" pitchFamily="18" charset="0"/>
                <a:ea typeface="Cambria Math" panose="02040503050406030204" pitchFamily="18" charset="0"/>
              </a:rPr>
              <a:t>F</a:t>
            </a:r>
            <a:r>
              <a:rPr lang="en-US" altLang="en-US" sz="2800" b="1" i="1" baseline="-25000" dirty="0">
                <a:solidFill>
                  <a:schemeClr val="tx1"/>
                </a:solidFill>
                <a:latin typeface="Cambria Math" panose="02040503050406030204" pitchFamily="18" charset="0"/>
                <a:ea typeface="Cambria Math" panose="02040503050406030204" pitchFamily="18" charset="0"/>
              </a:rPr>
              <a:t>s  </a:t>
            </a:r>
            <a:r>
              <a:rPr lang="en-US" altLang="en-US" sz="2800" b="1" i="1" dirty="0">
                <a:solidFill>
                  <a:schemeClr val="tx1"/>
                </a:solidFill>
                <a:latin typeface="Cambria Math" panose="02040503050406030204" pitchFamily="18" charset="0"/>
                <a:ea typeface="Cambria Math" panose="02040503050406030204" pitchFamily="18" charset="0"/>
              </a:rPr>
              <a:t>= -</a:t>
            </a:r>
            <a:r>
              <a:rPr lang="en-US" altLang="en-US" sz="2800" b="1" i="1" dirty="0" err="1">
                <a:solidFill>
                  <a:schemeClr val="tx1"/>
                </a:solidFill>
                <a:latin typeface="Cambria Math" panose="02040503050406030204" pitchFamily="18" charset="0"/>
                <a:ea typeface="Cambria Math" panose="02040503050406030204" pitchFamily="18" charset="0"/>
              </a:rPr>
              <a:t>kx</a:t>
            </a:r>
            <a:r>
              <a:rPr lang="en-US" altLang="en-US" sz="2800" b="1" i="1" dirty="0">
                <a:solidFill>
                  <a:schemeClr val="tx1"/>
                </a:solidFill>
                <a:latin typeface="Cambria Math" panose="02040503050406030204" pitchFamily="18" charset="0"/>
                <a:ea typeface="Cambria Math" panose="02040503050406030204" pitchFamily="18" charset="0"/>
              </a:rPr>
              <a:t>          </a:t>
            </a:r>
            <a:r>
              <a:rPr lang="en-US" altLang="en-US" b="1" dirty="0">
                <a:solidFill>
                  <a:schemeClr val="tx1"/>
                </a:solidFill>
                <a:ea typeface="Cambria Math" panose="02040503050406030204" pitchFamily="18" charset="0"/>
              </a:rPr>
              <a:t>Hooke's Law </a:t>
            </a:r>
          </a:p>
          <a:p>
            <a:r>
              <a:rPr lang="en-US" sz="2000" b="1" dirty="0">
                <a:solidFill>
                  <a:schemeClr val="tx1"/>
                </a:solidFill>
              </a:rPr>
              <a:t> </a:t>
            </a:r>
            <a:r>
              <a:rPr lang="en-US" sz="2000" b="1" i="1" dirty="0">
                <a:solidFill>
                  <a:schemeClr val="tx1"/>
                </a:solidFill>
              </a:rPr>
              <a:t>k</a:t>
            </a:r>
            <a:r>
              <a:rPr lang="en-US" sz="2000" b="1" dirty="0">
                <a:solidFill>
                  <a:schemeClr val="tx1"/>
                </a:solidFill>
              </a:rPr>
              <a:t> is the spring constant,</a:t>
            </a:r>
            <a:r>
              <a:rPr lang="en-US" dirty="0"/>
              <a:t> </a:t>
            </a:r>
            <a:r>
              <a:rPr lang="en-US" b="1" dirty="0">
                <a:solidFill>
                  <a:schemeClr val="tx1"/>
                </a:solidFill>
              </a:rPr>
              <a:t>SI unit is N/m</a:t>
            </a:r>
            <a:endParaRPr lang="en-US" sz="2000" b="1" dirty="0">
              <a:solidFill>
                <a:schemeClr val="tx1"/>
              </a:solidFill>
            </a:endParaRPr>
          </a:p>
          <a:p>
            <a:r>
              <a:rPr lang="en-US" altLang="en-US" sz="2400" b="1" dirty="0">
                <a:solidFill>
                  <a:schemeClr val="tx1"/>
                </a:solidFill>
                <a:latin typeface="Cambria Math" panose="02040503050406030204" pitchFamily="18" charset="0"/>
                <a:ea typeface="Cambria Math" panose="02040503050406030204" pitchFamily="18" charset="0"/>
              </a:rPr>
              <a:t>X</a:t>
            </a:r>
            <a:r>
              <a:rPr lang="en-US" altLang="en-US" b="1" dirty="0">
                <a:solidFill>
                  <a:schemeClr val="tx1"/>
                </a:solidFill>
                <a:ea typeface="Cambria Math" panose="02040503050406030204" pitchFamily="18" charset="0"/>
              </a:rPr>
              <a:t> </a:t>
            </a:r>
            <a:r>
              <a:rPr lang="en-US" b="1" dirty="0">
                <a:solidFill>
                  <a:schemeClr val="tx1"/>
                </a:solidFill>
              </a:rPr>
              <a:t>extension or compression</a:t>
            </a:r>
          </a:p>
          <a:p>
            <a:r>
              <a:rPr lang="en-US" altLang="en-US" b="1" dirty="0">
                <a:ea typeface="Cambria Math" panose="02040503050406030204" pitchFamily="18" charset="0"/>
                <a:hlinkClick r:id="rId4"/>
              </a:rPr>
              <a:t>Video - Hooke's Law and Work Done by Springs</a:t>
            </a:r>
            <a:endParaRPr lang="en-US" dirty="0"/>
          </a:p>
          <a:p>
            <a:endParaRPr lang="en-US" altLang="en-US" sz="2400" b="1" dirty="0">
              <a:solidFill>
                <a:schemeClr val="tx1"/>
              </a:solidFill>
              <a:ea typeface="Cambria Math" panose="02040503050406030204" pitchFamily="18" charset="0"/>
            </a:endParaRPr>
          </a:p>
        </p:txBody>
      </p:sp>
      <p:sp>
        <p:nvSpPr>
          <p:cNvPr id="5" name="Title 1"/>
          <p:cNvSpPr>
            <a:spLocks noGrp="1"/>
          </p:cNvSpPr>
          <p:nvPr>
            <p:ph type="title"/>
          </p:nvPr>
        </p:nvSpPr>
        <p:spPr>
          <a:xfrm>
            <a:off x="646854" y="88053"/>
            <a:ext cx="8062912" cy="552244"/>
          </a:xfrm>
        </p:spPr>
        <p:txBody>
          <a:bodyPr>
            <a:normAutofit/>
          </a:bodyPr>
          <a:lstStyle/>
          <a:p>
            <a:pPr algn="ctr"/>
            <a:r>
              <a:rPr lang="en-US" sz="2800" dirty="0">
                <a:solidFill>
                  <a:schemeClr val="tx1"/>
                </a:solidFill>
              </a:rPr>
              <a:t>Spring forces</a:t>
            </a:r>
          </a:p>
        </p:txBody>
      </p:sp>
    </p:spTree>
    <p:extLst>
      <p:ext uri="{BB962C8B-B14F-4D97-AF65-F5344CB8AC3E}">
        <p14:creationId xmlns:p14="http://schemas.microsoft.com/office/powerpoint/2010/main" val="973056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 y="158566"/>
            <a:ext cx="9083039" cy="860530"/>
          </a:xfrm>
        </p:spPr>
        <p:txBody>
          <a:bodyPr>
            <a:noAutofit/>
          </a:bodyPr>
          <a:lstStyle/>
          <a:p>
            <a:pPr algn="ctr"/>
            <a:r>
              <a:rPr lang="en-US" sz="2800" dirty="0">
                <a:solidFill>
                  <a:schemeClr val="tx1"/>
                </a:solidFill>
              </a:rPr>
              <a:t>Work done by spring force, approximation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21734" y="4567924"/>
                <a:ext cx="8375226" cy="2131509"/>
              </a:xfrm>
            </p:spPr>
            <p:txBody>
              <a:bodyPr>
                <a:normAutofit lnSpcReduction="10000"/>
              </a:bodyPr>
              <a:lstStyle/>
              <a:p>
                <a:r>
                  <a:rPr lang="en-US" sz="1800" dirty="0"/>
                  <a:t> </a:t>
                </a:r>
                <a:r>
                  <a:rPr lang="en-US" b="1" dirty="0"/>
                  <a:t>We can approximate the work done by the  force along segment </a:t>
                </a:r>
                <a14:m>
                  <m:oMath xmlns:m="http://schemas.openxmlformats.org/officeDocument/2006/math">
                    <m:r>
                      <a:rPr lang="en-US" b="1" i="1">
                        <a:latin typeface="Cambria Math" panose="02040503050406030204" pitchFamily="18" charset="0"/>
                      </a:rPr>
                      <m:t>𝚫</m:t>
                    </m:r>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𝒂</m:t>
                        </m:r>
                      </m:sub>
                    </m:sSub>
                  </m:oMath>
                </a14:m>
                <a:r>
                  <a:rPr lang="en-US" b="1" dirty="0"/>
                  <a:t> as </a:t>
                </a:r>
                <a14:m>
                  <m:oMath xmlns:m="http://schemas.openxmlformats.org/officeDocument/2006/math">
                    <m:r>
                      <a:rPr lang="en-US" sz="2400" b="1" i="1">
                        <a:latin typeface="Cambria Math" panose="02040503050406030204" pitchFamily="18" charset="0"/>
                      </a:rPr>
                      <m:t>𝚫</m:t>
                    </m:r>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𝒂</m:t>
                        </m:r>
                      </m:sub>
                    </m:sSub>
                    <m:sSub>
                      <m:sSubPr>
                        <m:ctrlPr>
                          <a:rPr lang="en-US" sz="2400" b="1" i="1">
                            <a:latin typeface="Cambria Math" panose="02040503050406030204" pitchFamily="18" charset="0"/>
                          </a:rPr>
                        </m:ctrlPr>
                      </m:sSubPr>
                      <m:e>
                        <m:r>
                          <a:rPr lang="en-US" sz="2400" b="1" i="1">
                            <a:latin typeface="Cambria Math" panose="02040503050406030204" pitchFamily="18" charset="0"/>
                          </a:rPr>
                          <m:t>𝑭</m:t>
                        </m:r>
                      </m:e>
                      <m:sub>
                        <m:r>
                          <a:rPr lang="en-US" sz="2400" b="1" i="1">
                            <a:latin typeface="Cambria Math" panose="02040503050406030204" pitchFamily="18" charset="0"/>
                          </a:rPr>
                          <m:t>𝒂</m:t>
                        </m:r>
                      </m:sub>
                    </m:sSub>
                  </m:oMath>
                </a14:m>
                <a:endParaRPr lang="en-US" sz="2400" b="1" dirty="0"/>
              </a:p>
              <a:p>
                <a:endParaRPr lang="en-US" b="1" u="sng" dirty="0"/>
              </a:p>
              <a:p>
                <a:r>
                  <a:rPr lang="en-US" b="1" dirty="0"/>
                  <a:t>The work done by the force for the total  displacement is:</a:t>
                </a:r>
                <a:endParaRPr lang="en-US" b="1" i="1" dirty="0"/>
              </a:p>
              <a:p>
                <a:pPr/>
                <a14:m>
                  <m:oMathPara xmlns:m="http://schemas.openxmlformats.org/officeDocument/2006/math">
                    <m:oMathParaPr>
                      <m:jc m:val="left"/>
                    </m:oMathParaPr>
                    <m:oMath xmlns:m="http://schemas.openxmlformats.org/officeDocument/2006/math">
                      <m:r>
                        <a:rPr lang="en-US" sz="2600" b="1" i="1">
                          <a:latin typeface="Cambria Math" panose="02040503050406030204" pitchFamily="18" charset="0"/>
                        </a:rPr>
                        <m:t>𝑾</m:t>
                      </m:r>
                      <m:r>
                        <a:rPr lang="en-US" sz="2600" b="1" i="1">
                          <a:latin typeface="Cambria Math" panose="02040503050406030204" pitchFamily="18" charset="0"/>
                        </a:rPr>
                        <m:t>≈ </m:t>
                      </m:r>
                      <m:r>
                        <a:rPr lang="en-US" sz="2600" b="1" i="1">
                          <a:latin typeface="Cambria Math" panose="02040503050406030204" pitchFamily="18" charset="0"/>
                        </a:rPr>
                        <m:t>𝚫</m:t>
                      </m:r>
                      <m:sSub>
                        <m:sSubPr>
                          <m:ctrlPr>
                            <a:rPr lang="en-US" sz="2600" b="1" i="1">
                              <a:latin typeface="Cambria Math" panose="02040503050406030204" pitchFamily="18" charset="0"/>
                            </a:rPr>
                          </m:ctrlPr>
                        </m:sSubPr>
                        <m:e>
                          <m:r>
                            <a:rPr lang="en-US" sz="2600" b="1" i="1">
                              <a:latin typeface="Cambria Math" panose="02040503050406030204" pitchFamily="18" charset="0"/>
                            </a:rPr>
                            <m:t>𝒙</m:t>
                          </m:r>
                        </m:e>
                        <m:sub>
                          <m:r>
                            <a:rPr lang="en-US" sz="2600" b="1" i="1">
                              <a:latin typeface="Cambria Math" panose="02040503050406030204" pitchFamily="18" charset="0"/>
                            </a:rPr>
                            <m:t>𝒂</m:t>
                          </m:r>
                        </m:sub>
                      </m:sSub>
                      <m:sSub>
                        <m:sSubPr>
                          <m:ctrlPr>
                            <a:rPr lang="en-US" sz="2600" b="1" i="1">
                              <a:latin typeface="Cambria Math" panose="02040503050406030204" pitchFamily="18" charset="0"/>
                            </a:rPr>
                          </m:ctrlPr>
                        </m:sSubPr>
                        <m:e>
                          <m:r>
                            <a:rPr lang="en-US" sz="2600" b="1" i="1">
                              <a:latin typeface="Cambria Math" panose="02040503050406030204" pitchFamily="18" charset="0"/>
                            </a:rPr>
                            <m:t>𝑭</m:t>
                          </m:r>
                        </m:e>
                        <m:sub>
                          <m:r>
                            <a:rPr lang="en-US" sz="2600" b="1" i="1">
                              <a:latin typeface="Cambria Math" panose="02040503050406030204" pitchFamily="18" charset="0"/>
                            </a:rPr>
                            <m:t>𝒂</m:t>
                          </m:r>
                        </m:sub>
                      </m:sSub>
                      <m:r>
                        <a:rPr lang="en-US" sz="2600" b="1" i="1">
                          <a:latin typeface="Cambria Math" panose="02040503050406030204" pitchFamily="18" charset="0"/>
                        </a:rPr>
                        <m:t>+</m:t>
                      </m:r>
                      <m:r>
                        <a:rPr lang="en-US" sz="2600" b="1" i="1">
                          <a:latin typeface="Cambria Math" panose="02040503050406030204" pitchFamily="18" charset="0"/>
                        </a:rPr>
                        <m:t>𝚫</m:t>
                      </m:r>
                      <m:sSub>
                        <m:sSubPr>
                          <m:ctrlPr>
                            <a:rPr lang="en-US" sz="2600" b="1" i="1">
                              <a:latin typeface="Cambria Math" panose="02040503050406030204" pitchFamily="18" charset="0"/>
                            </a:rPr>
                          </m:ctrlPr>
                        </m:sSubPr>
                        <m:e>
                          <m:r>
                            <a:rPr lang="en-US" sz="2600" b="1" i="1">
                              <a:latin typeface="Cambria Math" panose="02040503050406030204" pitchFamily="18" charset="0"/>
                            </a:rPr>
                            <m:t>𝒙</m:t>
                          </m:r>
                        </m:e>
                        <m:sub>
                          <m:r>
                            <a:rPr lang="en-US" sz="2600" b="1" i="1">
                              <a:latin typeface="Cambria Math" panose="02040503050406030204" pitchFamily="18" charset="0"/>
                            </a:rPr>
                            <m:t>𝒃</m:t>
                          </m:r>
                        </m:sub>
                      </m:sSub>
                      <m:sSub>
                        <m:sSubPr>
                          <m:ctrlPr>
                            <a:rPr lang="en-US" sz="2600" b="1" i="1">
                              <a:latin typeface="Cambria Math" panose="02040503050406030204" pitchFamily="18" charset="0"/>
                            </a:rPr>
                          </m:ctrlPr>
                        </m:sSubPr>
                        <m:e>
                          <m:r>
                            <a:rPr lang="en-US" sz="2600" b="1" i="1">
                              <a:latin typeface="Cambria Math" panose="02040503050406030204" pitchFamily="18" charset="0"/>
                            </a:rPr>
                            <m:t>𝑭</m:t>
                          </m:r>
                        </m:e>
                        <m:sub>
                          <m:r>
                            <a:rPr lang="en-US" sz="2600" b="1" i="1">
                              <a:latin typeface="Cambria Math" panose="02040503050406030204" pitchFamily="18" charset="0"/>
                            </a:rPr>
                            <m:t>𝒃</m:t>
                          </m:r>
                        </m:sub>
                      </m:sSub>
                      <m:r>
                        <a:rPr lang="en-US" sz="2600" b="1" i="1">
                          <a:latin typeface="Cambria Math" panose="02040503050406030204" pitchFamily="18" charset="0"/>
                        </a:rPr>
                        <m:t>+</m:t>
                      </m:r>
                      <m:r>
                        <a:rPr lang="en-US" sz="2600" b="1" i="1">
                          <a:latin typeface="Cambria Math" panose="02040503050406030204" pitchFamily="18" charset="0"/>
                        </a:rPr>
                        <m:t>𝚫</m:t>
                      </m:r>
                      <m:sSub>
                        <m:sSubPr>
                          <m:ctrlPr>
                            <a:rPr lang="en-US" sz="2600" b="1" i="1">
                              <a:latin typeface="Cambria Math" panose="02040503050406030204" pitchFamily="18" charset="0"/>
                            </a:rPr>
                          </m:ctrlPr>
                        </m:sSubPr>
                        <m:e>
                          <m:r>
                            <a:rPr lang="en-US" sz="2600" b="1" i="1">
                              <a:latin typeface="Cambria Math" panose="02040503050406030204" pitchFamily="18" charset="0"/>
                            </a:rPr>
                            <m:t>𝒙</m:t>
                          </m:r>
                        </m:e>
                        <m:sub>
                          <m:r>
                            <a:rPr lang="en-US" sz="2600" b="1" i="1">
                              <a:latin typeface="Cambria Math" panose="02040503050406030204" pitchFamily="18" charset="0"/>
                            </a:rPr>
                            <m:t>𝒄</m:t>
                          </m:r>
                        </m:sub>
                      </m:sSub>
                      <m:sSub>
                        <m:sSubPr>
                          <m:ctrlPr>
                            <a:rPr lang="en-US" sz="2600" b="1" i="1">
                              <a:latin typeface="Cambria Math" panose="02040503050406030204" pitchFamily="18" charset="0"/>
                            </a:rPr>
                          </m:ctrlPr>
                        </m:sSubPr>
                        <m:e>
                          <m:r>
                            <a:rPr lang="en-US" sz="2600" b="1" i="1">
                              <a:latin typeface="Cambria Math" panose="02040503050406030204" pitchFamily="18" charset="0"/>
                            </a:rPr>
                            <m:t>𝑭</m:t>
                          </m:r>
                        </m:e>
                        <m:sub>
                          <m:r>
                            <a:rPr lang="en-US" sz="2600" b="1" i="1">
                              <a:latin typeface="Cambria Math" panose="02040503050406030204" pitchFamily="18" charset="0"/>
                            </a:rPr>
                            <m:t>𝒄</m:t>
                          </m:r>
                        </m:sub>
                      </m:sSub>
                      <m:r>
                        <a:rPr lang="en-US" sz="2600" b="1" i="1">
                          <a:latin typeface="Cambria Math" panose="02040503050406030204" pitchFamily="18" charset="0"/>
                        </a:rPr>
                        <m:t>+…</m:t>
                      </m:r>
                    </m:oMath>
                  </m:oMathPara>
                </a14:m>
                <a:endParaRPr lang="en-US" sz="2600" b="1"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21734" y="4567924"/>
                <a:ext cx="8375226" cy="2131509"/>
              </a:xfrm>
              <a:blipFill>
                <a:blip r:embed="rId2"/>
                <a:stretch>
                  <a:fillRect l="-801" t="-2571"/>
                </a:stretch>
              </a:blipFill>
            </p:spPr>
            <p:txBody>
              <a:bodyPr/>
              <a:lstStyle/>
              <a:p>
                <a:r>
                  <a:rPr lang="en-US">
                    <a:noFill/>
                  </a:rPr>
                  <a:t> </a:t>
                </a:r>
              </a:p>
            </p:txBody>
          </p:sp>
        </mc:Fallback>
      </mc:AlternateContent>
      <p:pic>
        <p:nvPicPr>
          <p:cNvPr id="6" name="Picture 5" descr="A graph of a generic function f of x is shown. The area within a narrow vertical strip of width dx and extending from the x axis up to the function f (x) is highlighted. The area f(x) curve and the x axis from x = x sub 1 to x = x sub 2 is shaded. The shaded area is the sum of the strip areas."/>
          <p:cNvPicPr>
            <a:picLocks noChangeAspect="1"/>
          </p:cNvPicPr>
          <p:nvPr/>
        </p:nvPicPr>
        <p:blipFill>
          <a:blip r:embed="rId3"/>
          <a:stretch>
            <a:fillRect/>
          </a:stretch>
        </p:blipFill>
        <p:spPr>
          <a:xfrm>
            <a:off x="2381447" y="1354360"/>
            <a:ext cx="4838926" cy="2744046"/>
          </a:xfrm>
          <a:prstGeom prst="rect">
            <a:avLst/>
          </a:prstGeom>
        </p:spPr>
      </p:pic>
      <p:pic>
        <p:nvPicPr>
          <p:cNvPr id="5" name="Picture 4" descr="OpenStax logo">
            <a:extLst>
              <a:ext uri="{FF2B5EF4-FFF2-40B4-BE49-F238E27FC236}">
                <a16:creationId xmlns:a16="http://schemas.microsoft.com/office/drawing/2014/main" id="{3291CD9F-BC8F-28DC-96F6-EBB5877907B6}"/>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532937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4" y="40639"/>
            <a:ext cx="9076266" cy="1063413"/>
          </a:xfrm>
        </p:spPr>
        <p:txBody>
          <a:bodyPr>
            <a:normAutofit/>
          </a:bodyPr>
          <a:lstStyle/>
          <a:p>
            <a:pPr algn="ctr"/>
            <a:r>
              <a:rPr lang="en-US" sz="2800" dirty="0">
                <a:solidFill>
                  <a:schemeClr val="tx1"/>
                </a:solidFill>
              </a:rPr>
              <a:t>Work done by varying force, an integral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6240" y="1300440"/>
                <a:ext cx="8442960" cy="5046173"/>
              </a:xfrm>
            </p:spPr>
            <p:txBody>
              <a:bodyPr/>
              <a:lstStyle/>
              <a:p>
                <a:r>
                  <a:rPr lang="en-US" b="1" dirty="0"/>
                  <a:t>To improve the quality of our approximation, we need to increase the number of segments</a:t>
                </a:r>
                <a:endParaRPr lang="en-US" dirty="0"/>
              </a:p>
              <a:p>
                <a:pPr algn="ctr"/>
                <a14:m>
                  <m:oMath xmlns:m="http://schemas.openxmlformats.org/officeDocument/2006/math">
                    <m:r>
                      <a:rPr lang="en-US" sz="2400" b="1" i="1">
                        <a:latin typeface="Cambria Math" panose="02040503050406030204" pitchFamily="18" charset="0"/>
                      </a:rPr>
                      <m:t>𝑾</m:t>
                    </m:r>
                    <m:r>
                      <a:rPr lang="en-US" sz="2400" b="1" i="1">
                        <a:latin typeface="Cambria Math" panose="02040503050406030204" pitchFamily="18" charset="0"/>
                      </a:rPr>
                      <m:t>=</m:t>
                    </m:r>
                    <m:func>
                      <m:funcPr>
                        <m:ctrlPr>
                          <a:rPr lang="en-US" sz="2400" b="1" i="1">
                            <a:latin typeface="Cambria Math" panose="02040503050406030204" pitchFamily="18" charset="0"/>
                          </a:rPr>
                        </m:ctrlPr>
                      </m:funcPr>
                      <m:fName>
                        <m:limLow>
                          <m:limLowPr>
                            <m:ctrlPr>
                              <a:rPr lang="en-US" sz="2400" b="1" i="1">
                                <a:latin typeface="Cambria Math" panose="02040503050406030204" pitchFamily="18" charset="0"/>
                              </a:rPr>
                            </m:ctrlPr>
                          </m:limLowPr>
                          <m:e>
                            <m:r>
                              <a:rPr lang="en-US" sz="2400" b="1" i="1">
                                <a:latin typeface="Cambria Math" panose="02040503050406030204" pitchFamily="18" charset="0"/>
                              </a:rPr>
                              <m:t>𝒍𝒊𝒎</m:t>
                            </m:r>
                          </m:e>
                          <m:lim>
                            <m:r>
                              <a:rPr lang="en-US" sz="2400" b="1" i="1">
                                <a:latin typeface="Cambria Math" panose="02040503050406030204" pitchFamily="18" charset="0"/>
                              </a:rPr>
                              <m:t>∆</m:t>
                            </m:r>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𝒊</m:t>
                                </m:r>
                              </m:sub>
                            </m:sSub>
                            <m:r>
                              <a:rPr lang="en-US" sz="2400" b="1" i="1">
                                <a:latin typeface="Cambria Math" panose="02040503050406030204" pitchFamily="18" charset="0"/>
                              </a:rPr>
                              <m:t>→</m:t>
                            </m:r>
                            <m:r>
                              <a:rPr lang="en-US" sz="2400" b="1" i="1">
                                <a:latin typeface="Cambria Math" panose="02040503050406030204" pitchFamily="18" charset="0"/>
                              </a:rPr>
                              <m:t>𝟎</m:t>
                            </m:r>
                          </m:lim>
                        </m:limLow>
                      </m:fName>
                      <m:e>
                        <m:nary>
                          <m:naryPr>
                            <m:chr m:val="∑"/>
                            <m:limLoc m:val="undOvr"/>
                            <m:subHide m:val="on"/>
                            <m:supHide m:val="on"/>
                            <m:ctrlPr>
                              <a:rPr lang="en-US" sz="2400" b="1" i="1">
                                <a:latin typeface="Cambria Math" panose="02040503050406030204" pitchFamily="18" charset="0"/>
                              </a:rPr>
                            </m:ctrlPr>
                          </m:naryPr>
                          <m:sub/>
                          <m:sup/>
                          <m:e>
                            <m:sSub>
                              <m:sSubPr>
                                <m:ctrlPr>
                                  <a:rPr lang="en-US" sz="2400" b="1" i="1">
                                    <a:latin typeface="Cambria Math" panose="02040503050406030204" pitchFamily="18" charset="0"/>
                                  </a:rPr>
                                </m:ctrlPr>
                              </m:sSubPr>
                              <m:e>
                                <m:r>
                                  <a:rPr lang="en-US" sz="2400" b="1" i="1">
                                    <a:latin typeface="Cambria Math" panose="02040503050406030204" pitchFamily="18" charset="0"/>
                                  </a:rPr>
                                  <m:t>𝑭</m:t>
                                </m:r>
                              </m:e>
                              <m:sub>
                                <m:r>
                                  <a:rPr lang="en-US" sz="2400" b="1" i="1">
                                    <a:latin typeface="Cambria Math" panose="02040503050406030204" pitchFamily="18" charset="0"/>
                                  </a:rPr>
                                  <m:t>𝒊</m:t>
                                </m:r>
                              </m:sub>
                            </m:sSub>
                            <m:r>
                              <a:rPr lang="en-US" sz="2400" b="1" i="1">
                                <a:latin typeface="Cambria Math" panose="02040503050406030204" pitchFamily="18" charset="0"/>
                              </a:rPr>
                              <m:t>∆</m:t>
                            </m:r>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𝒊</m:t>
                                </m:r>
                              </m:sub>
                            </m:sSub>
                          </m:e>
                        </m:nary>
                      </m:e>
                    </m:func>
                    <m:r>
                      <a:rPr lang="en-US" sz="2400" b="1" i="1">
                        <a:latin typeface="Cambria Math" panose="02040503050406030204" pitchFamily="18" charset="0"/>
                      </a:rPr>
                      <m:t>=</m:t>
                    </m:r>
                    <m:nary>
                      <m:naryPr>
                        <m:limLoc m:val="subSup"/>
                        <m:ctrlPr>
                          <a:rPr lang="en-US" sz="2400" b="1" i="1">
                            <a:latin typeface="Cambria Math" panose="02040503050406030204" pitchFamily="18" charset="0"/>
                          </a:rPr>
                        </m:ctrlPr>
                      </m:naryPr>
                      <m:sub>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𝒊</m:t>
                            </m:r>
                          </m:sub>
                        </m:sSub>
                      </m:sub>
                      <m:sup>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𝒇</m:t>
                            </m:r>
                          </m:sub>
                        </m:sSub>
                      </m:sup>
                      <m:e>
                        <m:sSub>
                          <m:sSubPr>
                            <m:ctrlPr>
                              <a:rPr lang="en-US" sz="2400" b="1" i="1">
                                <a:latin typeface="Cambria Math" panose="02040503050406030204" pitchFamily="18" charset="0"/>
                              </a:rPr>
                            </m:ctrlPr>
                          </m:sSubPr>
                          <m:e>
                            <m:r>
                              <a:rPr lang="en-US" sz="2400" b="1" i="1">
                                <a:latin typeface="Cambria Math" panose="02040503050406030204" pitchFamily="18" charset="0"/>
                              </a:rPr>
                              <m:t>𝑭</m:t>
                            </m:r>
                          </m:e>
                          <m:sub>
                            <m:r>
                              <a:rPr lang="en-US" sz="2400" b="1" i="1">
                                <a:latin typeface="Cambria Math" panose="02040503050406030204" pitchFamily="18" charset="0"/>
                              </a:rPr>
                              <m:t>𝒙</m:t>
                            </m:r>
                          </m:sub>
                        </m:sSub>
                        <m:r>
                          <a:rPr lang="en-US" sz="2400" b="1" i="1">
                            <a:latin typeface="Cambria Math" panose="02040503050406030204" pitchFamily="18" charset="0"/>
                          </a:rPr>
                          <m:t>𝒅𝒙</m:t>
                        </m:r>
                      </m:e>
                    </m:nary>
                  </m:oMath>
                </a14:m>
                <a:r>
                  <a:rPr lang="en-US" sz="1800" dirty="0"/>
                  <a:t> </a:t>
                </a:r>
              </a:p>
              <a:p>
                <a:r>
                  <a:rPr lang="en-US" b="1" dirty="0"/>
                  <a:t>Note – the work done by the force is equal to the area under the curve between initial and final positions.</a:t>
                </a:r>
              </a:p>
              <a:p>
                <a:r>
                  <a:rPr lang="en-US" dirty="0"/>
                  <a:t> </a:t>
                </a:r>
                <a14:m>
                  <m:oMath xmlns:m="http://schemas.openxmlformats.org/officeDocument/2006/math">
                    <m:r>
                      <a:rPr lang="en-US" sz="2400" b="1" i="1">
                        <a:latin typeface="Cambria Math" panose="02040503050406030204" pitchFamily="18" charset="0"/>
                      </a:rPr>
                      <m:t>𝑾</m:t>
                    </m:r>
                    <m:r>
                      <a:rPr lang="en-US" sz="2400" b="1" i="1">
                        <a:latin typeface="Cambria Math" panose="02040503050406030204" pitchFamily="18" charset="0"/>
                      </a:rPr>
                      <m:t>=</m:t>
                    </m:r>
                    <m:nary>
                      <m:naryPr>
                        <m:limLoc m:val="subSup"/>
                        <m:ctrlPr>
                          <a:rPr lang="en-US" sz="2400" b="1" i="1">
                            <a:latin typeface="Cambria Math" panose="02040503050406030204" pitchFamily="18" charset="0"/>
                          </a:rPr>
                        </m:ctrlPr>
                      </m:naryPr>
                      <m:sub>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𝒊</m:t>
                            </m:r>
                          </m:sub>
                        </m:sSub>
                      </m:sub>
                      <m:sup>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𝒇</m:t>
                            </m:r>
                          </m:sub>
                        </m:sSub>
                      </m:sup>
                      <m:e>
                        <m:sSub>
                          <m:sSubPr>
                            <m:ctrlPr>
                              <a:rPr lang="en-US" sz="2400" b="1" i="1">
                                <a:latin typeface="Cambria Math" panose="02040503050406030204" pitchFamily="18" charset="0"/>
                              </a:rPr>
                            </m:ctrlPr>
                          </m:sSubPr>
                          <m:e>
                            <m:r>
                              <a:rPr lang="en-US" sz="2400" b="1" i="1">
                                <a:latin typeface="Cambria Math" panose="02040503050406030204" pitchFamily="18" charset="0"/>
                              </a:rPr>
                              <m:t>𝑭</m:t>
                            </m:r>
                          </m:e>
                          <m:sub>
                            <m:r>
                              <a:rPr lang="en-US" sz="2400" b="1" i="1">
                                <a:latin typeface="Cambria Math" panose="02040503050406030204" pitchFamily="18" charset="0"/>
                              </a:rPr>
                              <m:t>𝒙</m:t>
                            </m:r>
                          </m:sub>
                        </m:sSub>
                        <m:r>
                          <a:rPr lang="en-US" sz="2400" b="1" i="1">
                            <a:latin typeface="Cambria Math" panose="02040503050406030204" pitchFamily="18" charset="0"/>
                          </a:rPr>
                          <m:t>𝒅𝒙</m:t>
                        </m:r>
                        <m:r>
                          <a:rPr lang="en-US" sz="2400" b="1" i="1" smtClean="0">
                            <a:latin typeface="Cambria Math" panose="02040503050406030204" pitchFamily="18" charset="0"/>
                          </a:rPr>
                          <m:t>=</m:t>
                        </m:r>
                        <m:r>
                          <a:rPr lang="en-US" sz="2400" b="1" i="1" smtClean="0">
                            <a:latin typeface="Cambria Math" panose="02040503050406030204" pitchFamily="18" charset="0"/>
                          </a:rPr>
                          <m:t>𝑭𝒙</m:t>
                        </m:r>
                        <m:r>
                          <a:rPr lang="en-US" sz="2400" b="1" i="1" smtClean="0">
                            <a:latin typeface="Cambria Math" panose="02040503050406030204" pitchFamily="18" charset="0"/>
                          </a:rPr>
                          <m:t> (</m:t>
                        </m:r>
                        <m:r>
                          <a:rPr lang="en-US" sz="2400" b="1" i="1" smtClean="0">
                            <a:latin typeface="Cambria Math" panose="02040503050406030204" pitchFamily="18" charset="0"/>
                          </a:rPr>
                          <m:t>𝒙𝒇</m:t>
                        </m:r>
                        <m:r>
                          <a:rPr lang="en-US" sz="2400" b="1" i="1" smtClean="0">
                            <a:latin typeface="Cambria Math" panose="02040503050406030204" pitchFamily="18" charset="0"/>
                          </a:rPr>
                          <m:t> −</m:t>
                        </m:r>
                        <m:r>
                          <a:rPr lang="en-US" sz="2400" b="1" i="1" smtClean="0">
                            <a:latin typeface="Cambria Math" panose="02040503050406030204" pitchFamily="18" charset="0"/>
                          </a:rPr>
                          <m:t>𝒙𝒊</m:t>
                        </m:r>
                        <m:r>
                          <a:rPr lang="en-US" sz="2400" b="1" i="1" smtClean="0">
                            <a:latin typeface="Cambria Math" panose="02040503050406030204" pitchFamily="18" charset="0"/>
                          </a:rPr>
                          <m:t>)</m:t>
                        </m:r>
                      </m:e>
                    </m:nary>
                  </m:oMath>
                </a14:m>
                <a:r>
                  <a:rPr lang="en-US" sz="2400" b="1" dirty="0"/>
                  <a:t> </a:t>
                </a:r>
              </a:p>
              <a:p>
                <a:r>
                  <a:rPr lang="en-US" sz="2400" b="1" dirty="0"/>
                  <a:t>We know that   </a:t>
                </a:r>
                <a14:m>
                  <m:oMath xmlns:m="http://schemas.openxmlformats.org/officeDocument/2006/math">
                    <m:sSub>
                      <m:sSubPr>
                        <m:ctrlPr>
                          <a:rPr lang="en-US" sz="2400" b="1" i="1" smtClean="0">
                            <a:latin typeface="Cambria Math" panose="02040503050406030204" pitchFamily="18" charset="0"/>
                          </a:rPr>
                        </m:ctrlPr>
                      </m:sSubPr>
                      <m:e>
                        <m:r>
                          <a:rPr lang="en-US" sz="2400" b="1" i="1">
                            <a:latin typeface="Cambria Math" panose="02040503050406030204" pitchFamily="18" charset="0"/>
                          </a:rPr>
                          <m:t>𝑭</m:t>
                        </m:r>
                      </m:e>
                      <m:sub>
                        <m:r>
                          <a:rPr lang="en-US" sz="2400" b="1" i="1">
                            <a:latin typeface="Cambria Math" panose="02040503050406030204" pitchFamily="18" charset="0"/>
                          </a:rPr>
                          <m:t>𝒙</m:t>
                        </m:r>
                      </m:sub>
                    </m:sSub>
                    <m:r>
                      <a:rPr lang="en-US" sz="2400" b="1" i="1">
                        <a:latin typeface="Cambria Math" panose="02040503050406030204" pitchFamily="18" charset="0"/>
                      </a:rPr>
                      <m:t>=</m:t>
                    </m:r>
                    <m:r>
                      <a:rPr lang="en-US" sz="2400" b="1" i="1" smtClean="0">
                        <a:latin typeface="Cambria Math" panose="02040503050406030204" pitchFamily="18" charset="0"/>
                      </a:rPr>
                      <m:t>−</m:t>
                    </m:r>
                    <m:r>
                      <a:rPr lang="en-US" sz="2400" b="1" i="1">
                        <a:latin typeface="Cambria Math" panose="02040503050406030204" pitchFamily="18" charset="0"/>
                      </a:rPr>
                      <m:t>𝒌𝒙</m:t>
                    </m:r>
                  </m:oMath>
                </a14:m>
                <a:endParaRPr lang="en-US" sz="2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2400" b="1" i="1">
                          <a:latin typeface="Cambria Math" panose="02040503050406030204" pitchFamily="18" charset="0"/>
                        </a:rPr>
                        <m:t>𝑾</m:t>
                      </m:r>
                      <m:r>
                        <a:rPr lang="en-US" sz="2400" b="1" i="1">
                          <a:latin typeface="Cambria Math" panose="02040503050406030204" pitchFamily="18" charset="0"/>
                        </a:rPr>
                        <m:t>= </m:t>
                      </m:r>
                      <m:nary>
                        <m:naryPr>
                          <m:limLoc m:val="subSup"/>
                          <m:ctrlPr>
                            <a:rPr lang="en-US" sz="2400" b="1" i="1">
                              <a:latin typeface="Cambria Math" panose="02040503050406030204" pitchFamily="18" charset="0"/>
                            </a:rPr>
                          </m:ctrlPr>
                        </m:naryPr>
                        <m:sub>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𝒊</m:t>
                              </m:r>
                            </m:sub>
                          </m:sSub>
                        </m:sub>
                        <m:sup>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𝒇</m:t>
                              </m:r>
                            </m:sub>
                          </m:sSub>
                        </m:sup>
                        <m:e>
                          <m:sSub>
                            <m:sSubPr>
                              <m:ctrlPr>
                                <a:rPr lang="en-US" sz="2400" b="1" i="1">
                                  <a:latin typeface="Cambria Math" panose="02040503050406030204" pitchFamily="18" charset="0"/>
                                </a:rPr>
                              </m:ctrlPr>
                            </m:sSubPr>
                            <m:e>
                              <m:r>
                                <a:rPr lang="en-US" sz="2400" b="1" i="1">
                                  <a:latin typeface="Cambria Math" panose="02040503050406030204" pitchFamily="18" charset="0"/>
                                </a:rPr>
                                <m:t>𝑭</m:t>
                              </m:r>
                            </m:e>
                            <m:sub>
                              <m:r>
                                <a:rPr lang="en-US" sz="2400" b="1" i="1">
                                  <a:latin typeface="Cambria Math" panose="02040503050406030204" pitchFamily="18" charset="0"/>
                                </a:rPr>
                                <m:t>𝒙</m:t>
                              </m:r>
                            </m:sub>
                          </m:sSub>
                        </m:e>
                      </m:nary>
                      <m:r>
                        <a:rPr lang="en-US" sz="2400" b="1" i="1">
                          <a:latin typeface="Cambria Math" panose="02040503050406030204" pitchFamily="18" charset="0"/>
                        </a:rPr>
                        <m:t>𝒅𝒙</m:t>
                      </m:r>
                      <m:r>
                        <a:rPr lang="en-US" sz="2400" b="1" i="1">
                          <a:latin typeface="Cambria Math" panose="02040503050406030204" pitchFamily="18" charset="0"/>
                        </a:rPr>
                        <m:t>=−</m:t>
                      </m:r>
                      <m:nary>
                        <m:naryPr>
                          <m:limLoc m:val="subSup"/>
                          <m:ctrlPr>
                            <a:rPr lang="en-US" sz="2400" b="1" i="1">
                              <a:latin typeface="Cambria Math" panose="02040503050406030204" pitchFamily="18" charset="0"/>
                            </a:rPr>
                          </m:ctrlPr>
                        </m:naryPr>
                        <m:sub>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𝒊</m:t>
                              </m:r>
                            </m:sub>
                          </m:sSub>
                        </m:sub>
                        <m:sup>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𝒇</m:t>
                              </m:r>
                            </m:sub>
                          </m:sSub>
                        </m:sup>
                        <m:e>
                          <m:r>
                            <a:rPr lang="en-US" sz="2400" b="1" i="1">
                              <a:latin typeface="Cambria Math" panose="02040503050406030204" pitchFamily="18" charset="0"/>
                            </a:rPr>
                            <m:t>𝒌𝒙</m:t>
                          </m:r>
                        </m:e>
                      </m:nary>
                      <m:r>
                        <a:rPr lang="en-US" sz="2400" b="1" i="1">
                          <a:latin typeface="Cambria Math" panose="02040503050406030204" pitchFamily="18" charset="0"/>
                        </a:rPr>
                        <m:t>𝒅𝒙</m:t>
                      </m:r>
                      <m:r>
                        <a:rPr lang="en-US" sz="2400" b="1" i="1">
                          <a:latin typeface="Cambria Math" panose="02040503050406030204" pitchFamily="18" charset="0"/>
                        </a:rPr>
                        <m:t>= </m:t>
                      </m:r>
                      <m:f>
                        <m:fPr>
                          <m:ctrlPr>
                            <a:rPr lang="en-US" sz="2400" b="1" i="1">
                              <a:latin typeface="Cambria Math" panose="02040503050406030204" pitchFamily="18" charset="0"/>
                            </a:rPr>
                          </m:ctrlPr>
                        </m:fPr>
                        <m:num>
                          <m:r>
                            <a:rPr lang="en-US" sz="2400" b="1" i="1">
                              <a:latin typeface="Cambria Math" panose="02040503050406030204" pitchFamily="18" charset="0"/>
                            </a:rPr>
                            <m:t>𝟏</m:t>
                          </m:r>
                        </m:num>
                        <m:den>
                          <m:r>
                            <a:rPr lang="en-US" sz="2400" b="1" i="1">
                              <a:latin typeface="Cambria Math" panose="02040503050406030204" pitchFamily="18" charset="0"/>
                            </a:rPr>
                            <m:t>𝟐</m:t>
                          </m:r>
                        </m:den>
                      </m:f>
                      <m:r>
                        <a:rPr lang="en-US" sz="2400" b="1" i="1">
                          <a:latin typeface="Cambria Math" panose="02040503050406030204" pitchFamily="18" charset="0"/>
                        </a:rPr>
                        <m:t>𝒌</m:t>
                      </m:r>
                      <m:sSubSup>
                        <m:sSubSupPr>
                          <m:ctrlPr>
                            <a:rPr lang="en-US" sz="2400" b="1" i="1">
                              <a:latin typeface="Cambria Math" panose="02040503050406030204" pitchFamily="18" charset="0"/>
                            </a:rPr>
                          </m:ctrlPr>
                        </m:sSubSupPr>
                        <m:e>
                          <m:r>
                            <a:rPr lang="en-US" sz="2400" b="1" i="1">
                              <a:latin typeface="Cambria Math" panose="02040503050406030204" pitchFamily="18" charset="0"/>
                            </a:rPr>
                            <m:t>𝒙</m:t>
                          </m:r>
                        </m:e>
                        <m:sub>
                          <m:r>
                            <a:rPr lang="en-US" sz="2400" b="1" i="1" smtClean="0">
                              <a:latin typeface="Cambria Math" panose="02040503050406030204" pitchFamily="18" charset="0"/>
                            </a:rPr>
                            <m:t>𝒊</m:t>
                          </m:r>
                        </m:sub>
                        <m:sup>
                          <m:r>
                            <a:rPr lang="en-US" sz="2400" b="1" i="1">
                              <a:latin typeface="Cambria Math" panose="02040503050406030204" pitchFamily="18" charset="0"/>
                            </a:rPr>
                            <m:t>𝟐</m:t>
                          </m:r>
                        </m:sup>
                      </m:sSubSup>
                      <m:r>
                        <a:rPr lang="en-US" sz="2400" b="1" i="1">
                          <a:latin typeface="Cambria Math" panose="02040503050406030204" pitchFamily="18" charset="0"/>
                        </a:rPr>
                        <m:t>− </m:t>
                      </m:r>
                      <m:f>
                        <m:fPr>
                          <m:ctrlPr>
                            <a:rPr lang="en-US" sz="2400" b="1" i="1">
                              <a:latin typeface="Cambria Math" panose="02040503050406030204" pitchFamily="18" charset="0"/>
                            </a:rPr>
                          </m:ctrlPr>
                        </m:fPr>
                        <m:num>
                          <m:r>
                            <a:rPr lang="en-US" sz="2400" b="1" i="1">
                              <a:latin typeface="Cambria Math" panose="02040503050406030204" pitchFamily="18" charset="0"/>
                            </a:rPr>
                            <m:t>𝟏</m:t>
                          </m:r>
                        </m:num>
                        <m:den>
                          <m:r>
                            <a:rPr lang="en-US" sz="2400" b="1" i="1">
                              <a:latin typeface="Cambria Math" panose="02040503050406030204" pitchFamily="18" charset="0"/>
                            </a:rPr>
                            <m:t>𝟐</m:t>
                          </m:r>
                        </m:den>
                      </m:f>
                      <m:r>
                        <a:rPr lang="en-US" sz="2400" b="1" i="1">
                          <a:latin typeface="Cambria Math" panose="02040503050406030204" pitchFamily="18" charset="0"/>
                        </a:rPr>
                        <m:t>𝒌</m:t>
                      </m:r>
                      <m:sSubSup>
                        <m:sSubSupPr>
                          <m:ctrlPr>
                            <a:rPr lang="en-US" sz="2400" b="1" i="1">
                              <a:latin typeface="Cambria Math" panose="02040503050406030204" pitchFamily="18" charset="0"/>
                            </a:rPr>
                          </m:ctrlPr>
                        </m:sSubSupPr>
                        <m:e>
                          <m:r>
                            <a:rPr lang="en-US" sz="2400" b="1" i="1">
                              <a:latin typeface="Cambria Math" panose="02040503050406030204" pitchFamily="18" charset="0"/>
                            </a:rPr>
                            <m:t>𝒙</m:t>
                          </m:r>
                        </m:e>
                        <m:sub>
                          <m:r>
                            <a:rPr lang="en-US" sz="2400" b="1" i="1">
                              <a:latin typeface="Cambria Math" panose="02040503050406030204" pitchFamily="18" charset="0"/>
                            </a:rPr>
                            <m:t>𝒇</m:t>
                          </m:r>
                        </m:sub>
                        <m:sup>
                          <m:r>
                            <a:rPr lang="en-US" sz="2400" b="1" i="1">
                              <a:latin typeface="Cambria Math" panose="02040503050406030204" pitchFamily="18" charset="0"/>
                            </a:rPr>
                            <m:t>𝟐</m:t>
                          </m:r>
                        </m:sup>
                      </m:sSubSup>
                      <m:r>
                        <m:rPr>
                          <m:nor/>
                        </m:rPr>
                        <a:rPr lang="en-US" sz="2400" b="1" i="0" smtClean="0">
                          <a:latin typeface="Cambria Math" panose="02040503050406030204" pitchFamily="18" charset="0"/>
                        </a:rPr>
                        <m:t>   </m:t>
                      </m:r>
                      <m:r>
                        <a:rPr lang="en-US" sz="2400" b="1" i="1" smtClean="0">
                          <a:latin typeface="Cambria Math" panose="02040503050406030204" pitchFamily="18" charset="0"/>
                        </a:rPr>
                        <m:t>= </m:t>
                      </m:r>
                      <m:f>
                        <m:fPr>
                          <m:ctrlPr>
                            <a:rPr lang="en-US" sz="2400" b="1" i="1">
                              <a:latin typeface="Cambria Math" panose="02040503050406030204" pitchFamily="18" charset="0"/>
                            </a:rPr>
                          </m:ctrlPr>
                        </m:fPr>
                        <m:num>
                          <m:r>
                            <a:rPr lang="en-US" sz="2400" b="1" i="1">
                              <a:latin typeface="Cambria Math" panose="02040503050406030204" pitchFamily="18" charset="0"/>
                            </a:rPr>
                            <m:t>𝟏</m:t>
                          </m:r>
                        </m:num>
                        <m:den>
                          <m:r>
                            <a:rPr lang="en-US" sz="2400" b="1" i="1">
                              <a:latin typeface="Cambria Math" panose="02040503050406030204" pitchFamily="18" charset="0"/>
                            </a:rPr>
                            <m:t>𝟐</m:t>
                          </m:r>
                        </m:den>
                      </m:f>
                      <m:r>
                        <a:rPr lang="en-US" sz="2400" b="1" i="1">
                          <a:latin typeface="Cambria Math" panose="02040503050406030204" pitchFamily="18" charset="0"/>
                        </a:rPr>
                        <m:t>𝒌</m:t>
                      </m:r>
                      <m:sSup>
                        <m:sSupPr>
                          <m:ctrlPr>
                            <a:rPr lang="en-US" sz="2400" b="1" i="1">
                              <a:latin typeface="Cambria Math" panose="02040503050406030204" pitchFamily="18" charset="0"/>
                            </a:rPr>
                          </m:ctrlPr>
                        </m:sSupPr>
                        <m:e>
                          <m:r>
                            <a:rPr lang="en-US" sz="2400" b="1" i="1" smtClean="0">
                              <a:latin typeface="Cambria Math" panose="02040503050406030204" pitchFamily="18" charset="0"/>
                            </a:rPr>
                            <m:t>𝒙</m:t>
                          </m:r>
                        </m:e>
                        <m:sup>
                          <m:r>
                            <a:rPr lang="en-US" sz="2400" b="1" i="1">
                              <a:latin typeface="Cambria Math" panose="02040503050406030204" pitchFamily="18" charset="0"/>
                            </a:rPr>
                            <m:t>𝟐</m:t>
                          </m:r>
                        </m:sup>
                      </m:sSup>
                    </m:oMath>
                  </m:oMathPara>
                </a14:m>
                <a:endParaRPr lang="en-US" b="1" dirty="0"/>
              </a:p>
              <a:p>
                <a:r>
                  <a:rPr lang="en-US" altLang="en-US" sz="2000" b="1" dirty="0">
                    <a:ea typeface="Cambria Math" panose="02040503050406030204" pitchFamily="18" charset="0"/>
                    <a:hlinkClick r:id="rId2"/>
                  </a:rPr>
                  <a:t>Video Work Done by Spring Example</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6240" y="1300440"/>
                <a:ext cx="8442960" cy="5046173"/>
              </a:xfrm>
              <a:blipFill>
                <a:blip r:embed="rId3"/>
                <a:stretch>
                  <a:fillRect l="-1083" t="-483"/>
                </a:stretch>
              </a:blipFill>
            </p:spPr>
            <p:txBody>
              <a:bodyPr/>
              <a:lstStyle/>
              <a:p>
                <a:r>
                  <a:rPr lang="en-US">
                    <a:noFill/>
                  </a:rPr>
                  <a:t> </a:t>
                </a:r>
              </a:p>
            </p:txBody>
          </p:sp>
        </mc:Fallback>
      </mc:AlternateContent>
      <p:pic>
        <p:nvPicPr>
          <p:cNvPr id="4" name="Picture 3" descr="Raji K Physics Logo">
            <a:extLst>
              <a:ext uri="{FF2B5EF4-FFF2-40B4-BE49-F238E27FC236}">
                <a16:creationId xmlns:a16="http://schemas.microsoft.com/office/drawing/2014/main" id="{9FDC22C8-4602-CD5F-C7B5-C6344DBC1743}"/>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491158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OpenStax logo">
            <a:extLst>
              <a:ext uri="{FF2B5EF4-FFF2-40B4-BE49-F238E27FC236}">
                <a16:creationId xmlns:a16="http://schemas.microsoft.com/office/drawing/2014/main" id="{FC4804C1-55F8-0786-0738-CF924F82943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pic>
        <p:nvPicPr>
          <p:cNvPr id="6" name="Picture Placeholder 2" descr="A graph of F vs. x has a slope of k, and the area under the graph is 1/2 𝑘𝑥^2. Thus the work done  1/2 𝑘𝑥^2.">
            <a:extLst>
              <a:ext uri="{FF2B5EF4-FFF2-40B4-BE49-F238E27FC236}">
                <a16:creationId xmlns:a16="http://schemas.microsoft.com/office/drawing/2014/main" id="{804736F3-35C2-1B14-B51C-EF5B5CF26DF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9719" r="1419" b="9957"/>
          <a:stretch/>
        </p:blipFill>
        <p:spPr>
          <a:xfrm>
            <a:off x="3575050" y="1667632"/>
            <a:ext cx="5111750" cy="4345696"/>
          </a:xfrm>
          <a:prstGeom prst="rect">
            <a:avLst/>
          </a:prstGeom>
          <a:noFill/>
        </p:spPr>
      </p:pic>
      <mc:AlternateContent xmlns:mc="http://schemas.openxmlformats.org/markup-compatibility/2006" xmlns:a14="http://schemas.microsoft.com/office/drawing/2010/main">
        <mc:Choice Requires="a14">
          <p:sp>
            <p:nvSpPr>
              <p:cNvPr id="3" name="Content Placeholder 2"/>
              <p:cNvSpPr>
                <a:spLocks noGrp="1"/>
              </p:cNvSpPr>
              <p:nvPr>
                <p:ph type="body" sz="half" idx="2"/>
              </p:nvPr>
            </p:nvSpPr>
            <p:spPr>
              <a:xfrm>
                <a:off x="457200" y="1600200"/>
                <a:ext cx="3008313" cy="4480560"/>
              </a:xfrm>
            </p:spPr>
            <p:txBody>
              <a:bodyPr wrap="square" anchor="t">
                <a:normAutofit/>
              </a:bodyPr>
              <a:lstStyle/>
              <a:p>
                <a:pPr marL="85725" lvl="1" indent="0">
                  <a:buNone/>
                </a:pPr>
                <a:r>
                  <a:rPr lang="en-US" altLang="en-US" sz="2000" b="1" dirty="0">
                    <a:solidFill>
                      <a:schemeClr val="tx1"/>
                    </a:solidFill>
                  </a:rPr>
                  <a:t>The area under the graph represents the work done on the spring to stretch it a distance </a:t>
                </a:r>
                <a:r>
                  <a:rPr lang="en-US" altLang="en-US" sz="2000" b="1" i="1" dirty="0">
                    <a:solidFill>
                      <a:schemeClr val="tx1"/>
                    </a:solidFill>
                  </a:rPr>
                  <a:t>x</a:t>
                </a:r>
                <a:r>
                  <a:rPr lang="en-US" altLang="en-US" sz="2000" b="1" dirty="0">
                    <a:solidFill>
                      <a:schemeClr val="tx1"/>
                    </a:solidFill>
                  </a:rPr>
                  <a:t>: </a:t>
                </a:r>
              </a:p>
              <a:p>
                <a:pPr marL="85725" lvl="1" indent="0">
                  <a:buNone/>
                </a:pPr>
                <a:r>
                  <a:rPr lang="en-US" altLang="en-US" sz="1600" b="1" i="1" dirty="0">
                    <a:solidFill>
                      <a:schemeClr val="tx1"/>
                    </a:solidFill>
                  </a:rPr>
                  <a:t>		</a:t>
                </a:r>
              </a:p>
              <a:p>
                <a:pPr marL="85725" lvl="1" indent="0">
                  <a:buNone/>
                </a:pP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𝑾</m:t>
                      </m:r>
                      <m:r>
                        <a:rPr lang="en-US" sz="2400" b="1" i="1" smtClean="0">
                          <a:solidFill>
                            <a:schemeClr val="tx1"/>
                          </a:solidFill>
                          <a:latin typeface="Cambria Math" panose="02040503050406030204" pitchFamily="18" charset="0"/>
                        </a:rPr>
                        <m:t>= </m:t>
                      </m:r>
                      <m:f>
                        <m:fPr>
                          <m:ctrlPr>
                            <a:rPr lang="en-US" sz="2400" b="1" i="1">
                              <a:solidFill>
                                <a:schemeClr val="tx1"/>
                              </a:solidFill>
                              <a:latin typeface="Cambria Math" panose="02040503050406030204" pitchFamily="18" charset="0"/>
                            </a:rPr>
                          </m:ctrlPr>
                        </m:fPr>
                        <m:num>
                          <m:r>
                            <a:rPr lang="en-US" sz="2400" b="1" i="1" smtClean="0">
                              <a:solidFill>
                                <a:schemeClr val="tx1"/>
                              </a:solidFill>
                              <a:latin typeface="Cambria Math" panose="02040503050406030204" pitchFamily="18" charset="0"/>
                            </a:rPr>
                            <m:t>𝟏</m:t>
                          </m:r>
                        </m:num>
                        <m:den>
                          <m:r>
                            <a:rPr lang="en-US" sz="2400" b="1" i="1" smtClean="0">
                              <a:solidFill>
                                <a:schemeClr val="tx1"/>
                              </a:solidFill>
                              <a:latin typeface="Cambria Math" panose="02040503050406030204" pitchFamily="18" charset="0"/>
                            </a:rPr>
                            <m:t>𝟐</m:t>
                          </m:r>
                        </m:den>
                      </m:f>
                      <m:r>
                        <a:rPr lang="en-US" sz="2400" b="1" i="1" smtClean="0">
                          <a:solidFill>
                            <a:schemeClr val="tx1"/>
                          </a:solidFill>
                          <a:latin typeface="Cambria Math" panose="02040503050406030204" pitchFamily="18" charset="0"/>
                        </a:rPr>
                        <m:t>𝒌</m:t>
                      </m:r>
                      <m:sSup>
                        <m:sSupPr>
                          <m:ctrlPr>
                            <a:rPr lang="en-US" sz="2400" b="1" i="1">
                              <a:solidFill>
                                <a:schemeClr val="tx1"/>
                              </a:solidFill>
                              <a:latin typeface="Cambria Math" panose="02040503050406030204" pitchFamily="18" charset="0"/>
                            </a:rPr>
                          </m:ctrlPr>
                        </m:sSupPr>
                        <m:e>
                          <m:r>
                            <a:rPr lang="en-US" sz="2400" b="1" i="1" smtClean="0">
                              <a:solidFill>
                                <a:schemeClr val="tx1"/>
                              </a:solidFill>
                              <a:latin typeface="Cambria Math" panose="02040503050406030204" pitchFamily="18" charset="0"/>
                            </a:rPr>
                            <m:t>𝒙</m:t>
                          </m:r>
                        </m:e>
                        <m:sup>
                          <m:r>
                            <a:rPr lang="en-US" sz="2400" b="1" i="1" smtClean="0">
                              <a:solidFill>
                                <a:schemeClr val="tx1"/>
                              </a:solidFill>
                              <a:latin typeface="Cambria Math" panose="02040503050406030204" pitchFamily="18" charset="0"/>
                            </a:rPr>
                            <m:t>𝟐</m:t>
                          </m:r>
                        </m:sup>
                      </m:sSup>
                    </m:oMath>
                  </m:oMathPara>
                </a14:m>
                <a:endParaRPr lang="en-US" altLang="en-US" sz="2400" b="1"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type="body" sz="half" idx="2"/>
              </p:nvPr>
            </p:nvSpPr>
            <p:spPr>
              <a:xfrm>
                <a:off x="457200" y="1600200"/>
                <a:ext cx="3008313" cy="4480560"/>
              </a:xfrm>
              <a:blipFill>
                <a:blip r:embed="rId4"/>
                <a:stretch>
                  <a:fillRect t="-680"/>
                </a:stretch>
              </a:blipFill>
            </p:spPr>
            <p:txBody>
              <a:bodyPr/>
              <a:lstStyle/>
              <a:p>
                <a:r>
                  <a:rPr lang="en-US">
                    <a:noFill/>
                  </a:rPr>
                  <a:t> </a:t>
                </a:r>
              </a:p>
            </p:txBody>
          </p:sp>
        </mc:Fallback>
      </mc:AlternateContent>
      <p:sp>
        <p:nvSpPr>
          <p:cNvPr id="2" name="Title 1"/>
          <p:cNvSpPr>
            <a:spLocks noGrp="1"/>
          </p:cNvSpPr>
          <p:nvPr>
            <p:ph type="title"/>
          </p:nvPr>
        </p:nvSpPr>
        <p:spPr>
          <a:xfrm>
            <a:off x="457200" y="326809"/>
            <a:ext cx="8062912" cy="900861"/>
          </a:xfrm>
        </p:spPr>
        <p:txBody>
          <a:bodyPr anchor="b">
            <a:noAutofit/>
          </a:bodyPr>
          <a:lstStyle/>
          <a:p>
            <a:pPr algn="ctr"/>
            <a:r>
              <a:rPr lang="en-US" sz="2800" dirty="0">
                <a:solidFill>
                  <a:schemeClr val="tx1"/>
                </a:solidFill>
              </a:rPr>
              <a:t>Work done by spring force  Graphical   </a:t>
            </a:r>
          </a:p>
        </p:txBody>
      </p:sp>
    </p:spTree>
    <p:extLst>
      <p:ext uri="{BB962C8B-B14F-4D97-AF65-F5344CB8AC3E}">
        <p14:creationId xmlns:p14="http://schemas.microsoft.com/office/powerpoint/2010/main" val="1929535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Raji K Physics Logo">
            <a:extLst>
              <a:ext uri="{FF2B5EF4-FFF2-40B4-BE49-F238E27FC236}">
                <a16:creationId xmlns:a16="http://schemas.microsoft.com/office/drawing/2014/main" id="{5FE4DB74-9E24-4907-3BF4-4F2393402F3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
        <p:nvSpPr>
          <p:cNvPr id="3" name="Content Placeholder 2"/>
          <p:cNvSpPr>
            <a:spLocks noGrp="1"/>
          </p:cNvSpPr>
          <p:nvPr>
            <p:ph idx="1"/>
          </p:nvPr>
        </p:nvSpPr>
        <p:spPr>
          <a:xfrm>
            <a:off x="555412" y="1286727"/>
            <a:ext cx="8141547" cy="4621704"/>
          </a:xfrm>
        </p:spPr>
        <p:txBody>
          <a:bodyPr/>
          <a:lstStyle/>
          <a:p>
            <a:pPr marL="342900" indent="-342900" eaLnBrk="1" hangingPunct="1">
              <a:lnSpc>
                <a:spcPct val="90000"/>
              </a:lnSpc>
              <a:buClrTx/>
              <a:buFont typeface="Wingdings" panose="05000000000000000000" pitchFamily="2" charset="2"/>
              <a:buChar char="Ø"/>
            </a:pPr>
            <a:r>
              <a:rPr lang="en-US" sz="2400" b="1" dirty="0">
                <a:latin typeface="Arial" charset="0"/>
              </a:rPr>
              <a:t>Energy was traditionally defined as the ability to do work. </a:t>
            </a:r>
          </a:p>
          <a:p>
            <a:pPr marL="342900" indent="-342900" eaLnBrk="1" hangingPunct="1">
              <a:lnSpc>
                <a:spcPct val="90000"/>
              </a:lnSpc>
              <a:buClrTx/>
              <a:buFont typeface="Wingdings" panose="05000000000000000000" pitchFamily="2" charset="2"/>
              <a:buChar char="Ø"/>
            </a:pPr>
            <a:r>
              <a:rPr lang="en-US" altLang="en-US" sz="2400" b="1" dirty="0"/>
              <a:t>Kinetic Energy is the energy of a particle due to its motion</a:t>
            </a:r>
          </a:p>
          <a:p>
            <a:pPr marL="342900" indent="-342900" eaLnBrk="1" hangingPunct="1">
              <a:lnSpc>
                <a:spcPct val="90000"/>
              </a:lnSpc>
              <a:buClrTx/>
              <a:buFont typeface="Wingdings" panose="05000000000000000000" pitchFamily="2" charset="2"/>
              <a:buChar char="Ø"/>
            </a:pPr>
            <a:r>
              <a:rPr lang="en-US" altLang="en-US" sz="3200" b="1" dirty="0">
                <a:solidFill>
                  <a:schemeClr val="tx1"/>
                </a:solidFill>
                <a:latin typeface="Cambria Math" panose="02040503050406030204" pitchFamily="18" charset="0"/>
                <a:ea typeface="Cambria Math" panose="02040503050406030204" pitchFamily="18" charset="0"/>
              </a:rPr>
              <a:t>K = ½ mv</a:t>
            </a:r>
            <a:r>
              <a:rPr lang="en-US" altLang="en-US" sz="3200" b="1" baseline="30000" dirty="0">
                <a:solidFill>
                  <a:schemeClr val="tx1"/>
                </a:solidFill>
                <a:latin typeface="Cambria Math" panose="02040503050406030204" pitchFamily="18" charset="0"/>
                <a:ea typeface="Cambria Math" panose="02040503050406030204" pitchFamily="18" charset="0"/>
              </a:rPr>
              <a:t>2</a:t>
            </a:r>
            <a:endParaRPr lang="en-US" altLang="en-US" sz="3200" b="1" dirty="0">
              <a:solidFill>
                <a:schemeClr val="tx1"/>
              </a:solidFill>
              <a:latin typeface="Cambria Math" panose="02040503050406030204" pitchFamily="18" charset="0"/>
              <a:ea typeface="Cambria Math" panose="02040503050406030204" pitchFamily="18" charset="0"/>
            </a:endParaRPr>
          </a:p>
          <a:p>
            <a:pPr lvl="2" eaLnBrk="1" hangingPunct="1">
              <a:lnSpc>
                <a:spcPct val="90000"/>
              </a:lnSpc>
              <a:buClrTx/>
              <a:buFont typeface="Wingdings" panose="05000000000000000000" pitchFamily="2" charset="2"/>
              <a:buChar char="v"/>
            </a:pPr>
            <a:r>
              <a:rPr lang="en-US" altLang="en-US" sz="2400" b="1" i="1" dirty="0">
                <a:solidFill>
                  <a:schemeClr val="tx1"/>
                </a:solidFill>
              </a:rPr>
              <a:t>K</a:t>
            </a:r>
            <a:r>
              <a:rPr lang="en-US" altLang="en-US" sz="2400" b="1" dirty="0">
                <a:solidFill>
                  <a:schemeClr val="tx1"/>
                </a:solidFill>
              </a:rPr>
              <a:t> is the kinetic energy</a:t>
            </a:r>
          </a:p>
          <a:p>
            <a:pPr lvl="2" eaLnBrk="1" hangingPunct="1">
              <a:lnSpc>
                <a:spcPct val="90000"/>
              </a:lnSpc>
              <a:buClrTx/>
              <a:buFont typeface="Wingdings" panose="05000000000000000000" pitchFamily="2" charset="2"/>
              <a:buChar char="v"/>
            </a:pPr>
            <a:r>
              <a:rPr lang="en-US" altLang="en-US" sz="2400" b="1" i="1" dirty="0">
                <a:solidFill>
                  <a:schemeClr val="tx1"/>
                </a:solidFill>
              </a:rPr>
              <a:t>m</a:t>
            </a:r>
            <a:r>
              <a:rPr lang="en-US" altLang="en-US" sz="2400" b="1" dirty="0">
                <a:solidFill>
                  <a:schemeClr val="tx1"/>
                </a:solidFill>
              </a:rPr>
              <a:t> is the mass of the particle</a:t>
            </a:r>
          </a:p>
          <a:p>
            <a:pPr lvl="2" eaLnBrk="1" hangingPunct="1">
              <a:lnSpc>
                <a:spcPct val="90000"/>
              </a:lnSpc>
              <a:buClrTx/>
              <a:buFont typeface="Wingdings" panose="05000000000000000000" pitchFamily="2" charset="2"/>
              <a:buChar char="v"/>
            </a:pPr>
            <a:r>
              <a:rPr lang="en-US" altLang="en-US" sz="2400" b="1" i="1" dirty="0">
                <a:solidFill>
                  <a:schemeClr val="tx1"/>
                </a:solidFill>
              </a:rPr>
              <a:t>v</a:t>
            </a:r>
            <a:r>
              <a:rPr lang="en-US" altLang="en-US" sz="2400" b="1" dirty="0">
                <a:solidFill>
                  <a:schemeClr val="tx1"/>
                </a:solidFill>
              </a:rPr>
              <a:t> is the speed of the particle</a:t>
            </a:r>
          </a:p>
          <a:p>
            <a:pPr marL="342900" indent="-342900" eaLnBrk="1" hangingPunct="1">
              <a:lnSpc>
                <a:spcPct val="90000"/>
              </a:lnSpc>
              <a:buClrTx/>
              <a:buFont typeface="Wingdings" panose="05000000000000000000" pitchFamily="2" charset="2"/>
              <a:buChar char="Ø"/>
            </a:pPr>
            <a:r>
              <a:rPr lang="en-US" altLang="en-US" sz="2400" b="1" dirty="0"/>
              <a:t>A change in kinetic energy is one possible result of doing work to transfer energy into a system</a:t>
            </a:r>
          </a:p>
          <a:p>
            <a:endParaRPr lang="en-US" sz="3200" b="1" dirty="0">
              <a:latin typeface="Arial" charset="0"/>
            </a:endParaRPr>
          </a:p>
          <a:p>
            <a:endParaRPr lang="en-US" sz="3200" dirty="0"/>
          </a:p>
        </p:txBody>
      </p:sp>
      <p:sp>
        <p:nvSpPr>
          <p:cNvPr id="6" name="Text Box 2"/>
          <p:cNvSpPr txBox="1">
            <a:spLocks noGrp="1" noChangeArrowheads="1"/>
          </p:cNvSpPr>
          <p:nvPr>
            <p:ph type="title"/>
          </p:nvPr>
        </p:nvSpPr>
        <p:spPr bwMode="auto">
          <a:xfrm>
            <a:off x="0" y="212430"/>
            <a:ext cx="9032488" cy="523220"/>
          </a:xfrm>
          <a:prstGeom prst="rect">
            <a:avLst/>
          </a:prstGeom>
          <a:noFill/>
          <a:ln w="9525">
            <a:noFill/>
            <a:miter lim="800000"/>
            <a:headEnd/>
            <a:tailEnd/>
          </a:ln>
          <a:effectLst/>
        </p:spPr>
        <p:txBody>
          <a:bodyPr wrap="square">
            <a:spAutoFit/>
          </a:bodyPr>
          <a:lstStyle/>
          <a:p>
            <a:pPr algn="ctr">
              <a:spcBef>
                <a:spcPct val="50000"/>
              </a:spcBef>
              <a:defRPr/>
            </a:pPr>
            <a:r>
              <a:rPr lang="en-US" sz="2800" b="1" dirty="0">
                <a:solidFill>
                  <a:schemeClr val="tx1"/>
                </a:solidFill>
                <a:cs typeface="+mn-cs"/>
              </a:rPr>
              <a:t>  Kinetic Energy  </a:t>
            </a:r>
          </a:p>
        </p:txBody>
      </p:sp>
    </p:spTree>
    <p:extLst>
      <p:ext uri="{BB962C8B-B14F-4D97-AF65-F5344CB8AC3E}">
        <p14:creationId xmlns:p14="http://schemas.microsoft.com/office/powerpoint/2010/main" val="896044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112875"/>
            <a:ext cx="9054850" cy="695998"/>
          </a:xfrm>
        </p:spPr>
        <p:txBody>
          <a:bodyPr>
            <a:normAutofit/>
          </a:bodyPr>
          <a:lstStyle/>
          <a:p>
            <a:pPr algn="ctr" eaLnBrk="1" hangingPunct="1"/>
            <a:r>
              <a:rPr lang="en-US" altLang="en-US" sz="2800" dirty="0">
                <a:solidFill>
                  <a:schemeClr val="tx1"/>
                </a:solidFill>
              </a:rPr>
              <a:t>Change in Kinetic Energy and </a:t>
            </a:r>
            <a:r>
              <a:rPr lang="en-US" altLang="en-US" sz="2800" b="1" dirty="0">
                <a:solidFill>
                  <a:schemeClr val="tx1"/>
                </a:solidFill>
              </a:rPr>
              <a:t>work</a:t>
            </a:r>
            <a:endParaRPr lang="en-US" altLang="en-US" sz="2800" dirty="0">
              <a:solidFill>
                <a:schemeClr val="tx1"/>
              </a:solidFill>
            </a:endParaRPr>
          </a:p>
        </p:txBody>
      </p:sp>
      <mc:AlternateContent xmlns:mc="http://schemas.openxmlformats.org/markup-compatibility/2006" xmlns:a14="http://schemas.microsoft.com/office/drawing/2010/main">
        <mc:Choice Requires="a14">
          <p:sp>
            <p:nvSpPr>
              <p:cNvPr id="8194" name="Object 2" descr=" Calculating the work:&#10;"/>
              <p:cNvSpPr txBox="1"/>
              <p:nvPr/>
            </p:nvSpPr>
            <p:spPr bwMode="auto">
              <a:xfrm>
                <a:off x="487812" y="808873"/>
                <a:ext cx="8419121" cy="5356379"/>
              </a:xfrm>
              <a:prstGeom prst="rect">
                <a:avLst/>
              </a:prstGeom>
              <a:noFill/>
              <a:ln>
                <a:noFill/>
              </a:ln>
              <a:effectLst/>
            </p:spPr>
            <p:txBody>
              <a:bodyPr>
                <a:noAutofit/>
              </a:bodyPr>
              <a:lstStyle/>
              <a:p>
                <a:r>
                  <a:rPr lang="en-US" sz="2000" b="1" dirty="0"/>
                  <a:t>Net work done on a particle as it moves over an infinitesimal displacement, which is the dot product of the net force and the displacement</a:t>
                </a:r>
                <a:r>
                  <a:rPr lang="en-US" dirty="0"/>
                  <a:t>.</a:t>
                </a:r>
              </a:p>
              <a:p>
                <a:endParaRPr lang="en-US" sz="2000" b="1" dirty="0"/>
              </a:p>
              <a:p>
                <a:r>
                  <a:rPr lang="en-US" sz="2400" b="1" i="1" dirty="0"/>
                  <a:t>d</a:t>
                </a:r>
                <a14:m>
                  <m:oMath xmlns:m="http://schemas.openxmlformats.org/officeDocument/2006/math">
                    <m:r>
                      <a:rPr lang="en-US" sz="2400" b="1" i="1">
                        <a:latin typeface="Cambria Math" panose="02040503050406030204" pitchFamily="18" charset="0"/>
                      </a:rPr>
                      <m:t> </m:t>
                    </m:r>
                    <m:sSub>
                      <m:sSubPr>
                        <m:ctrlPr>
                          <a:rPr lang="en-US" sz="2400" b="1" i="1">
                            <a:latin typeface="Cambria Math" panose="02040503050406030204" pitchFamily="18" charset="0"/>
                          </a:rPr>
                        </m:ctrlPr>
                      </m:sSubPr>
                      <m:e>
                        <m:r>
                          <a:rPr lang="en-US" sz="2400" b="1" i="1">
                            <a:latin typeface="Cambria Math" panose="02040503050406030204" pitchFamily="18" charset="0"/>
                          </a:rPr>
                          <m:t>𝑾</m:t>
                        </m:r>
                      </m:e>
                      <m:sub>
                        <m:r>
                          <a:rPr lang="en-US" sz="2400" b="1" i="1">
                            <a:latin typeface="Cambria Math" panose="02040503050406030204" pitchFamily="18" charset="0"/>
                          </a:rPr>
                          <m:t>𝒏𝒆𝒕</m:t>
                        </m:r>
                      </m:sub>
                    </m:sSub>
                    <m:r>
                      <a:rPr lang="en-US" sz="2400" b="1" i="1">
                        <a:latin typeface="Cambria Math" panose="02040503050406030204" pitchFamily="18" charset="0"/>
                      </a:rPr>
                      <m:t>=</m:t>
                    </m:r>
                    <m:acc>
                      <m:accPr>
                        <m:chr m:val="⃗"/>
                        <m:ctrlPr>
                          <a:rPr lang="en-US" sz="2400" b="1" i="1">
                            <a:latin typeface="Cambria Math" panose="02040503050406030204" pitchFamily="18" charset="0"/>
                          </a:rPr>
                        </m:ctrlPr>
                      </m:accPr>
                      <m:e>
                        <m:r>
                          <a:rPr lang="en-US" sz="2400" b="1" i="1">
                            <a:latin typeface="Cambria Math" panose="02040503050406030204" pitchFamily="18" charset="0"/>
                          </a:rPr>
                          <m:t>𝑭</m:t>
                        </m:r>
                      </m:e>
                    </m:acc>
                    <m:r>
                      <a:rPr lang="en-US" sz="2400" b="1" i="1">
                        <a:latin typeface="Cambria Math" panose="02040503050406030204" pitchFamily="18" charset="0"/>
                      </a:rPr>
                      <m:t>𝒏𝒆𝒕</m:t>
                    </m:r>
                    <m:r>
                      <a:rPr lang="en-US" sz="2400" b="1" i="1">
                        <a:latin typeface="Cambria Math" panose="02040503050406030204" pitchFamily="18" charset="0"/>
                      </a:rPr>
                      <m:t>. </m:t>
                    </m:r>
                    <m:acc>
                      <m:accPr>
                        <m:chr m:val="⃗"/>
                        <m:ctrlPr>
                          <a:rPr lang="en-US" sz="2400" b="1" i="1">
                            <a:latin typeface="Cambria Math" panose="02040503050406030204" pitchFamily="18" charset="0"/>
                          </a:rPr>
                        </m:ctrlPr>
                      </m:accPr>
                      <m:e>
                        <m:r>
                          <a:rPr lang="en-US" sz="2400" b="1" i="1">
                            <a:latin typeface="Cambria Math" panose="02040503050406030204" pitchFamily="18" charset="0"/>
                          </a:rPr>
                          <m:t>𝒅𝒓</m:t>
                        </m:r>
                      </m:e>
                    </m:acc>
                  </m:oMath>
                </a14:m>
                <a:endParaRPr lang="en-US" sz="2400" b="1" dirty="0"/>
              </a:p>
              <a:p>
                <a:pPr/>
                <a14:m>
                  <m:oMathPara xmlns:m="http://schemas.openxmlformats.org/officeDocument/2006/math">
                    <m:oMathParaPr>
                      <m:jc m:val="left"/>
                    </m:oMathParaPr>
                    <m:oMath xmlns:m="http://schemas.openxmlformats.org/officeDocument/2006/math">
                      <m:r>
                        <m:rPr>
                          <m:nor/>
                        </m:rPr>
                        <a:rPr lang="en-US" sz="2400" b="1">
                          <a:latin typeface="Cambria Math" panose="02040503050406030204" pitchFamily="18" charset="0"/>
                        </a:rPr>
                        <m:t>Newton</m:t>
                      </m:r>
                      <m:r>
                        <m:rPr>
                          <m:nor/>
                        </m:rPr>
                        <a:rPr lang="en-US" sz="2400" b="1">
                          <a:latin typeface="Cambria Math" panose="02040503050406030204" pitchFamily="18" charset="0"/>
                        </a:rPr>
                        <m:t>′</m:t>
                      </m:r>
                      <m:r>
                        <m:rPr>
                          <m:nor/>
                        </m:rPr>
                        <a:rPr lang="en-US" sz="2400" b="1">
                          <a:latin typeface="Cambria Math" panose="02040503050406030204" pitchFamily="18" charset="0"/>
                        </a:rPr>
                        <m:t>s</m:t>
                      </m:r>
                      <m:r>
                        <m:rPr>
                          <m:nor/>
                        </m:rPr>
                        <a:rPr lang="en-US" sz="2400" b="1">
                          <a:latin typeface="Cambria Math" panose="02040503050406030204" pitchFamily="18" charset="0"/>
                        </a:rPr>
                        <m:t> </m:t>
                      </m:r>
                      <m:r>
                        <m:rPr>
                          <m:nor/>
                        </m:rPr>
                        <a:rPr lang="en-US" sz="2400" b="1">
                          <a:latin typeface="Cambria Math" panose="02040503050406030204" pitchFamily="18" charset="0"/>
                        </a:rPr>
                        <m:t>second</m:t>
                      </m:r>
                      <m:r>
                        <m:rPr>
                          <m:nor/>
                        </m:rPr>
                        <a:rPr lang="en-US" sz="2400" b="1">
                          <a:latin typeface="Cambria Math" panose="02040503050406030204" pitchFamily="18" charset="0"/>
                        </a:rPr>
                        <m:t> </m:t>
                      </m:r>
                      <m:r>
                        <m:rPr>
                          <m:nor/>
                        </m:rPr>
                        <a:rPr lang="en-US" sz="2400" b="1">
                          <a:latin typeface="Cambria Math" panose="02040503050406030204" pitchFamily="18" charset="0"/>
                        </a:rPr>
                        <m:t>law</m:t>
                      </m:r>
                      <m:r>
                        <m:rPr>
                          <m:nor/>
                        </m:rPr>
                        <a:rPr lang="en-US" sz="2400" b="1">
                          <a:latin typeface="Cambria Math" panose="02040503050406030204" pitchFamily="18" charset="0"/>
                        </a:rPr>
                        <m:t>:  </m:t>
                      </m:r>
                      <m:r>
                        <a:rPr lang="en-US" sz="2400" b="1" i="1">
                          <a:latin typeface="Cambria Math" panose="02040503050406030204" pitchFamily="18" charset="0"/>
                        </a:rPr>
                        <m:t>𝑭</m:t>
                      </m:r>
                      <m:r>
                        <a:rPr lang="en-US" sz="2400" b="1" i="1">
                          <a:latin typeface="Cambria Math" panose="02040503050406030204" pitchFamily="18" charset="0"/>
                        </a:rPr>
                        <m:t>=</m:t>
                      </m:r>
                      <m:r>
                        <a:rPr lang="en-US" sz="2400" b="1" i="1">
                          <a:latin typeface="Cambria Math" panose="02040503050406030204" pitchFamily="18" charset="0"/>
                        </a:rPr>
                        <m:t>𝒎𝒂</m:t>
                      </m:r>
                      <m:r>
                        <a:rPr lang="en-US" sz="2400" b="1" i="1">
                          <a:latin typeface="Cambria Math" panose="02040503050406030204" pitchFamily="18" charset="0"/>
                        </a:rPr>
                        <m:t>=</m:t>
                      </m:r>
                      <m:r>
                        <a:rPr lang="en-US" sz="2400" b="1" i="1">
                          <a:latin typeface="Cambria Math" panose="02040503050406030204" pitchFamily="18" charset="0"/>
                        </a:rPr>
                        <m:t>𝒎</m:t>
                      </m:r>
                      <m:f>
                        <m:fPr>
                          <m:ctrlPr>
                            <a:rPr lang="en-US" sz="2400" b="1" i="1">
                              <a:latin typeface="Cambria Math" panose="02040503050406030204" pitchFamily="18" charset="0"/>
                            </a:rPr>
                          </m:ctrlPr>
                        </m:fPr>
                        <m:num>
                          <m:r>
                            <a:rPr lang="en-US" sz="2400" b="1" i="1">
                              <a:latin typeface="Cambria Math" panose="02040503050406030204" pitchFamily="18" charset="0"/>
                            </a:rPr>
                            <m:t>𝒅𝒗</m:t>
                          </m:r>
                        </m:num>
                        <m:den>
                          <m:r>
                            <a:rPr lang="en-US" sz="2400" b="1" i="1">
                              <a:latin typeface="Cambria Math" panose="02040503050406030204" pitchFamily="18" charset="0"/>
                            </a:rPr>
                            <m:t>𝒅𝒕</m:t>
                          </m:r>
                        </m:den>
                      </m:f>
                    </m:oMath>
                  </m:oMathPara>
                </a14:m>
                <a:endParaRPr lang="en-US" sz="2400" b="1" dirty="0"/>
              </a:p>
              <a:p>
                <a:r>
                  <a:rPr lang="en-US" sz="2400" b="1" i="1" dirty="0"/>
                  <a:t>d</a:t>
                </a:r>
                <a14:m>
                  <m:oMath xmlns:m="http://schemas.openxmlformats.org/officeDocument/2006/math">
                    <m:r>
                      <a:rPr lang="en-US" sz="2400" b="1" i="1">
                        <a:latin typeface="Cambria Math" panose="02040503050406030204" pitchFamily="18" charset="0"/>
                      </a:rPr>
                      <m:t> </m:t>
                    </m:r>
                    <m:sSub>
                      <m:sSubPr>
                        <m:ctrlPr>
                          <a:rPr lang="en-US" sz="2400" b="1" i="1">
                            <a:latin typeface="Cambria Math" panose="02040503050406030204" pitchFamily="18" charset="0"/>
                          </a:rPr>
                        </m:ctrlPr>
                      </m:sSubPr>
                      <m:e>
                        <m:r>
                          <a:rPr lang="en-US" sz="2400" b="1" i="1">
                            <a:latin typeface="Cambria Math" panose="02040503050406030204" pitchFamily="18" charset="0"/>
                          </a:rPr>
                          <m:t>𝑾</m:t>
                        </m:r>
                      </m:e>
                      <m:sub>
                        <m:r>
                          <a:rPr lang="en-US" sz="2400" b="1" i="1">
                            <a:latin typeface="Cambria Math" panose="02040503050406030204" pitchFamily="18" charset="0"/>
                          </a:rPr>
                          <m:t>𝒏𝒆𝒕</m:t>
                        </m:r>
                      </m:sub>
                    </m:sSub>
                    <m:r>
                      <a:rPr lang="en-US" sz="2400" b="1" i="1">
                        <a:latin typeface="Cambria Math" panose="02040503050406030204" pitchFamily="18" charset="0"/>
                      </a:rPr>
                      <m:t>=</m:t>
                    </m:r>
                  </m:oMath>
                </a14:m>
                <a:r>
                  <a:rPr lang="en-US" sz="2400" b="1" dirty="0"/>
                  <a:t> </a:t>
                </a:r>
                <a14:m>
                  <m:oMath xmlns:m="http://schemas.openxmlformats.org/officeDocument/2006/math">
                    <m:r>
                      <a:rPr lang="en-US" sz="2400" b="1" i="1">
                        <a:latin typeface="Cambria Math" panose="02040503050406030204" pitchFamily="18" charset="0"/>
                      </a:rPr>
                      <m:t>𝒎</m:t>
                    </m:r>
                    <m:f>
                      <m:fPr>
                        <m:ctrlPr>
                          <a:rPr lang="en-US" sz="2400" b="1" i="1">
                            <a:latin typeface="Cambria Math" panose="02040503050406030204" pitchFamily="18" charset="0"/>
                          </a:rPr>
                        </m:ctrlPr>
                      </m:fPr>
                      <m:num>
                        <m:r>
                          <a:rPr lang="en-US" sz="2400" b="1" i="1">
                            <a:latin typeface="Cambria Math" panose="02040503050406030204" pitchFamily="18" charset="0"/>
                          </a:rPr>
                          <m:t>𝒅𝒗</m:t>
                        </m:r>
                      </m:num>
                      <m:den>
                        <m:r>
                          <a:rPr lang="en-US" sz="2400" b="1" i="1">
                            <a:latin typeface="Cambria Math" panose="02040503050406030204" pitchFamily="18" charset="0"/>
                          </a:rPr>
                          <m:t>𝒅𝒕</m:t>
                        </m:r>
                      </m:den>
                    </m:f>
                  </m:oMath>
                </a14:m>
                <a:r>
                  <a:rPr lang="en-US" sz="2400" b="1" dirty="0"/>
                  <a:t> </a:t>
                </a:r>
                <a14:m>
                  <m:oMath xmlns:m="http://schemas.openxmlformats.org/officeDocument/2006/math">
                    <m:r>
                      <a:rPr lang="en-US" sz="2400" b="1" i="1">
                        <a:latin typeface="Cambria Math" panose="02040503050406030204" pitchFamily="18" charset="0"/>
                      </a:rPr>
                      <m:t>. </m:t>
                    </m:r>
                    <m:acc>
                      <m:accPr>
                        <m:chr m:val="⃗"/>
                        <m:ctrlPr>
                          <a:rPr lang="en-US" sz="2400" b="1" i="1">
                            <a:latin typeface="Cambria Math" panose="02040503050406030204" pitchFamily="18" charset="0"/>
                          </a:rPr>
                        </m:ctrlPr>
                      </m:accPr>
                      <m:e>
                        <m:r>
                          <a:rPr lang="en-US" sz="2400" b="1" i="1">
                            <a:latin typeface="Cambria Math" panose="02040503050406030204" pitchFamily="18" charset="0"/>
                          </a:rPr>
                          <m:t>𝒅𝒓</m:t>
                        </m:r>
                      </m:e>
                    </m:acc>
                  </m:oMath>
                </a14:m>
                <a:r>
                  <a:rPr lang="en-US" sz="2400" b="1" dirty="0"/>
                  <a:t> </a:t>
                </a:r>
                <a14:m>
                  <m:oMath xmlns:m="http://schemas.openxmlformats.org/officeDocument/2006/math">
                    <m:r>
                      <a:rPr lang="en-US" sz="2400" b="1" i="1">
                        <a:latin typeface="Cambria Math" panose="02040503050406030204" pitchFamily="18" charset="0"/>
                      </a:rPr>
                      <m:t>=  </m:t>
                    </m:r>
                    <m:r>
                      <a:rPr lang="en-US" sz="2400" b="1" i="1">
                        <a:latin typeface="Cambria Math" panose="02040503050406030204" pitchFamily="18" charset="0"/>
                      </a:rPr>
                      <m:t>𝒎𝒗𝒅𝒗</m:t>
                    </m:r>
                  </m:oMath>
                </a14:m>
                <a:endParaRPr lang="en-US" sz="2400" b="1" dirty="0"/>
              </a:p>
              <a:p>
                <a14:m>
                  <m:oMath xmlns:m="http://schemas.openxmlformats.org/officeDocument/2006/math">
                    <m:r>
                      <a:rPr lang="en-US" sz="3600" b="1" i="1">
                        <a:latin typeface="Cambria Math" panose="02040503050406030204" pitchFamily="18" charset="0"/>
                      </a:rPr>
                      <m:t> </m:t>
                    </m:r>
                  </m:oMath>
                </a14:m>
                <a:r>
                  <a:rPr lang="en-US" sz="2400" b="1" dirty="0"/>
                  <a:t>I</a:t>
                </a:r>
                <a14:m>
                  <m:oMath xmlns:m="http://schemas.openxmlformats.org/officeDocument/2006/math">
                    <m:r>
                      <m:rPr>
                        <m:nor/>
                      </m:rPr>
                      <a:rPr lang="en-US" sz="2400" b="1">
                        <a:latin typeface="Cambria Math" panose="02040503050406030204" pitchFamily="18" charset="0"/>
                      </a:rPr>
                      <m:t>ntegrate</m:t>
                    </m:r>
                    <m:sSub>
                      <m:sSubPr>
                        <m:ctrlPr>
                          <a:rPr lang="en-US" sz="2400" b="1" i="1">
                            <a:latin typeface="Cambria Math" panose="02040503050406030204" pitchFamily="18" charset="0"/>
                          </a:rPr>
                        </m:ctrlPr>
                      </m:sSubPr>
                      <m:e>
                        <m:r>
                          <a:rPr lang="en-US" sz="2400" b="1" i="1">
                            <a:latin typeface="Cambria Math" panose="02040503050406030204" pitchFamily="18" charset="0"/>
                          </a:rPr>
                          <m:t> </m:t>
                        </m:r>
                        <m:r>
                          <a:rPr lang="en-US" sz="2400" b="1" i="1">
                            <a:latin typeface="Cambria Math" panose="02040503050406030204" pitchFamily="18" charset="0"/>
                          </a:rPr>
                          <m:t>𝑾</m:t>
                        </m:r>
                      </m:e>
                      <m:sub>
                        <m:r>
                          <a:rPr lang="en-US" sz="2400" b="1" i="1">
                            <a:latin typeface="Cambria Math" panose="02040503050406030204" pitchFamily="18" charset="0"/>
                          </a:rPr>
                          <m:t>𝒏𝒆𝒕</m:t>
                        </m:r>
                      </m:sub>
                    </m:sSub>
                  </m:oMath>
                </a14:m>
                <a:r>
                  <a:rPr lang="en-US" sz="2400" b="1" i="1" dirty="0">
                    <a:latin typeface="Cambria Math" panose="02040503050406030204" pitchFamily="18" charset="0"/>
                  </a:rPr>
                  <a:t>=</a:t>
                </a:r>
                <a14:m>
                  <m:oMath xmlns:m="http://schemas.openxmlformats.org/officeDocument/2006/math">
                    <m:nary>
                      <m:naryPr>
                        <m:limLoc m:val="undOvr"/>
                        <m:ctrlPr>
                          <a:rPr lang="en-US" sz="2400" b="1" i="1">
                            <a:latin typeface="Cambria Math" panose="02040503050406030204" pitchFamily="18" charset="0"/>
                          </a:rPr>
                        </m:ctrlPr>
                      </m:naryPr>
                      <m:sub>
                        <m:sSub>
                          <m:sSubPr>
                            <m:ctrlPr>
                              <a:rPr lang="en-US" sz="2400" b="1" i="1">
                                <a:latin typeface="Cambria Math" panose="02040503050406030204" pitchFamily="18" charset="0"/>
                              </a:rPr>
                            </m:ctrlPr>
                          </m:sSubPr>
                          <m:e>
                            <m:r>
                              <a:rPr lang="en-US" sz="2400" b="1" i="1">
                                <a:latin typeface="Cambria Math" panose="02040503050406030204" pitchFamily="18" charset="0"/>
                              </a:rPr>
                              <m:t>𝒗</m:t>
                            </m:r>
                          </m:e>
                          <m:sub>
                            <m:r>
                              <a:rPr lang="en-US" sz="2400" b="1" i="1">
                                <a:latin typeface="Cambria Math" panose="02040503050406030204" pitchFamily="18" charset="0"/>
                              </a:rPr>
                              <m:t>𝒊</m:t>
                            </m:r>
                          </m:sub>
                        </m:sSub>
                      </m:sub>
                      <m:sup>
                        <m:sSub>
                          <m:sSubPr>
                            <m:ctrlPr>
                              <a:rPr lang="en-US" sz="2400" b="1" i="1">
                                <a:latin typeface="Cambria Math" panose="02040503050406030204" pitchFamily="18" charset="0"/>
                              </a:rPr>
                            </m:ctrlPr>
                          </m:sSubPr>
                          <m:e>
                            <m:r>
                              <a:rPr lang="en-US" sz="2400" b="1" i="1">
                                <a:latin typeface="Cambria Math" panose="02040503050406030204" pitchFamily="18" charset="0"/>
                              </a:rPr>
                              <m:t>𝒗</m:t>
                            </m:r>
                          </m:e>
                          <m:sub>
                            <m:r>
                              <a:rPr lang="en-US" sz="2400" b="1" i="1">
                                <a:latin typeface="Cambria Math" panose="02040503050406030204" pitchFamily="18" charset="0"/>
                              </a:rPr>
                              <m:t>𝒇</m:t>
                            </m:r>
                          </m:sub>
                        </m:sSub>
                      </m:sup>
                      <m:e>
                        <m:r>
                          <a:rPr lang="en-US" sz="2400" b="1" i="1">
                            <a:latin typeface="Cambria Math" panose="02040503050406030204" pitchFamily="18" charset="0"/>
                          </a:rPr>
                          <m:t>𝒎𝒗𝒅𝒗</m:t>
                        </m:r>
                        <m:r>
                          <a:rPr lang="en-US" sz="2400" b="1" i="1">
                            <a:latin typeface="Cambria Math" panose="02040503050406030204" pitchFamily="18" charset="0"/>
                          </a:rPr>
                          <m:t>  </m:t>
                        </m:r>
                      </m:e>
                    </m:nary>
                  </m:oMath>
                </a14:m>
                <a:endParaRPr lang="en-US" sz="2400" b="1"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𝑾</m:t>
                          </m:r>
                        </m:e>
                        <m:sub>
                          <m:r>
                            <a:rPr lang="en-US" sz="2400" b="1" i="1">
                              <a:latin typeface="Cambria Math" panose="02040503050406030204" pitchFamily="18" charset="0"/>
                            </a:rPr>
                            <m:t>𝒏𝒆𝒕</m:t>
                          </m:r>
                        </m:sub>
                      </m:sSub>
                      <m:r>
                        <a:rPr lang="en-US" sz="2400" b="1" i="1">
                          <a:latin typeface="Cambria Math" panose="02040503050406030204" pitchFamily="18" charset="0"/>
                        </a:rPr>
                        <m:t>=</m:t>
                      </m:r>
                      <m:r>
                        <a:rPr lang="en-US" sz="2400" b="1" i="1">
                          <a:latin typeface="Cambria Math" panose="02040503050406030204" pitchFamily="18" charset="0"/>
                        </a:rPr>
                        <m:t>𝒎</m:t>
                      </m:r>
                      <m:nary>
                        <m:naryPr>
                          <m:limLoc m:val="undOvr"/>
                          <m:ctrlPr>
                            <a:rPr lang="en-US" sz="2400" b="1" i="1">
                              <a:latin typeface="Cambria Math" panose="02040503050406030204" pitchFamily="18" charset="0"/>
                            </a:rPr>
                          </m:ctrlPr>
                        </m:naryPr>
                        <m:sub>
                          <m:sSub>
                            <m:sSubPr>
                              <m:ctrlPr>
                                <a:rPr lang="en-US" sz="2400" b="1" i="1">
                                  <a:latin typeface="Cambria Math" panose="02040503050406030204" pitchFamily="18" charset="0"/>
                                </a:rPr>
                              </m:ctrlPr>
                            </m:sSubPr>
                            <m:e>
                              <m:r>
                                <a:rPr lang="en-US" sz="2400" b="1" i="1">
                                  <a:latin typeface="Cambria Math" panose="02040503050406030204" pitchFamily="18" charset="0"/>
                                </a:rPr>
                                <m:t>𝒗</m:t>
                              </m:r>
                            </m:e>
                            <m:sub>
                              <m:r>
                                <a:rPr lang="en-US" sz="2400" b="1" i="1">
                                  <a:latin typeface="Cambria Math" panose="02040503050406030204" pitchFamily="18" charset="0"/>
                                </a:rPr>
                                <m:t>𝒊</m:t>
                              </m:r>
                            </m:sub>
                          </m:sSub>
                        </m:sub>
                        <m:sup>
                          <m:sSub>
                            <m:sSubPr>
                              <m:ctrlPr>
                                <a:rPr lang="en-US" sz="2400" b="1" i="1">
                                  <a:latin typeface="Cambria Math" panose="02040503050406030204" pitchFamily="18" charset="0"/>
                                </a:rPr>
                              </m:ctrlPr>
                            </m:sSubPr>
                            <m:e>
                              <m:r>
                                <a:rPr lang="en-US" sz="2400" b="1" i="1">
                                  <a:latin typeface="Cambria Math" panose="02040503050406030204" pitchFamily="18" charset="0"/>
                                </a:rPr>
                                <m:t>𝒗</m:t>
                              </m:r>
                            </m:e>
                            <m:sub>
                              <m:r>
                                <a:rPr lang="en-US" sz="2400" b="1" i="1">
                                  <a:latin typeface="Cambria Math" panose="02040503050406030204" pitchFamily="18" charset="0"/>
                                </a:rPr>
                                <m:t>𝒇</m:t>
                              </m:r>
                            </m:sub>
                          </m:sSub>
                        </m:sup>
                        <m:e>
                          <m:r>
                            <a:rPr lang="en-US" sz="2400" b="1" i="1">
                              <a:latin typeface="Cambria Math" panose="02040503050406030204" pitchFamily="18" charset="0"/>
                            </a:rPr>
                            <m:t>𝒗𝒅𝒗</m:t>
                          </m:r>
                        </m:e>
                      </m:nary>
                      <m:r>
                        <a:rPr lang="en-US" sz="2400" b="1" i="1">
                          <a:latin typeface="Cambria Math" panose="02040503050406030204" pitchFamily="18" charset="0"/>
                        </a:rPr>
                        <m:t>=</m:t>
                      </m:r>
                      <m:f>
                        <m:fPr>
                          <m:ctrlPr>
                            <a:rPr lang="en-US" sz="2400" b="1" i="1">
                              <a:latin typeface="Cambria Math" panose="02040503050406030204" pitchFamily="18" charset="0"/>
                            </a:rPr>
                          </m:ctrlPr>
                        </m:fPr>
                        <m:num>
                          <m:r>
                            <a:rPr lang="en-US" sz="2400" b="1" i="1">
                              <a:latin typeface="Cambria Math" panose="02040503050406030204" pitchFamily="18" charset="0"/>
                            </a:rPr>
                            <m:t>𝒎</m:t>
                          </m:r>
                        </m:num>
                        <m:den>
                          <m:r>
                            <a:rPr lang="en-US" sz="2400" b="1" i="1">
                              <a:latin typeface="Cambria Math" panose="02040503050406030204" pitchFamily="18" charset="0"/>
                            </a:rPr>
                            <m:t>𝟐</m:t>
                          </m:r>
                        </m:den>
                      </m:f>
                      <m:sSubSup>
                        <m:sSubSupPr>
                          <m:ctrlPr>
                            <a:rPr lang="en-US" sz="2400" b="1" i="1">
                              <a:latin typeface="Cambria Math" panose="02040503050406030204" pitchFamily="18" charset="0"/>
                            </a:rPr>
                          </m:ctrlPr>
                        </m:sSubSupPr>
                        <m:e>
                          <m:d>
                            <m:dPr>
                              <m:begChr m:val="["/>
                              <m:endChr m:val="]"/>
                              <m:ctrlPr>
                                <a:rPr lang="en-US" sz="2400" b="1" i="1">
                                  <a:latin typeface="Cambria Math" panose="02040503050406030204" pitchFamily="18" charset="0"/>
                                </a:rPr>
                              </m:ctrlPr>
                            </m:dPr>
                            <m:e>
                              <m:sSup>
                                <m:sSupPr>
                                  <m:ctrlPr>
                                    <a:rPr lang="en-US" sz="2400" b="1" i="1">
                                      <a:latin typeface="Cambria Math" panose="02040503050406030204" pitchFamily="18" charset="0"/>
                                    </a:rPr>
                                  </m:ctrlPr>
                                </m:sSupPr>
                                <m:e>
                                  <m:r>
                                    <a:rPr lang="en-US" sz="2400" b="1" i="1">
                                      <a:latin typeface="Cambria Math" panose="02040503050406030204" pitchFamily="18" charset="0"/>
                                    </a:rPr>
                                    <m:t>𝒗</m:t>
                                  </m:r>
                                </m:e>
                                <m:sup>
                                  <m:r>
                                    <a:rPr lang="en-US" sz="2400" b="1" i="1">
                                      <a:latin typeface="Cambria Math" panose="02040503050406030204" pitchFamily="18" charset="0"/>
                                    </a:rPr>
                                    <m:t>𝟐</m:t>
                                  </m:r>
                                </m:sup>
                              </m:sSup>
                            </m:e>
                          </m:d>
                        </m:e>
                        <m:sub>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𝒊</m:t>
                              </m:r>
                            </m:sub>
                          </m:sSub>
                        </m:sub>
                        <m:sup>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𝒇</m:t>
                              </m:r>
                            </m:sub>
                          </m:sSub>
                        </m:sup>
                      </m:sSubSup>
                      <m:r>
                        <a:rPr lang="en-US" sz="2400" b="1" i="1">
                          <a:latin typeface="Cambria Math" panose="02040503050406030204" pitchFamily="18" charset="0"/>
                        </a:rPr>
                        <m:t>=</m:t>
                      </m:r>
                      <m:f>
                        <m:fPr>
                          <m:ctrlPr>
                            <a:rPr lang="en-US" sz="2400" b="1" i="1">
                              <a:latin typeface="Cambria Math" panose="02040503050406030204" pitchFamily="18" charset="0"/>
                            </a:rPr>
                          </m:ctrlPr>
                        </m:fPr>
                        <m:num>
                          <m:r>
                            <a:rPr lang="en-US" sz="2400" b="1" i="1">
                              <a:latin typeface="Cambria Math" panose="02040503050406030204" pitchFamily="18" charset="0"/>
                            </a:rPr>
                            <m:t>𝒎</m:t>
                          </m:r>
                          <m:sSubSup>
                            <m:sSubSupPr>
                              <m:ctrlPr>
                                <a:rPr lang="en-US" sz="2400" b="1" i="1">
                                  <a:latin typeface="Cambria Math" panose="02040503050406030204" pitchFamily="18" charset="0"/>
                                </a:rPr>
                              </m:ctrlPr>
                            </m:sSubSupPr>
                            <m:e>
                              <m:r>
                                <a:rPr lang="en-US" sz="2400" b="1" i="1">
                                  <a:latin typeface="Cambria Math" panose="02040503050406030204" pitchFamily="18" charset="0"/>
                                </a:rPr>
                                <m:t>𝒗</m:t>
                              </m:r>
                            </m:e>
                            <m:sub>
                              <m:r>
                                <a:rPr lang="en-US" sz="2400" b="1" i="1">
                                  <a:latin typeface="Cambria Math" panose="02040503050406030204" pitchFamily="18" charset="0"/>
                                </a:rPr>
                                <m:t>𝒇</m:t>
                              </m:r>
                            </m:sub>
                            <m:sup>
                              <m:r>
                                <a:rPr lang="en-US" sz="2400" b="1" i="1">
                                  <a:latin typeface="Cambria Math" panose="02040503050406030204" pitchFamily="18" charset="0"/>
                                </a:rPr>
                                <m:t>𝟐</m:t>
                              </m:r>
                            </m:sup>
                          </m:sSubSup>
                        </m:num>
                        <m:den>
                          <m:r>
                            <a:rPr lang="en-US" sz="2400" b="1" i="1">
                              <a:latin typeface="Cambria Math" panose="02040503050406030204" pitchFamily="18" charset="0"/>
                            </a:rPr>
                            <m:t>𝟐</m:t>
                          </m:r>
                        </m:den>
                      </m:f>
                      <m:r>
                        <a:rPr lang="en-US" sz="2400" b="1" i="1">
                          <a:latin typeface="Cambria Math" panose="02040503050406030204" pitchFamily="18" charset="0"/>
                        </a:rPr>
                        <m:t>−</m:t>
                      </m:r>
                      <m:f>
                        <m:fPr>
                          <m:ctrlPr>
                            <a:rPr lang="en-US" sz="2400" b="1" i="1">
                              <a:latin typeface="Cambria Math" panose="02040503050406030204" pitchFamily="18" charset="0"/>
                            </a:rPr>
                          </m:ctrlPr>
                        </m:fPr>
                        <m:num>
                          <m:r>
                            <a:rPr lang="en-US" sz="2400" b="1" i="1">
                              <a:latin typeface="Cambria Math" panose="02040503050406030204" pitchFamily="18" charset="0"/>
                            </a:rPr>
                            <m:t>𝒎</m:t>
                          </m:r>
                          <m:sSubSup>
                            <m:sSubSupPr>
                              <m:ctrlPr>
                                <a:rPr lang="en-US" sz="2400" b="1" i="1">
                                  <a:latin typeface="Cambria Math" panose="02040503050406030204" pitchFamily="18" charset="0"/>
                                </a:rPr>
                              </m:ctrlPr>
                            </m:sSubSupPr>
                            <m:e>
                              <m:r>
                                <a:rPr lang="en-US" sz="2400" b="1" i="1">
                                  <a:latin typeface="Cambria Math" panose="02040503050406030204" pitchFamily="18" charset="0"/>
                                </a:rPr>
                                <m:t>𝒗</m:t>
                              </m:r>
                            </m:e>
                            <m:sub>
                              <m:r>
                                <a:rPr lang="en-US" sz="2400" b="1" i="1">
                                  <a:latin typeface="Cambria Math" panose="02040503050406030204" pitchFamily="18" charset="0"/>
                                </a:rPr>
                                <m:t>𝒊</m:t>
                              </m:r>
                            </m:sub>
                            <m:sup>
                              <m:r>
                                <a:rPr lang="en-US" sz="2400" b="1" i="1">
                                  <a:latin typeface="Cambria Math" panose="02040503050406030204" pitchFamily="18" charset="0"/>
                                </a:rPr>
                                <m:t>𝟐</m:t>
                              </m:r>
                            </m:sup>
                          </m:sSubSup>
                        </m:num>
                        <m:den>
                          <m:r>
                            <a:rPr lang="en-US" sz="2400" b="1" i="1">
                              <a:latin typeface="Cambria Math" panose="02040503050406030204" pitchFamily="18" charset="0"/>
                            </a:rPr>
                            <m:t>𝟐</m:t>
                          </m:r>
                        </m:den>
                      </m:f>
                      <m:r>
                        <a:rPr lang="en-US" sz="2400" b="1" i="1">
                          <a:latin typeface="Cambria Math" panose="02040503050406030204" pitchFamily="18" charset="0"/>
                        </a:rPr>
                        <m:t>=</m:t>
                      </m:r>
                      <m:sSub>
                        <m:sSubPr>
                          <m:ctrlPr>
                            <a:rPr lang="en-US" sz="2400" b="1" i="1">
                              <a:latin typeface="Cambria Math" panose="02040503050406030204" pitchFamily="18" charset="0"/>
                            </a:rPr>
                          </m:ctrlPr>
                        </m:sSubPr>
                        <m:e>
                          <m:r>
                            <a:rPr lang="en-US" sz="2400" b="1" i="1">
                              <a:latin typeface="Cambria Math" panose="02040503050406030204" pitchFamily="18" charset="0"/>
                            </a:rPr>
                            <m:t>𝑲</m:t>
                          </m:r>
                        </m:e>
                        <m:sub>
                          <m:r>
                            <a:rPr lang="en-US" sz="2400" b="1" i="1">
                              <a:latin typeface="Cambria Math" panose="02040503050406030204" pitchFamily="18" charset="0"/>
                            </a:rPr>
                            <m:t>𝒇</m:t>
                          </m:r>
                        </m:sub>
                      </m:sSub>
                      <m:r>
                        <a:rPr lang="en-US" sz="2400" b="1" i="1">
                          <a:latin typeface="Cambria Math" panose="02040503050406030204" pitchFamily="18" charset="0"/>
                        </a:rPr>
                        <m:t>−</m:t>
                      </m:r>
                      <m:sSub>
                        <m:sSubPr>
                          <m:ctrlPr>
                            <a:rPr lang="en-US" sz="2400" b="1" i="1">
                              <a:latin typeface="Cambria Math" panose="02040503050406030204" pitchFamily="18" charset="0"/>
                            </a:rPr>
                          </m:ctrlPr>
                        </m:sSubPr>
                        <m:e>
                          <m:r>
                            <a:rPr lang="en-US" sz="2400" b="1" i="1">
                              <a:latin typeface="Cambria Math" panose="02040503050406030204" pitchFamily="18" charset="0"/>
                            </a:rPr>
                            <m:t>𝑲</m:t>
                          </m:r>
                        </m:e>
                        <m:sub>
                          <m:r>
                            <a:rPr lang="en-US" sz="2400" b="1" i="1">
                              <a:latin typeface="Cambria Math" panose="02040503050406030204" pitchFamily="18" charset="0"/>
                            </a:rPr>
                            <m:t>𝒊</m:t>
                          </m:r>
                        </m:sub>
                      </m:sSub>
                      <m:r>
                        <a:rPr lang="en-US" sz="2400" b="1" i="1">
                          <a:latin typeface="Cambria Math" panose="02040503050406030204" pitchFamily="18" charset="0"/>
                        </a:rPr>
                        <m:t>=</m:t>
                      </m:r>
                      <m:r>
                        <a:rPr lang="en-US" sz="2400" b="1" i="1">
                          <a:latin typeface="Cambria Math" panose="02040503050406030204" pitchFamily="18" charset="0"/>
                        </a:rPr>
                        <m:t>𝜟</m:t>
                      </m:r>
                      <m:r>
                        <a:rPr lang="en-US" sz="2400" b="1" i="1">
                          <a:latin typeface="Cambria Math" panose="02040503050406030204" pitchFamily="18" charset="0"/>
                        </a:rPr>
                        <m:t>𝑲</m:t>
                      </m:r>
                      <m:r>
                        <a:rPr lang="en-US" sz="2400" b="1" i="1">
                          <a:latin typeface="Cambria Math" panose="02040503050406030204" pitchFamily="18" charset="0"/>
                        </a:rPr>
                        <m:t>.</m:t>
                      </m:r>
                    </m:oMath>
                  </m:oMathPara>
                </a14:m>
                <a:br>
                  <a:rPr lang="en-US" sz="2400" b="1" i="1" dirty="0">
                    <a:latin typeface="Cambria Math" panose="02040503050406030204" pitchFamily="18" charset="0"/>
                  </a:rPr>
                </a:br>
                <a:r>
                  <a:rPr lang="en-US" sz="2400" b="1" dirty="0">
                    <a:latin typeface="Cambria Math" panose="02040503050406030204" pitchFamily="18" charset="0"/>
                    <a:ea typeface="Cambria Math" panose="02040503050406030204" pitchFamily="18" charset="0"/>
                    <a:hlinkClick r:id="rId3"/>
                  </a:rPr>
                  <a:t>Video -Kinetic Energy and Constant Force</a:t>
                </a:r>
                <a:r>
                  <a:rPr lang="en-US" sz="2400" b="1" dirty="0">
                    <a:latin typeface="Cambria Math" panose="02040503050406030204" pitchFamily="18" charset="0"/>
                    <a:ea typeface="Cambria Math" panose="02040503050406030204" pitchFamily="18" charset="0"/>
                  </a:rPr>
                  <a:t> </a:t>
                </a:r>
              </a:p>
              <a:p>
                <a:r>
                  <a:rPr lang="en-US" sz="3600" b="1" dirty="0">
                    <a:latin typeface="Cambria Math" panose="02040503050406030204" pitchFamily="18" charset="0"/>
                    <a:ea typeface="Cambria Math" panose="02040503050406030204" pitchFamily="18" charset="0"/>
                  </a:rPr>
                  <a:t> </a:t>
                </a:r>
              </a:p>
              <a:p>
                <a:endParaRPr lang="en-US" sz="3600" b="1" dirty="0"/>
              </a:p>
            </p:txBody>
          </p:sp>
        </mc:Choice>
        <mc:Fallback xmlns="">
          <p:sp>
            <p:nvSpPr>
              <p:cNvPr id="8194" name="Object 2" descr=" Calculating the work:&#10;"/>
              <p:cNvSpPr txBox="1">
                <a:spLocks noRot="1" noChangeAspect="1" noMove="1" noResize="1" noEditPoints="1" noAdjustHandles="1" noChangeArrowheads="1" noChangeShapeType="1" noTextEdit="1"/>
              </p:cNvSpPr>
              <p:nvPr/>
            </p:nvSpPr>
            <p:spPr bwMode="auto">
              <a:xfrm>
                <a:off x="487812" y="808873"/>
                <a:ext cx="8419121" cy="5356379"/>
              </a:xfrm>
              <a:prstGeom prst="rect">
                <a:avLst/>
              </a:prstGeom>
              <a:blipFill>
                <a:blip r:embed="rId4"/>
                <a:stretch>
                  <a:fillRect l="-1086" t="-569"/>
                </a:stretch>
              </a:blipFill>
              <a:ln>
                <a:noFill/>
              </a:ln>
              <a:effectLst/>
            </p:spPr>
            <p:txBody>
              <a:bodyPr/>
              <a:lstStyle/>
              <a:p>
                <a:r>
                  <a:rPr lang="en-US">
                    <a:noFill/>
                  </a:rPr>
                  <a:t> </a:t>
                </a:r>
              </a:p>
            </p:txBody>
          </p:sp>
        </mc:Fallback>
      </mc:AlternateContent>
      <p:pic>
        <p:nvPicPr>
          <p:cNvPr id="2" name="Picture 1" descr="Raji K Physics Logo">
            <a:extLst>
              <a:ext uri="{FF2B5EF4-FFF2-40B4-BE49-F238E27FC236}">
                <a16:creationId xmlns:a16="http://schemas.microsoft.com/office/drawing/2014/main" id="{20931EFD-3252-7897-2324-B0376CD31335}"/>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3519901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0" y="30654"/>
            <a:ext cx="8636620" cy="664931"/>
          </a:xfrm>
        </p:spPr>
        <p:txBody>
          <a:bodyPr>
            <a:normAutofit/>
          </a:bodyPr>
          <a:lstStyle/>
          <a:p>
            <a:pPr algn="ctr" eaLnBrk="1" hangingPunct="1"/>
            <a:r>
              <a:rPr lang="en-US" altLang="en-US" sz="2800" dirty="0">
                <a:solidFill>
                  <a:schemeClr val="tx1"/>
                </a:solidFill>
              </a:rPr>
              <a:t>Work-Kinetic Energy Theorem</a:t>
            </a:r>
          </a:p>
        </p:txBody>
      </p:sp>
      <p:sp>
        <p:nvSpPr>
          <p:cNvPr id="35843" name="Rectangle 3"/>
          <p:cNvSpPr>
            <a:spLocks noGrp="1" noChangeArrowheads="1"/>
          </p:cNvSpPr>
          <p:nvPr>
            <p:ph type="body" idx="1"/>
          </p:nvPr>
        </p:nvSpPr>
        <p:spPr>
          <a:xfrm>
            <a:off x="278781" y="826732"/>
            <a:ext cx="8540099" cy="5607935"/>
          </a:xfrm>
        </p:spPr>
        <p:txBody>
          <a:bodyPr/>
          <a:lstStyle/>
          <a:p>
            <a:pPr marL="342900" indent="-342900" eaLnBrk="1" hangingPunct="1">
              <a:lnSpc>
                <a:spcPct val="90000"/>
              </a:lnSpc>
              <a:buClrTx/>
              <a:buFont typeface="Wingdings" panose="05000000000000000000" pitchFamily="2" charset="2"/>
              <a:buChar char="Ø"/>
              <a:defRPr/>
            </a:pPr>
            <a:r>
              <a:rPr lang="en-US" sz="2400" b="1" dirty="0"/>
              <a:t>The Work-Kinetic Energy Theorem states </a:t>
            </a:r>
          </a:p>
          <a:p>
            <a:pPr marL="960437" lvl="2" indent="0">
              <a:lnSpc>
                <a:spcPct val="90000"/>
              </a:lnSpc>
              <a:buClrTx/>
              <a:buNone/>
              <a:defRPr/>
            </a:pPr>
            <a:r>
              <a:rPr lang="en-US" sz="2400" b="1" dirty="0">
                <a:latin typeface="Cambria Math" panose="02040503050406030204" pitchFamily="18" charset="0"/>
                <a:ea typeface="Cambria Math" panose="02040503050406030204" pitchFamily="18" charset="0"/>
              </a:rPr>
              <a:t>W</a:t>
            </a:r>
            <a:r>
              <a:rPr lang="en-US" sz="2400" b="1" baseline="-25000" dirty="0">
                <a:latin typeface="Cambria Math" panose="02040503050406030204" pitchFamily="18" charset="0"/>
                <a:ea typeface="Cambria Math" panose="02040503050406030204" pitchFamily="18" charset="0"/>
              </a:rPr>
              <a:t>net</a:t>
            </a:r>
            <a:r>
              <a:rPr lang="en-US" sz="2400" b="1" dirty="0">
                <a:latin typeface="Cambria Math" panose="02040503050406030204" pitchFamily="18" charset="0"/>
                <a:ea typeface="Cambria Math" panose="02040503050406030204" pitchFamily="18" charset="0"/>
              </a:rPr>
              <a:t> = </a:t>
            </a:r>
            <a:r>
              <a:rPr lang="en-US" sz="2400" b="1" dirty="0" err="1">
                <a:latin typeface="Cambria Math" panose="02040503050406030204" pitchFamily="18" charset="0"/>
                <a:ea typeface="Cambria Math" panose="02040503050406030204" pitchFamily="18" charset="0"/>
              </a:rPr>
              <a:t>K</a:t>
            </a:r>
            <a:r>
              <a:rPr lang="en-US" sz="2400" b="1" baseline="-25000" dirty="0" err="1">
                <a:latin typeface="Cambria Math" panose="02040503050406030204" pitchFamily="18" charset="0"/>
                <a:ea typeface="Cambria Math" panose="02040503050406030204" pitchFamily="18" charset="0"/>
              </a:rPr>
              <a:t>f</a:t>
            </a:r>
            <a:r>
              <a:rPr lang="en-US" sz="2400" b="1" dirty="0">
                <a:latin typeface="Cambria Math" panose="02040503050406030204" pitchFamily="18" charset="0"/>
                <a:ea typeface="Cambria Math" panose="02040503050406030204" pitchFamily="18" charset="0"/>
              </a:rPr>
              <a:t> – K</a:t>
            </a:r>
            <a:r>
              <a:rPr lang="en-US" sz="2400" b="1" baseline="-25000" dirty="0">
                <a:latin typeface="Cambria Math" panose="02040503050406030204" pitchFamily="18" charset="0"/>
                <a:ea typeface="Cambria Math" panose="02040503050406030204" pitchFamily="18" charset="0"/>
              </a:rPr>
              <a:t>i</a:t>
            </a:r>
            <a:r>
              <a:rPr lang="en-US" sz="2400" b="1" dirty="0">
                <a:latin typeface="Cambria Math" panose="02040503050406030204" pitchFamily="18" charset="0"/>
                <a:ea typeface="Cambria Math" panose="02040503050406030204" pitchFamily="18" charset="0"/>
              </a:rPr>
              <a:t> = ∆K</a:t>
            </a:r>
          </a:p>
          <a:p>
            <a:pPr marL="342900" indent="-342900" eaLnBrk="1" hangingPunct="1">
              <a:lnSpc>
                <a:spcPct val="90000"/>
              </a:lnSpc>
              <a:buClrTx/>
              <a:buFont typeface="Wingdings" panose="05000000000000000000" pitchFamily="2" charset="2"/>
              <a:buChar char="Ø"/>
              <a:defRPr/>
            </a:pPr>
            <a:r>
              <a:rPr lang="en-US" sz="2400" b="1" dirty="0"/>
              <a:t>When work is done on a system and the only change in the system is in its speed, the work done by the net force equals the change in kinetic energy of the system.</a:t>
            </a:r>
          </a:p>
          <a:p>
            <a:pPr lvl="1" eaLnBrk="1" hangingPunct="1">
              <a:lnSpc>
                <a:spcPct val="90000"/>
              </a:lnSpc>
              <a:buClrTx/>
              <a:buFont typeface="Wingdings" panose="05000000000000000000" pitchFamily="2" charset="2"/>
              <a:buChar char="Ø"/>
              <a:defRPr/>
            </a:pPr>
            <a:r>
              <a:rPr lang="en-US" sz="2400" b="1" dirty="0">
                <a:solidFill>
                  <a:schemeClr val="tx1"/>
                </a:solidFill>
              </a:rPr>
              <a:t>The speed of the system increases if the work done on it is positive</a:t>
            </a:r>
          </a:p>
          <a:p>
            <a:pPr lvl="1" eaLnBrk="1" hangingPunct="1">
              <a:lnSpc>
                <a:spcPct val="90000"/>
              </a:lnSpc>
              <a:buClrTx/>
              <a:buFont typeface="Wingdings" panose="05000000000000000000" pitchFamily="2" charset="2"/>
              <a:buChar char="Ø"/>
              <a:defRPr/>
            </a:pPr>
            <a:r>
              <a:rPr lang="en-US" sz="2400" b="1" dirty="0">
                <a:solidFill>
                  <a:schemeClr val="tx1"/>
                </a:solidFill>
              </a:rPr>
              <a:t>The speed of the system decreases if the net work is negative</a:t>
            </a:r>
          </a:p>
          <a:p>
            <a:pPr marL="274637" lvl="1" indent="0">
              <a:lnSpc>
                <a:spcPct val="90000"/>
              </a:lnSpc>
              <a:buNone/>
              <a:defRPr/>
            </a:pPr>
            <a:r>
              <a:rPr lang="en-US" sz="2400" b="1" dirty="0">
                <a:solidFill>
                  <a:schemeClr val="tx1"/>
                </a:solidFill>
              </a:rPr>
              <a:t> </a:t>
            </a:r>
            <a:r>
              <a:rPr lang="en-US" sz="2400" b="1" dirty="0">
                <a:latin typeface="Cambria Math" panose="02040503050406030204" pitchFamily="18" charset="0"/>
                <a:ea typeface="Cambria Math" panose="02040503050406030204" pitchFamily="18" charset="0"/>
                <a:hlinkClick r:id="rId3"/>
              </a:rPr>
              <a:t>Video -Kinetic Energy and Constant Force</a:t>
            </a:r>
            <a:r>
              <a:rPr lang="en-US" sz="2400" b="1" dirty="0">
                <a:latin typeface="Cambria Math" panose="02040503050406030204" pitchFamily="18" charset="0"/>
                <a:ea typeface="Cambria Math" panose="02040503050406030204" pitchFamily="18" charset="0"/>
              </a:rPr>
              <a:t> </a:t>
            </a:r>
            <a:endParaRPr lang="en-US" sz="2400" b="1" dirty="0">
              <a:solidFill>
                <a:schemeClr val="tx1"/>
              </a:solidFill>
            </a:endParaRPr>
          </a:p>
          <a:p>
            <a:pPr marL="274637" lvl="1" indent="0" eaLnBrk="1" hangingPunct="1">
              <a:lnSpc>
                <a:spcPct val="90000"/>
              </a:lnSpc>
              <a:buNone/>
              <a:defRPr/>
            </a:pPr>
            <a:r>
              <a:rPr lang="en-US" sz="2400" b="1" dirty="0">
                <a:solidFill>
                  <a:schemeClr val="tx1"/>
                </a:solidFill>
                <a:hlinkClick r:id="rId4"/>
              </a:rPr>
              <a:t> Kinetic Energy of Car Example</a:t>
            </a:r>
            <a:endParaRPr lang="en-US" sz="2400" b="1" dirty="0">
              <a:solidFill>
                <a:schemeClr val="tx1"/>
              </a:solidFill>
            </a:endParaRPr>
          </a:p>
        </p:txBody>
      </p:sp>
      <p:pic>
        <p:nvPicPr>
          <p:cNvPr id="2" name="Picture 1" descr="Raji K Physics Logo">
            <a:extLst>
              <a:ext uri="{FF2B5EF4-FFF2-40B4-BE49-F238E27FC236}">
                <a16:creationId xmlns:a16="http://schemas.microsoft.com/office/drawing/2014/main" id="{5523021B-49C8-A375-6147-D0F0C6C1DFB7}"/>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994177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OpenStax logo">
            <a:extLst>
              <a:ext uri="{FF2B5EF4-FFF2-40B4-BE49-F238E27FC236}">
                <a16:creationId xmlns:a16="http://schemas.microsoft.com/office/drawing/2014/main" id="{9E300C50-230A-7C78-3507-329AD7013BB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
        <p:nvSpPr>
          <p:cNvPr id="7" name="Text Placeholder 6"/>
          <p:cNvSpPr>
            <a:spLocks noGrp="1"/>
          </p:cNvSpPr>
          <p:nvPr>
            <p:ph type="body" sz="quarter" idx="14"/>
          </p:nvPr>
        </p:nvSpPr>
        <p:spPr>
          <a:xfrm>
            <a:off x="323882" y="1848895"/>
            <a:ext cx="3207109" cy="3524963"/>
          </a:xfrm>
        </p:spPr>
        <p:txBody>
          <a:bodyPr>
            <a:noAutofit/>
          </a:bodyPr>
          <a:lstStyle/>
          <a:p>
            <a:r>
              <a:rPr lang="en-US" b="1" dirty="0">
                <a:solidFill>
                  <a:schemeClr val="tx1"/>
                </a:solidFill>
              </a:rPr>
              <a:t>Horse pulls are common events at state fairs. The work done by the horses pulling on the load results in a change in kinetic energy of the load, ultimately going faster.</a:t>
            </a:r>
          </a:p>
          <a:p>
            <a:r>
              <a:rPr lang="en-US" b="1" dirty="0">
                <a:solidFill>
                  <a:schemeClr val="tx1"/>
                </a:solidFill>
                <a:hlinkClick r:id="rId3"/>
              </a:rPr>
              <a:t> Video Coil Spring and Kinetic Energy</a:t>
            </a:r>
            <a:endParaRPr lang="en-US" b="1" dirty="0">
              <a:solidFill>
                <a:schemeClr val="tx1"/>
              </a:solidFill>
            </a:endParaRPr>
          </a:p>
        </p:txBody>
      </p:sp>
      <p:pic>
        <p:nvPicPr>
          <p:cNvPr id="2" name="Picture Placeholder 1" descr=" Horse pulls are common events at state fairs. The work done by the horses pulling on the load results in a change in kinetic energy of the load, ultimately going faster. "/>
          <p:cNvPicPr>
            <a:picLocks noGrp="1" noChangeAspect="1"/>
          </p:cNvPicPr>
          <p:nvPr>
            <p:ph type="pic" sz="quarter" idx="13"/>
          </p:nvPr>
        </p:nvPicPr>
        <p:blipFill>
          <a:blip r:embed="rId4" cstate="email">
            <a:extLst>
              <a:ext uri="{28A0092B-C50C-407E-A947-70E740481C1C}">
                <a14:useLocalDpi xmlns:a14="http://schemas.microsoft.com/office/drawing/2010/main" val="0"/>
              </a:ext>
            </a:extLst>
          </a:blip>
          <a:srcRect l="-27563" r="-27563"/>
          <a:stretch>
            <a:fillRect/>
          </a:stretch>
        </p:blipFill>
        <p:spPr>
          <a:xfrm>
            <a:off x="3954354" y="2044676"/>
            <a:ext cx="5887300" cy="2768648"/>
          </a:xfrm>
        </p:spPr>
      </p:pic>
      <p:sp>
        <p:nvSpPr>
          <p:cNvPr id="5" name="Title 4"/>
          <p:cNvSpPr>
            <a:spLocks noGrp="1"/>
          </p:cNvSpPr>
          <p:nvPr>
            <p:ph type="title"/>
          </p:nvPr>
        </p:nvSpPr>
        <p:spPr>
          <a:xfrm>
            <a:off x="100361" y="154618"/>
            <a:ext cx="8943278" cy="978920"/>
          </a:xfrm>
        </p:spPr>
        <p:txBody>
          <a:bodyPr>
            <a:normAutofit fontScale="90000"/>
          </a:bodyPr>
          <a:lstStyle/>
          <a:p>
            <a:pPr algn="ctr"/>
            <a:r>
              <a:rPr lang="en-US" sz="3100" dirty="0">
                <a:solidFill>
                  <a:schemeClr val="tx1"/>
                </a:solidFill>
              </a:rPr>
              <a:t>WORK ENERY THEROM-</a:t>
            </a:r>
            <a:r>
              <a:rPr lang="en-US" sz="3100" b="1" dirty="0">
                <a:solidFill>
                  <a:schemeClr val="tx1"/>
                </a:solidFill>
              </a:rPr>
              <a:t> horses pulling on the load </a:t>
            </a:r>
            <a:endParaRPr lang="en-US" sz="3100" dirty="0">
              <a:solidFill>
                <a:schemeClr val="tx1"/>
              </a:solidFill>
            </a:endParaRPr>
          </a:p>
        </p:txBody>
      </p:sp>
    </p:spTree>
    <p:extLst>
      <p:ext uri="{BB962C8B-B14F-4D97-AF65-F5344CB8AC3E}">
        <p14:creationId xmlns:p14="http://schemas.microsoft.com/office/powerpoint/2010/main" val="505664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OpenStax logo">
            <a:extLst>
              <a:ext uri="{FF2B5EF4-FFF2-40B4-BE49-F238E27FC236}">
                <a16:creationId xmlns:a16="http://schemas.microsoft.com/office/drawing/2014/main" id="{A0C912F1-438F-BE37-4345-08A03815E6CE}"/>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
        <p:nvSpPr>
          <p:cNvPr id="9219" name="Text Placeholder 6"/>
          <p:cNvSpPr>
            <a:spLocks noGrp="1"/>
          </p:cNvSpPr>
          <p:nvPr>
            <p:ph type="body" sz="quarter" idx="4294967295"/>
          </p:nvPr>
        </p:nvSpPr>
        <p:spPr>
          <a:xfrm>
            <a:off x="246184" y="3119229"/>
            <a:ext cx="8496372" cy="2969337"/>
          </a:xfrm>
        </p:spPr>
        <p:txBody>
          <a:bodyPr/>
          <a:lstStyle/>
          <a:p>
            <a:r>
              <a:rPr lang="en-US" b="1" dirty="0"/>
              <a:t>Suppose that you push on a 30.0-kg package moving at a speed of 0.5m/s  with a constant force of 120 N through a distance of 0.800 m, and that the opposing friction force averages 5.00 N.</a:t>
            </a:r>
          </a:p>
          <a:p>
            <a:r>
              <a:rPr lang="en-US" b="1" dirty="0"/>
              <a:t>Calculate the </a:t>
            </a:r>
            <a:r>
              <a:rPr lang="en-US" b="1" i="1" dirty="0"/>
              <a:t>net work </a:t>
            </a:r>
            <a:r>
              <a:rPr lang="en-US" b="1" dirty="0"/>
              <a:t>done on the package. (b) Find the work done by </a:t>
            </a:r>
            <a:r>
              <a:rPr lang="en-US" b="1" i="1" dirty="0"/>
              <a:t>each force</a:t>
            </a:r>
            <a:r>
              <a:rPr lang="en-US" b="1" dirty="0"/>
              <a:t>. (c) Find the </a:t>
            </a:r>
            <a:r>
              <a:rPr lang="en-US" b="1" i="1" dirty="0"/>
              <a:t>speed</a:t>
            </a:r>
            <a:r>
              <a:rPr lang="en-US" b="1" dirty="0"/>
              <a:t> of the package at the end of the push. (d) </a:t>
            </a:r>
            <a:r>
              <a:rPr lang="en-US" b="1" i="1" dirty="0"/>
              <a:t>How far </a:t>
            </a:r>
            <a:r>
              <a:rPr lang="en-US" b="1" dirty="0"/>
              <a:t>does the package coast after the push, assuming friction remains constant?</a:t>
            </a:r>
          </a:p>
          <a:p>
            <a:r>
              <a:rPr lang="en-US" b="1" dirty="0">
                <a:hlinkClick r:id="rId4"/>
              </a:rPr>
              <a:t> Click here to view the solution</a:t>
            </a:r>
            <a:endParaRPr lang="en-US" b="1" dirty="0"/>
          </a:p>
        </p:txBody>
      </p:sp>
      <p:pic>
        <p:nvPicPr>
          <p:cNvPr id="3" name="Picture Placeholder 2" descr=" Suppose that you push on a 30.0-kg package moving at a speed of 0.5m/s  with a constant force of 120 N through a distance of 0.800 m, and that the opposing friction force averages 5.00 N.&#10;"/>
          <p:cNvPicPr>
            <a:picLocks noGrp="1" noChangeAspect="1"/>
          </p:cNvPicPr>
          <p:nvPr>
            <p:ph idx="1"/>
          </p:nvPr>
        </p:nvPicPr>
        <p:blipFill>
          <a:blip r:embed="rId5" cstate="email">
            <a:extLst>
              <a:ext uri="{28A0092B-C50C-407E-A947-70E740481C1C}">
                <a14:useLocalDpi xmlns:a14="http://schemas.microsoft.com/office/drawing/2010/main" val="0"/>
              </a:ext>
            </a:extLst>
          </a:blip>
          <a:stretch>
            <a:fillRect/>
          </a:stretch>
        </p:blipFill>
        <p:spPr>
          <a:xfrm>
            <a:off x="558418" y="990555"/>
            <a:ext cx="7620000" cy="1935385"/>
          </a:xfrm>
        </p:spPr>
      </p:pic>
      <p:sp>
        <p:nvSpPr>
          <p:cNvPr id="6" name="Text Box 5"/>
          <p:cNvSpPr txBox="1">
            <a:spLocks noGrp="1" noChangeArrowheads="1"/>
          </p:cNvSpPr>
          <p:nvPr>
            <p:ph type="title"/>
          </p:nvPr>
        </p:nvSpPr>
        <p:spPr bwMode="auto">
          <a:xfrm>
            <a:off x="278780" y="147488"/>
            <a:ext cx="8463776" cy="584775"/>
          </a:xfrm>
          <a:prstGeom prst="rect">
            <a:avLst/>
          </a:prstGeom>
          <a:noFill/>
          <a:ln w="9525">
            <a:noFill/>
            <a:miter lim="800000"/>
            <a:headEnd/>
            <a:tailEnd/>
          </a:ln>
          <a:effectLst/>
        </p:spPr>
        <p:txBody>
          <a:bodyPr wrap="square">
            <a:spAutoFit/>
          </a:bodyPr>
          <a:lstStyle/>
          <a:p>
            <a:pPr fontAlgn="base">
              <a:spcBef>
                <a:spcPts val="300"/>
              </a:spcBef>
              <a:spcAft>
                <a:spcPct val="0"/>
              </a:spcAft>
            </a:pPr>
            <a:r>
              <a:rPr lang="en-US" sz="3200" b="1" dirty="0">
                <a:solidFill>
                  <a:schemeClr val="tx1"/>
                </a:solidFill>
              </a:rPr>
              <a:t> </a:t>
            </a:r>
            <a:r>
              <a:rPr lang="en-US" sz="2800" b="1" dirty="0">
                <a:solidFill>
                  <a:schemeClr val="tx1"/>
                </a:solidFill>
              </a:rPr>
              <a:t>Work-Energy Theorem- PROBLEM</a:t>
            </a:r>
          </a:p>
        </p:txBody>
      </p:sp>
    </p:spTree>
    <p:extLst>
      <p:ext uri="{BB962C8B-B14F-4D97-AF65-F5344CB8AC3E}">
        <p14:creationId xmlns:p14="http://schemas.microsoft.com/office/powerpoint/2010/main" val="3095025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9215" y="99086"/>
            <a:ext cx="8818879" cy="659535"/>
          </a:xfrm>
        </p:spPr>
        <p:txBody>
          <a:bodyPr>
            <a:noAutofit/>
          </a:bodyPr>
          <a:lstStyle/>
          <a:p>
            <a:r>
              <a:rPr lang="en-US" sz="2800" b="1" dirty="0">
                <a:solidFill>
                  <a:schemeClr val="tx1"/>
                </a:solidFill>
              </a:rPr>
              <a:t>Determining a Stopping Force Problem</a:t>
            </a:r>
          </a:p>
        </p:txBody>
      </p:sp>
      <p:pic>
        <p:nvPicPr>
          <p:cNvPr id="2" name="Picture Placeholder 1" descr="In figure a, a bullet is moving horizontally at a speed of 335 meters per second toward a set of 8 boards, arranged in a horizontal stack. In figure b, the bullet has passed through the stack of boards and has stopped at the far end of the last board. The stopping distance is indicated as the width of the stack of boards."/>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35106" b="-35106"/>
          <a:stretch>
            <a:fillRect/>
          </a:stretch>
        </p:blipFill>
        <p:spPr>
          <a:xfrm>
            <a:off x="1327573" y="777770"/>
            <a:ext cx="6251045" cy="2229590"/>
          </a:xfrm>
        </p:spPr>
      </p:pic>
      <p:sp>
        <p:nvSpPr>
          <p:cNvPr id="7" name="Text Placeholder 6"/>
          <p:cNvSpPr>
            <a:spLocks noGrp="1"/>
          </p:cNvSpPr>
          <p:nvPr>
            <p:ph type="body" sz="quarter" idx="14"/>
          </p:nvPr>
        </p:nvSpPr>
        <p:spPr>
          <a:xfrm>
            <a:off x="226906" y="2999774"/>
            <a:ext cx="8671187" cy="3576260"/>
          </a:xfrm>
        </p:spPr>
        <p:txBody>
          <a:bodyPr>
            <a:noAutofit/>
          </a:bodyPr>
          <a:lstStyle/>
          <a:p>
            <a:r>
              <a:rPr lang="en-US" sz="2400" b="1" dirty="0"/>
              <a:t> A bullet has a mass of  2.60 g and a muzzle velocity of  335 m/s. It can penetrate eight 1-inch pine boards, each with thickness 0.75 inches. What is the average stopping force exerted by the wood, as shown in figure</a:t>
            </a:r>
          </a:p>
          <a:p>
            <a:r>
              <a:rPr lang="en-US" sz="2400" b="1" dirty="0">
                <a:hlinkClick r:id="rId3"/>
              </a:rPr>
              <a:t>Click here for solution</a:t>
            </a:r>
            <a:endParaRPr lang="en-US" sz="2400" b="1" dirty="0"/>
          </a:p>
          <a:p>
            <a:endParaRPr lang="en-US" sz="2400" b="1" dirty="0"/>
          </a:p>
          <a:p>
            <a:r>
              <a:rPr lang="en-US" sz="2400" b="1" dirty="0">
                <a:ea typeface="Cambria Math" panose="02040503050406030204" pitchFamily="18" charset="0"/>
                <a:hlinkClick r:id="rId4"/>
              </a:rPr>
              <a:t>Video Work Example # 2</a:t>
            </a:r>
            <a:endParaRPr lang="en-US" sz="2400" b="1" dirty="0">
              <a:ea typeface="Cambria Math" panose="02040503050406030204" pitchFamily="18" charset="0"/>
            </a:endParaRPr>
          </a:p>
          <a:p>
            <a:r>
              <a:rPr lang="en-US" sz="2400" b="1" dirty="0">
                <a:ea typeface="Cambria Math" panose="02040503050406030204" pitchFamily="18" charset="0"/>
              </a:rPr>
              <a:t> </a:t>
            </a:r>
            <a:r>
              <a:rPr lang="en-US" sz="2400" b="1" dirty="0">
                <a:ea typeface="Cambria Math" panose="02040503050406030204" pitchFamily="18" charset="0"/>
                <a:hlinkClick r:id="rId5"/>
              </a:rPr>
              <a:t>Video Kinetic Energy Example # 3</a:t>
            </a:r>
            <a:endParaRPr lang="en-US" sz="2400" b="1" dirty="0">
              <a:ea typeface="Cambria Math" panose="02040503050406030204" pitchFamily="18" charset="0"/>
            </a:endParaRPr>
          </a:p>
          <a:p>
            <a:endParaRPr lang="en-US" sz="2400" b="1" dirty="0"/>
          </a:p>
        </p:txBody>
      </p:sp>
      <p:pic>
        <p:nvPicPr>
          <p:cNvPr id="6" name="Picture 5" descr="OpenStax logo">
            <a:extLst>
              <a:ext uri="{FF2B5EF4-FFF2-40B4-BE49-F238E27FC236}">
                <a16:creationId xmlns:a16="http://schemas.microsoft.com/office/drawing/2014/main" id="{76EF4189-AD9B-D1E0-CFBC-61A2E16F8EA7}"/>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63294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0039" y="63238"/>
            <a:ext cx="8166100" cy="535304"/>
          </a:xfrm>
        </p:spPr>
        <p:txBody>
          <a:bodyPr>
            <a:noAutofit/>
          </a:bodyPr>
          <a:lstStyle/>
          <a:p>
            <a:pPr algn="ctr"/>
            <a:r>
              <a:rPr lang="en-US" altLang="en-US" sz="2800" b="1" dirty="0">
                <a:solidFill>
                  <a:schemeClr val="tx1"/>
                </a:solidFill>
              </a:rPr>
              <a:t>Power</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79875" name="Text Box 3"/>
              <p:cNvSpPr txBox="1">
                <a:spLocks noChangeArrowheads="1"/>
              </p:cNvSpPr>
              <p:nvPr/>
            </p:nvSpPr>
            <p:spPr bwMode="auto">
              <a:xfrm>
                <a:off x="120020" y="598542"/>
                <a:ext cx="8783942" cy="553625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spcBef>
                    <a:spcPct val="50000"/>
                  </a:spcBef>
                  <a:buFont typeface="Wingdings" panose="05000000000000000000" pitchFamily="2" charset="2"/>
                  <a:buChar char="Ø"/>
                </a:pPr>
                <a:r>
                  <a:rPr lang="en-US" altLang="en-US" sz="2000" b="1" dirty="0"/>
                  <a:t>Power is the rate at which work is done. </a:t>
                </a:r>
              </a:p>
              <a:p>
                <a:pPr marL="342900" indent="-342900">
                  <a:spcBef>
                    <a:spcPct val="50000"/>
                  </a:spcBef>
                  <a:buFont typeface="Wingdings" panose="05000000000000000000" pitchFamily="2" charset="2"/>
                  <a:buChar char="Ø"/>
                </a:pPr>
                <a:r>
                  <a:rPr lang="en-US" altLang="en-US" sz="2000" b="1" dirty="0"/>
                  <a:t>Average power:</a:t>
                </a:r>
                <a:r>
                  <a:rPr lang="en-US" sz="2000" dirty="0">
                    <a:solidFill>
                      <a:srgbClr val="FF0000"/>
                    </a:solidFill>
                  </a:rPr>
                  <a:t> </a:t>
                </a:r>
                <a14:m>
                  <m:oMath xmlns:m="http://schemas.openxmlformats.org/officeDocument/2006/math">
                    <m:sSub>
                      <m:sSubPr>
                        <m:ctrlPr>
                          <a:rPr lang="en-US" sz="2800" b="1" i="1" smtClean="0">
                            <a:solidFill>
                              <a:schemeClr val="tx1"/>
                            </a:solidFill>
                            <a:latin typeface="Cambria Math" panose="02040503050406030204" pitchFamily="18" charset="0"/>
                          </a:rPr>
                        </m:ctrlPr>
                      </m:sSubPr>
                      <m:e>
                        <m:r>
                          <a:rPr lang="en-US" sz="2800" b="1" i="1">
                            <a:solidFill>
                              <a:schemeClr val="tx1"/>
                            </a:solidFill>
                            <a:latin typeface="Cambria Math" panose="02040503050406030204" pitchFamily="18" charset="0"/>
                          </a:rPr>
                          <m:t>𝑷</m:t>
                        </m:r>
                      </m:e>
                      <m:sub>
                        <m:r>
                          <a:rPr lang="en-US" sz="2800" b="1" i="1">
                            <a:solidFill>
                              <a:schemeClr val="tx1"/>
                            </a:solidFill>
                            <a:latin typeface="Cambria Math" panose="02040503050406030204" pitchFamily="18" charset="0"/>
                          </a:rPr>
                          <m:t>𝒂𝒗𝒈</m:t>
                        </m:r>
                      </m:sub>
                    </m:sSub>
                    <m:r>
                      <a:rPr lang="en-US" sz="2800" b="1" i="1">
                        <a:solidFill>
                          <a:schemeClr val="tx1"/>
                        </a:solidFill>
                        <a:latin typeface="Cambria Math" panose="02040503050406030204" pitchFamily="18" charset="0"/>
                      </a:rPr>
                      <m:t>=</m:t>
                    </m:r>
                    <m:f>
                      <m:fPr>
                        <m:ctrlPr>
                          <a:rPr lang="en-US" sz="2800" b="1" i="1">
                            <a:solidFill>
                              <a:schemeClr val="tx1"/>
                            </a:solidFill>
                            <a:latin typeface="Cambria Math" panose="02040503050406030204" pitchFamily="18" charset="0"/>
                          </a:rPr>
                        </m:ctrlPr>
                      </m:fPr>
                      <m:num>
                        <m:r>
                          <a:rPr lang="en-US" sz="2800" b="1" i="1">
                            <a:solidFill>
                              <a:schemeClr val="tx1"/>
                            </a:solidFill>
                            <a:latin typeface="Cambria Math" panose="02040503050406030204" pitchFamily="18" charset="0"/>
                          </a:rPr>
                          <m:t>𝑾</m:t>
                        </m:r>
                      </m:num>
                      <m:den>
                        <m:r>
                          <a:rPr lang="en-US" sz="2800" b="1" i="1">
                            <a:solidFill>
                              <a:schemeClr val="tx1"/>
                            </a:solidFill>
                            <a:latin typeface="Cambria Math" panose="02040503050406030204" pitchFamily="18" charset="0"/>
                          </a:rPr>
                          <m:t>𝜟</m:t>
                        </m:r>
                        <m:r>
                          <a:rPr lang="en-US" sz="2800" b="1" i="1">
                            <a:solidFill>
                              <a:schemeClr val="tx1"/>
                            </a:solidFill>
                            <a:latin typeface="Cambria Math" panose="02040503050406030204" pitchFamily="18" charset="0"/>
                          </a:rPr>
                          <m:t>𝒕</m:t>
                        </m:r>
                      </m:den>
                    </m:f>
                  </m:oMath>
                </a14:m>
                <a:r>
                  <a:rPr lang="en-US" altLang="en-US" sz="2800" b="1" dirty="0">
                    <a:solidFill>
                      <a:schemeClr val="tx1"/>
                    </a:solidFill>
                  </a:rPr>
                  <a:t> </a:t>
                </a:r>
                <a:endParaRPr lang="en-US" sz="2800" b="1" dirty="0">
                  <a:solidFill>
                    <a:schemeClr val="tx1"/>
                  </a:solidFill>
                  <a:latin typeface="Cambria Math" panose="02040503050406030204" pitchFamily="18" charset="0"/>
                </a:endParaRPr>
              </a:p>
              <a:p>
                <a:pPr marL="342900" indent="-342900">
                  <a:spcBef>
                    <a:spcPct val="50000"/>
                  </a:spcBef>
                  <a:buFont typeface="Wingdings" panose="05000000000000000000" pitchFamily="2" charset="2"/>
                  <a:buChar char="Ø"/>
                </a:pPr>
                <a14:m>
                  <m:oMath xmlns:m="http://schemas.openxmlformats.org/officeDocument/2006/math">
                    <m:r>
                      <m:rPr>
                        <m:nor/>
                      </m:rPr>
                      <a:rPr lang="en-US" sz="2400" b="1" smtClean="0">
                        <a:solidFill>
                          <a:schemeClr val="tx1"/>
                        </a:solidFill>
                        <a:latin typeface="Cambria Math" panose="02040503050406030204" pitchFamily="18" charset="0"/>
                      </a:rPr>
                      <m:t>The</m:t>
                    </m:r>
                    <m:r>
                      <m:rPr>
                        <m:nor/>
                      </m:rPr>
                      <a:rPr lang="en-US" sz="2400" b="1" smtClean="0">
                        <a:solidFill>
                          <a:schemeClr val="tx1"/>
                        </a:solidFill>
                        <a:latin typeface="Cambria Math" panose="02040503050406030204" pitchFamily="18" charset="0"/>
                      </a:rPr>
                      <m:t> </m:t>
                    </m:r>
                    <m:r>
                      <m:rPr>
                        <m:nor/>
                      </m:rPr>
                      <a:rPr lang="en-US" sz="2400" b="1" smtClean="0">
                        <a:solidFill>
                          <a:schemeClr val="tx1"/>
                        </a:solidFill>
                        <a:latin typeface="Cambria Math" panose="02040503050406030204" pitchFamily="18" charset="0"/>
                      </a:rPr>
                      <m:t>instantaneous</m:t>
                    </m:r>
                    <m:r>
                      <m:rPr>
                        <m:nor/>
                      </m:rPr>
                      <a:rPr lang="en-US" sz="2400" b="1" smtClean="0">
                        <a:solidFill>
                          <a:schemeClr val="tx1"/>
                        </a:solidFill>
                        <a:latin typeface="Cambria Math" panose="02040503050406030204" pitchFamily="18" charset="0"/>
                      </a:rPr>
                      <m:t> </m:t>
                    </m:r>
                    <m:r>
                      <m:rPr>
                        <m:nor/>
                      </m:rPr>
                      <a:rPr lang="en-US" sz="2400" b="1" smtClean="0">
                        <a:solidFill>
                          <a:schemeClr val="tx1"/>
                        </a:solidFill>
                        <a:latin typeface="Cambria Math" panose="02040503050406030204" pitchFamily="18" charset="0"/>
                      </a:rPr>
                      <m:t>power</m:t>
                    </m:r>
                    <m:r>
                      <m:rPr>
                        <m:nor/>
                      </m:rPr>
                      <a:rPr lang="en-US" sz="2400" b="1" smtClean="0">
                        <a:solidFill>
                          <a:schemeClr val="tx1"/>
                        </a:solidFill>
                        <a:latin typeface="Cambria Math" panose="02040503050406030204" pitchFamily="18" charset="0"/>
                      </a:rPr>
                      <m:t>  </m:t>
                    </m:r>
                    <m:r>
                      <m:rPr>
                        <m:nor/>
                      </m:rPr>
                      <a:rPr lang="en-US" sz="2400" b="1" smtClean="0">
                        <a:solidFill>
                          <a:schemeClr val="tx1"/>
                        </a:solidFill>
                        <a:latin typeface="Cambria Math" panose="02040503050406030204" pitchFamily="18" charset="0"/>
                      </a:rPr>
                      <m:t>is</m:t>
                    </m:r>
                    <m:r>
                      <m:rPr>
                        <m:nor/>
                      </m:rPr>
                      <a:rPr lang="en-US" sz="2400" b="1" smtClean="0">
                        <a:solidFill>
                          <a:schemeClr val="tx1"/>
                        </a:solidFill>
                        <a:latin typeface="Cambria Math" panose="02040503050406030204" pitchFamily="18" charset="0"/>
                      </a:rPr>
                      <m:t> </m:t>
                    </m:r>
                    <m:r>
                      <m:rPr>
                        <m:nor/>
                      </m:rPr>
                      <a:rPr lang="en-US" sz="2400" b="1" smtClean="0">
                        <a:solidFill>
                          <a:schemeClr val="tx1"/>
                        </a:solidFill>
                        <a:latin typeface="Cambria Math" panose="02040503050406030204" pitchFamily="18" charset="0"/>
                      </a:rPr>
                      <m:t>defined</m:t>
                    </m:r>
                    <m:r>
                      <m:rPr>
                        <m:nor/>
                      </m:rPr>
                      <a:rPr lang="en-US" sz="2400" b="1" smtClean="0">
                        <a:solidFill>
                          <a:schemeClr val="tx1"/>
                        </a:solidFill>
                        <a:latin typeface="Cambria Math" panose="02040503050406030204" pitchFamily="18" charset="0"/>
                      </a:rPr>
                      <m:t> </m:t>
                    </m:r>
                    <m:r>
                      <m:rPr>
                        <m:nor/>
                      </m:rPr>
                      <a:rPr lang="en-US" sz="2400" b="1" smtClean="0">
                        <a:solidFill>
                          <a:schemeClr val="tx1"/>
                        </a:solidFill>
                        <a:latin typeface="Cambria Math" panose="02040503050406030204" pitchFamily="18" charset="0"/>
                      </a:rPr>
                      <m:t>as</m:t>
                    </m:r>
                  </m:oMath>
                </a14:m>
                <a:r>
                  <a:rPr lang="en-US" b="1" dirty="0">
                    <a:solidFill>
                      <a:schemeClr val="tx1"/>
                    </a:solidFill>
                  </a:rPr>
                  <a:t> </a:t>
                </a:r>
                <a14:m>
                  <m:oMath xmlns:m="http://schemas.openxmlformats.org/officeDocument/2006/math">
                    <m:r>
                      <a:rPr lang="en-US" sz="2800" b="1" i="1">
                        <a:solidFill>
                          <a:schemeClr val="tx1"/>
                        </a:solidFill>
                        <a:latin typeface="Cambria Math" panose="02040503050406030204" pitchFamily="18" charset="0"/>
                      </a:rPr>
                      <m:t>𝑷</m:t>
                    </m:r>
                    <m:r>
                      <a:rPr lang="en-US" sz="2800" b="1" i="1">
                        <a:solidFill>
                          <a:schemeClr val="tx1"/>
                        </a:solidFill>
                        <a:latin typeface="Cambria Math" panose="02040503050406030204" pitchFamily="18" charset="0"/>
                      </a:rPr>
                      <m:t>=</m:t>
                    </m:r>
                    <m:f>
                      <m:fPr>
                        <m:ctrlPr>
                          <a:rPr lang="en-US" sz="2800" b="1" i="1">
                            <a:solidFill>
                              <a:schemeClr val="tx1"/>
                            </a:solidFill>
                            <a:latin typeface="Cambria Math" panose="02040503050406030204" pitchFamily="18" charset="0"/>
                          </a:rPr>
                        </m:ctrlPr>
                      </m:fPr>
                      <m:num>
                        <m:r>
                          <a:rPr lang="en-US" sz="2800" b="1" i="1">
                            <a:solidFill>
                              <a:schemeClr val="tx1"/>
                            </a:solidFill>
                            <a:latin typeface="Cambria Math" panose="02040503050406030204" pitchFamily="18" charset="0"/>
                          </a:rPr>
                          <m:t>𝒅𝑾</m:t>
                        </m:r>
                      </m:num>
                      <m:den>
                        <m:r>
                          <a:rPr lang="en-US" sz="2800" b="1" i="1">
                            <a:solidFill>
                              <a:schemeClr val="tx1"/>
                            </a:solidFill>
                            <a:latin typeface="Cambria Math" panose="02040503050406030204" pitchFamily="18" charset="0"/>
                          </a:rPr>
                          <m:t>𝒅𝒕</m:t>
                        </m:r>
                      </m:den>
                    </m:f>
                  </m:oMath>
                </a14:m>
                <a:endParaRPr lang="en-US" altLang="en-US" sz="2800" b="1" dirty="0">
                  <a:solidFill>
                    <a:schemeClr val="tx1"/>
                  </a:solidFill>
                </a:endParaRPr>
              </a:p>
              <a:p>
                <a:pPr marL="457200" indent="-457200" algn="just">
                  <a:spcBef>
                    <a:spcPct val="50000"/>
                  </a:spcBef>
                  <a:buFont typeface="Wingdings" panose="05000000000000000000" pitchFamily="2" charset="2"/>
                  <a:buChar char="Ø"/>
                </a:pPr>
                <a:r>
                  <a:rPr lang="en-US" altLang="en-US" sz="2000" b="1" dirty="0"/>
                  <a:t>The unit of power  watts </a:t>
                </a:r>
                <a:r>
                  <a:rPr lang="en-US" altLang="en-US" sz="2400" b="1" dirty="0"/>
                  <a:t>1W= </a:t>
                </a:r>
                <a14:m>
                  <m:oMath xmlns:m="http://schemas.openxmlformats.org/officeDocument/2006/math">
                    <m:f>
                      <m:fPr>
                        <m:ctrlPr>
                          <a:rPr lang="en-US" sz="2400" b="1" i="1">
                            <a:latin typeface="Cambria Math" panose="02040503050406030204" pitchFamily="18" charset="0"/>
                          </a:rPr>
                        </m:ctrlPr>
                      </m:fPr>
                      <m:num>
                        <m:r>
                          <a:rPr lang="en-US" sz="2400" b="1" i="1" smtClean="0">
                            <a:latin typeface="Cambria Math" panose="02040503050406030204" pitchFamily="18" charset="0"/>
                          </a:rPr>
                          <m:t>𝟏</m:t>
                        </m:r>
                        <m:r>
                          <a:rPr lang="en-US" sz="2400" b="1" i="1" smtClean="0">
                            <a:latin typeface="Cambria Math" panose="02040503050406030204" pitchFamily="18" charset="0"/>
                          </a:rPr>
                          <m:t>𝑱</m:t>
                        </m:r>
                      </m:num>
                      <m:den>
                        <m:r>
                          <a:rPr lang="en-US" sz="2400" b="1" i="1" smtClean="0">
                            <a:latin typeface="Cambria Math" panose="02040503050406030204" pitchFamily="18" charset="0"/>
                          </a:rPr>
                          <m:t>𝟏</m:t>
                        </m:r>
                        <m:r>
                          <a:rPr lang="en-US" sz="2400" b="1" i="1" smtClean="0">
                            <a:latin typeface="Cambria Math" panose="02040503050406030204" pitchFamily="18" charset="0"/>
                          </a:rPr>
                          <m:t>𝒔𝒆𝒄</m:t>
                        </m:r>
                      </m:den>
                    </m:f>
                    <m:r>
                      <a:rPr lang="en-US" sz="2400" b="0" i="1" smtClean="0">
                        <a:solidFill>
                          <a:srgbClr val="0000FF"/>
                        </a:solidFill>
                        <a:latin typeface="Cambria Math" panose="02040503050406030204" pitchFamily="18" charset="0"/>
                      </a:rPr>
                      <m:t> </m:t>
                    </m:r>
                  </m:oMath>
                </a14:m>
                <a:endParaRPr lang="en-US" sz="2400" b="0" dirty="0">
                  <a:solidFill>
                    <a:srgbClr val="0000FF"/>
                  </a:solidFill>
                </a:endParaRPr>
              </a:p>
              <a:p>
                <a:pPr marL="342900" indent="-342900" algn="just">
                  <a:spcBef>
                    <a:spcPct val="50000"/>
                  </a:spcBef>
                  <a:buFont typeface="Wingdings" panose="05000000000000000000" pitchFamily="2" charset="2"/>
                  <a:buChar char="Ø"/>
                </a:pP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A commonly used non−SI power unit is the horsepower (hp), defined as</a:t>
                </a:r>
                <a:r>
                  <a:rPr lang="en-US" sz="2400" b="1" dirty="0">
                    <a:effectLst/>
                    <a:latin typeface="Calibri" panose="020F0502020204030204" pitchFamily="34" charset="0"/>
                    <a:ea typeface="Times New Roman" panose="02020603050405020304" pitchFamily="18" charset="0"/>
                    <a:cs typeface="Times New Roman" panose="02020603050405020304" pitchFamily="18" charset="0"/>
                  </a:rPr>
                  <a:t>1 hp = 746 W</a:t>
                </a:r>
              </a:p>
              <a:p>
                <a:pPr marL="342900" indent="-342900" algn="just">
                  <a:spcBef>
                    <a:spcPct val="50000"/>
                  </a:spcBef>
                  <a:buFont typeface="Wingdings" panose="05000000000000000000" pitchFamily="2" charset="2"/>
                  <a:buChar char="Ø"/>
                </a:pP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The kilowatt−hour ( kWh) has unit of work. It is the work performed by an engine of power </a:t>
                </a:r>
                <a:r>
                  <a:rPr lang="en-US" sz="2000" b="1" dirty="0">
                    <a:effectLst/>
                    <a:latin typeface="Cambria Math" panose="02040503050406030204" pitchFamily="18" charset="0"/>
                    <a:ea typeface="Times New Roman" panose="02020603050405020304" pitchFamily="18" charset="0"/>
                    <a:cs typeface="Cambria Math" panose="02040503050406030204" pitchFamily="18" charset="0"/>
                  </a:rPr>
                  <a:t>𝑷</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 = 1000 W in a time </a:t>
                </a:r>
                <a:r>
                  <a:rPr lang="en-US" sz="2000" b="1" dirty="0">
                    <a:effectLst/>
                    <a:latin typeface="Cambria Math" panose="02040503050406030204" pitchFamily="18" charset="0"/>
                    <a:ea typeface="Times New Roman" panose="02020603050405020304" pitchFamily="18" charset="0"/>
                    <a:cs typeface="Cambria Math" panose="02040503050406030204" pitchFamily="18" charset="0"/>
                  </a:rPr>
                  <a:t>𝒕</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 1 hour,</a:t>
                </a:r>
              </a:p>
              <a:p>
                <a:pPr marL="342900" indent="-342900" algn="just">
                  <a:spcBef>
                    <a:spcPct val="50000"/>
                  </a:spcBef>
                  <a:buFont typeface="Wingdings" panose="05000000000000000000" pitchFamily="2" charset="2"/>
                  <a:buChar char="Ø"/>
                </a:pP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000" b="1" dirty="0">
                    <a:effectLst/>
                    <a:latin typeface="Cambria Math" panose="02040503050406030204" pitchFamily="18" charset="0"/>
                    <a:ea typeface="Times New Roman" panose="02020603050405020304" pitchFamily="18" charset="0"/>
                    <a:cs typeface="Cambria Math" panose="02040503050406030204" pitchFamily="18" charset="0"/>
                  </a:rPr>
                  <a:t>𝑾</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000" b="1" dirty="0">
                    <a:effectLst/>
                    <a:latin typeface="Cambria Math" panose="02040503050406030204" pitchFamily="18" charset="0"/>
                    <a:ea typeface="Times New Roman" panose="02020603050405020304" pitchFamily="18" charset="0"/>
                    <a:cs typeface="Cambria Math" panose="02040503050406030204" pitchFamily="18" charset="0"/>
                  </a:rPr>
                  <a:t>𝑷𝒕</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000" b="1" dirty="0">
                    <a:effectLst/>
                    <a:latin typeface="Cambria Math" panose="02040503050406030204" pitchFamily="18" charset="0"/>
                    <a:ea typeface="Times New Roman" panose="02020603050405020304" pitchFamily="18" charset="0"/>
                    <a:cs typeface="Cambria Math" panose="02040503050406030204" pitchFamily="18" charset="0"/>
                  </a:rPr>
                  <a:t>𝟏𝟎𝟎𝟎</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000" b="1" dirty="0">
                    <a:effectLst/>
                    <a:latin typeface="Cambria Math" panose="02040503050406030204" pitchFamily="18" charset="0"/>
                    <a:ea typeface="Times New Roman" panose="02020603050405020304" pitchFamily="18" charset="0"/>
                    <a:cs typeface="Cambria Math" panose="02040503050406030204" pitchFamily="18" charset="0"/>
                  </a:rPr>
                  <a:t>𝑾</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000" b="1" dirty="0">
                    <a:effectLst/>
                    <a:latin typeface="Cambria Math" panose="02040503050406030204" pitchFamily="18" charset="0"/>
                    <a:ea typeface="Times New Roman" panose="02020603050405020304" pitchFamily="18" charset="0"/>
                    <a:cs typeface="Cambria Math" panose="02040503050406030204" pitchFamily="18" charset="0"/>
                  </a:rPr>
                  <a:t>𝟑𝟔𝟎𝟎𝐬</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 = </a:t>
                </a:r>
                <a:r>
                  <a:rPr lang="en-US" sz="2000" b="1" dirty="0">
                    <a:effectLst/>
                    <a:latin typeface="Cambria Math" panose="02040503050406030204" pitchFamily="18" charset="0"/>
                    <a:ea typeface="Times New Roman" panose="02020603050405020304" pitchFamily="18" charset="0"/>
                    <a:cs typeface="Cambria Math" panose="02040503050406030204" pitchFamily="18" charset="0"/>
                  </a:rPr>
                  <a:t>𝟑</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000" b="1" dirty="0">
                    <a:effectLst/>
                    <a:latin typeface="Cambria Math" panose="02040503050406030204" pitchFamily="18" charset="0"/>
                    <a:ea typeface="Times New Roman" panose="02020603050405020304" pitchFamily="18" charset="0"/>
                    <a:cs typeface="Cambria Math" panose="02040503050406030204" pitchFamily="18" charset="0"/>
                  </a:rPr>
                  <a:t>𝟔𝟎</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000" b="1" dirty="0">
                    <a:effectLst/>
                    <a:latin typeface="Cambria Math" panose="02040503050406030204" pitchFamily="18" charset="0"/>
                    <a:ea typeface="Times New Roman" panose="02020603050405020304" pitchFamily="18" charset="0"/>
                    <a:cs typeface="Cambria Math" panose="02040503050406030204" pitchFamily="18" charset="0"/>
                  </a:rPr>
                  <a:t>𝟏𝟎</a:t>
                </a:r>
                <a:r>
                  <a:rPr lang="en-US" sz="2000" b="1" baseline="30000" dirty="0">
                    <a:effectLst/>
                    <a:latin typeface="Cambria Math" panose="02040503050406030204" pitchFamily="18" charset="0"/>
                    <a:ea typeface="Times New Roman" panose="02020603050405020304" pitchFamily="18" charset="0"/>
                    <a:cs typeface="Cambria Math" panose="02040503050406030204" pitchFamily="18" charset="0"/>
                  </a:rPr>
                  <a:t>𝟔</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 J. The kWh is used by electrical utility companies (check your latest electric bill).</a:t>
                </a:r>
              </a:p>
            </p:txBody>
          </p:sp>
        </mc:Choice>
        <mc:Fallback xmlns="">
          <p:sp>
            <p:nvSpPr>
              <p:cNvPr id="79875" name="Text Box 3"/>
              <p:cNvSpPr txBox="1">
                <a:spLocks noRot="1" noChangeAspect="1" noMove="1" noResize="1" noEditPoints="1" noAdjustHandles="1" noChangeArrowheads="1" noChangeShapeType="1" noTextEdit="1"/>
              </p:cNvSpPr>
              <p:nvPr/>
            </p:nvSpPr>
            <p:spPr bwMode="auto">
              <a:xfrm>
                <a:off x="120020" y="598542"/>
                <a:ext cx="8783942" cy="5536259"/>
              </a:xfrm>
              <a:prstGeom prst="rect">
                <a:avLst/>
              </a:prstGeom>
              <a:blipFill>
                <a:blip r:embed="rId3"/>
                <a:stretch>
                  <a:fillRect l="-625" t="-441" r="-1041" b="-99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2" name="Picture 1" descr="Raji K Physics Logo">
            <a:extLst>
              <a:ext uri="{FF2B5EF4-FFF2-40B4-BE49-F238E27FC236}">
                <a16:creationId xmlns:a16="http://schemas.microsoft.com/office/drawing/2014/main" id="{97EC4584-DCB8-A660-CCB8-733460A7C576}"/>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659395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199B2-3F6E-4F6E-A4DE-9775AAD884D4}"/>
              </a:ext>
            </a:extLst>
          </p:cNvPr>
          <p:cNvSpPr>
            <a:spLocks noGrp="1"/>
          </p:cNvSpPr>
          <p:nvPr>
            <p:ph type="title"/>
          </p:nvPr>
        </p:nvSpPr>
        <p:spPr>
          <a:xfrm>
            <a:off x="153578" y="218049"/>
            <a:ext cx="8938592" cy="555716"/>
          </a:xfrm>
        </p:spPr>
        <p:txBody>
          <a:bodyPr>
            <a:noAutofit/>
          </a:bodyPr>
          <a:lstStyle/>
          <a:p>
            <a:pPr algn="ctr"/>
            <a:r>
              <a:rPr lang="en-US" sz="2800" dirty="0">
                <a:solidFill>
                  <a:schemeClr val="tx1"/>
                </a:solidFill>
              </a:rPr>
              <a:t>POWER IN TERMS OF FORCE AND VELOCITY</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156B9B9E-5091-444F-B5D1-974FDF61FF3F}"/>
                  </a:ext>
                </a:extLst>
              </p:cNvPr>
              <p:cNvSpPr>
                <a:spLocks noGrp="1"/>
              </p:cNvSpPr>
              <p:nvPr>
                <p:ph type="body" sz="quarter" idx="14"/>
              </p:nvPr>
            </p:nvSpPr>
            <p:spPr>
              <a:xfrm>
                <a:off x="344659" y="887903"/>
                <a:ext cx="8699950" cy="5460795"/>
              </a:xfrm>
            </p:spPr>
            <p:txBody>
              <a:bodyPr/>
              <a:lstStyle/>
              <a:p>
                <a:pPr algn="just"/>
                <a14:m>
                  <m:oMathPara xmlns:m="http://schemas.openxmlformats.org/officeDocument/2006/math">
                    <m:oMathParaPr>
                      <m:jc m:val="left"/>
                    </m:oMathParaPr>
                    <m:oMath xmlns:m="http://schemas.openxmlformats.org/officeDocument/2006/math">
                      <m:r>
                        <a:rPr lang="en-US" sz="2800" b="1" i="1" smtClean="0">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Consider</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a</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force</m:t>
                      </m:r>
                      <m:r>
                        <m:rPr>
                          <m:nor/>
                        </m:rPr>
                        <a:rPr lang="en-US" sz="2800" b="1">
                          <a:solidFill>
                            <a:schemeClr val="tx1"/>
                          </a:solidFill>
                          <a:latin typeface="Cambria Math" panose="02040503050406030204" pitchFamily="18" charset="0"/>
                        </a:rPr>
                        <m:t> </m:t>
                      </m:r>
                      <m:r>
                        <a:rPr lang="en-US" sz="2800" b="1" i="1">
                          <a:solidFill>
                            <a:schemeClr val="tx1"/>
                          </a:solidFill>
                          <a:latin typeface="Cambria Math" panose="02040503050406030204" pitchFamily="18" charset="0"/>
                        </a:rPr>
                        <m:t>𝑭</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acting</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on</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a</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particle</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at</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an</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angle</m:t>
                      </m:r>
                      <m:r>
                        <m:rPr>
                          <m:nor/>
                        </m:rPr>
                        <a:rPr lang="en-US" sz="2800" b="1" i="0" smtClean="0">
                          <a:solidFill>
                            <a:schemeClr val="tx1"/>
                          </a:solidFill>
                          <a:latin typeface="Cambria Math" panose="02040503050406030204" pitchFamily="18" charset="0"/>
                        </a:rPr>
                        <m:t> </m:t>
                      </m:r>
                      <m:r>
                        <m:rPr>
                          <m:nor/>
                        </m:rPr>
                        <a:rPr lang="el-GR" altLang="en-US" sz="2800" b="1" dirty="0">
                          <a:solidFill>
                            <a:schemeClr val="tx1"/>
                          </a:solidFill>
                          <a:latin typeface="Cambria Math" panose="02040503050406030204" pitchFamily="18" charset="0"/>
                          <a:ea typeface="Cambria Math" panose="02040503050406030204" pitchFamily="18" charset="0"/>
                          <a:cs typeface="Arial" panose="020B0604020202020204" pitchFamily="34" charset="0"/>
                        </a:rPr>
                        <m:t>θ</m:t>
                      </m:r>
                      <m:r>
                        <m:rPr>
                          <m:nor/>
                        </m:rPr>
                        <a:rPr lang="en-US" altLang="en-US" sz="2800" b="1" i="0" dirty="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 </m:t>
                      </m:r>
                      <m:r>
                        <m:rPr>
                          <m:nor/>
                        </m:rPr>
                        <a:rPr lang="en-US" sz="2800" b="1">
                          <a:solidFill>
                            <a:schemeClr val="tx1"/>
                          </a:solidFill>
                          <a:latin typeface="Cambria Math" panose="02040503050406030204" pitchFamily="18" charset="0"/>
                        </a:rPr>
                        <m:t>to</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the</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motion</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The</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rate</m:t>
                      </m:r>
                    </m:oMath>
                    <m:oMath xmlns:m="http://schemas.openxmlformats.org/officeDocument/2006/math">
                      <m:r>
                        <m:rPr>
                          <m:nor/>
                        </m:rPr>
                        <a:rPr lang="en-US" sz="2800" b="1">
                          <a:solidFill>
                            <a:schemeClr val="tx1"/>
                          </a:solidFill>
                          <a:latin typeface="Cambria Math" panose="02040503050406030204" pitchFamily="18" charset="0"/>
                        </a:rPr>
                        <m:t>at</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which</m:t>
                      </m:r>
                      <m:r>
                        <m:rPr>
                          <m:nor/>
                        </m:rPr>
                        <a:rPr lang="en-US" sz="2800" b="1">
                          <a:solidFill>
                            <a:schemeClr val="tx1"/>
                          </a:solidFill>
                          <a:latin typeface="Cambria Math" panose="02040503050406030204" pitchFamily="18" charset="0"/>
                        </a:rPr>
                        <m:t> </m:t>
                      </m:r>
                      <m:r>
                        <a:rPr lang="en-US" sz="2800" b="1" i="1">
                          <a:solidFill>
                            <a:schemeClr val="tx1"/>
                          </a:solidFill>
                          <a:latin typeface="Cambria Math" panose="02040503050406030204" pitchFamily="18" charset="0"/>
                        </a:rPr>
                        <m:t>𝑭</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does</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work</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is</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given</m:t>
                      </m:r>
                      <m:r>
                        <m:rPr>
                          <m:nor/>
                        </m:rPr>
                        <a:rPr lang="en-US" sz="2800" b="1">
                          <a:solidFill>
                            <a:schemeClr val="tx1"/>
                          </a:solidFill>
                          <a:latin typeface="Cambria Math" panose="02040503050406030204" pitchFamily="18" charset="0"/>
                        </a:rPr>
                        <m:t> </m:t>
                      </m:r>
                      <m:r>
                        <m:rPr>
                          <m:nor/>
                        </m:rPr>
                        <a:rPr lang="en-US" sz="2800" b="1">
                          <a:solidFill>
                            <a:schemeClr val="tx1"/>
                          </a:solidFill>
                          <a:latin typeface="Cambria Math" panose="02040503050406030204" pitchFamily="18" charset="0"/>
                        </a:rPr>
                        <m:t>by</m:t>
                      </m:r>
                      <m:r>
                        <m:rPr>
                          <m:nor/>
                        </m:rPr>
                        <a:rPr lang="en-US" sz="2800" b="1">
                          <a:solidFill>
                            <a:schemeClr val="tx1"/>
                          </a:solidFill>
                          <a:latin typeface="Cambria Math" panose="02040503050406030204" pitchFamily="18" charset="0"/>
                        </a:rPr>
                        <m:t>  </m:t>
                      </m:r>
                      <m:r>
                        <a:rPr lang="en-US" sz="2800" b="1" i="1">
                          <a:solidFill>
                            <a:schemeClr val="tx1"/>
                          </a:solidFill>
                          <a:latin typeface="Cambria Math" panose="02040503050406030204" pitchFamily="18" charset="0"/>
                        </a:rPr>
                        <m:t>𝑷</m:t>
                      </m:r>
                      <m:r>
                        <a:rPr lang="en-US" sz="2800" b="1" i="1">
                          <a:solidFill>
                            <a:schemeClr val="tx1"/>
                          </a:solidFill>
                          <a:latin typeface="Cambria Math" panose="02040503050406030204" pitchFamily="18" charset="0"/>
                        </a:rPr>
                        <m:t>=</m:t>
                      </m:r>
                      <m:f>
                        <m:fPr>
                          <m:ctrlPr>
                            <a:rPr lang="en-US" sz="2800" b="1" i="1">
                              <a:solidFill>
                                <a:schemeClr val="tx1"/>
                              </a:solidFill>
                              <a:latin typeface="Cambria Math" panose="02040503050406030204" pitchFamily="18" charset="0"/>
                            </a:rPr>
                          </m:ctrlPr>
                        </m:fPr>
                        <m:num>
                          <m:r>
                            <a:rPr lang="en-US" sz="2800" b="1" i="1">
                              <a:solidFill>
                                <a:schemeClr val="tx1"/>
                              </a:solidFill>
                              <a:latin typeface="Cambria Math" panose="02040503050406030204" pitchFamily="18" charset="0"/>
                            </a:rPr>
                            <m:t>𝒅𝑾</m:t>
                          </m:r>
                        </m:num>
                        <m:den>
                          <m:r>
                            <a:rPr lang="en-US" sz="2800" b="1" i="1">
                              <a:solidFill>
                                <a:schemeClr val="tx1"/>
                              </a:solidFill>
                              <a:latin typeface="Cambria Math" panose="02040503050406030204" pitchFamily="18" charset="0"/>
                            </a:rPr>
                            <m:t>𝒅𝒕</m:t>
                          </m:r>
                        </m:den>
                      </m:f>
                      <m:r>
                        <a:rPr lang="en-US" sz="2800" b="1" i="1">
                          <a:solidFill>
                            <a:schemeClr val="tx1"/>
                          </a:solidFill>
                          <a:latin typeface="Cambria Math" panose="02040503050406030204" pitchFamily="18" charset="0"/>
                        </a:rPr>
                        <m:t>=</m:t>
                      </m:r>
                      <m:f>
                        <m:fPr>
                          <m:ctrlPr>
                            <a:rPr lang="en-US" sz="2800" b="1" i="1">
                              <a:solidFill>
                                <a:schemeClr val="tx1"/>
                              </a:solidFill>
                              <a:latin typeface="Cambria Math" panose="02040503050406030204" pitchFamily="18" charset="0"/>
                            </a:rPr>
                          </m:ctrlPr>
                        </m:fPr>
                        <m:num>
                          <m:r>
                            <a:rPr lang="en-US" sz="2800" b="1" i="1">
                              <a:solidFill>
                                <a:schemeClr val="tx1"/>
                              </a:solidFill>
                              <a:latin typeface="Cambria Math" panose="02040503050406030204" pitchFamily="18" charset="0"/>
                            </a:rPr>
                            <m:t>𝑭</m:t>
                          </m:r>
                          <m:func>
                            <m:funcPr>
                              <m:ctrlPr>
                                <a:rPr lang="en-US" sz="2800" b="1" i="1">
                                  <a:solidFill>
                                    <a:schemeClr val="tx1"/>
                                  </a:solidFill>
                                  <a:latin typeface="Cambria Math" panose="02040503050406030204" pitchFamily="18" charset="0"/>
                                </a:rPr>
                              </m:ctrlPr>
                            </m:funcPr>
                            <m:fName>
                              <m:r>
                                <a:rPr lang="en-US" sz="2800" b="1" i="1">
                                  <a:solidFill>
                                    <a:schemeClr val="tx1"/>
                                  </a:solidFill>
                                  <a:latin typeface="Cambria Math" panose="02040503050406030204" pitchFamily="18" charset="0"/>
                                </a:rPr>
                                <m:t>𝒄𝒐𝒔</m:t>
                              </m:r>
                            </m:fName>
                            <m:e>
                              <m:r>
                                <m:rPr>
                                  <m:nor/>
                                </m:rPr>
                                <a:rPr lang="el-GR" altLang="en-US" sz="2800" b="1" dirty="0">
                                  <a:solidFill>
                                    <a:schemeClr val="tx1"/>
                                  </a:solidFill>
                                  <a:latin typeface="Cambria Math" panose="02040503050406030204" pitchFamily="18" charset="0"/>
                                  <a:ea typeface="Cambria Math" panose="02040503050406030204" pitchFamily="18" charset="0"/>
                                  <a:cs typeface="Arial" panose="020B0604020202020204" pitchFamily="34" charset="0"/>
                                </a:rPr>
                                <m:t>θ</m:t>
                              </m:r>
                              <m:r>
                                <a:rPr lang="en-US" altLang="en-US" sz="2800" b="1" i="1" dirty="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 </m:t>
                              </m:r>
                            </m:e>
                          </m:func>
                          <m:r>
                            <a:rPr lang="en-US" sz="2800" b="1" i="1">
                              <a:solidFill>
                                <a:schemeClr val="tx1"/>
                              </a:solidFill>
                              <a:latin typeface="Cambria Math" panose="02040503050406030204" pitchFamily="18" charset="0"/>
                            </a:rPr>
                            <m:t>𝒅𝒙</m:t>
                          </m:r>
                        </m:num>
                        <m:den>
                          <m:r>
                            <a:rPr lang="en-US" sz="2800" b="1" i="1">
                              <a:solidFill>
                                <a:schemeClr val="tx1"/>
                              </a:solidFill>
                              <a:latin typeface="Cambria Math" panose="02040503050406030204" pitchFamily="18" charset="0"/>
                            </a:rPr>
                            <m:t>𝒅𝒕</m:t>
                          </m:r>
                        </m:den>
                      </m:f>
                      <m:r>
                        <a:rPr lang="en-US" sz="2800" b="1" i="1">
                          <a:solidFill>
                            <a:schemeClr val="tx1"/>
                          </a:solidFill>
                          <a:latin typeface="Cambria Math" panose="02040503050406030204" pitchFamily="18" charset="0"/>
                        </a:rPr>
                        <m:t>=</m:t>
                      </m:r>
                      <m:r>
                        <a:rPr lang="en-US" sz="2800" b="1" i="1">
                          <a:solidFill>
                            <a:schemeClr val="tx1"/>
                          </a:solidFill>
                          <a:latin typeface="Cambria Math" panose="02040503050406030204" pitchFamily="18" charset="0"/>
                        </a:rPr>
                        <m:t>𝑭</m:t>
                      </m:r>
                      <m:func>
                        <m:funcPr>
                          <m:ctrlPr>
                            <a:rPr lang="en-US" sz="2800" b="1" i="1">
                              <a:solidFill>
                                <a:schemeClr val="tx1"/>
                              </a:solidFill>
                              <a:latin typeface="Cambria Math" panose="02040503050406030204" pitchFamily="18" charset="0"/>
                            </a:rPr>
                          </m:ctrlPr>
                        </m:funcPr>
                        <m:fName>
                          <m:r>
                            <a:rPr lang="en-US" sz="2800" b="1" i="1">
                              <a:solidFill>
                                <a:schemeClr val="tx1"/>
                              </a:solidFill>
                              <a:latin typeface="Cambria Math" panose="02040503050406030204" pitchFamily="18" charset="0"/>
                            </a:rPr>
                            <m:t>𝒄𝒐𝒔</m:t>
                          </m:r>
                        </m:fName>
                        <m:e>
                          <m:r>
                            <m:rPr>
                              <m:nor/>
                            </m:rPr>
                            <a:rPr lang="el-GR" altLang="en-US" sz="2800" b="1" dirty="0">
                              <a:solidFill>
                                <a:schemeClr val="tx1"/>
                              </a:solidFill>
                              <a:latin typeface="Cambria Math" panose="02040503050406030204" pitchFamily="18" charset="0"/>
                              <a:ea typeface="Cambria Math" panose="02040503050406030204" pitchFamily="18" charset="0"/>
                              <a:cs typeface="Arial" panose="020B0604020202020204" pitchFamily="34" charset="0"/>
                            </a:rPr>
                            <m:t>θ</m:t>
                          </m:r>
                        </m:e>
                      </m:func>
                      <m:f>
                        <m:fPr>
                          <m:ctrlPr>
                            <a:rPr lang="en-US" sz="2800" b="1" i="1">
                              <a:solidFill>
                                <a:schemeClr val="tx1"/>
                              </a:solidFill>
                              <a:latin typeface="Cambria Math" panose="02040503050406030204" pitchFamily="18" charset="0"/>
                            </a:rPr>
                          </m:ctrlPr>
                        </m:fPr>
                        <m:num>
                          <m:r>
                            <a:rPr lang="en-US" sz="2800" b="1" i="1">
                              <a:solidFill>
                                <a:schemeClr val="tx1"/>
                              </a:solidFill>
                              <a:latin typeface="Cambria Math" panose="02040503050406030204" pitchFamily="18" charset="0"/>
                            </a:rPr>
                            <m:t>𝒅𝒙</m:t>
                          </m:r>
                        </m:num>
                        <m:den>
                          <m:r>
                            <a:rPr lang="en-US" sz="2800" b="1" i="1">
                              <a:solidFill>
                                <a:schemeClr val="tx1"/>
                              </a:solidFill>
                              <a:latin typeface="Cambria Math" panose="02040503050406030204" pitchFamily="18" charset="0"/>
                            </a:rPr>
                            <m:t>𝒅𝒕</m:t>
                          </m:r>
                        </m:den>
                      </m:f>
                      <m:r>
                        <a:rPr lang="en-US" sz="2800" b="1" i="1">
                          <a:solidFill>
                            <a:schemeClr val="tx1"/>
                          </a:solidFill>
                          <a:latin typeface="Cambria Math" panose="02040503050406030204" pitchFamily="18" charset="0"/>
                        </a:rPr>
                        <m:t>=</m:t>
                      </m:r>
                      <m:r>
                        <a:rPr lang="en-US" sz="2800" b="1" i="1">
                          <a:solidFill>
                            <a:schemeClr val="tx1"/>
                          </a:solidFill>
                          <a:latin typeface="Cambria Math" panose="02040503050406030204" pitchFamily="18" charset="0"/>
                        </a:rPr>
                        <m:t>𝑭𝒗</m:t>
                      </m:r>
                      <m:func>
                        <m:funcPr>
                          <m:ctrlPr>
                            <a:rPr lang="en-US" sz="2800" b="1" i="1">
                              <a:solidFill>
                                <a:schemeClr val="tx1"/>
                              </a:solidFill>
                              <a:latin typeface="Cambria Math" panose="02040503050406030204" pitchFamily="18" charset="0"/>
                            </a:rPr>
                          </m:ctrlPr>
                        </m:funcPr>
                        <m:fName>
                          <m:r>
                            <a:rPr lang="en-US" sz="2800" b="1" i="1">
                              <a:solidFill>
                                <a:schemeClr val="tx1"/>
                              </a:solidFill>
                              <a:latin typeface="Cambria Math" panose="02040503050406030204" pitchFamily="18" charset="0"/>
                            </a:rPr>
                            <m:t>𝒄𝒐𝒔</m:t>
                          </m:r>
                        </m:fName>
                        <m:e>
                          <m:r>
                            <m:rPr>
                              <m:nor/>
                            </m:rPr>
                            <a:rPr lang="el-GR" altLang="en-US" sz="2800" b="1" dirty="0">
                              <a:solidFill>
                                <a:schemeClr val="tx1"/>
                              </a:solidFill>
                              <a:latin typeface="Cambria Math" panose="02040503050406030204" pitchFamily="18" charset="0"/>
                              <a:ea typeface="Cambria Math" panose="02040503050406030204" pitchFamily="18" charset="0"/>
                              <a:cs typeface="Arial" panose="020B0604020202020204" pitchFamily="34" charset="0"/>
                            </a:rPr>
                            <m:t>θ</m:t>
                          </m:r>
                        </m:e>
                      </m:func>
                    </m:oMath>
                  </m:oMathPara>
                </a14:m>
                <a:endParaRPr lang="en-US" sz="2800" b="1" dirty="0">
                  <a:solidFill>
                    <a:schemeClr val="tx1"/>
                  </a:solidFill>
                </a:endParaRPr>
              </a:p>
              <a:p>
                <a:pPr algn="just"/>
                <a14:m>
                  <m:oMathPara xmlns:m="http://schemas.openxmlformats.org/officeDocument/2006/math">
                    <m:oMathParaPr>
                      <m:jc m:val="left"/>
                    </m:oMathParaPr>
                    <m:oMath xmlns:m="http://schemas.openxmlformats.org/officeDocument/2006/math">
                      <m:r>
                        <a:rPr lang="en-US" sz="3200" b="1" i="1">
                          <a:solidFill>
                            <a:schemeClr val="tx1"/>
                          </a:solidFill>
                          <a:latin typeface="Cambria Math" panose="02040503050406030204" pitchFamily="18" charset="0"/>
                        </a:rPr>
                        <m:t>𝑷</m:t>
                      </m:r>
                      <m:r>
                        <a:rPr lang="en-US" sz="3200" b="1" i="1">
                          <a:solidFill>
                            <a:schemeClr val="tx1"/>
                          </a:solidFill>
                          <a:latin typeface="Cambria Math" panose="02040503050406030204" pitchFamily="18" charset="0"/>
                        </a:rPr>
                        <m:t>= </m:t>
                      </m:r>
                      <m:acc>
                        <m:accPr>
                          <m:chr m:val="⃗"/>
                          <m:ctrlPr>
                            <a:rPr lang="en-US" sz="3200" b="1" i="1">
                              <a:solidFill>
                                <a:schemeClr val="tx1"/>
                              </a:solidFill>
                              <a:latin typeface="Cambria Math" panose="02040503050406030204" pitchFamily="18" charset="0"/>
                            </a:rPr>
                          </m:ctrlPr>
                        </m:accPr>
                        <m:e>
                          <m:r>
                            <a:rPr lang="en-US" sz="3200" b="1" i="1">
                              <a:solidFill>
                                <a:schemeClr val="tx1"/>
                              </a:solidFill>
                              <a:latin typeface="Cambria Math" panose="02040503050406030204" pitchFamily="18" charset="0"/>
                            </a:rPr>
                            <m:t>𝑭</m:t>
                          </m:r>
                        </m:e>
                      </m:acc>
                      <m:r>
                        <a:rPr lang="en-US" sz="3200" b="1" i="1">
                          <a:solidFill>
                            <a:schemeClr val="tx1"/>
                          </a:solidFill>
                          <a:latin typeface="Cambria Math" panose="02040503050406030204" pitchFamily="18" charset="0"/>
                        </a:rPr>
                        <m:t>⋅</m:t>
                      </m:r>
                      <m:acc>
                        <m:accPr>
                          <m:chr m:val="⃗"/>
                          <m:ctrlPr>
                            <a:rPr lang="en-US" sz="3200" b="1" i="1">
                              <a:solidFill>
                                <a:schemeClr val="tx1"/>
                              </a:solidFill>
                              <a:latin typeface="Cambria Math" panose="02040503050406030204" pitchFamily="18" charset="0"/>
                            </a:rPr>
                          </m:ctrlPr>
                        </m:accPr>
                        <m:e>
                          <m:r>
                            <a:rPr lang="en-US" sz="3200" b="1" i="1">
                              <a:solidFill>
                                <a:schemeClr val="tx1"/>
                              </a:solidFill>
                              <a:latin typeface="Cambria Math" panose="02040503050406030204" pitchFamily="18" charset="0"/>
                            </a:rPr>
                            <m:t>𝒗</m:t>
                          </m:r>
                        </m:e>
                      </m:acc>
                    </m:oMath>
                  </m:oMathPara>
                </a14:m>
                <a:endParaRPr lang="en-US" sz="3200" b="1" dirty="0">
                  <a:solidFill>
                    <a:schemeClr val="tx1"/>
                  </a:solidFill>
                </a:endParaRPr>
              </a:p>
              <a:p>
                <a:r>
                  <a:rPr lang="en-US" altLang="en-US" sz="2400" b="1" dirty="0"/>
                  <a:t>Power is also needed for acceleration and for moving against the force of friction. The power can be written in terms of the net force and the velocity:</a:t>
                </a:r>
              </a:p>
              <a:p>
                <a:r>
                  <a:rPr lang="en-US" altLang="en-US" sz="2800" b="1" dirty="0">
                    <a:hlinkClick r:id="rId2"/>
                  </a:rPr>
                  <a:t> </a:t>
                </a:r>
                <a:r>
                  <a:rPr lang="en-US" altLang="en-US" sz="2400" b="1" dirty="0">
                    <a:hlinkClick r:id="rId2"/>
                  </a:rPr>
                  <a:t>Power- Video</a:t>
                </a:r>
                <a:endParaRPr lang="en-US" altLang="en-US" sz="2400" b="1" dirty="0"/>
              </a:p>
              <a:p>
                <a:r>
                  <a:rPr lang="en-US" sz="2400" b="1" dirty="0">
                    <a:hlinkClick r:id="rId3"/>
                  </a:rPr>
                  <a:t> Video Power Example # 1</a:t>
                </a:r>
                <a:endParaRPr lang="en-US" sz="2400" b="1" dirty="0"/>
              </a:p>
              <a:p>
                <a:endParaRPr lang="en-US" dirty="0"/>
              </a:p>
              <a:p>
                <a:endParaRPr lang="en-US" dirty="0"/>
              </a:p>
              <a:p>
                <a:endParaRPr lang="en-US" dirty="0"/>
              </a:p>
              <a:p>
                <a:endParaRPr lang="en-US" dirty="0"/>
              </a:p>
            </p:txBody>
          </p:sp>
        </mc:Choice>
        <mc:Fallback xmlns="">
          <p:sp>
            <p:nvSpPr>
              <p:cNvPr id="4" name="Text Placeholder 3">
                <a:extLst>
                  <a:ext uri="{FF2B5EF4-FFF2-40B4-BE49-F238E27FC236}">
                    <a16:creationId xmlns:a16="http://schemas.microsoft.com/office/drawing/2014/main" id="{156B9B9E-5091-444F-B5D1-974FDF61FF3F}"/>
                  </a:ext>
                </a:extLst>
              </p:cNvPr>
              <p:cNvSpPr>
                <a:spLocks noGrp="1" noRot="1" noChangeAspect="1" noMove="1" noResize="1" noEditPoints="1" noAdjustHandles="1" noChangeArrowheads="1" noChangeShapeType="1" noTextEdit="1"/>
              </p:cNvSpPr>
              <p:nvPr>
                <p:ph type="body" sz="quarter" idx="14"/>
              </p:nvPr>
            </p:nvSpPr>
            <p:spPr>
              <a:xfrm>
                <a:off x="344659" y="887903"/>
                <a:ext cx="8699950" cy="5460795"/>
              </a:xfrm>
              <a:blipFill>
                <a:blip r:embed="rId4"/>
                <a:stretch>
                  <a:fillRect l="-1121" b="-4022"/>
                </a:stretch>
              </a:blipFill>
            </p:spPr>
            <p:txBody>
              <a:bodyPr/>
              <a:lstStyle/>
              <a:p>
                <a:r>
                  <a:rPr lang="en-US">
                    <a:noFill/>
                  </a:rPr>
                  <a:t> </a:t>
                </a:r>
              </a:p>
            </p:txBody>
          </p:sp>
        </mc:Fallback>
      </mc:AlternateContent>
      <p:pic>
        <p:nvPicPr>
          <p:cNvPr id="3" name="Picture 2" descr="Raji K Physics Logo">
            <a:extLst>
              <a:ext uri="{FF2B5EF4-FFF2-40B4-BE49-F238E27FC236}">
                <a16:creationId xmlns:a16="http://schemas.microsoft.com/office/drawing/2014/main" id="{B793173B-570E-A921-FC5C-005FB4EE10A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5921088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3F4E-5CFE-412C-B91F-F3563AFFE66E}"/>
              </a:ext>
            </a:extLst>
          </p:cNvPr>
          <p:cNvSpPr>
            <a:spLocks noGrp="1"/>
          </p:cNvSpPr>
          <p:nvPr>
            <p:ph type="title"/>
          </p:nvPr>
        </p:nvSpPr>
        <p:spPr/>
        <p:txBody>
          <a:bodyPr>
            <a:normAutofit/>
          </a:bodyPr>
          <a:lstStyle/>
          <a:p>
            <a:pPr algn="ctr"/>
            <a:r>
              <a:rPr lang="en-US" sz="2800" dirty="0">
                <a:solidFill>
                  <a:schemeClr val="tx1"/>
                </a:solidFill>
              </a:rPr>
              <a:t>Chapter 7 Review</a:t>
            </a:r>
          </a:p>
        </p:txBody>
      </p:sp>
      <p:sp>
        <p:nvSpPr>
          <p:cNvPr id="4" name="Text Placeholder 3">
            <a:extLst>
              <a:ext uri="{FF2B5EF4-FFF2-40B4-BE49-F238E27FC236}">
                <a16:creationId xmlns:a16="http://schemas.microsoft.com/office/drawing/2014/main" id="{8ACF2BEB-4CD7-4206-AF5F-C4652726325D}"/>
              </a:ext>
            </a:extLst>
          </p:cNvPr>
          <p:cNvSpPr>
            <a:spLocks noGrp="1"/>
          </p:cNvSpPr>
          <p:nvPr>
            <p:ph type="body" sz="quarter" idx="14"/>
          </p:nvPr>
        </p:nvSpPr>
        <p:spPr>
          <a:xfrm>
            <a:off x="457200" y="1277296"/>
            <a:ext cx="8062912" cy="3370904"/>
          </a:xfrm>
        </p:spPr>
        <p:txBody>
          <a:bodyPr>
            <a:normAutofit fontScale="92500" lnSpcReduction="10000"/>
          </a:bodyPr>
          <a:lstStyle/>
          <a:p>
            <a:r>
              <a:rPr lang="en-US" sz="3000" b="1" dirty="0"/>
              <a:t> </a:t>
            </a:r>
            <a:r>
              <a:rPr lang="en-US" sz="2800" dirty="0"/>
              <a:t> </a:t>
            </a:r>
          </a:p>
          <a:p>
            <a:r>
              <a:rPr lang="en-US" sz="2400" dirty="0"/>
              <a:t> </a:t>
            </a:r>
          </a:p>
          <a:p>
            <a:pPr marL="0" marR="0" lvl="0" indent="0" algn="l" defTabSz="914400" rtl="0" eaLnBrk="0" fontAlgn="base" latinLnBrk="0" hangingPunct="0">
              <a:lnSpc>
                <a:spcPct val="200000"/>
              </a:lnSpc>
              <a:spcBef>
                <a:spcPct val="0"/>
              </a:spcBef>
              <a:spcAft>
                <a:spcPct val="0"/>
              </a:spcAft>
              <a:buClr>
                <a:srgbClr val="3A4BEA"/>
              </a:buClr>
              <a:buSzTx/>
              <a:buFontTx/>
              <a:buChar char="•"/>
              <a:tabLst/>
            </a:pPr>
            <a:r>
              <a:rPr kumimoji="0" lang="en-US" altLang="en-US" sz="2800" b="1" i="0" u="none" strike="noStrike" cap="none" normalizeH="0" baseline="0" dirty="0">
                <a:ln>
                  <a:noFill/>
                </a:ln>
                <a:solidFill>
                  <a:srgbClr val="3333FF"/>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hlinkClick r:id="rId2"/>
              </a:rPr>
              <a:t>Key Terms</a:t>
            </a: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
                <a:srgbClr val="3A4BEA"/>
              </a:buClr>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hlinkClick r:id="rId3"/>
              </a:rPr>
              <a:t>Key Equations</a:t>
            </a: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
                <a:srgbClr val="3A4BEA"/>
              </a:buClr>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hlinkClick r:id="rId4"/>
              </a:rPr>
              <a:t>Summary</a:t>
            </a:r>
            <a:r>
              <a:rPr kumimoji="0" lang="en-US" altLang="en-US" sz="2800" b="1"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200000"/>
              </a:lnSpc>
              <a:spcBef>
                <a:spcPct val="0"/>
              </a:spcBef>
              <a:spcAft>
                <a:spcPct val="0"/>
              </a:spcAft>
              <a:buClr>
                <a:srgbClr val="0000FF"/>
              </a:buClr>
              <a:buSzTx/>
              <a:buFontTx/>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endParaRPr kumimoji="0" lang="en-US" altLang="en-US" sz="2800" b="1" i="0" u="none" strike="noStrike" cap="none" normalizeH="0" baseline="0" dirty="0">
              <a:ln>
                <a:noFill/>
              </a:ln>
              <a:solidFill>
                <a:srgbClr val="3333FF"/>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800" b="1" i="0" u="none" strike="noStrike" cap="none" normalizeH="0" baseline="0" dirty="0">
              <a:ln>
                <a:noFill/>
              </a:ln>
              <a:solidFill>
                <a:srgbClr val="3333FF"/>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
                <a:srgbClr val="0066FF"/>
              </a:buClr>
              <a:buSzTx/>
              <a:buFontTx/>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a:buClrTx/>
              <a:buFont typeface="+mj-lt"/>
              <a:buAutoNum type="arabicPeriod"/>
            </a:pPr>
            <a:endParaRPr lang="en-US" sz="2800" b="1" dirty="0">
              <a:solidFill>
                <a:srgbClr val="3333FF"/>
              </a:solidFill>
            </a:endParaRPr>
          </a:p>
          <a:p>
            <a:endParaRPr lang="en-US" sz="3000" b="1" dirty="0"/>
          </a:p>
          <a:p>
            <a:endParaRPr lang="en-US" dirty="0"/>
          </a:p>
        </p:txBody>
      </p:sp>
      <p:pic>
        <p:nvPicPr>
          <p:cNvPr id="3" name="Picture 2" descr="Raji K Physics Logo">
            <a:extLst>
              <a:ext uri="{FF2B5EF4-FFF2-40B4-BE49-F238E27FC236}">
                <a16:creationId xmlns:a16="http://schemas.microsoft.com/office/drawing/2014/main" id="{8EDB0E01-B49F-0ED5-F2EE-3BDA1DFE8A0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41759395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2.xml><?xml version="1.0" encoding="utf-8"?>
<a:theme xmlns:a="http://schemas.openxmlformats.org/drawingml/2006/main" name="2_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3.xml><?xml version="1.0" encoding="utf-8"?>
<a:theme xmlns:a="http://schemas.openxmlformats.org/drawingml/2006/main" name="3_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7fa5be20-dc39-4186-a780-7e1bcec99d18}" enabled="1" method="Standard" siteId="{c5063431-d7f2-48db-ac62-eaeaa2e0bffc}" removed="0"/>
</clbl:labelList>
</file>

<file path=docProps/app.xml><?xml version="1.0" encoding="utf-8"?>
<Properties xmlns="http://schemas.openxmlformats.org/officeDocument/2006/extended-properties" xmlns:vt="http://schemas.openxmlformats.org/officeDocument/2006/docPropsVTypes">
  <Template/>
  <TotalTime>5442</TotalTime>
  <Words>1841</Words>
  <Application>Microsoft Office PowerPoint</Application>
  <PresentationFormat>On-screen Show (4:3)</PresentationFormat>
  <Paragraphs>176</Paragraphs>
  <Slides>25</Slides>
  <Notes>7</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25</vt:i4>
      </vt:variant>
    </vt:vector>
  </HeadingPairs>
  <TitlesOfParts>
    <vt:vector size="36" baseType="lpstr">
      <vt:lpstr>Arial</vt:lpstr>
      <vt:lpstr>Arial Black</vt:lpstr>
      <vt:lpstr>Calibri</vt:lpstr>
      <vt:lpstr>Cambria Math</vt:lpstr>
      <vt:lpstr>Canva Sans</vt:lpstr>
      <vt:lpstr>Glacial Indifference Bold</vt:lpstr>
      <vt:lpstr>Times New Roman</vt:lpstr>
      <vt:lpstr>Wingdings</vt:lpstr>
      <vt:lpstr>Essential</vt:lpstr>
      <vt:lpstr>2_Essential</vt:lpstr>
      <vt:lpstr>3_Essential</vt:lpstr>
      <vt:lpstr>university Physics I Lecture Slides  CHAPTER 7 Work and Kinetic Energy</vt:lpstr>
      <vt:lpstr>CHAPTER 7 Work and Kinetic Energy</vt:lpstr>
      <vt:lpstr>Work Done by a Force </vt:lpstr>
      <vt:lpstr>Work done by a constant force</vt:lpstr>
      <vt:lpstr>MAGNITUDE OF WORK</vt:lpstr>
      <vt:lpstr>Scalar Product of Two Vectors</vt:lpstr>
      <vt:lpstr>Dot Products of Unit Vectors</vt:lpstr>
      <vt:lpstr> Work  done by a constant force  </vt:lpstr>
      <vt:lpstr> THREE-dimensional ANALYSIS</vt:lpstr>
      <vt:lpstr>Work Done by a Variable Force PROBLEM</vt:lpstr>
      <vt:lpstr>Work done – Graphical Analysis  </vt:lpstr>
      <vt:lpstr>Work done BY A VARYING FORCE  Graphical Analysis </vt:lpstr>
      <vt:lpstr>Spring forces</vt:lpstr>
      <vt:lpstr>Work done by spring force, approximation</vt:lpstr>
      <vt:lpstr>Work done by varying force, an integral</vt:lpstr>
      <vt:lpstr>Work done by spring force  Graphical   </vt:lpstr>
      <vt:lpstr>  Kinetic Energy  </vt:lpstr>
      <vt:lpstr>Change in Kinetic Energy and work</vt:lpstr>
      <vt:lpstr>Work-Kinetic Energy Theorem</vt:lpstr>
      <vt:lpstr>WORK ENERY THEROM- horses pulling on the load </vt:lpstr>
      <vt:lpstr> Work-Energy Theorem- PROBLEM</vt:lpstr>
      <vt:lpstr>Determining a Stopping Force Problem</vt:lpstr>
      <vt:lpstr>Power</vt:lpstr>
      <vt:lpstr>POWER IN TERMS OF FORCE AND VELOCITY</vt:lpstr>
      <vt:lpstr>Chapter 7 Review</vt:lpstr>
    </vt:vector>
  </TitlesOfParts>
  <Company>WNI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Dr. Raji Kannampuzha</dc:creator>
  <cp:lastModifiedBy>Dr.Raji</cp:lastModifiedBy>
  <cp:revision>148</cp:revision>
  <dcterms:created xsi:type="dcterms:W3CDTF">2012-06-04T02:13:36Z</dcterms:created>
  <dcterms:modified xsi:type="dcterms:W3CDTF">2025-10-24T04:42:53Z</dcterms:modified>
</cp:coreProperties>
</file>