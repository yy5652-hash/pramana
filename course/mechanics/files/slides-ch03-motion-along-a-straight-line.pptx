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 id="2147483926" r:id="rId2"/>
  </p:sldMasterIdLst>
  <p:notesMasterIdLst>
    <p:notesMasterId r:id="rId44"/>
  </p:notesMasterIdLst>
  <p:handoutMasterIdLst>
    <p:handoutMasterId r:id="rId45"/>
  </p:handoutMasterIdLst>
  <p:sldIdLst>
    <p:sldId id="374" r:id="rId3"/>
    <p:sldId id="319" r:id="rId4"/>
    <p:sldId id="320" r:id="rId5"/>
    <p:sldId id="280" r:id="rId6"/>
    <p:sldId id="358" r:id="rId7"/>
    <p:sldId id="281" r:id="rId8"/>
    <p:sldId id="322" r:id="rId9"/>
    <p:sldId id="308" r:id="rId10"/>
    <p:sldId id="325" r:id="rId11"/>
    <p:sldId id="327" r:id="rId12"/>
    <p:sldId id="360" r:id="rId13"/>
    <p:sldId id="359" r:id="rId14"/>
    <p:sldId id="328" r:id="rId15"/>
    <p:sldId id="285" r:id="rId16"/>
    <p:sldId id="362" r:id="rId17"/>
    <p:sldId id="361" r:id="rId18"/>
    <p:sldId id="329" r:id="rId19"/>
    <p:sldId id="332" r:id="rId20"/>
    <p:sldId id="292" r:id="rId21"/>
    <p:sldId id="294" r:id="rId22"/>
    <p:sldId id="351" r:id="rId23"/>
    <p:sldId id="363" r:id="rId24"/>
    <p:sldId id="335" r:id="rId25"/>
    <p:sldId id="336" r:id="rId26"/>
    <p:sldId id="368" r:id="rId27"/>
    <p:sldId id="339" r:id="rId28"/>
    <p:sldId id="340" r:id="rId29"/>
    <p:sldId id="365" r:id="rId30"/>
    <p:sldId id="341" r:id="rId31"/>
    <p:sldId id="305" r:id="rId32"/>
    <p:sldId id="371" r:id="rId33"/>
    <p:sldId id="353" r:id="rId34"/>
    <p:sldId id="370" r:id="rId35"/>
    <p:sldId id="369" r:id="rId36"/>
    <p:sldId id="278" r:id="rId37"/>
    <p:sldId id="323" r:id="rId38"/>
    <p:sldId id="350" r:id="rId39"/>
    <p:sldId id="345" r:id="rId40"/>
    <p:sldId id="346" r:id="rId41"/>
    <p:sldId id="364" r:id="rId42"/>
    <p:sldId id="372" r:id="rId4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66FF"/>
    <a:srgbClr val="212F62"/>
    <a:srgbClr val="6CB255"/>
    <a:srgbClr val="E5D419"/>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04472B-AEB8-5B87-5566-AB82C91EF1DD}" v="5" dt="2025-10-14T22:51:50.959"/>
    <p1510:client id="{A5B33CAA-40F3-C3A9-BCF4-4F79391AB0FC}" v="50" dt="2025-10-13T21:16:12.898"/>
    <p1510:client id="{F4490CD6-69C2-65C3-DEBB-2489458D713E}" v="18" dt="2025-10-14T23:00:18.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9" autoAdjust="0"/>
    <p:restoredTop sz="94600" autoAdjust="0"/>
  </p:normalViewPr>
  <p:slideViewPr>
    <p:cSldViewPr snapToGrid="0" snapToObjects="1">
      <p:cViewPr varScale="1">
        <p:scale>
          <a:sx n="97" d="100"/>
          <a:sy n="97" d="100"/>
        </p:scale>
        <p:origin x="968"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ree Kannampuzha" userId="S::rkannampuzha@collin.edu::94045377-cf84-4a1c-b9ee-8be93f9e6e89" providerId="AD" clId="Web-{F4490CD6-69C2-65C3-DEBB-2489458D713E}"/>
    <pc:docChg chg="modSld">
      <pc:chgData name="Rajasree Kannampuzha" userId="S::rkannampuzha@collin.edu::94045377-cf84-4a1c-b9ee-8be93f9e6e89" providerId="AD" clId="Web-{F4490CD6-69C2-65C3-DEBB-2489458D713E}" dt="2025-10-14T23:00:18.185" v="7" actId="20577"/>
      <pc:docMkLst>
        <pc:docMk/>
      </pc:docMkLst>
      <pc:sldChg chg="modSp">
        <pc:chgData name="Rajasree Kannampuzha" userId="S::rkannampuzha@collin.edu::94045377-cf84-4a1c-b9ee-8be93f9e6e89" providerId="AD" clId="Web-{F4490CD6-69C2-65C3-DEBB-2489458D713E}" dt="2025-10-14T23:00:18.185" v="7" actId="20577"/>
        <pc:sldMkLst>
          <pc:docMk/>
          <pc:sldMk cId="201616528" sldId="374"/>
        </pc:sldMkLst>
        <pc:spChg chg="mod">
          <ac:chgData name="Rajasree Kannampuzha" userId="S::rkannampuzha@collin.edu::94045377-cf84-4a1c-b9ee-8be93f9e6e89" providerId="AD" clId="Web-{F4490CD6-69C2-65C3-DEBB-2489458D713E}" dt="2025-10-14T23:00:18.185" v="7" actId="20577"/>
          <ac:spMkLst>
            <pc:docMk/>
            <pc:sldMk cId="201616528" sldId="374"/>
            <ac:spMk id="4" creationId="{69AF53B8-AEA0-124B-F7E7-DB21550AB102}"/>
          </ac:spMkLst>
        </pc:spChg>
      </pc:sldChg>
    </pc:docChg>
  </pc:docChgLst>
  <pc:docChgLst>
    <pc:chgData name="Rajasree Kannampuzha" userId="S::rkannampuzha@collin.edu::94045377-cf84-4a1c-b9ee-8be93f9e6e89" providerId="AD" clId="Web-{8104472B-AEB8-5B87-5566-AB82C91EF1DD}"/>
    <pc:docChg chg="modSld">
      <pc:chgData name="Rajasree Kannampuzha" userId="S::rkannampuzha@collin.edu::94045377-cf84-4a1c-b9ee-8be93f9e6e89" providerId="AD" clId="Web-{8104472B-AEB8-5B87-5566-AB82C91EF1DD}" dt="2025-10-14T22:51:50.959" v="3" actId="1076"/>
      <pc:docMkLst>
        <pc:docMk/>
      </pc:docMkLst>
      <pc:sldChg chg="modSp">
        <pc:chgData name="Rajasree Kannampuzha" userId="S::rkannampuzha@collin.edu::94045377-cf84-4a1c-b9ee-8be93f9e6e89" providerId="AD" clId="Web-{8104472B-AEB8-5B87-5566-AB82C91EF1DD}" dt="2025-10-14T22:51:50.959" v="3" actId="1076"/>
        <pc:sldMkLst>
          <pc:docMk/>
          <pc:sldMk cId="201616528" sldId="374"/>
        </pc:sldMkLst>
        <pc:spChg chg="mod">
          <ac:chgData name="Rajasree Kannampuzha" userId="S::rkannampuzha@collin.edu::94045377-cf84-4a1c-b9ee-8be93f9e6e89" providerId="AD" clId="Web-{8104472B-AEB8-5B87-5566-AB82C91EF1DD}" dt="2025-10-14T22:51:32.177" v="1" actId="20577"/>
          <ac:spMkLst>
            <pc:docMk/>
            <pc:sldMk cId="201616528" sldId="374"/>
            <ac:spMk id="4" creationId="{69AF53B8-AEA0-124B-F7E7-DB21550AB102}"/>
          </ac:spMkLst>
        </pc:spChg>
        <pc:spChg chg="mod">
          <ac:chgData name="Rajasree Kannampuzha" userId="S::rkannampuzha@collin.edu::94045377-cf84-4a1c-b9ee-8be93f9e6e89" providerId="AD" clId="Web-{8104472B-AEB8-5B87-5566-AB82C91EF1DD}" dt="2025-10-14T22:51:50.959" v="3" actId="1076"/>
          <ac:spMkLst>
            <pc:docMk/>
            <pc:sldMk cId="201616528" sldId="374"/>
            <ac:spMk id="9" creationId="{0A064A47-CEA7-59B0-0459-E9AEF9D147EC}"/>
          </ac:spMkLst>
        </pc:spChg>
      </pc:sldChg>
    </pc:docChg>
  </pc:docChgLst>
  <pc:docChgLst>
    <pc:chgData name="Rajasree Kannampuzha" userId="S::rkannampuzha@collin.edu::94045377-cf84-4a1c-b9ee-8be93f9e6e89" providerId="AD" clId="Web-{A5B33CAA-40F3-C3A9-BCF4-4F79391AB0FC}"/>
    <pc:docChg chg="modSld">
      <pc:chgData name="Rajasree Kannampuzha" userId="S::rkannampuzha@collin.edu::94045377-cf84-4a1c-b9ee-8be93f9e6e89" providerId="AD" clId="Web-{A5B33CAA-40F3-C3A9-BCF4-4F79391AB0FC}" dt="2025-10-13T21:14:36.960" v="29" actId="20577"/>
      <pc:docMkLst>
        <pc:docMk/>
      </pc:docMkLst>
      <pc:sldChg chg="modSp">
        <pc:chgData name="Rajasree Kannampuzha" userId="S::rkannampuzha@collin.edu::94045377-cf84-4a1c-b9ee-8be93f9e6e89" providerId="AD" clId="Web-{A5B33CAA-40F3-C3A9-BCF4-4F79391AB0FC}" dt="2025-10-13T21:14:36.960" v="29" actId="20577"/>
        <pc:sldMkLst>
          <pc:docMk/>
          <pc:sldMk cId="201616528" sldId="374"/>
        </pc:sldMkLst>
        <pc:spChg chg="mod">
          <ac:chgData name="Rajasree Kannampuzha" userId="S::rkannampuzha@collin.edu::94045377-cf84-4a1c-b9ee-8be93f9e6e89" providerId="AD" clId="Web-{A5B33CAA-40F3-C3A9-BCF4-4F79391AB0FC}" dt="2025-10-13T21:14:36.960" v="29" actId="20577"/>
          <ac:spMkLst>
            <pc:docMk/>
            <pc:sldMk cId="201616528" sldId="374"/>
            <ac:spMk id="4" creationId="{69AF53B8-AEA0-124B-F7E7-DB21550AB102}"/>
          </ac:spMkLst>
        </pc:spChg>
        <pc:spChg chg="mod">
          <ac:chgData name="Rajasree Kannampuzha" userId="S::rkannampuzha@collin.edu::94045377-cf84-4a1c-b9ee-8be93f9e6e89" providerId="AD" clId="Web-{A5B33CAA-40F3-C3A9-BCF4-4F79391AB0FC}" dt="2025-10-13T21:12:24.598" v="8" actId="20577"/>
          <ac:spMkLst>
            <pc:docMk/>
            <pc:sldMk cId="201616528" sldId="374"/>
            <ac:spMk id="9" creationId="{0A064A47-CEA7-59B0-0459-E9AEF9D147E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48D041A-73BB-E643-A8C7-50D88C2F22F5}" type="datetimeFigureOut">
              <a:rPr lang="en-US" smtClean="0"/>
              <a:t>10/23/2025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FB28F9B3-20FC-4197-B2BF-D183A2B57907}" type="datetimeFigureOut">
              <a:rPr lang="en-US" smtClean="0"/>
              <a:t>10/23/2025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582F9B41-2104-4392-9C29-FD9418858BC2}" type="slidenum">
              <a:rPr lang="en-US" smtClean="0"/>
              <a:t>‹#›</a:t>
            </a:fld>
            <a:endParaRPr lang="en-US"/>
          </a:p>
        </p:txBody>
      </p:sp>
    </p:spTree>
    <p:extLst>
      <p:ext uri="{BB962C8B-B14F-4D97-AF65-F5344CB8AC3E}">
        <p14:creationId xmlns:p14="http://schemas.microsoft.com/office/powerpoint/2010/main" val="3331215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38AC851-E055-4F2F-9C44-05BCA3ECB46C}" type="slidenum">
              <a:rPr lang="en-US" altLang="en-US">
                <a:solidFill>
                  <a:srgbClr val="C0504D"/>
                </a:solidFill>
              </a:rPr>
              <a:pPr>
                <a:spcBef>
                  <a:spcPct val="0"/>
                </a:spcBef>
              </a:pPr>
              <a:t>3</a:t>
            </a:fld>
            <a:endParaRPr lang="en-US" altLang="en-US">
              <a:solidFill>
                <a:srgbClr val="C0504D"/>
              </a:solidFill>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Tree>
    <p:extLst>
      <p:ext uri="{BB962C8B-B14F-4D97-AF65-F5344CB8AC3E}">
        <p14:creationId xmlns:p14="http://schemas.microsoft.com/office/powerpoint/2010/main" val="2192700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5142200-D550-46BF-93F3-2CDA3F34D71C}" type="slidenum">
              <a:rPr lang="en-US" altLang="en-US"/>
              <a:pPr>
                <a:spcBef>
                  <a:spcPct val="0"/>
                </a:spcBef>
              </a:pPr>
              <a:t>7</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 </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164936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FEBFC9-857E-4645-A7B0-E6197B8BA5FC}" type="slidenum">
              <a:rPr lang="en-US" altLang="en-US">
                <a:solidFill>
                  <a:srgbClr val="000000"/>
                </a:solidFill>
              </a:rPr>
              <a:pPr>
                <a:spcBef>
                  <a:spcPct val="0"/>
                </a:spcBef>
              </a:pPr>
              <a:t>9</a:t>
            </a:fld>
            <a:endParaRPr lang="en-US" altLang="en-US">
              <a:solidFill>
                <a:srgbClr val="000000"/>
              </a:solidFill>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1.C</a:t>
            </a:r>
          </a:p>
          <a:p>
            <a:pPr eaLnBrk="1" hangingPunct="1">
              <a:spcBef>
                <a:spcPct val="50000"/>
              </a:spcBef>
              <a:buFontTx/>
              <a:buNone/>
            </a:pPr>
            <a:r>
              <a:rPr lang="en-US" altLang="en-US" dirty="0">
                <a:latin typeface="Arial" panose="020B0604020202020204" pitchFamily="34" charset="0"/>
              </a:rPr>
              <a:t>2.</a:t>
            </a:r>
            <a:r>
              <a:rPr lang="en-US" altLang="en-US" sz="1200" b="1" dirty="0"/>
              <a:t> Displacement is the change in position. Therefore, the magnitude of the displacement for half a lap is 200 m.</a:t>
            </a:r>
          </a:p>
          <a:p>
            <a:pPr eaLnBrk="1" hangingPunct="1">
              <a:spcBef>
                <a:spcPct val="50000"/>
              </a:spcBef>
              <a:buFontTx/>
              <a:buNone/>
            </a:pPr>
            <a:r>
              <a:rPr lang="en-US" altLang="en-US" sz="1200" b="1" dirty="0"/>
              <a:t>For a full lap (the car returns to its starting position), the displacement is zero.</a:t>
            </a:r>
          </a:p>
          <a:p>
            <a:pPr eaLnBrk="1" hangingPunct="1"/>
            <a:endParaRPr lang="en-US" altLang="en-US" dirty="0">
              <a:latin typeface="Arial" panose="020B0604020202020204" pitchFamily="34" charset="0"/>
            </a:endParaRP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97904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A678C69-3D8C-49AE-B127-B1692B7F39E6}" type="slidenum">
              <a:rPr lang="en-US" altLang="en-US"/>
              <a:pPr>
                <a:spcBef>
                  <a:spcPct val="0"/>
                </a:spcBef>
              </a:pPr>
              <a:t>10</a:t>
            </a:fld>
            <a:endParaRPr lang="en-US" alt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26665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2F9B41-2104-4392-9C29-FD9418858BC2}" type="slidenum">
              <a:rPr lang="en-US" smtClean="0"/>
              <a:t>12</a:t>
            </a:fld>
            <a:endParaRPr lang="en-US"/>
          </a:p>
        </p:txBody>
      </p:sp>
    </p:spTree>
    <p:extLst>
      <p:ext uri="{BB962C8B-B14F-4D97-AF65-F5344CB8AC3E}">
        <p14:creationId xmlns:p14="http://schemas.microsoft.com/office/powerpoint/2010/main" val="2944562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A35553-57C2-4A1B-980E-F5C0811D330E}" type="slidenum">
              <a:rPr lang="en-US" altLang="en-US"/>
              <a:pPr>
                <a:spcBef>
                  <a:spcPct val="0"/>
                </a:spcBef>
              </a:pPr>
              <a:t>13</a:t>
            </a:fld>
            <a:endParaRPr lang="en-US" alt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 </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34295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r" eaLnBrk="0" fontAlgn="base" hangingPunct="0">
              <a:spcBef>
                <a:spcPct val="0"/>
              </a:spcBef>
              <a:spcAft>
                <a:spcPct val="0"/>
              </a:spcAft>
              <a:defRPr sz="2400">
                <a:solidFill>
                  <a:schemeClr val="tx1"/>
                </a:solidFill>
                <a:latin typeface="Arial" panose="020B0604020202020204" pitchFamily="34" charset="0"/>
              </a:defRPr>
            </a:lvl6pPr>
            <a:lvl7pPr marL="2971800" indent="-228600" algn="r" eaLnBrk="0" fontAlgn="base" hangingPunct="0">
              <a:spcBef>
                <a:spcPct val="0"/>
              </a:spcBef>
              <a:spcAft>
                <a:spcPct val="0"/>
              </a:spcAft>
              <a:defRPr sz="2400">
                <a:solidFill>
                  <a:schemeClr val="tx1"/>
                </a:solidFill>
                <a:latin typeface="Arial" panose="020B0604020202020204" pitchFamily="34" charset="0"/>
              </a:defRPr>
            </a:lvl7pPr>
            <a:lvl8pPr marL="3429000" indent="-228600" algn="r" eaLnBrk="0" fontAlgn="base" hangingPunct="0">
              <a:spcBef>
                <a:spcPct val="0"/>
              </a:spcBef>
              <a:spcAft>
                <a:spcPct val="0"/>
              </a:spcAft>
              <a:defRPr sz="2400">
                <a:solidFill>
                  <a:schemeClr val="tx1"/>
                </a:solidFill>
                <a:latin typeface="Arial" panose="020B0604020202020204" pitchFamily="34" charset="0"/>
              </a:defRPr>
            </a:lvl8pPr>
            <a:lvl9pPr marL="3886200" indent="-228600" algn="r" eaLnBrk="0" fontAlgn="base" hangingPunct="0">
              <a:spcBef>
                <a:spcPct val="0"/>
              </a:spcBef>
              <a:spcAft>
                <a:spcPct val="0"/>
              </a:spcAft>
              <a:defRPr sz="2400">
                <a:solidFill>
                  <a:schemeClr val="tx1"/>
                </a:solidFill>
                <a:latin typeface="Arial" panose="020B0604020202020204" pitchFamily="34" charset="0"/>
              </a:defRPr>
            </a:lvl9pPr>
          </a:lstStyle>
          <a:p>
            <a:fld id="{4A6541C3-2BB5-4D1F-9A6F-DF06EAD52D4C}"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412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ED061AF-4D1D-4DB0-9897-9B5577B78474}" type="slidenum">
              <a:rPr lang="en-US" altLang="en-US"/>
              <a:pPr>
                <a:spcBef>
                  <a:spcPct val="0"/>
                </a:spcBef>
              </a:pPr>
              <a:t>17</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  </a:t>
            </a:r>
          </a:p>
        </p:txBody>
      </p:sp>
    </p:spTree>
    <p:extLst>
      <p:ext uri="{BB962C8B-B14F-4D97-AF65-F5344CB8AC3E}">
        <p14:creationId xmlns:p14="http://schemas.microsoft.com/office/powerpoint/2010/main" val="689055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FBD28F-9687-4233-88E9-6CA3A93E1C1D}" type="slidenum">
              <a:rPr lang="en-US" altLang="en-US"/>
              <a:pPr>
                <a:spcBef>
                  <a:spcPct val="0"/>
                </a:spcBef>
              </a:pPr>
              <a:t>18</a:t>
            </a:fld>
            <a:endParaRPr lang="en-US"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 </a:t>
            </a:r>
          </a:p>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71602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991076C-CDAF-4847-9F20-E7CE184086C0}" type="slidenum">
              <a:rPr lang="en-US" altLang="en-US">
                <a:latin typeface="Calibri" panose="020F0502020204030204" pitchFamily="34" charset="0"/>
                <a:cs typeface="Arial" panose="020B0604020202020204" pitchFamily="34" charset="0"/>
              </a:rPr>
              <a:pPr>
                <a:spcBef>
                  <a:spcPct val="0"/>
                </a:spcBef>
              </a:pPr>
              <a:t>23</a:t>
            </a:fld>
            <a:endParaRPr lang="en-US" altLang="en-US">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3823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8D018E9-C461-49A3-8150-02D485BD066B}" type="slidenum">
              <a:rPr lang="en-US" altLang="en-US"/>
              <a:pPr>
                <a:spcBef>
                  <a:spcPct val="0"/>
                </a:spcBef>
              </a:pPr>
              <a:t>24</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41342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9E092A-D805-4F2E-BD14-3D898EB0908B}" type="slidenum">
              <a:rPr lang="en-US" altLang="en-US"/>
              <a:pPr>
                <a:spcBef>
                  <a:spcPct val="0"/>
                </a:spcBef>
              </a:pPr>
              <a:t>26</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97456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005C36-E32C-4158-93CB-566475A69D0C}" type="slidenum">
              <a:rPr lang="en-US" altLang="en-US"/>
              <a:pPr>
                <a:spcBef>
                  <a:spcPct val="0"/>
                </a:spcBef>
              </a:pPr>
              <a:t>27</a:t>
            </a:fld>
            <a:endParaRPr lang="en-US" alt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82093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E0D98EA-1169-44DE-BA77-0E7593F3B5C0}" type="slidenum">
              <a:rPr lang="en-US" altLang="en-US"/>
              <a:pPr>
                <a:spcBef>
                  <a:spcPct val="0"/>
                </a:spcBef>
              </a:pPr>
              <a:t>29</a:t>
            </a:fld>
            <a:endParaRPr lang="en-US" altLang="en-US"/>
          </a:p>
        </p:txBody>
      </p:sp>
    </p:spTree>
    <p:extLst>
      <p:ext uri="{BB962C8B-B14F-4D97-AF65-F5344CB8AC3E}">
        <p14:creationId xmlns:p14="http://schemas.microsoft.com/office/powerpoint/2010/main" val="451082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7A0A369-A9ED-4F1C-B74E-8AC5EA44507C}" type="slidenum">
              <a:rPr lang="en-US" altLang="en-US"/>
              <a:pPr>
                <a:spcBef>
                  <a:spcPct val="0"/>
                </a:spcBef>
              </a:pPr>
              <a:t>32</a:t>
            </a:fld>
            <a:endParaRPr lang="en-US" altLang="en-US"/>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55508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1D284C6-2A11-442B-BD33-B69FE6D5EA0C}" type="slidenum">
              <a:rPr lang="en-US" altLang="en-US"/>
              <a:pPr>
                <a:spcBef>
                  <a:spcPct val="0"/>
                </a:spcBef>
              </a:pPr>
              <a:t>38</a:t>
            </a:fld>
            <a:endParaRPr lang="en-US" alt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73423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66BA27-7267-49E5-A62B-42B4E1CE3872}" type="slidenum">
              <a:rPr lang="en-US" altLang="en-US"/>
              <a:pPr>
                <a:spcBef>
                  <a:spcPct val="0"/>
                </a:spcBef>
              </a:pPr>
              <a:t>39</a:t>
            </a:fld>
            <a:endParaRPr lang="en-US" alt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513778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D81A5BDA-0A7D-4C8E-A5ED-AFD411440C34}" type="slidenum">
              <a:rPr lang="en-US" altLang="en-US"/>
              <a:pPr>
                <a:defRPr/>
              </a:pPr>
              <a:t>‹#›</a:t>
            </a:fld>
            <a:endParaRPr lang="en-US" altLang="en-US"/>
          </a:p>
        </p:txBody>
      </p:sp>
    </p:spTree>
    <p:extLst>
      <p:ext uri="{BB962C8B-B14F-4D97-AF65-F5344CB8AC3E}">
        <p14:creationId xmlns:p14="http://schemas.microsoft.com/office/powerpoint/2010/main" val="514132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8400"/>
            <a:ext cx="2133600" cy="457200"/>
          </a:xfrm>
          <a:prstGeom prst="rect">
            <a:avLst/>
          </a:prstGeom>
        </p:spPr>
        <p:txBody>
          <a:bodyPr/>
          <a:lstStyle>
            <a:lvl1pPr eaLnBrk="1" hangingPunct="1">
              <a:defRPr>
                <a:latin typeface="Arial" charset="0"/>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a:defRPr smtClean="0">
                <a:cs typeface="Arial" panose="020B0604020202020204" pitchFamily="34" charset="0"/>
              </a:defRPr>
            </a:lvl1pPr>
          </a:lstStyle>
          <a:p>
            <a:pPr>
              <a:defRPr/>
            </a:pPr>
            <a:fld id="{BA854D57-3419-4C8B-85F5-A7612B284D61}" type="slidenum">
              <a:rPr lang="en-US" altLang="en-US"/>
              <a:pPr>
                <a:defRPr/>
              </a:pPr>
              <a:t>‹#›</a:t>
            </a:fld>
            <a:endParaRPr lang="en-US" altLang="en-US"/>
          </a:p>
        </p:txBody>
      </p:sp>
    </p:spTree>
    <p:extLst>
      <p:ext uri="{BB962C8B-B14F-4D97-AF65-F5344CB8AC3E}">
        <p14:creationId xmlns:p14="http://schemas.microsoft.com/office/powerpoint/2010/main" val="539194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C96B1BE-B907-4436-888D-01226278CF96}" type="slidenum">
              <a:rPr lang="en-US" altLang="en-US"/>
              <a:pPr>
                <a:defRPr/>
              </a:pPr>
              <a:t>‹#›</a:t>
            </a:fld>
            <a:endParaRPr lang="en-US" altLang="en-US"/>
          </a:p>
        </p:txBody>
      </p:sp>
    </p:spTree>
    <p:extLst>
      <p:ext uri="{BB962C8B-B14F-4D97-AF65-F5344CB8AC3E}">
        <p14:creationId xmlns:p14="http://schemas.microsoft.com/office/powerpoint/2010/main" val="3460250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382E00-9C35-4AF0-88DB-478D143718E2}" type="datetimeFigureOut">
              <a:rPr lang="en-US" smtClean="0"/>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7A3639-6358-4F19-BA78-8C7E28F0A523}" type="slidenum">
              <a:rPr lang="en-US" smtClean="0"/>
              <a:t>‹#›</a:t>
            </a:fld>
            <a:endParaRPr lang="en-US"/>
          </a:p>
        </p:txBody>
      </p:sp>
    </p:spTree>
    <p:extLst>
      <p:ext uri="{BB962C8B-B14F-4D97-AF65-F5344CB8AC3E}">
        <p14:creationId xmlns:p14="http://schemas.microsoft.com/office/powerpoint/2010/main" val="225014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208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October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146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extLst>
      <p:ext uri="{BB962C8B-B14F-4D97-AF65-F5344CB8AC3E}">
        <p14:creationId xmlns:p14="http://schemas.microsoft.com/office/powerpoint/2010/main" val="4216631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October 23,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extLst>
      <p:ext uri="{BB962C8B-B14F-4D97-AF65-F5344CB8AC3E}">
        <p14:creationId xmlns:p14="http://schemas.microsoft.com/office/powerpoint/2010/main" val="2328576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89154" indent="-89154">
              <a:buClr>
                <a:srgbClr val="007FA3"/>
              </a:buClr>
              <a:buSzPct val="25000"/>
              <a:defRPr sz="1200"/>
            </a:lvl1pPr>
            <a:lvl2pPr marL="427435" indent="-214313">
              <a:buClr>
                <a:srgbClr val="007FA3"/>
              </a:buClr>
              <a:defRPr sz="1200"/>
            </a:lvl2pPr>
            <a:lvl3pPr>
              <a:buClr>
                <a:srgbClr val="007FA3"/>
              </a:buClr>
              <a:defRPr sz="1200"/>
            </a:lvl3pPr>
            <a:lvl4pPr>
              <a:buClr>
                <a:srgbClr val="007FA3"/>
              </a:buClr>
              <a:defRPr sz="1200"/>
            </a:lvl4pPr>
            <a:lvl5pPr>
              <a:buClr>
                <a:srgbClr val="007FA3"/>
              </a:buClr>
              <a:defRPr sz="1200"/>
            </a:lvl5pPr>
            <a:lvl6pPr>
              <a:buClr>
                <a:srgbClr val="007FA3"/>
              </a:buClr>
              <a:defRPr sz="1200"/>
            </a:lvl6pPr>
            <a:lvl7pPr>
              <a:buClr>
                <a:srgbClr val="007FA3"/>
              </a:buClr>
              <a:defRPr sz="1200"/>
            </a:lvl7pPr>
            <a:lvl8pPr>
              <a:buClr>
                <a:srgbClr val="007FA3"/>
              </a:buClr>
              <a:defRPr sz="1200"/>
            </a:lvl8pPr>
            <a:lvl9pPr>
              <a:buClr>
                <a:srgbClr val="007FA3"/>
              </a:buCl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2"/>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918764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382E00-9C35-4AF0-88DB-478D143718E2}"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7A3639-6358-4F19-BA78-8C7E28F0A523}" type="slidenum">
              <a:rPr lang="en-US" smtClean="0"/>
              <a:t>‹#›</a:t>
            </a:fld>
            <a:endParaRPr lang="en-US"/>
          </a:p>
        </p:txBody>
      </p:sp>
    </p:spTree>
    <p:extLst>
      <p:ext uri="{BB962C8B-B14F-4D97-AF65-F5344CB8AC3E}">
        <p14:creationId xmlns:p14="http://schemas.microsoft.com/office/powerpoint/2010/main" val="2990011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2"/>
            <a:ext cx="8229600" cy="45719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11"/>
          <p:cNvSpPr>
            <a:spLocks noGrp="1"/>
          </p:cNvSpPr>
          <p:nvPr>
            <p:ph sz="quarter" idx="13"/>
          </p:nvPr>
        </p:nvSpPr>
        <p:spPr>
          <a:xfrm>
            <a:off x="457200" y="2184389"/>
            <a:ext cx="8229600" cy="465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4"/>
          <p:cNvSpPr>
            <a:spLocks noGrp="1"/>
          </p:cNvSpPr>
          <p:nvPr>
            <p:ph type="ftr" sz="quarter" idx="11"/>
          </p:nvPr>
        </p:nvSpPr>
        <p:spPr>
          <a:xfrm>
            <a:off x="93969" y="6172202"/>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10/23/2025</a:t>
            </a:fld>
            <a:endParaRPr lang="en-US" dirty="0"/>
          </a:p>
        </p:txBody>
      </p:sp>
      <p:sp>
        <p:nvSpPr>
          <p:cNvPr id="10" name="Slide Number Placeholder 5"/>
          <p:cNvSpPr>
            <a:spLocks noGrp="1"/>
          </p:cNvSpPr>
          <p:nvPr>
            <p:ph type="sldNum" sz="quarter" idx="12"/>
          </p:nvPr>
        </p:nvSpPr>
        <p:spPr>
          <a:xfrm>
            <a:off x="8469313" y="113072"/>
            <a:ext cx="551783" cy="182880"/>
          </a:xfrm>
        </p:spPr>
        <p:txBody>
          <a:bodyPr/>
          <a:lstStyle/>
          <a:p>
            <a:fld id="{200B2350-5261-4F5C-9DF5-EF0D264FC8D2}" type="slidenum">
              <a:rPr lang="en-US" smtClean="0"/>
              <a:pPr/>
              <a:t>‹#›</a:t>
            </a:fld>
            <a:endParaRPr lang="en-US" dirty="0"/>
          </a:p>
        </p:txBody>
      </p:sp>
      <p:sp>
        <p:nvSpPr>
          <p:cNvPr id="14" name="Content Placeholder 13"/>
          <p:cNvSpPr>
            <a:spLocks noGrp="1"/>
          </p:cNvSpPr>
          <p:nvPr>
            <p:ph sz="quarter" idx="14"/>
          </p:nvPr>
        </p:nvSpPr>
        <p:spPr>
          <a:xfrm>
            <a:off x="457200" y="2785532"/>
            <a:ext cx="8229600" cy="54218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457200" y="3513666"/>
            <a:ext cx="8229600" cy="4487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16"/>
          </p:nvPr>
        </p:nvSpPr>
        <p:spPr>
          <a:xfrm>
            <a:off x="457200" y="4114799"/>
            <a:ext cx="8229600" cy="60960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7"/>
          <p:cNvSpPr>
            <a:spLocks noGrp="1"/>
          </p:cNvSpPr>
          <p:nvPr>
            <p:ph sz="quarter" idx="17"/>
          </p:nvPr>
        </p:nvSpPr>
        <p:spPr>
          <a:xfrm>
            <a:off x="487053" y="4898794"/>
            <a:ext cx="8229600" cy="60960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59922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Learning Objectives and lin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600200"/>
          </a:xfrm>
        </p:spPr>
        <p:txBody>
          <a:bodyPr/>
          <a:lstStyle>
            <a:lvl1pPr marL="89154" indent="-89154">
              <a:buClr>
                <a:srgbClr val="007FA3"/>
              </a:buClr>
              <a:buSzPct val="25000"/>
              <a:defRPr sz="1200"/>
            </a:lvl1pPr>
            <a:lvl2pPr marL="427435" indent="-214313">
              <a:buClr>
                <a:srgbClr val="007FA3"/>
              </a:buClr>
              <a:defRPr sz="1200"/>
            </a:lvl2pPr>
            <a:lvl3pPr>
              <a:buClr>
                <a:srgbClr val="007FA3"/>
              </a:buClr>
              <a:defRPr sz="1200"/>
            </a:lvl3pPr>
            <a:lvl4pPr>
              <a:buClr>
                <a:srgbClr val="007FA3"/>
              </a:buClr>
              <a:defRPr sz="1200"/>
            </a:lvl4pPr>
            <a:lvl5pPr>
              <a:buClr>
                <a:srgbClr val="007FA3"/>
              </a:buClr>
              <a:defRPr sz="1200"/>
            </a:lvl5pPr>
            <a:lvl6pPr>
              <a:buClr>
                <a:srgbClr val="007FA3"/>
              </a:buClr>
              <a:defRPr sz="1200"/>
            </a:lvl6pPr>
            <a:lvl7pPr>
              <a:buClr>
                <a:srgbClr val="007FA3"/>
              </a:buClr>
              <a:defRPr sz="1200"/>
            </a:lvl7pPr>
            <a:lvl8pPr>
              <a:buClr>
                <a:srgbClr val="007FA3"/>
              </a:buClr>
              <a:defRPr sz="1200"/>
            </a:lvl8pPr>
            <a:lvl9pPr>
              <a:buClr>
                <a:srgbClr val="007FA3"/>
              </a:buCl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2"/>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10/23/2025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Text Placeholder 4"/>
          <p:cNvSpPr>
            <a:spLocks noGrp="1"/>
          </p:cNvSpPr>
          <p:nvPr>
            <p:ph type="body" sz="quarter" idx="13"/>
          </p:nvPr>
        </p:nvSpPr>
        <p:spPr>
          <a:xfrm>
            <a:off x="457200" y="3352800"/>
            <a:ext cx="8305800" cy="14478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4885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2.jp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16" r:id="rId1"/>
    <p:sldLayoutId id="2147483914" r:id="rId2"/>
    <p:sldLayoutId id="2147483920" r:id="rId3"/>
    <p:sldLayoutId id="2147483913" r:id="rId4"/>
    <p:sldLayoutId id="2147483922" r:id="rId5"/>
    <p:sldLayoutId id="2147483923" r:id="rId6"/>
    <p:sldLayoutId id="2147483924" r:id="rId7"/>
    <p:sldLayoutId id="2147483925" r:id="rId8"/>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October 23, 2025</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156801780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openstax.org/books/university-physics-volume-1/pages/3-2-instantaneous-velocity-and-speed#0" TargetMode="External"/><Relationship Id="rId7" Type="http://schemas.openxmlformats.org/officeDocument/2006/relationships/hyperlink" Target="https://openstax.org/books/university-physics-volume-1/pages/3-6-finding-velocity-and-displacement-from-acceleration#0" TargetMode="External"/><Relationship Id="rId2" Type="http://schemas.openxmlformats.org/officeDocument/2006/relationships/hyperlink" Target="https://openstax.org/books/university-physics-volume-1/pages/3-1-position-displacement-and-average-velocity#0" TargetMode="External"/><Relationship Id="rId1" Type="http://schemas.openxmlformats.org/officeDocument/2006/relationships/slideLayout" Target="../slideLayouts/slideLayout7.xml"/><Relationship Id="rId6" Type="http://schemas.openxmlformats.org/officeDocument/2006/relationships/hyperlink" Target="https://openstax.org/books/university-physics-volume-1/pages/3-5-free-fall#0" TargetMode="External"/><Relationship Id="rId5" Type="http://schemas.openxmlformats.org/officeDocument/2006/relationships/hyperlink" Target="https://openstax.org/books/university-physics-volume-1/pages/3-4-motion-with-constant-acceleration#0" TargetMode="External"/><Relationship Id="rId4" Type="http://schemas.openxmlformats.org/officeDocument/2006/relationships/hyperlink" Target="https://openstax.org/books/university-physics-volume-1/pages/3-3-average-and-instantaneous-acceleration#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youtu.be/i8GKFhUaLbk" TargetMode="External"/><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hyperlink" Target="https://www.oercommons.org/kaltura/embed/1_gv30kc7n"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hyperlink" Target="https://www.oercommons.org/kaltura/embed/1_4s316cg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openstax.org/books/university-physics-volume-1/pages/chapter-3" TargetMode="External"/><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B-CixlElwpQ"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hyperlink" Target="https://youtu.be/I1nwjtvx_d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hyperlink" Target="https://openstax.org/books/university-physics-volume-1/pages/3-1-position-displacement-and-average-velocit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6.jpe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enstax.org/books/university-physics-volume-1/pages/3-2-instantaneous-velocity-and-speed"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3" Type="http://schemas.openxmlformats.org/officeDocument/2006/relationships/hyperlink" Target="https://youtu.be/KW_Ti5uXGIE"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60.png"/><Relationship Id="rId4" Type="http://schemas.openxmlformats.org/officeDocument/2006/relationships/hyperlink" Target="https://youtu.be/58W_L-D01Ec"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youtu.be/756kLzc7XW0" TargetMode="External"/><Relationship Id="rId2" Type="http://schemas.openxmlformats.org/officeDocument/2006/relationships/hyperlink" Target="https://youtu.be/ttGCDe7W4lQ"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enstax.org/books/university-physics-volume-1/pages/3-3-average-and-instantaneous-accelerati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youtu.be/K7BK97ZeqVQ"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youtu.be/imhkkIaf-m0" TargetMode="External"/><Relationship Id="rId2" Type="http://schemas.openxmlformats.org/officeDocument/2006/relationships/hyperlink" Target="https://youtu.be/UAC7PHf6YN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youtu.be/RN7N7sDvgeg"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openstax.org/books/university-physics-volume-1/pages/3-4-motion-with-constant-acceleration"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youtu.be/5EDREJoUMKc" TargetMode="External"/><Relationship Id="rId7"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hyperlink" Target="https://youtu.be/Y-vaNEc1p-o" TargetMode="External"/><Relationship Id="rId4" Type="http://schemas.openxmlformats.org/officeDocument/2006/relationships/hyperlink" Target="https://youtu.be/vaUdbsWyox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openstax.org/books/university-physics-volume-1/pages/3-5-free-fall" TargetMode="External"/><Relationship Id="rId2" Type="http://schemas.openxmlformats.org/officeDocument/2006/relationships/hyperlink" Target="https://openstax.org/books/university-physics-volume-1/pages/3-5-free-fall#CNX_UPhysics_03_05_Building" TargetMode="Externa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19.jpg"/></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enstax.org/books/college-physics/pages/2-7-falling-objects"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youtu.be/PbY8qvrJ1O0"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hyperlink" Target="https://youtu.be/V3AbvnUo5_E"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openstax.org/books/university-physics-volume-1/pages/3-6-finding-velocity-and-displacement-from-acceleration"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openstax.org/books/university-physics-volume-1/pages/3-key-equations" TargetMode="External"/><Relationship Id="rId2" Type="http://schemas.openxmlformats.org/officeDocument/2006/relationships/hyperlink" Target="https://openstax.org/books/university-physics-volume-1/pages/3-key-terms"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openstax.org/books/university-physics-volume-1/pages/3-summ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63384-4A7E-3033-2AB7-CD8EC3C2ED67}"/>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69AF53B8-AEA0-124B-F7E7-DB21550AB102}"/>
              </a:ext>
            </a:extLst>
          </p:cNvPr>
          <p:cNvSpPr txBox="1">
            <a:spLocks noGrp="1"/>
          </p:cNvSpPr>
          <p:nvPr>
            <p:ph type="title"/>
          </p:nvPr>
        </p:nvSpPr>
        <p:spPr>
          <a:xfrm>
            <a:off x="98474" y="152400"/>
            <a:ext cx="8893125" cy="199900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ts val="5390"/>
              </a:lnSpc>
              <a:spcAft>
                <a:spcPct val="0"/>
              </a:spcAft>
              <a:defRPr/>
            </a:pPr>
            <a:r>
              <a:rPr lang="en-US" sz="2800" b="1" cap="none" spc="0" dirty="0">
                <a:solidFill>
                  <a:srgbClr val="000000"/>
                </a:solidFill>
                <a:ea typeface="+mj-lt"/>
                <a:cs typeface="+mj-lt"/>
                <a:sym typeface="Glacial Indifference Bold"/>
              </a:rPr>
              <a:t>UNIVERSITY</a:t>
            </a:r>
            <a:r>
              <a:rPr lang="en-US" sz="2800" b="1" cap="none" spc="0" dirty="0">
                <a:solidFill>
                  <a:srgbClr val="000000"/>
                </a:solidFill>
                <a:latin typeface="Arial Black"/>
                <a:ea typeface="Glacial Indifference Bold"/>
                <a:cs typeface="Glacial Indifference Bold"/>
                <a:sym typeface="Glacial Indifference Bold"/>
              </a:rPr>
              <a:t> PHYSICS I LECTURE SLIDES </a:t>
            </a:r>
            <a:br>
              <a:rPr lang="en-US" sz="2800" b="1" cap="none" spc="0" dirty="0">
                <a:latin typeface="Arial Black"/>
                <a:ea typeface="Glacial Indifference Bold"/>
                <a:cs typeface="Arial"/>
                <a:sym typeface="Glacial Indifference Bold"/>
              </a:rPr>
            </a:br>
            <a:r>
              <a:rPr lang="en-US" sz="2800" b="1" cap="none" spc="0" dirty="0">
                <a:solidFill>
                  <a:srgbClr val="000000"/>
                </a:solidFill>
                <a:latin typeface="Arial Black"/>
                <a:ea typeface="Glacial Indifference Bold"/>
                <a:cs typeface="Arial"/>
                <a:sym typeface="Glacial Indifference Bold"/>
              </a:rPr>
              <a:t>CHAPTER 3. MOTION ALONG A STRAIGHT LINE</a:t>
            </a:r>
            <a:endParaRPr lang="en-US" sz="2800" b="1" i="0" u="none" strike="noStrike" kern="1200" cap="none" spc="0" normalizeH="0" baseline="0" noProof="0" dirty="0">
              <a:ln>
                <a:noFill/>
              </a:ln>
              <a:solidFill>
                <a:srgbClr val="000000"/>
              </a:solidFill>
              <a:effectLst/>
              <a:uLnTx/>
              <a:uFillTx/>
              <a:latin typeface="Arial Black"/>
              <a:ea typeface="Glacial Indifference Bold"/>
              <a:cs typeface="Arial"/>
            </a:endParaRPr>
          </a:p>
        </p:txBody>
      </p:sp>
      <p:sp>
        <p:nvSpPr>
          <p:cNvPr id="9" name="Content Placeholder 8">
            <a:extLst>
              <a:ext uri="{FF2B5EF4-FFF2-40B4-BE49-F238E27FC236}">
                <a16:creationId xmlns:a16="http://schemas.microsoft.com/office/drawing/2014/main" id="{0A064A47-CEA7-59B0-0459-E9AEF9D147EC}"/>
              </a:ext>
            </a:extLst>
          </p:cNvPr>
          <p:cNvSpPr txBox="1">
            <a:spLocks noGrp="1"/>
          </p:cNvSpPr>
          <p:nvPr>
            <p:ph idx="1"/>
          </p:nvPr>
        </p:nvSpPr>
        <p:spPr>
          <a:xfrm>
            <a:off x="195775" y="2208216"/>
            <a:ext cx="8229600" cy="4220386"/>
          </a:xfrm>
          <a:prstGeom prst="rect">
            <a:avLst/>
          </a:prstGeom>
          <a:ln>
            <a:noFill/>
            <a:headEnd type="none" w="med" len="med"/>
            <a:tailEnd type="none" w="med" len="med"/>
          </a:ln>
          <a:effectLst>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wrap="square" lIns="0" tIns="0" rIns="0" bIns="0" rtlCol="0" anchor="t">
            <a:spAutoFit/>
          </a:bodyPr>
          <a:lstStyle/>
          <a:p>
            <a:r>
              <a:rPr lang="en-US" b="1" dirty="0"/>
              <a:t>  </a:t>
            </a:r>
          </a:p>
          <a:p>
            <a:r>
              <a:rPr lang="en-US" b="1" dirty="0"/>
              <a:t> Author: Dr. Raji Kannampuzha</a:t>
            </a:r>
          </a:p>
          <a:p>
            <a:endParaRPr lang="en-US" b="1" dirty="0"/>
          </a:p>
          <a:p>
            <a:r>
              <a:rPr lang="en-US" b="1" dirty="0">
                <a:ea typeface="Canva Sans"/>
                <a:cs typeface="Canva Sans"/>
                <a:sym typeface="Canva Sans"/>
              </a:rPr>
              <a:t> This work, "University Physics I Lecture Slides, </a:t>
            </a:r>
            <a:r>
              <a:rPr lang="en-US" b="1" dirty="0">
                <a:ea typeface="+mn-lt"/>
                <a:cs typeface="+mn-lt"/>
                <a:sym typeface="Canva Sans"/>
              </a:rPr>
              <a:t>Chapter 3. Motion Along A Straight Line</a:t>
            </a:r>
            <a:r>
              <a:rPr lang="en-US" b="1" dirty="0">
                <a:ea typeface="Canva Sans"/>
                <a:cs typeface="Canva Sans"/>
                <a:sym typeface="Canva Sans"/>
              </a:rPr>
              <a:t>" is adapted from    </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u="sng" dirty="0">
                <a:solidFill>
                  <a:srgbClr val="3333FF"/>
                </a:solidFill>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University Physics Volume 1</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dirty="0">
                <a:ea typeface="Canva Sans"/>
                <a:cs typeface="Canva Sans"/>
                <a:sym typeface="Canva Sans"/>
              </a:rPr>
              <a:t>  by William Moebs, Samuel J. Ling, Jeff   Sanny, et al., used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endParaRPr lang="en-US"/>
          </a:p>
          <a:p>
            <a:pPr>
              <a:lnSpc>
                <a:spcPts val="1750"/>
              </a:lnSpc>
            </a:pPr>
            <a:endParaRPr lang="en-US" b="1" dirty="0">
              <a:latin typeface="+mn-lt"/>
              <a:ea typeface="Canva Sans"/>
              <a:cs typeface="Canva Sans"/>
              <a:sym typeface="Canva Sans"/>
            </a:endParaRPr>
          </a:p>
          <a:p>
            <a:r>
              <a:rPr lang="en-US" b="1" dirty="0">
                <a:latin typeface="+mn-lt"/>
                <a:ea typeface="Canva Sans"/>
                <a:cs typeface="Canva Sans"/>
                <a:sym typeface="Canva Sans"/>
              </a:rPr>
              <a:t>"University Physics I Lecture Slides" is licensed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r>
              <a:rPr lang="en-US" b="1" dirty="0">
                <a:latin typeface="+mn-lt"/>
                <a:ea typeface="Canva Sans"/>
                <a:cs typeface="Canva Sans"/>
                <a:sym typeface="Canva Sans"/>
              </a:rPr>
              <a:t>by Raji Kannampuzha</a:t>
            </a:r>
          </a:p>
          <a:p>
            <a:pPr>
              <a:lnSpc>
                <a:spcPts val="2380"/>
              </a:lnSpc>
            </a:pPr>
            <a:endParaRPr lang="en-US" sz="1250" dirty="0">
              <a:solidFill>
                <a:srgbClr val="623A2A"/>
              </a:solidFill>
              <a:latin typeface="Canva Sans"/>
              <a:ea typeface="Canva Sans"/>
              <a:cs typeface="Canva Sans"/>
              <a:sym typeface="Canva Sans"/>
            </a:endParaRPr>
          </a:p>
        </p:txBody>
      </p:sp>
      <p:pic>
        <p:nvPicPr>
          <p:cNvPr id="10" name="Picture 9" descr="Raji K Physics Logo">
            <a:extLst>
              <a:ext uri="{FF2B5EF4-FFF2-40B4-BE49-F238E27FC236}">
                <a16:creationId xmlns:a16="http://schemas.microsoft.com/office/drawing/2014/main" id="{328515F0-B276-8FE4-D89F-5A561458C7E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0161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6" y="103030"/>
            <a:ext cx="8976574" cy="1054239"/>
          </a:xfrm>
        </p:spPr>
        <p:txBody>
          <a:bodyPr>
            <a:normAutofit/>
          </a:bodyPr>
          <a:lstStyle/>
          <a:p>
            <a:pPr lvl="0" algn="ctr">
              <a:spcBef>
                <a:spcPct val="20000"/>
              </a:spcBef>
              <a:spcAft>
                <a:spcPts val="600"/>
              </a:spcAft>
            </a:pPr>
            <a:r>
              <a:rPr lang="en-US" sz="2800" b="1" cap="none" spc="0" dirty="0">
                <a:solidFill>
                  <a:schemeClr val="tx1"/>
                </a:solidFill>
                <a:ea typeface="+mn-ea"/>
                <a:cs typeface="+mn-cs"/>
              </a:rPr>
              <a:t>CHAPTER 3. MOTION ALONG A STRAIGHT LINE</a:t>
            </a:r>
          </a:p>
        </p:txBody>
      </p:sp>
      <p:sp>
        <p:nvSpPr>
          <p:cNvPr id="4" name="Text Placeholder 3"/>
          <p:cNvSpPr>
            <a:spLocks noGrp="1"/>
          </p:cNvSpPr>
          <p:nvPr>
            <p:ph idx="1"/>
          </p:nvPr>
        </p:nvSpPr>
        <p:spPr/>
        <p:txBody>
          <a:bodyPr>
            <a:normAutofit fontScale="92500"/>
          </a:bodyPr>
          <a:lstStyle/>
          <a:p>
            <a:r>
              <a:rPr lang="en-US" sz="2800" b="1" dirty="0">
                <a:hlinkClick r:id="rId2"/>
              </a:rPr>
              <a:t>3.1 Position, Displacement, and Average Velocity </a:t>
            </a:r>
            <a:endParaRPr lang="en-US" sz="2800" b="1" dirty="0"/>
          </a:p>
          <a:p>
            <a:r>
              <a:rPr lang="en-US" sz="2800" b="1" dirty="0">
                <a:hlinkClick r:id="rId3"/>
              </a:rPr>
              <a:t>3.2 Instantaneous Velocity and Speed </a:t>
            </a:r>
            <a:endParaRPr lang="en-US" sz="2800" b="1" dirty="0"/>
          </a:p>
          <a:p>
            <a:r>
              <a:rPr lang="en-US" sz="2800" b="1" dirty="0">
                <a:hlinkClick r:id="rId4"/>
              </a:rPr>
              <a:t>3.3 Average and Instantaneous Acceleration </a:t>
            </a:r>
            <a:endParaRPr lang="en-US" sz="2800" b="1" dirty="0"/>
          </a:p>
          <a:p>
            <a:r>
              <a:rPr lang="en-US" sz="2800" b="1" dirty="0">
                <a:hlinkClick r:id="rId5"/>
              </a:rPr>
              <a:t>3.4 Motion with Constant Acceleration </a:t>
            </a:r>
            <a:endParaRPr lang="en-US" sz="2800" b="1" dirty="0"/>
          </a:p>
          <a:p>
            <a:r>
              <a:rPr lang="en-US" sz="2800" b="1" dirty="0">
                <a:hlinkClick r:id="rId6"/>
              </a:rPr>
              <a:t>3.5 Free Fall </a:t>
            </a:r>
            <a:endParaRPr lang="en-US" sz="2800" b="1" dirty="0"/>
          </a:p>
          <a:p>
            <a:r>
              <a:rPr lang="en-US" sz="2800" b="1" dirty="0">
                <a:hlinkClick r:id="rId7"/>
              </a:rPr>
              <a:t>3.6 Finding Velocity and Displacement from Acceleration </a:t>
            </a:r>
            <a:endParaRPr lang="en-US" sz="2800" b="1" dirty="0"/>
          </a:p>
          <a:p>
            <a:endParaRPr lang="en-US" sz="2400" b="1" dirty="0"/>
          </a:p>
          <a:p>
            <a:endParaRPr lang="en-US" dirty="0"/>
          </a:p>
        </p:txBody>
      </p:sp>
      <p:pic>
        <p:nvPicPr>
          <p:cNvPr id="3" name="Picture 2" descr="Raji K Physics Logo">
            <a:extLst>
              <a:ext uri="{FF2B5EF4-FFF2-40B4-BE49-F238E27FC236}">
                <a16:creationId xmlns:a16="http://schemas.microsoft.com/office/drawing/2014/main" id="{C6E89552-112C-3621-4491-A7A7BE132BF8}"/>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47217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1357"/>
            <a:ext cx="8178085" cy="553652"/>
          </a:xfrm>
        </p:spPr>
        <p:txBody>
          <a:bodyPr>
            <a:noAutofit/>
          </a:bodyPr>
          <a:lstStyle/>
          <a:p>
            <a:pPr algn="ctr"/>
            <a:r>
              <a:rPr lang="en-US" altLang="en-US" sz="2800" b="1" cap="none" spc="0" dirty="0">
                <a:solidFill>
                  <a:prstClr val="black"/>
                </a:solidFill>
                <a:ea typeface="+mn-ea"/>
                <a:cs typeface="Arial" panose="020B0604020202020204" pitchFamily="34" charset="0"/>
              </a:rPr>
              <a:t>KINEMATICS</a:t>
            </a:r>
            <a:endParaRPr lang="en-US" sz="2800" cap="none" dirty="0"/>
          </a:p>
        </p:txBody>
      </p:sp>
      <p:sp>
        <p:nvSpPr>
          <p:cNvPr id="25603" name="Text Box 6"/>
          <p:cNvSpPr txBox="1">
            <a:spLocks noChangeArrowheads="1"/>
          </p:cNvSpPr>
          <p:nvPr/>
        </p:nvSpPr>
        <p:spPr bwMode="auto">
          <a:xfrm>
            <a:off x="678811" y="1294456"/>
            <a:ext cx="7302322"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spcBef>
                <a:spcPct val="50000"/>
              </a:spcBef>
              <a:buFont typeface="Wingdings" panose="05000000000000000000" pitchFamily="2" charset="2"/>
              <a:buChar char="Ø"/>
            </a:pPr>
            <a:r>
              <a:rPr lang="en-US" altLang="en-US" sz="2400" b="1" dirty="0">
                <a:cs typeface="Arial" panose="020B0604020202020204" pitchFamily="34" charset="0"/>
              </a:rPr>
              <a:t>Kinematics is the part of mechanics that describes the motion of physical objects.  We say that an object moves when its position as determined by an observer changes with time. </a:t>
            </a:r>
          </a:p>
          <a:p>
            <a:pPr marL="342900" indent="-342900" eaLnBrk="1" hangingPunct="1">
              <a:spcBef>
                <a:spcPct val="50000"/>
              </a:spcBef>
              <a:buFont typeface="Wingdings" panose="05000000000000000000" pitchFamily="2" charset="2"/>
              <a:buChar char="Ø"/>
            </a:pPr>
            <a:r>
              <a:rPr lang="en-US" altLang="en-US" sz="2400" b="1" dirty="0">
                <a:cs typeface="Arial" panose="020B0604020202020204" pitchFamily="34" charset="0"/>
              </a:rPr>
              <a:t>In this chapter we will study  Motion will be along a straight line.</a:t>
            </a:r>
          </a:p>
          <a:p>
            <a:pPr marL="342900" indent="-342900" eaLnBrk="1" hangingPunct="1">
              <a:spcBef>
                <a:spcPct val="50000"/>
              </a:spcBef>
              <a:buFont typeface="Wingdings" panose="05000000000000000000" pitchFamily="2" charset="2"/>
              <a:buChar char="Ø"/>
            </a:pPr>
            <a:r>
              <a:rPr lang="en-US" altLang="en-US" sz="2400" b="1" dirty="0">
                <a:cs typeface="Arial" panose="020B0604020202020204" pitchFamily="34" charset="0"/>
              </a:rPr>
              <a:t>We will assume	that the moving objects are “particles,” i.e., we restrict our discussion to the motion of objects for which all the points move in the same way.                    </a:t>
            </a:r>
          </a:p>
        </p:txBody>
      </p:sp>
      <p:pic>
        <p:nvPicPr>
          <p:cNvPr id="4" name="Picture 3" descr="Raji K Physics Logo">
            <a:extLst>
              <a:ext uri="{FF2B5EF4-FFF2-40B4-BE49-F238E27FC236}">
                <a16:creationId xmlns:a16="http://schemas.microsoft.com/office/drawing/2014/main" id="{A27959DA-561E-DE2C-1B61-CF3899E1B4D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69580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 </a:t>
            </a:r>
            <a:r>
              <a:rPr lang="en-US" sz="3200" b="1" dirty="0">
                <a:solidFill>
                  <a:schemeClr val="tx1"/>
                </a:solidFill>
              </a:rPr>
              <a:t>motion of an Object</a:t>
            </a:r>
            <a:endParaRPr lang="en-US" sz="3200" dirty="0">
              <a:solidFill>
                <a:schemeClr val="tx1"/>
              </a:solidFill>
            </a:endParaRPr>
          </a:p>
        </p:txBody>
      </p:sp>
      <p:pic>
        <p:nvPicPr>
          <p:cNvPr id="2" name="Picture Placeholder 1" descr=" Cyclists - motion of an Objec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6564" r="-36564"/>
          <a:stretch>
            <a:fillRect/>
          </a:stretch>
        </p:blipFill>
        <p:spPr>
          <a:xfrm>
            <a:off x="540543" y="851983"/>
            <a:ext cx="8062913" cy="3201239"/>
          </a:xfrm>
        </p:spPr>
      </p:pic>
      <p:sp>
        <p:nvSpPr>
          <p:cNvPr id="7" name="Text Placeholder 6"/>
          <p:cNvSpPr>
            <a:spLocks noGrp="1"/>
          </p:cNvSpPr>
          <p:nvPr>
            <p:ph type="body" sz="quarter" idx="14"/>
          </p:nvPr>
        </p:nvSpPr>
        <p:spPr>
          <a:xfrm>
            <a:off x="98022" y="4083084"/>
            <a:ext cx="8787161" cy="2431914"/>
          </a:xfrm>
        </p:spPr>
        <p:txBody>
          <a:bodyPr>
            <a:noAutofit/>
          </a:bodyPr>
          <a:lstStyle/>
          <a:p>
            <a:r>
              <a:rPr lang="en-US" sz="2400" b="1" dirty="0">
                <a:solidFill>
                  <a:schemeClr val="tx1"/>
                </a:solidFill>
              </a:rPr>
              <a:t>These cyclists in Vietnam can be described by their position relative to buildings or a canal. Their motion can be described by their change in position, or displacement, in a frame of reference. (credit: Suzan Black)</a:t>
            </a:r>
          </a:p>
          <a:p>
            <a:r>
              <a:rPr lang="en-US" altLang="en-US" sz="2400" b="1" dirty="0">
                <a:solidFill>
                  <a:schemeClr val="tx1"/>
                </a:solidFill>
              </a:rPr>
              <a:t>Any measurement of position, distance, or speed must be made with respect to a reference frame</a:t>
            </a:r>
            <a:endParaRPr lang="en-US" sz="2400" b="1" dirty="0">
              <a:solidFill>
                <a:schemeClr val="tx1"/>
              </a:solidFill>
            </a:endParaRPr>
          </a:p>
        </p:txBody>
      </p:sp>
      <p:pic>
        <p:nvPicPr>
          <p:cNvPr id="6" name="Picture 5" descr="OpenStax logo">
            <a:extLst>
              <a:ext uri="{FF2B5EF4-FFF2-40B4-BE49-F238E27FC236}">
                <a16:creationId xmlns:a16="http://schemas.microsoft.com/office/drawing/2014/main" id="{A5CD4C67-0798-EA29-9B98-D1871B371DB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408146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E3488-ED43-4141-AABF-B553F2E66655}"/>
              </a:ext>
            </a:extLst>
          </p:cNvPr>
          <p:cNvSpPr>
            <a:spLocks noGrp="1"/>
          </p:cNvSpPr>
          <p:nvPr>
            <p:ph type="title"/>
          </p:nvPr>
        </p:nvSpPr>
        <p:spPr/>
        <p:txBody>
          <a:bodyPr>
            <a:normAutofit/>
          </a:bodyPr>
          <a:lstStyle/>
          <a:p>
            <a:pPr algn="ctr"/>
            <a:r>
              <a:rPr lang="en-US" altLang="en-US" sz="2800" b="1" dirty="0">
                <a:solidFill>
                  <a:schemeClr val="tx1"/>
                </a:solidFill>
                <a:cs typeface="Arial" panose="020B0604020202020204" pitchFamily="34" charset="0"/>
              </a:rPr>
              <a:t>Position</a:t>
            </a:r>
            <a:endParaRPr lang="en-US" sz="2800" dirty="0"/>
          </a:p>
        </p:txBody>
      </p:sp>
      <p:sp>
        <p:nvSpPr>
          <p:cNvPr id="4" name="Text Placeholder 3">
            <a:extLst>
              <a:ext uri="{FF2B5EF4-FFF2-40B4-BE49-F238E27FC236}">
                <a16:creationId xmlns:a16="http://schemas.microsoft.com/office/drawing/2014/main" id="{D038B246-8AC8-4341-B2F9-6D263378E806}"/>
              </a:ext>
            </a:extLst>
          </p:cNvPr>
          <p:cNvSpPr>
            <a:spLocks noGrp="1"/>
          </p:cNvSpPr>
          <p:nvPr>
            <p:ph type="body" sz="quarter" idx="14"/>
          </p:nvPr>
        </p:nvSpPr>
        <p:spPr>
          <a:xfrm>
            <a:off x="184239" y="1101334"/>
            <a:ext cx="8775522" cy="4900411"/>
          </a:xfrm>
        </p:spPr>
        <p:txBody>
          <a:bodyPr>
            <a:normAutofit fontScale="92500" lnSpcReduction="10000"/>
          </a:bodyPr>
          <a:lstStyle/>
          <a:p>
            <a:pPr marL="342900" indent="-342900">
              <a:lnSpc>
                <a:spcPct val="160000"/>
              </a:lnSpc>
              <a:buClrTx/>
              <a:buFont typeface="Wingdings" panose="05000000000000000000" pitchFamily="2" charset="2"/>
              <a:buChar char="Ø"/>
            </a:pPr>
            <a:r>
              <a:rPr lang="en-US" b="1" dirty="0"/>
              <a:t>To describe the motion of an object, you must first be able to describe its position (</a:t>
            </a:r>
            <a:r>
              <a:rPr lang="en-US" b="1" i="1" dirty="0"/>
              <a:t>x</a:t>
            </a:r>
            <a:r>
              <a:rPr lang="en-US" b="1" dirty="0"/>
              <a:t>): </a:t>
            </a:r>
            <a:r>
              <a:rPr lang="en-US" b="1" i="1" dirty="0"/>
              <a:t>where it is at any particular time</a:t>
            </a:r>
            <a:r>
              <a:rPr lang="en-US" b="1" dirty="0"/>
              <a:t>.  </a:t>
            </a:r>
          </a:p>
          <a:p>
            <a:pPr marL="342900" indent="-342900">
              <a:lnSpc>
                <a:spcPct val="160000"/>
              </a:lnSpc>
              <a:buClrTx/>
              <a:buFont typeface="Wingdings" panose="05000000000000000000" pitchFamily="2" charset="2"/>
              <a:buChar char="Ø"/>
            </a:pPr>
            <a:r>
              <a:rPr lang="en-US" b="1" dirty="0"/>
              <a:t>Specify its position relative to a convenient frame of reference. </a:t>
            </a:r>
          </a:p>
          <a:p>
            <a:pPr marL="342900" indent="-342900">
              <a:lnSpc>
                <a:spcPct val="160000"/>
              </a:lnSpc>
              <a:buClrTx/>
              <a:buFont typeface="Wingdings" panose="05000000000000000000" pitchFamily="2" charset="2"/>
              <a:buChar char="Ø"/>
            </a:pPr>
            <a:r>
              <a:rPr lang="en-US" b="1" dirty="0"/>
              <a:t>A frame of reference is an arbitrary set of axes from which the position and motion of an object are described. Earth is often used as a frame of reference, and we often describe the position of an object as it relates to stationary objects on Earth.  </a:t>
            </a:r>
          </a:p>
          <a:p>
            <a:pPr marL="342900" indent="-342900">
              <a:lnSpc>
                <a:spcPct val="160000"/>
              </a:lnSpc>
              <a:buClrTx/>
              <a:buFont typeface="Wingdings" panose="05000000000000000000" pitchFamily="2" charset="2"/>
              <a:buChar char="Ø"/>
            </a:pPr>
            <a:r>
              <a:rPr lang="en-US" b="1" dirty="0"/>
              <a:t>To describe the position of an object undergoing one-dimensional motion, we often use the variable </a:t>
            </a:r>
            <a:r>
              <a:rPr lang="en-US" b="1" i="1" dirty="0"/>
              <a:t>x</a:t>
            </a:r>
            <a:r>
              <a:rPr lang="en-US" b="1" dirty="0"/>
              <a:t>. Later in the chapter, during the discussion of free fall, we use the variable </a:t>
            </a:r>
            <a:r>
              <a:rPr lang="en-US" b="1" i="1" dirty="0"/>
              <a:t>y</a:t>
            </a:r>
            <a:r>
              <a:rPr lang="en-US" b="1" dirty="0"/>
              <a:t>.</a:t>
            </a:r>
          </a:p>
        </p:txBody>
      </p:sp>
      <p:pic>
        <p:nvPicPr>
          <p:cNvPr id="5" name="Picture 4" descr="OpenStax logo">
            <a:extLst>
              <a:ext uri="{FF2B5EF4-FFF2-40B4-BE49-F238E27FC236}">
                <a16:creationId xmlns:a16="http://schemas.microsoft.com/office/drawing/2014/main" id="{14649C0B-A7AF-7FC0-E48A-8BF2519E639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0213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DISPLACEMENT"/>
          <p:cNvSpPr>
            <a:spLocks noGrp="1"/>
          </p:cNvSpPr>
          <p:nvPr>
            <p:ph type="title"/>
          </p:nvPr>
        </p:nvSpPr>
        <p:spPr>
          <a:xfrm>
            <a:off x="189913" y="0"/>
            <a:ext cx="8062912" cy="565920"/>
          </a:xfrm>
        </p:spPr>
        <p:txBody>
          <a:bodyPr/>
          <a:lstStyle/>
          <a:p>
            <a:pPr algn="ctr"/>
            <a:r>
              <a:rPr lang="en-US" dirty="0">
                <a:solidFill>
                  <a:schemeClr val="tx1"/>
                </a:solidFill>
              </a:rPr>
              <a:t> </a:t>
            </a:r>
            <a:r>
              <a:rPr lang="en-US" sz="2800" dirty="0">
                <a:solidFill>
                  <a:schemeClr val="tx1"/>
                </a:solidFill>
              </a:rPr>
              <a:t>DISPLACEMENT</a:t>
            </a:r>
          </a:p>
        </p:txBody>
      </p:sp>
      <p:pic>
        <p:nvPicPr>
          <p:cNvPr id="2" name="Picture Placeholder 1" descr=" A professor paces left and right while lecturing. Her position relative to Earth is given by x."/>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l="-263" t="154" r="-1167"/>
          <a:stretch/>
        </p:blipFill>
        <p:spPr>
          <a:xfrm>
            <a:off x="2926080" y="527697"/>
            <a:ext cx="3833707" cy="2313922"/>
          </a:xfrm>
        </p:spPr>
      </p:pic>
      <mc:AlternateContent xmlns:mc="http://schemas.openxmlformats.org/markup-compatibility/2006" xmlns:a14="http://schemas.microsoft.com/office/drawing/2010/main">
        <mc:Choice Requires="a14">
          <p:sp>
            <p:nvSpPr>
              <p:cNvPr id="7" name="Text Placeholder 6" descr="Displacement of the professor relative to Earth is represented by an arrow pointing to the right.&#10;"/>
              <p:cNvSpPr>
                <a:spLocks noGrp="1"/>
              </p:cNvSpPr>
              <p:nvPr>
                <p:ph type="body" sz="quarter" idx="14"/>
              </p:nvPr>
            </p:nvSpPr>
            <p:spPr>
              <a:xfrm>
                <a:off x="154173" y="2803396"/>
                <a:ext cx="8898578" cy="3888657"/>
              </a:xfrm>
            </p:spPr>
            <p:txBody>
              <a:bodyPr>
                <a:noAutofit/>
              </a:bodyPr>
              <a:lstStyle/>
              <a:p>
                <a:pPr marL="342900" indent="-342900">
                  <a:buClrTx/>
                  <a:buFont typeface="Wingdings" panose="05000000000000000000" pitchFamily="2" charset="2"/>
                  <a:buChar char="Ø"/>
                </a:pPr>
                <a:r>
                  <a:rPr lang="en-US" b="1" dirty="0"/>
                  <a:t>A professor paces left and right while lecturing. Her position relative to Earth is given by </a:t>
                </a:r>
                <a:r>
                  <a:rPr lang="en-US" b="1" i="1" dirty="0"/>
                  <a:t>x</a:t>
                </a:r>
                <a:r>
                  <a:rPr lang="en-US" b="1" dirty="0"/>
                  <a:t>. The +2.0-m displacement of the professor relative to Earth is represented by an arrow pointing to the right. </a:t>
                </a:r>
              </a:p>
              <a:p>
                <a:pPr marL="342900" indent="-342900">
                  <a:buClrTx/>
                  <a:buFont typeface="Wingdings" panose="05000000000000000000" pitchFamily="2" charset="2"/>
                  <a:buChar char="Ø"/>
                </a:pPr>
                <a:r>
                  <a:rPr lang="en-US" altLang="en-US" b="1" dirty="0"/>
                  <a:t>The displacement is written:</a:t>
                </a:r>
                <a14:m>
                  <m:oMath xmlns:m="http://schemas.openxmlformats.org/officeDocument/2006/math">
                    <m:r>
                      <a:rPr lang="en-US" altLang="en-US" b="1" i="1" smtClean="0">
                        <a:latin typeface="Cambria Math" panose="02040503050406030204" pitchFamily="18" charset="0"/>
                        <a:ea typeface="Cambria Math" panose="02040503050406030204" pitchFamily="18" charset="0"/>
                      </a:rPr>
                      <m:t>∆</m:t>
                    </m:r>
                    <m:r>
                      <a:rPr lang="en-US" altLang="en-US" b="1" i="1" smtClean="0">
                        <a:latin typeface="Cambria Math" panose="02040503050406030204" pitchFamily="18" charset="0"/>
                        <a:ea typeface="Cambria Math" panose="02040503050406030204" pitchFamily="18" charset="0"/>
                      </a:rPr>
                      <m:t>𝒙</m:t>
                    </m:r>
                    <m:r>
                      <a:rPr lang="en-US" altLang="en-US" b="1" i="1" smtClean="0">
                        <a:latin typeface="Cambria Math" panose="02040503050406030204" pitchFamily="18" charset="0"/>
                        <a:ea typeface="Cambria Math" panose="02040503050406030204" pitchFamily="18" charset="0"/>
                      </a:rPr>
                      <m:t>=</m:t>
                    </m:r>
                    <m:r>
                      <a:rPr lang="en-US" altLang="en-US" b="1" i="1" smtClean="0">
                        <a:latin typeface="Cambria Math" panose="02040503050406030204" pitchFamily="18" charset="0"/>
                        <a:ea typeface="Cambria Math" panose="02040503050406030204" pitchFamily="18" charset="0"/>
                      </a:rPr>
                      <m:t>𝒙𝒇</m:t>
                    </m:r>
                    <m:r>
                      <a:rPr lang="en-US" altLang="en-US" b="1" i="1" smtClean="0">
                        <a:latin typeface="Cambria Math" panose="02040503050406030204" pitchFamily="18" charset="0"/>
                        <a:ea typeface="Cambria Math" panose="02040503050406030204" pitchFamily="18" charset="0"/>
                      </a:rPr>
                      <m:t>−</m:t>
                    </m:r>
                    <m:r>
                      <a:rPr lang="en-US" altLang="en-US" b="1" i="1" smtClean="0">
                        <a:latin typeface="Cambria Math" panose="02040503050406030204" pitchFamily="18" charset="0"/>
                        <a:ea typeface="Cambria Math" panose="02040503050406030204" pitchFamily="18" charset="0"/>
                      </a:rPr>
                      <m:t>𝒙</m:t>
                    </m:r>
                    <m:r>
                      <a:rPr lang="en-US" altLang="en-US" b="1" i="1" baseline="-25000" smtClean="0">
                        <a:latin typeface="Cambria Math" panose="02040503050406030204" pitchFamily="18" charset="0"/>
                        <a:ea typeface="Cambria Math" panose="02040503050406030204" pitchFamily="18" charset="0"/>
                      </a:rPr>
                      <m:t>𝟎</m:t>
                    </m:r>
                  </m:oMath>
                </a14:m>
                <a:r>
                  <a:rPr lang="en-US" b="1" baseline="-25000" dirty="0">
                    <a:ea typeface="Cambria Math" panose="02040503050406030204" pitchFamily="18" charset="0"/>
                  </a:rPr>
                  <a:t>        </a:t>
                </a:r>
                <a:r>
                  <a:rPr lang="en-US" b="1" dirty="0"/>
                  <a:t>SI units of displacement is  meters.</a:t>
                </a:r>
              </a:p>
              <a:p>
                <a:pPr marL="342900" indent="-342900">
                  <a:buClrTx/>
                  <a:buFont typeface="Wingdings" panose="05000000000000000000" pitchFamily="2" charset="2"/>
                  <a:buChar char="Ø"/>
                </a:pPr>
                <a:r>
                  <a:rPr lang="en-US" b="1" dirty="0"/>
                  <a:t>Displacement is a vector quantity. </a:t>
                </a:r>
              </a:p>
              <a:p>
                <a:pPr marL="342900" indent="-342900">
                  <a:buClrTx/>
                  <a:buFont typeface="Wingdings" panose="05000000000000000000" pitchFamily="2" charset="2"/>
                  <a:buChar char="Ø"/>
                </a:pPr>
                <a:r>
                  <a:rPr lang="en-US" altLang="en-US" b="1" dirty="0"/>
                  <a:t>Displacement can be positive or negative depending on the direction.  </a:t>
                </a:r>
              </a:p>
              <a:p>
                <a:pPr marL="342900" indent="-342900">
                  <a:buClrTx/>
                  <a:buFont typeface="Wingdings" panose="05000000000000000000" pitchFamily="2" charset="2"/>
                  <a:buChar char="Ø"/>
                </a:pPr>
                <a:r>
                  <a:rPr lang="en-US" b="1" dirty="0"/>
                  <a:t>Total displacement </a:t>
                </a:r>
                <a:r>
                  <a:rPr lang="en-US" b="1" dirty="0" err="1"/>
                  <a:t>Δx</a:t>
                </a:r>
                <a:r>
                  <a:rPr lang="en-US" b="1" baseline="-25000" dirty="0" err="1"/>
                  <a:t>Total</a:t>
                </a:r>
                <a:r>
                  <a:rPr lang="en-US" b="1" dirty="0"/>
                  <a:t>, is the sum of the individual displacements.</a:t>
                </a:r>
              </a:p>
              <a:p>
                <a:r>
                  <a:rPr lang="en-US" b="1" dirty="0">
                    <a:solidFill>
                      <a:srgbClr val="0066FF"/>
                    </a:solidFill>
                    <a:hlinkClick r:id="rId3">
                      <a:extLst>
                        <a:ext uri="{A12FA001-AC4F-418D-AE19-62706E023703}">
                          <ahyp:hlinkClr xmlns:ahyp="http://schemas.microsoft.com/office/drawing/2018/hyperlinkcolor" val="tx"/>
                        </a:ext>
                      </a:extLst>
                    </a:hlinkClick>
                  </a:rPr>
                  <a:t>Click here to watch video on Reference Frame and Displacement</a:t>
                </a:r>
                <a:endParaRPr lang="en-US" b="1" dirty="0">
                  <a:solidFill>
                    <a:srgbClr val="0066FF"/>
                  </a:solidFill>
                </a:endParaRPr>
              </a:p>
            </p:txBody>
          </p:sp>
        </mc:Choice>
        <mc:Fallback xmlns="">
          <p:sp>
            <p:nvSpPr>
              <p:cNvPr id="7" name="Text Placeholder 6" descr="Displacement of the professor relative to Earth is represented by an arrow pointing to the right.&#10;"/>
              <p:cNvSpPr>
                <a:spLocks noGrp="1" noRot="1" noChangeAspect="1" noMove="1" noResize="1" noEditPoints="1" noAdjustHandles="1" noChangeArrowheads="1" noChangeShapeType="1" noTextEdit="1"/>
              </p:cNvSpPr>
              <p:nvPr>
                <p:ph type="body" sz="quarter" idx="14"/>
              </p:nvPr>
            </p:nvSpPr>
            <p:spPr>
              <a:xfrm>
                <a:off x="154173" y="2803396"/>
                <a:ext cx="8898578" cy="3888657"/>
              </a:xfrm>
              <a:blipFill>
                <a:blip r:embed="rId4"/>
                <a:stretch>
                  <a:fillRect l="-685" t="-784" r="-753" b="-1254"/>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DB52C7E8-0BE7-35D8-9BB0-C8907ECEB29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89268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7400" y="199230"/>
            <a:ext cx="6718300" cy="623889"/>
          </a:xfrm>
        </p:spPr>
        <p:txBody>
          <a:bodyPr>
            <a:noAutofit/>
          </a:bodyPr>
          <a:lstStyle/>
          <a:p>
            <a:r>
              <a:rPr lang="en-US" altLang="en-US" sz="2800" b="1" dirty="0">
                <a:solidFill>
                  <a:schemeClr val="tx1"/>
                </a:solidFill>
              </a:rPr>
              <a:t>Distance and Displacement</a:t>
            </a:r>
            <a:endParaRPr lang="en-US" sz="2800" dirty="0">
              <a:solidFill>
                <a:schemeClr val="tx1"/>
              </a:solidFill>
            </a:endParaRPr>
          </a:p>
        </p:txBody>
      </p:sp>
      <p:sp>
        <p:nvSpPr>
          <p:cNvPr id="33796" name="Text Box 4"/>
          <p:cNvSpPr txBox="1">
            <a:spLocks noChangeArrowheads="1"/>
          </p:cNvSpPr>
          <p:nvPr/>
        </p:nvSpPr>
        <p:spPr bwMode="auto">
          <a:xfrm>
            <a:off x="109470" y="823119"/>
            <a:ext cx="8970136" cy="573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lnSpc>
                <a:spcPct val="150000"/>
              </a:lnSpc>
              <a:spcBef>
                <a:spcPct val="50000"/>
              </a:spcBef>
              <a:buFont typeface="Wingdings" panose="05000000000000000000" pitchFamily="2" charset="2"/>
              <a:buChar char="Ø"/>
            </a:pPr>
            <a:r>
              <a:rPr lang="en-US" altLang="en-US" sz="2400" b="1" dirty="0"/>
              <a:t>Displacement  is how far the object is from its starting point, regardless of how it got there.</a:t>
            </a:r>
          </a:p>
          <a:p>
            <a:pPr marL="342900" indent="-342900" eaLnBrk="1" hangingPunct="1">
              <a:lnSpc>
                <a:spcPct val="150000"/>
              </a:lnSpc>
              <a:spcBef>
                <a:spcPct val="50000"/>
              </a:spcBef>
              <a:buFont typeface="Wingdings" panose="05000000000000000000" pitchFamily="2" charset="2"/>
              <a:buChar char="Ø"/>
            </a:pPr>
            <a:r>
              <a:rPr lang="en-US" altLang="en-US" sz="2400" b="1" dirty="0"/>
              <a:t>Distance traveled is measured along the actual path. Distance is the path length traveled from one location to another. It will vary depending on the path. </a:t>
            </a:r>
          </a:p>
          <a:p>
            <a:pPr marL="342900" indent="-342900">
              <a:lnSpc>
                <a:spcPct val="150000"/>
              </a:lnSpc>
              <a:buFont typeface="Wingdings" panose="05000000000000000000" pitchFamily="2" charset="2"/>
              <a:buChar char="Ø"/>
            </a:pPr>
            <a:r>
              <a:rPr lang="en-US" altLang="en-US" sz="2400" b="1" dirty="0"/>
              <a:t>Distance is a scalar quantity—it is described only by a magnitude. </a:t>
            </a:r>
            <a:r>
              <a:rPr lang="en-US" sz="2400" b="1" dirty="0"/>
              <a:t>SI units of distance is  meters</a:t>
            </a:r>
            <a:endParaRPr lang="en-US" altLang="en-US" sz="2400" b="1" dirty="0"/>
          </a:p>
          <a:p>
            <a:pPr>
              <a:lnSpc>
                <a:spcPct val="200000"/>
              </a:lnSpc>
              <a:buNone/>
            </a:pPr>
            <a:r>
              <a:rPr lang="en-US" sz="2400" b="1" dirty="0">
                <a:hlinkClick r:id="rId3"/>
              </a:rPr>
              <a:t>Kinematics -1 Video</a:t>
            </a:r>
            <a:endParaRPr lang="en-US" sz="2400" b="1" dirty="0"/>
          </a:p>
          <a:p>
            <a:pPr>
              <a:lnSpc>
                <a:spcPct val="200000"/>
              </a:lnSpc>
              <a:buNone/>
            </a:pPr>
            <a:r>
              <a:rPr lang="en-US" sz="2400" b="1" dirty="0">
                <a:hlinkClick r:id="rId4"/>
              </a:rPr>
              <a:t>Kinematics 2- Video</a:t>
            </a:r>
            <a:endParaRPr lang="en-US" altLang="en-US" sz="2400" b="1" dirty="0"/>
          </a:p>
        </p:txBody>
      </p:sp>
      <p:pic>
        <p:nvPicPr>
          <p:cNvPr id="2" name="Picture 1" descr="Raji K Physics Logo">
            <a:extLst>
              <a:ext uri="{FF2B5EF4-FFF2-40B4-BE49-F238E27FC236}">
                <a16:creationId xmlns:a16="http://schemas.microsoft.com/office/drawing/2014/main" id="{6A5B680A-5E6D-1730-F244-CE053E90855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8217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1" y="109471"/>
            <a:ext cx="8062912" cy="598207"/>
          </a:xfrm>
        </p:spPr>
        <p:txBody>
          <a:bodyPr>
            <a:noAutofit/>
          </a:bodyPr>
          <a:lstStyle/>
          <a:p>
            <a:pPr algn="ctr"/>
            <a:r>
              <a:rPr lang="en-US" sz="2800" dirty="0">
                <a:solidFill>
                  <a:schemeClr val="tx1"/>
                </a:solidFill>
              </a:rPr>
              <a:t> </a:t>
            </a:r>
            <a:r>
              <a:rPr lang="en-US" sz="2800" b="1" dirty="0">
                <a:solidFill>
                  <a:schemeClr val="tx1"/>
                </a:solidFill>
              </a:rPr>
              <a:t>Check Your Understanding 3.1</a:t>
            </a:r>
            <a:endParaRPr lang="en-US" sz="2800" dirty="0">
              <a:solidFill>
                <a:schemeClr val="tx1"/>
              </a:solidFill>
            </a:endParaRPr>
          </a:p>
        </p:txBody>
      </p:sp>
      <p:pic>
        <p:nvPicPr>
          <p:cNvPr id="2" name="Picture Placeholder 1" descr="Figure shows timeline of cyclist’s movement. First displacement is to the left by 3.0 kilometers. Second displacement is from the final point to the right by 2.0 kilometers."/>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227" t="-21753" b="407"/>
          <a:stretch/>
        </p:blipFill>
        <p:spPr>
          <a:xfrm>
            <a:off x="549709" y="765079"/>
            <a:ext cx="8044581" cy="2959597"/>
          </a:xfrm>
        </p:spPr>
      </p:pic>
      <p:sp>
        <p:nvSpPr>
          <p:cNvPr id="3" name="Rectangle 1">
            <a:extLst>
              <a:ext uri="{FF2B5EF4-FFF2-40B4-BE49-F238E27FC236}">
                <a16:creationId xmlns:a16="http://schemas.microsoft.com/office/drawing/2014/main" id="{9F86B01A-DF68-4351-A5FB-5B5EE481E20D}"/>
              </a:ext>
            </a:extLst>
          </p:cNvPr>
          <p:cNvSpPr>
            <a:spLocks noChangeArrowheads="1"/>
          </p:cNvSpPr>
          <p:nvPr/>
        </p:nvSpPr>
        <p:spPr bwMode="auto">
          <a:xfrm>
            <a:off x="457199" y="4060104"/>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A cyclist rides 3 km west and then turns around and rides 2 km east. (a) What is his displacement?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 (b) What is the distance traveled? (c) What is the magnitude of his displacement?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hlinkClick r:id="rId3"/>
              </a:rPr>
              <a:t>Click here for Solution: Check Your Understanding 3.1</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pic>
        <p:nvPicPr>
          <p:cNvPr id="6" name="Picture 5" descr="OpenStax logo">
            <a:extLst>
              <a:ext uri="{FF2B5EF4-FFF2-40B4-BE49-F238E27FC236}">
                <a16:creationId xmlns:a16="http://schemas.microsoft.com/office/drawing/2014/main" id="{D6EF31B4-35D8-DC91-47A2-74771B44569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177111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00721"/>
            <a:ext cx="8517467" cy="598767"/>
          </a:xfrm>
        </p:spPr>
        <p:txBody>
          <a:bodyPr>
            <a:normAutofit/>
          </a:bodyPr>
          <a:lstStyle/>
          <a:p>
            <a:pPr algn="ctr"/>
            <a:r>
              <a:rPr lang="en-US" sz="2800" b="1" dirty="0">
                <a:solidFill>
                  <a:schemeClr val="tx1"/>
                </a:solidFill>
              </a:rPr>
              <a:t>Concept QUESTIONS</a:t>
            </a:r>
          </a:p>
        </p:txBody>
      </p:sp>
      <p:sp>
        <p:nvSpPr>
          <p:cNvPr id="39939" name="Rectangle 2"/>
          <p:cNvSpPr>
            <a:spLocks noChangeArrowheads="1"/>
          </p:cNvSpPr>
          <p:nvPr/>
        </p:nvSpPr>
        <p:spPr bwMode="auto">
          <a:xfrm>
            <a:off x="180278" y="1280531"/>
            <a:ext cx="8865248"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b="1" dirty="0">
                <a:solidFill>
                  <a:srgbClr val="000000"/>
                </a:solidFill>
              </a:rPr>
              <a:t>1) </a:t>
            </a:r>
            <a:r>
              <a:rPr lang="en-US" altLang="en-US" sz="2400" b="1" dirty="0"/>
              <a:t>What can be said about distance traveled relative to the magnitude of displacement? </a:t>
            </a:r>
          </a:p>
          <a:p>
            <a:pPr eaLnBrk="1" hangingPunct="1">
              <a:spcBef>
                <a:spcPct val="0"/>
              </a:spcBef>
              <a:buFontTx/>
              <a:buNone/>
            </a:pPr>
            <a:endParaRPr lang="en-US" altLang="en-US" sz="2400" b="1" dirty="0"/>
          </a:p>
          <a:p>
            <a:pPr marL="514350" indent="-514350">
              <a:spcBef>
                <a:spcPct val="0"/>
              </a:spcBef>
              <a:buAutoNum type="alphaLcParenBoth"/>
            </a:pPr>
            <a:r>
              <a:rPr lang="en-US" altLang="en-US" sz="2400" b="1" dirty="0"/>
              <a:t>greater than, (b) equal to, (c) both a and b.</a:t>
            </a:r>
          </a:p>
          <a:p>
            <a:pPr marL="514350" indent="-514350">
              <a:spcBef>
                <a:spcPct val="0"/>
              </a:spcBef>
              <a:buAutoNum type="alphaLcParenBoth"/>
            </a:pPr>
            <a:endParaRPr lang="en-US" altLang="en-US" sz="2400" b="1" dirty="0">
              <a:solidFill>
                <a:srgbClr val="000000"/>
              </a:solidFill>
              <a:sym typeface="Wingdings" panose="05000000000000000000" pitchFamily="2" charset="2"/>
            </a:endParaRPr>
          </a:p>
          <a:p>
            <a:pPr marL="0" indent="0">
              <a:spcBef>
                <a:spcPct val="0"/>
              </a:spcBef>
              <a:buNone/>
            </a:pPr>
            <a:r>
              <a:rPr lang="en-US" altLang="en-US" sz="2400" b="1" dirty="0">
                <a:solidFill>
                  <a:srgbClr val="000000"/>
                </a:solidFill>
                <a:sym typeface="Wingdings" panose="05000000000000000000" pitchFamily="2" charset="2"/>
              </a:rPr>
              <a:t> 2)</a:t>
            </a:r>
            <a:r>
              <a:rPr lang="en-US" altLang="en-US" sz="2400" b="1" dirty="0">
                <a:solidFill>
                  <a:srgbClr val="000000"/>
                </a:solidFill>
              </a:rPr>
              <a:t> </a:t>
            </a:r>
            <a:r>
              <a:rPr lang="en-US" altLang="en-US" sz="2400" b="1" dirty="0">
                <a:solidFill>
                  <a:srgbClr val="000000"/>
                </a:solidFill>
                <a:sym typeface="Wingdings" panose="05000000000000000000" pitchFamily="2" charset="2"/>
              </a:rPr>
              <a:t>What is the magnitude of the displacement of a car that travels half a lap along a circle that has a radius of 100 m? How about when the car travels a full lap?  </a:t>
            </a:r>
          </a:p>
          <a:p>
            <a:pPr marL="0" indent="0">
              <a:spcBef>
                <a:spcPct val="0"/>
              </a:spcBef>
              <a:buNone/>
            </a:pPr>
            <a:r>
              <a:rPr lang="en-US" altLang="en-US" sz="2400" b="1" dirty="0"/>
              <a:t>   </a:t>
            </a:r>
          </a:p>
          <a:p>
            <a:pPr marL="0" indent="0">
              <a:spcBef>
                <a:spcPct val="0"/>
              </a:spcBef>
              <a:buNone/>
            </a:pPr>
            <a:r>
              <a:rPr lang="en-US" altLang="en-US" sz="2400" b="1" dirty="0"/>
              <a:t> </a:t>
            </a:r>
            <a:r>
              <a:rPr lang="en-US" altLang="en-US" sz="2400" b="1" dirty="0">
                <a:solidFill>
                  <a:srgbClr val="0066FF"/>
                </a:solidFill>
              </a:rPr>
              <a:t>Check  foot note for  answers</a:t>
            </a:r>
          </a:p>
        </p:txBody>
      </p:sp>
      <p:pic>
        <p:nvPicPr>
          <p:cNvPr id="3" name="Picture 2" descr="Raji K Physics Logo">
            <a:extLst>
              <a:ext uri="{FF2B5EF4-FFF2-40B4-BE49-F238E27FC236}">
                <a16:creationId xmlns:a16="http://schemas.microsoft.com/office/drawing/2014/main" id="{DAAA8457-7F3A-5C58-AB11-DEC4ED4BE9E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5673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56434" y="132123"/>
            <a:ext cx="5791200" cy="551649"/>
          </a:xfrm>
        </p:spPr>
        <p:txBody>
          <a:bodyPr>
            <a:normAutofit/>
          </a:bodyPr>
          <a:lstStyle/>
          <a:p>
            <a:pPr algn="ctr"/>
            <a:r>
              <a:rPr lang="en-US" altLang="en-US" sz="2800" b="1" dirty="0">
                <a:solidFill>
                  <a:schemeClr val="tx1"/>
                </a:solidFill>
              </a:rPr>
              <a:t>Average SPEED, Velocity</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44036" name="Text Box 3"/>
              <p:cNvSpPr txBox="1">
                <a:spLocks noChangeArrowheads="1"/>
              </p:cNvSpPr>
              <p:nvPr/>
            </p:nvSpPr>
            <p:spPr bwMode="auto">
              <a:xfrm>
                <a:off x="257386" y="641820"/>
                <a:ext cx="8730827" cy="53165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b="1" dirty="0"/>
                  <a:t>Speed is how far an object travels in a given time interval:</a:t>
                </a:r>
              </a:p>
              <a:p>
                <a:pPr>
                  <a:spcBef>
                    <a:spcPct val="50000"/>
                  </a:spcBef>
                  <a:buNone/>
                </a:pPr>
                <a:r>
                  <a:rPr lang="en-US" b="1" dirty="0">
                    <a:latin typeface="Cambria Math" panose="02040503050406030204" pitchFamily="18" charset="0"/>
                    <a:ea typeface="Cambria Math" panose="02040503050406030204" pitchFamily="18" charset="0"/>
                  </a:rPr>
                  <a:t>S</a:t>
                </a:r>
                <a:r>
                  <a:rPr lang="en-US" b="1" baseline="-25000" dirty="0">
                    <a:latin typeface="Cambria Math" panose="02040503050406030204" pitchFamily="18" charset="0"/>
                    <a:ea typeface="Cambria Math" panose="02040503050406030204" pitchFamily="18" charset="0"/>
                  </a:rPr>
                  <a:t>avg</a:t>
                </a:r>
                <a:r>
                  <a:rPr lang="en-US" b="1" dirty="0">
                    <a:latin typeface="Cambria Math" panose="02040503050406030204" pitchFamily="18" charset="0"/>
                    <a:ea typeface="Cambria Math" panose="02040503050406030204" pitchFamily="18" charset="0"/>
                  </a:rPr>
                  <a:t> = </a:t>
                </a:r>
                <a14:m>
                  <m:oMath xmlns:m="http://schemas.openxmlformats.org/officeDocument/2006/math">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𝒕𝒐𝒕𝒂𝒍</m:t>
                        </m:r>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𝒅𝒊𝒔𝒕𝒂𝒏𝒄𝒆</m:t>
                        </m:r>
                        <m:r>
                          <a:rPr lang="en-US" sz="3600" b="1" i="1">
                            <a:latin typeface="Cambria Math" panose="02040503050406030204" pitchFamily="18" charset="0"/>
                            <a:ea typeface="Cambria Math" panose="02040503050406030204" pitchFamily="18" charset="0"/>
                          </a:rPr>
                          <m:t> </m:t>
                        </m:r>
                        <m:d>
                          <m:dPr>
                            <m:ctrlPr>
                              <a:rPr lang="en-US" sz="3600" b="1" i="1">
                                <a:latin typeface="Cambria Math" panose="02040503050406030204" pitchFamily="18" charset="0"/>
                                <a:ea typeface="Cambria Math" panose="02040503050406030204" pitchFamily="18" charset="0"/>
                              </a:rPr>
                            </m:ctrlPr>
                          </m:dPr>
                          <m:e>
                            <m:r>
                              <a:rPr lang="en-US" sz="3600" b="1" i="1">
                                <a:latin typeface="Cambria Math" panose="02040503050406030204" pitchFamily="18" charset="0"/>
                                <a:ea typeface="Cambria Math" panose="02040503050406030204" pitchFamily="18" charset="0"/>
                              </a:rPr>
                              <m:t>𝒅</m:t>
                            </m:r>
                          </m:e>
                        </m:d>
                      </m:num>
                      <m:den>
                        <m:r>
                          <a:rPr lang="en-US" sz="3600" b="1" i="1">
                            <a:latin typeface="Cambria Math" panose="02040503050406030204" pitchFamily="18" charset="0"/>
                            <a:ea typeface="Cambria Math" panose="02040503050406030204" pitchFamily="18" charset="0"/>
                          </a:rPr>
                          <m:t>𝒕𝒐𝒕𝒂𝒍</m:t>
                        </m:r>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𝒕𝒊𝒎𝒆</m:t>
                        </m:r>
                      </m:den>
                    </m:f>
                  </m:oMath>
                </a14:m>
                <a:r>
                  <a:rPr lang="en-US" sz="3600" b="1" dirty="0"/>
                  <a:t> =  </a:t>
                </a:r>
                <a14:m>
                  <m:oMath xmlns:m="http://schemas.openxmlformats.org/officeDocument/2006/math">
                    <m:f>
                      <m:fPr>
                        <m:ctrlPr>
                          <a:rPr lang="en-US" sz="3600" b="1" i="1">
                            <a:latin typeface="Cambria Math" panose="02040503050406030204" pitchFamily="18" charset="0"/>
                          </a:rPr>
                        </m:ctrlPr>
                      </m:fPr>
                      <m:num>
                        <m:r>
                          <a:rPr lang="en-US" sz="3600" b="1" i="1">
                            <a:latin typeface="Cambria Math" panose="02040503050406030204" pitchFamily="18" charset="0"/>
                          </a:rPr>
                          <m:t> </m:t>
                        </m:r>
                        <m:r>
                          <a:rPr lang="en-US" sz="3600" b="1" i="1">
                            <a:latin typeface="Cambria Math" panose="02040503050406030204" pitchFamily="18" charset="0"/>
                          </a:rPr>
                          <m:t>𝒅</m:t>
                        </m:r>
                      </m:num>
                      <m:den>
                        <m:r>
                          <a:rPr lang="en-US" sz="3600" b="1" i="1">
                            <a:latin typeface="Cambria Math" panose="02040503050406030204" pitchFamily="18" charset="0"/>
                          </a:rPr>
                          <m:t> </m:t>
                        </m:r>
                        <m:r>
                          <a:rPr lang="en-US" sz="3600" b="1" i="1">
                            <a:latin typeface="Cambria Math" panose="02040503050406030204" pitchFamily="18" charset="0"/>
                          </a:rPr>
                          <m:t>𝒕</m:t>
                        </m:r>
                      </m:den>
                    </m:f>
                  </m:oMath>
                </a14:m>
                <a:r>
                  <a:rPr lang="en-US" sz="3600" b="1" dirty="0"/>
                  <a:t>    </a:t>
                </a:r>
                <a:r>
                  <a:rPr lang="en-US" altLang="en-US" sz="3600" b="1" dirty="0">
                    <a:latin typeface="Cambria Math" panose="02040503050406030204" pitchFamily="18" charset="0"/>
                    <a:ea typeface="Cambria Math" panose="02040503050406030204" pitchFamily="18" charset="0"/>
                  </a:rPr>
                  <a:t>units: m/s</a:t>
                </a:r>
                <a:endParaRPr lang="en-US" sz="3600" b="1" dirty="0"/>
              </a:p>
              <a:p>
                <a:pPr>
                  <a:spcBef>
                    <a:spcPct val="50000"/>
                  </a:spcBef>
                  <a:buNone/>
                </a:pPr>
                <a:r>
                  <a:rPr lang="en-US" altLang="en-US" sz="2400" b="1" dirty="0"/>
                  <a:t>Velocity includes directional information:</a:t>
                </a:r>
              </a:p>
              <a:p>
                <a:pPr>
                  <a:spcBef>
                    <a:spcPct val="50000"/>
                  </a:spcBef>
                  <a:buNone/>
                </a:pPr>
                <a:r>
                  <a:rPr lang="en-US" sz="3600" b="1" dirty="0">
                    <a:latin typeface="Cambria Math" panose="02040503050406030204" pitchFamily="18" charset="0"/>
                    <a:ea typeface="Cambria Math" panose="02040503050406030204" pitchFamily="18" charset="0"/>
                  </a:rPr>
                  <a:t>V</a:t>
                </a:r>
                <a:r>
                  <a:rPr lang="en-US" sz="3600" b="1" baseline="-25000" dirty="0">
                    <a:latin typeface="Cambria Math" panose="02040503050406030204" pitchFamily="18" charset="0"/>
                    <a:ea typeface="Cambria Math" panose="02040503050406030204" pitchFamily="18" charset="0"/>
                  </a:rPr>
                  <a:t>avg</a:t>
                </a:r>
                <a:r>
                  <a:rPr lang="en-US" sz="3600" b="1" dirty="0">
                    <a:latin typeface="Cambria Math" panose="02040503050406030204" pitchFamily="18" charset="0"/>
                    <a:ea typeface="Cambria Math" panose="02040503050406030204" pitchFamily="18" charset="0"/>
                  </a:rPr>
                  <a:t> = </a:t>
                </a:r>
                <a14:m>
                  <m:oMath xmlns:m="http://schemas.openxmlformats.org/officeDocument/2006/math">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𝒕𝒐𝒕𝒂𝒍</m:t>
                        </m:r>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𝒅𝒊𝒔𝒑𝒍𝒂𝒄𝒆𝒎𝒆𝒏𝒕</m:t>
                        </m:r>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𝒙</m:t>
                        </m:r>
                        <m:r>
                          <a:rPr lang="en-US" sz="3600" b="1" i="1">
                            <a:latin typeface="Cambria Math" panose="02040503050406030204" pitchFamily="18" charset="0"/>
                            <a:ea typeface="Cambria Math" panose="02040503050406030204" pitchFamily="18" charset="0"/>
                          </a:rPr>
                          <m:t>)</m:t>
                        </m:r>
                      </m:num>
                      <m:den>
                        <m:r>
                          <a:rPr lang="en-US" sz="3600" b="1" i="1">
                            <a:latin typeface="Cambria Math" panose="02040503050406030204" pitchFamily="18" charset="0"/>
                            <a:ea typeface="Cambria Math" panose="02040503050406030204" pitchFamily="18" charset="0"/>
                          </a:rPr>
                          <m:t>𝒕𝒐𝒕𝒂𝒍</m:t>
                        </m:r>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𝒕𝒊𝒎𝒆</m:t>
                        </m:r>
                      </m:den>
                    </m:f>
                  </m:oMath>
                </a14:m>
                <a:r>
                  <a:rPr lang="en-US" sz="3600" b="1" dirty="0">
                    <a:latin typeface="Cambria Math" panose="02040503050406030204" pitchFamily="18" charset="0"/>
                    <a:ea typeface="Cambria Math" panose="02040503050406030204" pitchFamily="18" charset="0"/>
                  </a:rPr>
                  <a:t> =  </a:t>
                </a:r>
                <a14:m>
                  <m:oMath xmlns:m="http://schemas.openxmlformats.org/officeDocument/2006/math">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𝒙𝒇</m:t>
                        </m:r>
                        <m:r>
                          <a:rPr lang="en-US" sz="3600" b="1" i="1" smtClean="0">
                            <a:latin typeface="Cambria Math" panose="02040503050406030204" pitchFamily="18" charset="0"/>
                            <a:ea typeface="Cambria Math" panose="02040503050406030204" pitchFamily="18" charset="0"/>
                          </a:rPr>
                          <m:t>−</m:t>
                        </m:r>
                        <m:r>
                          <a:rPr lang="en-US" sz="3600" b="1" i="1" baseline="-25000">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𝒙</m:t>
                        </m:r>
                        <m:r>
                          <a:rPr lang="en-US" sz="3600" b="1" i="1" baseline="-25000" smtClean="0">
                            <a:latin typeface="Cambria Math" panose="02040503050406030204" pitchFamily="18" charset="0"/>
                            <a:ea typeface="Cambria Math" panose="02040503050406030204" pitchFamily="18" charset="0"/>
                          </a:rPr>
                          <m:t>𝟎</m:t>
                        </m:r>
                        <m:r>
                          <a:rPr lang="en-US" sz="3600" b="1" i="1">
                            <a:latin typeface="Cambria Math" panose="02040503050406030204" pitchFamily="18" charset="0"/>
                            <a:ea typeface="Cambria Math" panose="02040503050406030204" pitchFamily="18" charset="0"/>
                          </a:rPr>
                          <m:t> </m:t>
                        </m:r>
                      </m:num>
                      <m:den>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𝒕</m:t>
                        </m:r>
                      </m:den>
                    </m:f>
                  </m:oMath>
                </a14:m>
                <a:r>
                  <a:rPr lang="en-US" altLang="en-US" sz="3600" b="1" dirty="0">
                    <a:latin typeface="Cambria Math" panose="02040503050406030204" pitchFamily="18" charset="0"/>
                    <a:ea typeface="Cambria Math" panose="02040503050406030204" pitchFamily="18" charset="0"/>
                  </a:rPr>
                  <a:t> </a:t>
                </a:r>
              </a:p>
              <a:p>
                <a:pPr>
                  <a:spcBef>
                    <a:spcPct val="50000"/>
                  </a:spcBef>
                  <a:buNone/>
                </a:pPr>
                <a:r>
                  <a:rPr lang="en-US" altLang="en-US" sz="2800" b="1" dirty="0">
                    <a:latin typeface="Cambria Math" panose="02040503050406030204" pitchFamily="18" charset="0"/>
                    <a:ea typeface="Cambria Math" panose="02040503050406030204" pitchFamily="18" charset="0"/>
                  </a:rPr>
                  <a:t>units: m/s</a:t>
                </a:r>
                <a:endParaRPr lang="en-US" sz="2800" dirty="0">
                  <a:latin typeface="Cambria Math" panose="02040503050406030204" pitchFamily="18" charset="0"/>
                  <a:ea typeface="Cambria Math" panose="02040503050406030204" pitchFamily="18" charset="0"/>
                </a:endParaRPr>
              </a:p>
              <a:p>
                <a:pPr>
                  <a:spcBef>
                    <a:spcPct val="50000"/>
                  </a:spcBef>
                  <a:buNone/>
                </a:pPr>
                <a:r>
                  <a:rPr lang="en-US" sz="2400" b="1" dirty="0">
                    <a:solidFill>
                      <a:srgbClr val="0066FF"/>
                    </a:solidFill>
                    <a:hlinkClick r:id="rId3">
                      <a:extLst>
                        <a:ext uri="{A12FA001-AC4F-418D-AE19-62706E023703}">
                          <ahyp:hlinkClr xmlns:ahyp="http://schemas.microsoft.com/office/drawing/2018/hyperlinkcolor" val="tx"/>
                        </a:ext>
                      </a:extLst>
                    </a:hlinkClick>
                  </a:rPr>
                  <a:t>Click here to watch video on Average Velocity</a:t>
                </a:r>
                <a:endParaRPr lang="en-US" altLang="en-US" sz="2400" b="1" dirty="0">
                  <a:solidFill>
                    <a:srgbClr val="0066FF"/>
                  </a:solidFill>
                </a:endParaRPr>
              </a:p>
              <a:p>
                <a:pPr>
                  <a:spcBef>
                    <a:spcPct val="50000"/>
                  </a:spcBef>
                  <a:buNone/>
                </a:pPr>
                <a:r>
                  <a:rPr lang="en-US" altLang="en-US" sz="2400" b="1" dirty="0">
                    <a:solidFill>
                      <a:srgbClr val="0066FF"/>
                    </a:solidFill>
                    <a:hlinkClick r:id="rId4">
                      <a:extLst>
                        <a:ext uri="{A12FA001-AC4F-418D-AE19-62706E023703}">
                          <ahyp:hlinkClr xmlns:ahyp="http://schemas.microsoft.com/office/drawing/2018/hyperlinkcolor" val="tx"/>
                        </a:ext>
                      </a:extLst>
                    </a:hlinkClick>
                  </a:rPr>
                  <a:t>Click here to watch video on Instantaneous Velocity</a:t>
                </a:r>
                <a:endParaRPr lang="en-US" altLang="en-US" sz="2400" b="1" dirty="0">
                  <a:solidFill>
                    <a:srgbClr val="0066FF"/>
                  </a:solidFill>
                </a:endParaRPr>
              </a:p>
            </p:txBody>
          </p:sp>
        </mc:Choice>
        <mc:Fallback xmlns="">
          <p:sp>
            <p:nvSpPr>
              <p:cNvPr id="44036" name="Text Box 3"/>
              <p:cNvSpPr txBox="1">
                <a:spLocks noRot="1" noChangeAspect="1" noMove="1" noResize="1" noEditPoints="1" noAdjustHandles="1" noChangeArrowheads="1" noChangeShapeType="1" noTextEdit="1"/>
              </p:cNvSpPr>
              <p:nvPr/>
            </p:nvSpPr>
            <p:spPr bwMode="auto">
              <a:xfrm>
                <a:off x="257386" y="641820"/>
                <a:ext cx="8730827" cy="5316520"/>
              </a:xfrm>
              <a:prstGeom prst="rect">
                <a:avLst/>
              </a:prstGeom>
              <a:blipFill>
                <a:blip r:embed="rId5"/>
                <a:stretch>
                  <a:fillRect l="-2095" t="-8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 name="Picture 1" descr="Raji K Physics Logo">
            <a:extLst>
              <a:ext uri="{FF2B5EF4-FFF2-40B4-BE49-F238E27FC236}">
                <a16:creationId xmlns:a16="http://schemas.microsoft.com/office/drawing/2014/main" id="{44C8D5DC-9751-5573-8350-ACBB6E4E9D5C}"/>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563288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A5DD8-C315-4AD0-AD7F-916A22A9AE64}"/>
              </a:ext>
            </a:extLst>
          </p:cNvPr>
          <p:cNvSpPr>
            <a:spLocks noGrp="1"/>
          </p:cNvSpPr>
          <p:nvPr>
            <p:ph type="title"/>
          </p:nvPr>
        </p:nvSpPr>
        <p:spPr>
          <a:xfrm>
            <a:off x="122349" y="115910"/>
            <a:ext cx="8686800" cy="643283"/>
          </a:xfrm>
        </p:spPr>
        <p:txBody>
          <a:bodyPr>
            <a:noAutofit/>
          </a:bodyPr>
          <a:lstStyle/>
          <a:p>
            <a:r>
              <a:rPr lang="en-US" sz="2800" b="1" dirty="0">
                <a:solidFill>
                  <a:schemeClr val="tx1"/>
                </a:solidFill>
              </a:rPr>
              <a:t>Average speed and average velocity</a:t>
            </a:r>
            <a:endParaRPr lang="en-US" sz="2800" dirty="0">
              <a:solidFill>
                <a:schemeClr val="tx1"/>
              </a:solidFill>
            </a:endParaRPr>
          </a:p>
        </p:txBody>
      </p:sp>
      <p:sp>
        <p:nvSpPr>
          <p:cNvPr id="4" name="Text Placeholder 3">
            <a:extLst>
              <a:ext uri="{FF2B5EF4-FFF2-40B4-BE49-F238E27FC236}">
                <a16:creationId xmlns:a16="http://schemas.microsoft.com/office/drawing/2014/main" id="{4AD4A686-4251-44D0-9D11-CA728729ED92}"/>
              </a:ext>
            </a:extLst>
          </p:cNvPr>
          <p:cNvSpPr>
            <a:spLocks noGrp="1"/>
          </p:cNvSpPr>
          <p:nvPr>
            <p:ph type="body" sz="quarter" idx="14"/>
          </p:nvPr>
        </p:nvSpPr>
        <p:spPr>
          <a:xfrm>
            <a:off x="321971" y="1115547"/>
            <a:ext cx="8686800" cy="5041413"/>
          </a:xfrm>
        </p:spPr>
        <p:txBody>
          <a:bodyPr>
            <a:normAutofit fontScale="62500" lnSpcReduction="20000"/>
          </a:bodyPr>
          <a:lstStyle/>
          <a:p>
            <a:pPr marL="457200" indent="-457200">
              <a:lnSpc>
                <a:spcPct val="120000"/>
              </a:lnSpc>
              <a:buClrTx/>
              <a:buFont typeface="Wingdings" panose="05000000000000000000" pitchFamily="2" charset="2"/>
              <a:buChar char="Ø"/>
            </a:pPr>
            <a:r>
              <a:rPr lang="en-US" sz="2900" b="1" dirty="0"/>
              <a:t>Average speed is not necessarily the same as the magnitude of the average velocity.</a:t>
            </a:r>
          </a:p>
          <a:p>
            <a:pPr marL="457200" indent="-457200">
              <a:lnSpc>
                <a:spcPct val="120000"/>
              </a:lnSpc>
              <a:buClrTx/>
              <a:buFont typeface="Wingdings" panose="05000000000000000000" pitchFamily="2" charset="2"/>
              <a:buChar char="Ø"/>
            </a:pPr>
            <a:r>
              <a:rPr lang="en-US" sz="2900" b="1" dirty="0"/>
              <a:t>For example, if a trip starts and ends at the same location, the total displacement is zero, and therefore the average velocity is zero. The average speed, however, is not zero, because the total distance traveled is greater than zero. </a:t>
            </a:r>
          </a:p>
          <a:p>
            <a:pPr marL="457200" indent="-457200">
              <a:lnSpc>
                <a:spcPct val="120000"/>
              </a:lnSpc>
              <a:buClrTx/>
              <a:buFont typeface="Wingdings" panose="05000000000000000000" pitchFamily="2" charset="2"/>
              <a:buChar char="Ø"/>
            </a:pPr>
            <a:r>
              <a:rPr lang="en-US" sz="2900" b="1" dirty="0"/>
              <a:t>If we take a road trip of 300 km and need to be at our destination at a certain time, then we would be interested in our average speed.</a:t>
            </a:r>
          </a:p>
          <a:p>
            <a:pPr marL="457200" indent="-457200">
              <a:lnSpc>
                <a:spcPct val="120000"/>
              </a:lnSpc>
              <a:buClrTx/>
              <a:buFont typeface="Wingdings" panose="05000000000000000000" pitchFamily="2" charset="2"/>
              <a:buChar char="Ø"/>
            </a:pPr>
            <a:r>
              <a:rPr lang="en-US" sz="2900" b="1" dirty="0"/>
              <a:t>However, we can calculate the instantaneous speed from the magnitude of the instantaneous velocity:</a:t>
            </a:r>
          </a:p>
          <a:p>
            <a:pPr>
              <a:lnSpc>
                <a:spcPct val="160000"/>
              </a:lnSpc>
            </a:pPr>
            <a:r>
              <a:rPr lang="en-US" sz="2900" b="1" dirty="0"/>
              <a:t>If a particle is moving along the </a:t>
            </a:r>
            <a:r>
              <a:rPr lang="en-US" sz="2900" b="1" i="1" dirty="0"/>
              <a:t>x</a:t>
            </a:r>
            <a:r>
              <a:rPr lang="en-US" sz="2900" b="1" dirty="0"/>
              <a:t>-axis at +7.0 m/s and another particle is moving along the same axis at −7.0 m/s, they have different velocities, but both have the same speed of 7.0 m/s.</a:t>
            </a:r>
          </a:p>
          <a:p>
            <a:endParaRPr lang="en-US" dirty="0"/>
          </a:p>
        </p:txBody>
      </p:sp>
      <p:pic>
        <p:nvPicPr>
          <p:cNvPr id="5" name="Picture 4" descr="OpenStax logo">
            <a:extLst>
              <a:ext uri="{FF2B5EF4-FFF2-40B4-BE49-F238E27FC236}">
                <a16:creationId xmlns:a16="http://schemas.microsoft.com/office/drawing/2014/main" id="{6A043F5D-B23A-A86F-C7DB-951DEAB17A1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70065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062912" cy="569383"/>
          </a:xfrm>
        </p:spPr>
        <p:txBody>
          <a:bodyPr/>
          <a:lstStyle/>
          <a:p>
            <a:pPr algn="ctr"/>
            <a:r>
              <a:rPr lang="en-US" dirty="0"/>
              <a:t> </a:t>
            </a:r>
            <a:r>
              <a:rPr lang="en-US" sz="2400" dirty="0"/>
              <a:t> </a:t>
            </a:r>
            <a:r>
              <a:rPr lang="en-US" sz="2800" dirty="0">
                <a:solidFill>
                  <a:schemeClr val="tx1"/>
                </a:solidFill>
              </a:rPr>
              <a:t>Example PROBLEM 3.1</a:t>
            </a:r>
          </a:p>
        </p:txBody>
      </p:sp>
      <p:pic>
        <p:nvPicPr>
          <p:cNvPr id="2" name="Picture Placeholder 1" descr="Figure shows a timeline of a person’s movement. First displacement is from the home to the right by 0.5 kilometers. Second displacement is back to the starting point. Third displacement is to the right by 1.0 kilometer. Fourth displacement is from the final point to the left by 1.75 kilometers."/>
          <p:cNvPicPr>
            <a:picLocks noGrp="1" noChangeAspect="1"/>
          </p:cNvPicPr>
          <p:nvPr>
            <p:ph type="pic" sz="quarter" idx="13"/>
          </p:nvPr>
        </p:nvPicPr>
        <p:blipFill>
          <a:blip r:embed="rId3" cstate="email">
            <a:extLst>
              <a:ext uri="{28A0092B-C50C-407E-A947-70E740481C1C}">
                <a14:useLocalDpi xmlns:a14="http://schemas.microsoft.com/office/drawing/2010/main" val="0"/>
              </a:ext>
            </a:extLst>
          </a:blip>
          <a:srcRect t="-1166" b="-1166"/>
          <a:stretch>
            <a:fillRect/>
          </a:stretch>
        </p:blipFill>
        <p:spPr>
          <a:xfrm>
            <a:off x="3169921" y="480983"/>
            <a:ext cx="4458312" cy="1935331"/>
          </a:xfrm>
        </p:spPr>
      </p:pic>
      <p:sp>
        <p:nvSpPr>
          <p:cNvPr id="7" name="Text Placeholder 6"/>
          <p:cNvSpPr>
            <a:spLocks noGrp="1"/>
          </p:cNvSpPr>
          <p:nvPr>
            <p:ph type="body" sz="quarter" idx="14"/>
          </p:nvPr>
        </p:nvSpPr>
        <p:spPr>
          <a:xfrm>
            <a:off x="235277" y="2506466"/>
            <a:ext cx="8673446" cy="4351534"/>
          </a:xfrm>
        </p:spPr>
        <p:txBody>
          <a:bodyPr>
            <a:normAutofit fontScale="25000" lnSpcReduction="20000"/>
          </a:bodyPr>
          <a:lstStyle/>
          <a:p>
            <a:r>
              <a:rPr lang="en-US" sz="8000" b="1" dirty="0"/>
              <a:t>Jill sets out from her home to deliver flyers for her yard sale, traveling due east along her street lined with houses. At 0.5 km and 9 minutes later, she runs out of flyers and has to retrace her steps back to her house to get more. This takes an additional 9 minutes. After picking up more flyers, she sets out again on the same path, continuing where she left off, and ends up 1.0 km from her house. This third leg of her trip takes 15 minutes. At this point she turns back toward her house, heading west. After 1.75 km and 25 minutes she stops to rest.</a:t>
            </a:r>
          </a:p>
          <a:p>
            <a:pPr marL="342900" marR="0" lvl="0" indent="-342900">
              <a:spcBef>
                <a:spcPts val="480"/>
              </a:spcBef>
              <a:spcAft>
                <a:spcPts val="600"/>
              </a:spcAft>
              <a:buClrTx/>
              <a:buSzPct val="99000"/>
              <a:buFont typeface="Times New Roman" panose="02020603050405020304" pitchFamily="18" charset="0"/>
              <a:buAutoNum type="arabicPeriod"/>
            </a:pPr>
            <a:r>
              <a:rPr lang="en-US" sz="7200" b="1" kern="1200" dirty="0">
                <a:solidFill>
                  <a:srgbClr val="000000"/>
                </a:solidFill>
                <a:effectLst/>
                <a:ea typeface="Times New Roman" panose="02020603050405020304" pitchFamily="18" charset="0"/>
              </a:rPr>
              <a:t>What is Jill’s total displacement to the point where she stops to rest?</a:t>
            </a:r>
            <a:endParaRPr lang="en-US" sz="7200" b="1" dirty="0">
              <a:effectLst/>
              <a:ea typeface="Times New Roman" panose="02020603050405020304" pitchFamily="18" charset="0"/>
            </a:endParaRPr>
          </a:p>
          <a:p>
            <a:pPr marL="342900" marR="0" lvl="0" indent="-342900">
              <a:spcBef>
                <a:spcPts val="480"/>
              </a:spcBef>
              <a:spcAft>
                <a:spcPts val="600"/>
              </a:spcAft>
              <a:buClrTx/>
              <a:buSzPct val="99000"/>
              <a:buFont typeface="Times New Roman" panose="02020603050405020304" pitchFamily="18" charset="0"/>
              <a:buAutoNum type="arabicPeriod"/>
            </a:pPr>
            <a:r>
              <a:rPr lang="en-US" sz="7200" b="1" kern="1200" dirty="0">
                <a:solidFill>
                  <a:srgbClr val="000000"/>
                </a:solidFill>
                <a:effectLst/>
                <a:ea typeface="Times New Roman" panose="02020603050405020304" pitchFamily="18" charset="0"/>
              </a:rPr>
              <a:t>What is the magnitude of the final displacement?</a:t>
            </a:r>
            <a:endParaRPr lang="en-US" sz="7200" b="1" dirty="0">
              <a:effectLst/>
              <a:ea typeface="Times New Roman" panose="02020603050405020304" pitchFamily="18" charset="0"/>
            </a:endParaRPr>
          </a:p>
          <a:p>
            <a:pPr marL="342900" marR="0" lvl="0" indent="-342900">
              <a:spcBef>
                <a:spcPts val="480"/>
              </a:spcBef>
              <a:spcAft>
                <a:spcPts val="600"/>
              </a:spcAft>
              <a:buClrTx/>
              <a:buSzPct val="99000"/>
              <a:buFont typeface="Times New Roman" panose="02020603050405020304" pitchFamily="18" charset="0"/>
              <a:buAutoNum type="arabicPeriod"/>
            </a:pPr>
            <a:r>
              <a:rPr lang="en-US" sz="7200" b="1" kern="1200" dirty="0">
                <a:solidFill>
                  <a:srgbClr val="000000"/>
                </a:solidFill>
                <a:effectLst/>
                <a:ea typeface="Times New Roman" panose="02020603050405020304" pitchFamily="18" charset="0"/>
              </a:rPr>
              <a:t>What is the average velocity during her entire trip?</a:t>
            </a:r>
            <a:endParaRPr lang="en-US" sz="7200" b="1" dirty="0">
              <a:effectLst/>
              <a:ea typeface="Times New Roman" panose="02020603050405020304" pitchFamily="18" charset="0"/>
            </a:endParaRPr>
          </a:p>
          <a:p>
            <a:pPr marL="342900" marR="0" lvl="0" indent="-342900">
              <a:spcBef>
                <a:spcPts val="480"/>
              </a:spcBef>
              <a:spcAft>
                <a:spcPts val="600"/>
              </a:spcAft>
              <a:buClrTx/>
              <a:buSzPct val="99000"/>
              <a:buFont typeface="Times New Roman" panose="02020603050405020304" pitchFamily="18" charset="0"/>
              <a:buAutoNum type="arabicPeriod"/>
            </a:pPr>
            <a:r>
              <a:rPr lang="en-US" sz="7200" b="1" kern="1200" dirty="0">
                <a:solidFill>
                  <a:srgbClr val="000000"/>
                </a:solidFill>
                <a:effectLst/>
                <a:ea typeface="Times New Roman" panose="02020603050405020304" pitchFamily="18" charset="0"/>
              </a:rPr>
              <a:t>What is the total distance traveled?</a:t>
            </a:r>
            <a:endParaRPr lang="en-US" sz="7200" b="1" dirty="0">
              <a:effectLst/>
              <a:ea typeface="Times New Roman" panose="02020603050405020304" pitchFamily="18" charset="0"/>
            </a:endParaRPr>
          </a:p>
          <a:p>
            <a:pPr marL="342900" marR="0" lvl="0" indent="-342900">
              <a:spcBef>
                <a:spcPts val="480"/>
              </a:spcBef>
              <a:spcAft>
                <a:spcPts val="600"/>
              </a:spcAft>
              <a:buClrTx/>
              <a:buSzPct val="99000"/>
              <a:buFont typeface="Times New Roman" panose="02020603050405020304" pitchFamily="18" charset="0"/>
              <a:buAutoNum type="arabicPeriod"/>
            </a:pPr>
            <a:r>
              <a:rPr lang="en-US" sz="7200" b="1" kern="1200" dirty="0">
                <a:solidFill>
                  <a:srgbClr val="000000"/>
                </a:solidFill>
                <a:effectLst/>
                <a:ea typeface="Times New Roman" panose="02020603050405020304" pitchFamily="18" charset="0"/>
              </a:rPr>
              <a:t>Make a graph of position versus time.</a:t>
            </a:r>
            <a:endParaRPr lang="en-US" sz="7200" b="1" dirty="0">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8000" b="1" dirty="0">
                <a:latin typeface="Arial" panose="020B0604020202020204" pitchFamily="34" charset="0"/>
                <a:hlinkClick r:id="rId4"/>
              </a:rPr>
              <a:t>Click here for Solution</a:t>
            </a:r>
            <a:endParaRPr kumimoji="0" lang="en-US" altLang="en-US" sz="8000" b="1" i="0" u="none" strike="noStrike" cap="none" normalizeH="0" baseline="0" dirty="0">
              <a:ln>
                <a:noFill/>
              </a:ln>
              <a:solidFill>
                <a:schemeClr val="tx1"/>
              </a:solidFill>
              <a:effectLst/>
              <a:latin typeface="Arial" panose="020B0604020202020204" pitchFamily="34" charset="0"/>
            </a:endParaRPr>
          </a:p>
          <a:p>
            <a:endParaRPr lang="en-US" sz="8000" b="1" dirty="0"/>
          </a:p>
          <a:p>
            <a:endParaRPr lang="en-US" sz="1600" dirty="0"/>
          </a:p>
        </p:txBody>
      </p:sp>
      <p:pic>
        <p:nvPicPr>
          <p:cNvPr id="6" name="Picture 5" descr="OpenStax logo">
            <a:extLst>
              <a:ext uri="{FF2B5EF4-FFF2-40B4-BE49-F238E27FC236}">
                <a16:creationId xmlns:a16="http://schemas.microsoft.com/office/drawing/2014/main" id="{CADC8D4F-ADD0-B8A9-A9AE-239D519E2558}"/>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99830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37" y="33759"/>
            <a:ext cx="8870739" cy="573876"/>
          </a:xfrm>
        </p:spPr>
        <p:txBody>
          <a:bodyPr>
            <a:normAutofit/>
          </a:bodyPr>
          <a:lstStyle/>
          <a:p>
            <a:pPr algn="ctr"/>
            <a:r>
              <a:rPr lang="en-US" altLang="en-US" sz="2800" dirty="0">
                <a:solidFill>
                  <a:schemeClr val="tx1"/>
                </a:solidFill>
              </a:rPr>
              <a:t>Instantaneous Velocity</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50180" name="Text Box 3"/>
              <p:cNvSpPr txBox="1">
                <a:spLocks noChangeArrowheads="1"/>
              </p:cNvSpPr>
              <p:nvPr/>
            </p:nvSpPr>
            <p:spPr bwMode="auto">
              <a:xfrm>
                <a:off x="370498" y="692027"/>
                <a:ext cx="8277015" cy="47852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None/>
                </a:pPr>
                <a:r>
                  <a:rPr lang="en-US" altLang="en-US" sz="2400" b="1" dirty="0"/>
                  <a:t>The instantaneous velocity is the average velocity in the limit as the time interval becomes infinitesimally short.</a:t>
                </a:r>
                <a:r>
                  <a:rPr lang="en-US" sz="2400" b="1" dirty="0"/>
                  <a:t> </a:t>
                </a:r>
              </a:p>
              <a:p>
                <a:pPr>
                  <a:spcBef>
                    <a:spcPct val="50000"/>
                  </a:spcBef>
                  <a:buNone/>
                </a:pPr>
                <a14:m>
                  <m:oMath xmlns:m="http://schemas.openxmlformats.org/officeDocument/2006/math">
                    <m:r>
                      <a:rPr lang="en-US" sz="3600" b="1" i="1">
                        <a:latin typeface="Cambria Math" panose="02040503050406030204" pitchFamily="18" charset="0"/>
                        <a:ea typeface="Cambria Math" panose="02040503050406030204" pitchFamily="18" charset="0"/>
                      </a:rPr>
                      <m:t>𝒗</m:t>
                    </m:r>
                    <m:r>
                      <a:rPr lang="en-US" sz="3600" b="1" i="1">
                        <a:latin typeface="Cambria Math" panose="02040503050406030204" pitchFamily="18" charset="0"/>
                        <a:ea typeface="Cambria Math" panose="02040503050406030204" pitchFamily="18" charset="0"/>
                      </a:rPr>
                      <m:t>= </m:t>
                    </m:r>
                    <m:func>
                      <m:funcPr>
                        <m:ctrlPr>
                          <a:rPr lang="en-US" sz="3600" b="1" i="1">
                            <a:latin typeface="Cambria Math" panose="02040503050406030204" pitchFamily="18" charset="0"/>
                            <a:ea typeface="Cambria Math" panose="02040503050406030204" pitchFamily="18" charset="0"/>
                          </a:rPr>
                        </m:ctrlPr>
                      </m:funcPr>
                      <m:fName>
                        <m:limLow>
                          <m:limLowPr>
                            <m:ctrlPr>
                              <a:rPr lang="en-US" sz="3600" b="1" i="1">
                                <a:latin typeface="Cambria Math" panose="02040503050406030204" pitchFamily="18" charset="0"/>
                                <a:ea typeface="Cambria Math" panose="02040503050406030204" pitchFamily="18" charset="0"/>
                              </a:rPr>
                            </m:ctrlPr>
                          </m:limLowPr>
                          <m:e>
                            <m:r>
                              <a:rPr lang="en-US" sz="3600" b="1" i="1">
                                <a:latin typeface="Cambria Math" panose="02040503050406030204" pitchFamily="18" charset="0"/>
                                <a:ea typeface="Cambria Math" panose="02040503050406030204" pitchFamily="18" charset="0"/>
                              </a:rPr>
                              <m:t>𝐥𝐢𝐦</m:t>
                            </m:r>
                          </m:e>
                          <m:lim>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𝒕</m:t>
                            </m:r>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𝟎</m:t>
                            </m:r>
                          </m:lim>
                        </m:limLow>
                      </m:fName>
                      <m:e>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𝒙</m:t>
                            </m:r>
                          </m:num>
                          <m:den>
                            <m:r>
                              <a:rPr lang="en-US" sz="3600" b="1" i="1">
                                <a:latin typeface="Cambria Math" panose="02040503050406030204" pitchFamily="18" charset="0"/>
                                <a:ea typeface="Cambria Math" panose="02040503050406030204" pitchFamily="18" charset="0"/>
                              </a:rPr>
                              <m:t>∆</m:t>
                            </m:r>
                            <m:r>
                              <a:rPr lang="en-US" sz="3600" b="1" i="1">
                                <a:latin typeface="Cambria Math" panose="02040503050406030204" pitchFamily="18" charset="0"/>
                                <a:ea typeface="Cambria Math" panose="02040503050406030204" pitchFamily="18" charset="0"/>
                              </a:rPr>
                              <m:t>𝒕</m:t>
                            </m:r>
                          </m:den>
                        </m:f>
                      </m:e>
                    </m:func>
                  </m:oMath>
                </a14:m>
                <a:r>
                  <a:rPr lang="en-US" sz="3600" b="1" dirty="0">
                    <a:latin typeface="Cambria Math" panose="02040503050406030204" pitchFamily="18" charset="0"/>
                    <a:ea typeface="Cambria Math" panose="02040503050406030204" pitchFamily="18" charset="0"/>
                  </a:rPr>
                  <a:t> =  </a:t>
                </a:r>
                <a14:m>
                  <m:oMath xmlns:m="http://schemas.openxmlformats.org/officeDocument/2006/math">
                    <m:f>
                      <m:fPr>
                        <m:ctrlPr>
                          <a:rPr lang="en-US" sz="3600" b="1" i="1">
                            <a:latin typeface="Cambria Math" panose="02040503050406030204" pitchFamily="18" charset="0"/>
                            <a:ea typeface="Cambria Math" panose="02040503050406030204" pitchFamily="18" charset="0"/>
                          </a:rPr>
                        </m:ctrlPr>
                      </m:fPr>
                      <m:num>
                        <m:r>
                          <a:rPr lang="en-US" sz="3600" b="1" i="1">
                            <a:latin typeface="Cambria Math" panose="02040503050406030204" pitchFamily="18" charset="0"/>
                            <a:ea typeface="Cambria Math" panose="02040503050406030204" pitchFamily="18" charset="0"/>
                          </a:rPr>
                          <m:t>𝒅𝒙</m:t>
                        </m:r>
                      </m:num>
                      <m:den>
                        <m:r>
                          <a:rPr lang="en-US" sz="3600" b="1" i="1">
                            <a:latin typeface="Cambria Math" panose="02040503050406030204" pitchFamily="18" charset="0"/>
                            <a:ea typeface="Cambria Math" panose="02040503050406030204" pitchFamily="18" charset="0"/>
                          </a:rPr>
                          <m:t>𝒅𝒕</m:t>
                        </m:r>
                      </m:den>
                    </m:f>
                  </m:oMath>
                </a14:m>
                <a:endParaRPr lang="en-US" sz="2400" b="1" dirty="0">
                  <a:effectLst/>
                  <a:latin typeface="+mn-lt"/>
                  <a:ea typeface="Calibri" panose="020F0502020204030204" pitchFamily="34" charset="0"/>
                  <a:cs typeface="Times New Roman" panose="02020603050405020304" pitchFamily="18" charset="0"/>
                </a:endParaRPr>
              </a:p>
              <a:p>
                <a:pPr marL="0" marR="0">
                  <a:spcBef>
                    <a:spcPts val="0"/>
                  </a:spcBef>
                  <a:spcAft>
                    <a:spcPts val="0"/>
                  </a:spcAft>
                  <a:buNone/>
                </a:pPr>
                <a:r>
                  <a:rPr lang="en-US" sz="2400" b="1" dirty="0">
                    <a:effectLst/>
                    <a:latin typeface="Calibri" panose="020F0502020204030204" pitchFamily="34" charset="0"/>
                    <a:ea typeface="Calibri" panose="020F0502020204030204" pitchFamily="34" charset="0"/>
                    <a:cs typeface="Times New Roman" panose="02020603050405020304" pitchFamily="18" charset="0"/>
                  </a:rPr>
                  <a:t>When calculating instantaneous velocity, we need to specify the explicit form of the position function x(t). If each term in the x(t) equation has the form of </a:t>
                </a:r>
                <a:r>
                  <a:rPr lang="en-US" sz="2400" b="1" dirty="0" err="1">
                    <a:effectLst/>
                    <a:latin typeface="Calibri" panose="020F0502020204030204" pitchFamily="34" charset="0"/>
                    <a:ea typeface="Calibri" panose="020F0502020204030204" pitchFamily="34" charset="0"/>
                    <a:cs typeface="Times New Roman" panose="02020603050405020304" pitchFamily="18" charset="0"/>
                  </a:rPr>
                  <a:t>At</a:t>
                </a:r>
                <a:r>
                  <a:rPr lang="en-US" sz="2400" b="1" baseline="30000" dirty="0" err="1">
                    <a:effectLst/>
                    <a:latin typeface="Calibri" panose="020F0502020204030204" pitchFamily="34" charset="0"/>
                    <a:ea typeface="Calibri" panose="020F0502020204030204" pitchFamily="34" charset="0"/>
                    <a:cs typeface="Times New Roman" panose="02020603050405020304" pitchFamily="18" charset="0"/>
                  </a:rPr>
                  <a:t>n</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where A is a constant and n is an integer, this can be differentiated using the power rule to be:</a:t>
                </a:r>
              </a:p>
              <a:p>
                <a:pPr>
                  <a:spcBef>
                    <a:spcPts val="0"/>
                  </a:spcBef>
                  <a:buNone/>
                </a:pPr>
                <a14:m>
                  <m:oMathPara xmlns:m="http://schemas.openxmlformats.org/officeDocument/2006/math">
                    <m:oMathParaPr>
                      <m:jc m:val="centerGroup"/>
                    </m:oMathParaPr>
                    <m:oMath xmlns:m="http://schemas.openxmlformats.org/officeDocument/2006/math">
                      <m:f>
                        <m:fPr>
                          <m:ctrlPr>
                            <a:rPr lang="en-US" sz="2800" b="1" i="1" smtClean="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b="1" i="1">
                              <a:effectLst/>
                              <a:latin typeface="Cambria Math" panose="02040503050406030204" pitchFamily="18" charset="0"/>
                              <a:ea typeface="Calibri" panose="020F0502020204030204" pitchFamily="34" charset="0"/>
                              <a:cs typeface="Times New Roman" panose="02020603050405020304" pitchFamily="18" charset="0"/>
                            </a:rPr>
                            <m:t>𝒅</m:t>
                          </m:r>
                          <m:d>
                            <m:d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𝑨</m:t>
                              </m:r>
                              <m:sSup>
                                <m:sSup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𝒕</m:t>
                                  </m:r>
                                </m:e>
                                <m:sup>
                                  <m:r>
                                    <a:rPr lang="en-US" sz="2800" b="1" i="1">
                                      <a:effectLst/>
                                      <a:latin typeface="Cambria Math" panose="02040503050406030204" pitchFamily="18" charset="0"/>
                                      <a:ea typeface="Calibri" panose="020F0502020204030204" pitchFamily="34" charset="0"/>
                                      <a:cs typeface="Times New Roman" panose="02020603050405020304" pitchFamily="18" charset="0"/>
                                    </a:rPr>
                                    <m:t>𝒏</m:t>
                                  </m:r>
                                </m:sup>
                              </m:sSup>
                            </m:e>
                          </m:d>
                          <m:r>
                            <a:rPr lang="en-US" sz="2800" b="1" i="1">
                              <a:effectLst/>
                              <a:latin typeface="Cambria Math" panose="02040503050406030204" pitchFamily="18" charset="0"/>
                              <a:ea typeface="Calibri" panose="020F0502020204030204" pitchFamily="34" charset="0"/>
                              <a:cs typeface="Times New Roman" panose="02020603050405020304" pitchFamily="18" charset="0"/>
                            </a:rPr>
                            <m:t> </m:t>
                          </m:r>
                        </m:num>
                        <m:den>
                          <m:r>
                            <a:rPr lang="en-US" sz="2800" b="1" i="1">
                              <a:effectLst/>
                              <a:latin typeface="Cambria Math" panose="02040503050406030204" pitchFamily="18" charset="0"/>
                              <a:ea typeface="Calibri" panose="020F0502020204030204" pitchFamily="34" charset="0"/>
                              <a:cs typeface="Times New Roman" panose="02020603050405020304" pitchFamily="18" charset="0"/>
                            </a:rPr>
                            <m:t>𝒅𝒕</m:t>
                          </m:r>
                        </m:den>
                      </m:f>
                      <m:r>
                        <a:rPr lang="en-US" sz="2800" b="1" i="1">
                          <a:effectLst/>
                          <a:latin typeface="Cambria Math" panose="02040503050406030204" pitchFamily="18" charset="0"/>
                          <a:ea typeface="Calibri" panose="020F0502020204030204" pitchFamily="34" charset="0"/>
                          <a:cs typeface="Times New Roman" panose="02020603050405020304" pitchFamily="18" charset="0"/>
                        </a:rPr>
                        <m:t>=</m:t>
                      </m:r>
                      <m:r>
                        <a:rPr lang="en-US" sz="2800" b="1" i="1">
                          <a:effectLst/>
                          <a:latin typeface="Cambria Math" panose="02040503050406030204" pitchFamily="18" charset="0"/>
                          <a:ea typeface="Calibri" panose="020F0502020204030204" pitchFamily="34" charset="0"/>
                          <a:cs typeface="Times New Roman" panose="02020603050405020304" pitchFamily="18" charset="0"/>
                        </a:rPr>
                        <m:t>𝑨𝒏</m:t>
                      </m:r>
                      <m:sSup>
                        <m:sSup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𝒕</m:t>
                          </m:r>
                        </m:e>
                        <m:sup>
                          <m:r>
                            <a:rPr lang="en-US" sz="2800" b="1" i="1">
                              <a:effectLst/>
                              <a:latin typeface="Cambria Math" panose="02040503050406030204" pitchFamily="18" charset="0"/>
                              <a:ea typeface="Calibri" panose="020F0502020204030204" pitchFamily="34" charset="0"/>
                              <a:cs typeface="Times New Roman" panose="02020603050405020304" pitchFamily="18" charset="0"/>
                            </a:rPr>
                            <m:t>𝒏</m:t>
                          </m:r>
                          <m:r>
                            <a:rPr lang="en-US" sz="2800" b="1" i="1">
                              <a:effectLst/>
                              <a:latin typeface="Cambria Math" panose="02040503050406030204" pitchFamily="18" charset="0"/>
                              <a:ea typeface="Calibri" panose="020F0502020204030204" pitchFamily="34" charset="0"/>
                              <a:cs typeface="Times New Roman" panose="02020603050405020304" pitchFamily="18" charset="0"/>
                            </a:rPr>
                            <m:t>−</m:t>
                          </m:r>
                          <m:r>
                            <a:rPr lang="en-US" sz="2800" b="1" i="1">
                              <a:effectLst/>
                              <a:latin typeface="Cambria Math" panose="02040503050406030204" pitchFamily="18" charset="0"/>
                              <a:ea typeface="Calibri" panose="020F0502020204030204" pitchFamily="34" charset="0"/>
                              <a:cs typeface="Times New Roman" panose="02020603050405020304" pitchFamily="18" charset="0"/>
                            </a:rPr>
                            <m:t>𝟏</m:t>
                          </m:r>
                        </m:sup>
                      </m:sSup>
                    </m:oMath>
                  </m:oMathPara>
                </a14:m>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0180" name="Text Box 3"/>
              <p:cNvSpPr txBox="1">
                <a:spLocks noRot="1" noChangeAspect="1" noMove="1" noResize="1" noEditPoints="1" noAdjustHandles="1" noChangeArrowheads="1" noChangeShapeType="1" noTextEdit="1"/>
              </p:cNvSpPr>
              <p:nvPr/>
            </p:nvSpPr>
            <p:spPr bwMode="auto">
              <a:xfrm>
                <a:off x="370498" y="692027"/>
                <a:ext cx="8277015" cy="4785284"/>
              </a:xfrm>
              <a:prstGeom prst="rect">
                <a:avLst/>
              </a:prstGeom>
              <a:blipFill>
                <a:blip r:embed="rId3"/>
                <a:stretch>
                  <a:fillRect l="-1178" t="-892" r="-17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299D234C-6252-90DB-5E49-069CD9D7B47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990571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7991" y="0"/>
            <a:ext cx="8062912" cy="659535"/>
          </a:xfrm>
        </p:spPr>
        <p:txBody>
          <a:bodyPr/>
          <a:lstStyle/>
          <a:p>
            <a:pPr algn="ctr"/>
            <a:r>
              <a:rPr lang="en-US" dirty="0"/>
              <a:t> </a:t>
            </a:r>
            <a:r>
              <a:rPr lang="en-US" dirty="0">
                <a:solidFill>
                  <a:schemeClr val="tx1"/>
                </a:solidFill>
              </a:rPr>
              <a:t>  </a:t>
            </a:r>
            <a:r>
              <a:rPr lang="en-US" sz="2800" dirty="0">
                <a:solidFill>
                  <a:schemeClr val="tx1"/>
                </a:solidFill>
              </a:rPr>
              <a:t>velocity from x-t graph</a:t>
            </a:r>
          </a:p>
        </p:txBody>
      </p:sp>
      <p:pic>
        <p:nvPicPr>
          <p:cNvPr id="2" name="Picture Placeholder 1" descr=" velocity from x-t graph"/>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l="-629" r="-3032"/>
          <a:stretch/>
        </p:blipFill>
        <p:spPr>
          <a:xfrm>
            <a:off x="2987039" y="797808"/>
            <a:ext cx="3461173" cy="2838946"/>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98022" y="3633629"/>
                <a:ext cx="8546571" cy="2966458"/>
              </a:xfrm>
            </p:spPr>
            <p:txBody>
              <a:bodyPr>
                <a:noAutofit/>
              </a:bodyPr>
              <a:lstStyle/>
              <a:p>
                <a:pPr marL="342900" indent="-342900">
                  <a:lnSpc>
                    <a:spcPct val="110000"/>
                  </a:lnSpc>
                  <a:buClrTx/>
                  <a:buFont typeface="Wingdings" panose="05000000000000000000" pitchFamily="2" charset="2"/>
                  <a:buChar char="Ø"/>
                </a:pPr>
                <a:r>
                  <a:rPr lang="en-US" b="1" dirty="0"/>
                  <a:t>In a graph of position versus time, the instantaneous velocity is the slope of the tangent line at a given point. </a:t>
                </a:r>
              </a:p>
              <a:p>
                <a:pPr marL="342900" indent="-342900">
                  <a:lnSpc>
                    <a:spcPct val="110000"/>
                  </a:lnSpc>
                  <a:buClrTx/>
                  <a:buFont typeface="Wingdings" panose="05000000000000000000" pitchFamily="2" charset="2"/>
                  <a:buChar char="Ø"/>
                </a:pPr>
                <a:r>
                  <a:rPr lang="en-US" b="1" dirty="0"/>
                  <a:t>The average velocities</a:t>
                </a:r>
                <a:r>
                  <a:rPr lang="en-US" sz="2400" b="1" dirty="0"/>
                  <a:t> </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𝒗</m:t>
                        </m:r>
                      </m:e>
                    </m:acc>
                    <m:r>
                      <a:rPr lang="en-US" sz="2800" b="1" i="1" smtClean="0">
                        <a:latin typeface="Cambria Math"/>
                      </a:rPr>
                      <m:t> = </m:t>
                    </m:r>
                    <m:f>
                      <m:fPr>
                        <m:ctrlPr>
                          <a:rPr lang="en-US" sz="2800" b="1" i="1" smtClean="0">
                            <a:latin typeface="Cambria Math" panose="02040503050406030204" pitchFamily="18" charset="0"/>
                          </a:rPr>
                        </m:ctrlPr>
                      </m:fPr>
                      <m:num>
                        <m:r>
                          <a:rPr lang="el-GR" sz="2800" b="1" i="0" smtClean="0">
                            <a:latin typeface="Cambria Math"/>
                          </a:rPr>
                          <m:t>𝚫</m:t>
                        </m:r>
                        <m:r>
                          <a:rPr lang="en-US" sz="2800" b="1" i="1" smtClean="0">
                            <a:latin typeface="Cambria Math"/>
                          </a:rPr>
                          <m:t>𝒙</m:t>
                        </m:r>
                      </m:num>
                      <m:den>
                        <m:r>
                          <a:rPr lang="el-GR" sz="2800" b="1" i="0" smtClean="0">
                            <a:latin typeface="Cambria Math"/>
                          </a:rPr>
                          <m:t>𝚫</m:t>
                        </m:r>
                        <m:r>
                          <a:rPr lang="en-US" sz="2800" b="1" i="1" smtClean="0">
                            <a:latin typeface="Cambria Math"/>
                          </a:rPr>
                          <m:t>𝒕</m:t>
                        </m:r>
                      </m:den>
                    </m:f>
                    <m:r>
                      <a:rPr lang="en-US" sz="2800" b="1" i="1" smtClean="0">
                        <a:latin typeface="Cambria Math"/>
                      </a:rPr>
                      <m:t> = </m:t>
                    </m:r>
                    <m:box>
                      <m:boxPr>
                        <m:ctrlPr>
                          <a:rPr lang="en-US" sz="2800" b="1" i="1" smtClean="0">
                            <a:latin typeface="Cambria Math" panose="02040503050406030204" pitchFamily="18" charset="0"/>
                          </a:rPr>
                        </m:ctrlPr>
                      </m:boxPr>
                      <m:e>
                        <m:argPr>
                          <m:argSz m:val="-1"/>
                        </m:argPr>
                        <m:f>
                          <m:fPr>
                            <m:ctrlPr>
                              <a:rPr lang="en-US" sz="2800" b="1" i="1" smtClean="0">
                                <a:latin typeface="Cambria Math" panose="02040503050406030204" pitchFamily="18" charset="0"/>
                              </a:rPr>
                            </m:ctrlPr>
                          </m:fPr>
                          <m:num>
                            <m:sSub>
                              <m:sSubPr>
                                <m:ctrlPr>
                                  <a:rPr lang="en-US" sz="2800" b="1" i="1" dirty="0">
                                    <a:latin typeface="Cambria Math" panose="02040503050406030204" pitchFamily="18" charset="0"/>
                                  </a:rPr>
                                </m:ctrlPr>
                              </m:sSubPr>
                              <m:e>
                                <m:r>
                                  <a:rPr lang="en-US" sz="2800" b="1" i="1" dirty="0">
                                    <a:latin typeface="Cambria Math"/>
                                  </a:rPr>
                                  <m:t>𝒙</m:t>
                                </m:r>
                              </m:e>
                              <m:sub>
                                <m:r>
                                  <a:rPr lang="en-US" sz="2800" b="1" i="1" dirty="0">
                                    <a:latin typeface="Cambria Math"/>
                                  </a:rPr>
                                  <m:t>𝒇</m:t>
                                </m:r>
                                <m:r>
                                  <a:rPr lang="en-US" sz="2800" b="1" i="1" dirty="0" smtClean="0">
                                    <a:latin typeface="Cambria Math"/>
                                  </a:rPr>
                                  <m:t> </m:t>
                                </m:r>
                              </m:sub>
                            </m:sSub>
                            <m:r>
                              <a:rPr lang="en-US" sz="2800" b="1" i="1" smtClean="0">
                                <a:latin typeface="Cambria Math"/>
                              </a:rPr>
                              <m:t>− </m:t>
                            </m:r>
                            <m:sSub>
                              <m:sSubPr>
                                <m:ctrlPr>
                                  <a:rPr lang="en-US" sz="2800" b="1" i="1" dirty="0">
                                    <a:latin typeface="Cambria Math" panose="02040503050406030204" pitchFamily="18" charset="0"/>
                                  </a:rPr>
                                </m:ctrlPr>
                              </m:sSubPr>
                              <m:e>
                                <m:r>
                                  <a:rPr lang="en-US" sz="2800" b="1" i="1" dirty="0">
                                    <a:latin typeface="Cambria Math"/>
                                  </a:rPr>
                                  <m:t>𝒙</m:t>
                                </m:r>
                              </m:e>
                              <m:sub>
                                <m:r>
                                  <a:rPr lang="en-US" sz="2800" b="1" i="1" dirty="0" smtClean="0">
                                    <a:latin typeface="Cambria Math"/>
                                  </a:rPr>
                                  <m:t>𝒊</m:t>
                                </m:r>
                              </m:sub>
                            </m:sSub>
                          </m:num>
                          <m:den>
                            <m:sSub>
                              <m:sSubPr>
                                <m:ctrlPr>
                                  <a:rPr lang="en-US" sz="2800" b="1" i="1" dirty="0">
                                    <a:latin typeface="Cambria Math" panose="02040503050406030204" pitchFamily="18" charset="0"/>
                                  </a:rPr>
                                </m:ctrlPr>
                              </m:sSubPr>
                              <m:e>
                                <m:r>
                                  <a:rPr lang="en-US" sz="2800" b="1" i="1" dirty="0" smtClean="0">
                                    <a:latin typeface="Cambria Math"/>
                                  </a:rPr>
                                  <m:t>𝒕</m:t>
                                </m:r>
                              </m:e>
                              <m:sub>
                                <m:r>
                                  <a:rPr lang="en-US" sz="2800" b="1" i="1" dirty="0">
                                    <a:latin typeface="Cambria Math"/>
                                  </a:rPr>
                                  <m:t>𝒇</m:t>
                                </m:r>
                              </m:sub>
                            </m:sSub>
                            <m:r>
                              <a:rPr lang="en-US" sz="2800" b="1" i="1" smtClean="0">
                                <a:latin typeface="Cambria Math"/>
                              </a:rPr>
                              <m:t>−</m:t>
                            </m:r>
                            <m:sSub>
                              <m:sSubPr>
                                <m:ctrlPr>
                                  <a:rPr lang="en-US" sz="2800" b="1" i="1" dirty="0">
                                    <a:latin typeface="Cambria Math" panose="02040503050406030204" pitchFamily="18" charset="0"/>
                                  </a:rPr>
                                </m:ctrlPr>
                              </m:sSubPr>
                              <m:e>
                                <m:r>
                                  <a:rPr lang="en-US" sz="2800" b="1" i="1" dirty="0" smtClean="0">
                                    <a:latin typeface="Cambria Math"/>
                                  </a:rPr>
                                  <m:t> </m:t>
                                </m:r>
                                <m:r>
                                  <a:rPr lang="en-US" sz="2800" b="1" i="1" dirty="0" smtClean="0">
                                    <a:latin typeface="Cambria Math"/>
                                  </a:rPr>
                                  <m:t>𝒕</m:t>
                                </m:r>
                              </m:e>
                              <m:sub>
                                <m:r>
                                  <a:rPr lang="en-US" sz="2800" b="1" i="1" dirty="0" smtClean="0">
                                    <a:latin typeface="Cambria Math"/>
                                  </a:rPr>
                                  <m:t>𝒊</m:t>
                                </m:r>
                              </m:sub>
                            </m:sSub>
                          </m:den>
                        </m:f>
                      </m:e>
                    </m:box>
                  </m:oMath>
                </a14:m>
                <a:r>
                  <a:rPr lang="en-US" sz="2400" b="1" dirty="0"/>
                  <a:t>  </a:t>
                </a:r>
                <a:r>
                  <a:rPr lang="en-US" b="1" dirty="0"/>
                  <a:t>between times </a:t>
                </a:r>
                <a14:m>
                  <m:oMath xmlns:m="http://schemas.openxmlformats.org/officeDocument/2006/math">
                    <m:r>
                      <a:rPr lang="en-US" sz="2400" b="1" i="1" dirty="0" smtClean="0">
                        <a:latin typeface="Cambria Math"/>
                        <a:ea typeface="Cambria Math"/>
                      </a:rPr>
                      <m:t>∆</m:t>
                    </m:r>
                    <m:r>
                      <a:rPr lang="en-US" sz="2400" b="1" i="1" dirty="0" smtClean="0">
                        <a:latin typeface="Cambria Math"/>
                        <a:ea typeface="Cambria Math"/>
                      </a:rPr>
                      <m:t>𝒕</m:t>
                    </m:r>
                    <m:r>
                      <a:rPr lang="en-US" sz="2400" b="1" i="1" dirty="0" smtClean="0">
                        <a:latin typeface="Cambria Math"/>
                        <a:ea typeface="Cambria Math"/>
                      </a:rPr>
                      <m:t> = </m:t>
                    </m:r>
                    <m:sSub>
                      <m:sSubPr>
                        <m:ctrlPr>
                          <a:rPr lang="en-US" sz="2400" b="1" i="1" dirty="0" smtClean="0">
                            <a:latin typeface="Cambria Math" panose="02040503050406030204" pitchFamily="18" charset="0"/>
                            <a:ea typeface="Cambria Math"/>
                          </a:rPr>
                        </m:ctrlPr>
                      </m:sSubPr>
                      <m:e>
                        <m:r>
                          <a:rPr lang="en-US" sz="2400" b="1" i="1" dirty="0" smtClean="0">
                            <a:latin typeface="Cambria Math"/>
                            <a:ea typeface="Cambria Math"/>
                          </a:rPr>
                          <m:t>𝒕</m:t>
                        </m:r>
                      </m:e>
                      <m:sub>
                        <m:r>
                          <a:rPr lang="en-US" sz="2400" b="1" i="1" dirty="0" smtClean="0">
                            <a:latin typeface="Cambria Math"/>
                            <a:ea typeface="Cambria Math"/>
                          </a:rPr>
                          <m:t>𝟔</m:t>
                        </m:r>
                      </m:sub>
                    </m:sSub>
                    <m:r>
                      <a:rPr lang="en-US" sz="2400" b="1" i="1" dirty="0" smtClean="0">
                        <a:latin typeface="Cambria Math"/>
                        <a:ea typeface="Cambria Math"/>
                      </a:rPr>
                      <m:t> − </m:t>
                    </m:r>
                    <m:sSub>
                      <m:sSubPr>
                        <m:ctrlPr>
                          <a:rPr lang="en-US" sz="2400" b="1" i="1" dirty="0">
                            <a:latin typeface="Cambria Math" panose="02040503050406030204" pitchFamily="18" charset="0"/>
                            <a:ea typeface="Cambria Math"/>
                          </a:rPr>
                        </m:ctrlPr>
                      </m:sSubPr>
                      <m:e>
                        <m:r>
                          <a:rPr lang="en-US" sz="2400" b="1" i="1" dirty="0">
                            <a:latin typeface="Cambria Math"/>
                            <a:ea typeface="Cambria Math"/>
                          </a:rPr>
                          <m:t>𝒕</m:t>
                        </m:r>
                      </m:e>
                      <m:sub>
                        <m:r>
                          <a:rPr lang="en-US" sz="2400" b="1" i="1" dirty="0" smtClean="0">
                            <a:latin typeface="Cambria Math"/>
                            <a:ea typeface="Cambria Math"/>
                          </a:rPr>
                          <m:t>𝟏</m:t>
                        </m:r>
                      </m:sub>
                    </m:sSub>
                    <m:r>
                      <a:rPr lang="en-US" sz="2400" b="1" i="1" dirty="0" smtClean="0">
                        <a:latin typeface="Cambria Math"/>
                        <a:ea typeface="Cambria Math"/>
                      </a:rPr>
                      <m:t>,  </m:t>
                    </m:r>
                    <m:r>
                      <a:rPr lang="en-US" sz="2400" b="1" i="1" dirty="0">
                        <a:latin typeface="Cambria Math"/>
                        <a:ea typeface="Cambria Math"/>
                      </a:rPr>
                      <m:t>∆</m:t>
                    </m:r>
                    <m:r>
                      <a:rPr lang="en-US" sz="2400" b="1" i="1" dirty="0">
                        <a:latin typeface="Cambria Math"/>
                        <a:ea typeface="Cambria Math"/>
                      </a:rPr>
                      <m:t>𝒕</m:t>
                    </m:r>
                    <m:r>
                      <a:rPr lang="en-US" sz="2400" b="1" i="1" dirty="0" smtClean="0">
                        <a:latin typeface="Cambria Math"/>
                        <a:ea typeface="Cambria Math"/>
                      </a:rPr>
                      <m:t> </m:t>
                    </m:r>
                    <m:r>
                      <a:rPr lang="en-US" sz="2400" b="1" i="1" dirty="0">
                        <a:latin typeface="Cambria Math"/>
                        <a:ea typeface="Cambria Math"/>
                      </a:rPr>
                      <m:t>=</m:t>
                    </m:r>
                    <m:sSub>
                      <m:sSubPr>
                        <m:ctrlPr>
                          <a:rPr lang="en-US" sz="2400" b="1" i="1" dirty="0">
                            <a:latin typeface="Cambria Math" panose="02040503050406030204" pitchFamily="18" charset="0"/>
                            <a:ea typeface="Cambria Math"/>
                          </a:rPr>
                        </m:ctrlPr>
                      </m:sSubPr>
                      <m:e>
                        <m:r>
                          <a:rPr lang="en-US" sz="2400" b="1" i="1" dirty="0">
                            <a:latin typeface="Cambria Math"/>
                            <a:ea typeface="Cambria Math"/>
                          </a:rPr>
                          <m:t>𝒕</m:t>
                        </m:r>
                      </m:e>
                      <m:sub>
                        <m:r>
                          <a:rPr lang="en-US" sz="2400" b="1" i="1" dirty="0" smtClean="0">
                            <a:latin typeface="Cambria Math"/>
                            <a:ea typeface="Cambria Math"/>
                          </a:rPr>
                          <m:t>𝟓</m:t>
                        </m:r>
                      </m:sub>
                    </m:sSub>
                    <m:r>
                      <a:rPr lang="en-US" sz="2400" b="1" i="1" dirty="0" smtClean="0">
                        <a:latin typeface="Cambria Math"/>
                        <a:ea typeface="Cambria Math"/>
                      </a:rPr>
                      <m:t> </m:t>
                    </m:r>
                    <m:r>
                      <a:rPr lang="en-US" sz="2400" b="1" i="1" dirty="0">
                        <a:latin typeface="Cambria Math"/>
                        <a:ea typeface="Cambria Math"/>
                      </a:rPr>
                      <m:t>−</m:t>
                    </m:r>
                    <m:r>
                      <a:rPr lang="en-US" sz="2400" b="1" i="1" dirty="0" smtClean="0">
                        <a:latin typeface="Cambria Math"/>
                        <a:ea typeface="Cambria Math"/>
                      </a:rPr>
                      <m:t> </m:t>
                    </m:r>
                    <m:sSub>
                      <m:sSubPr>
                        <m:ctrlPr>
                          <a:rPr lang="en-US" sz="2400" b="1" i="1" dirty="0">
                            <a:latin typeface="Cambria Math" panose="02040503050406030204" pitchFamily="18" charset="0"/>
                            <a:ea typeface="Cambria Math"/>
                          </a:rPr>
                        </m:ctrlPr>
                      </m:sSubPr>
                      <m:e>
                        <m:r>
                          <a:rPr lang="en-US" sz="2400" b="1" i="1" dirty="0">
                            <a:latin typeface="Cambria Math"/>
                            <a:ea typeface="Cambria Math"/>
                          </a:rPr>
                          <m:t>𝒕</m:t>
                        </m:r>
                      </m:e>
                      <m:sub>
                        <m:r>
                          <a:rPr lang="en-US" sz="2400" b="1" i="1" dirty="0" smtClean="0">
                            <a:latin typeface="Cambria Math"/>
                            <a:ea typeface="Cambria Math"/>
                          </a:rPr>
                          <m:t>𝟐</m:t>
                        </m:r>
                      </m:sub>
                    </m:sSub>
                  </m:oMath>
                </a14:m>
                <a:r>
                  <a:rPr lang="en-US" sz="2400" b="1" dirty="0"/>
                  <a:t>, </a:t>
                </a:r>
                <a:r>
                  <a:rPr lang="en-US" b="1" dirty="0"/>
                  <a:t>and</a:t>
                </a:r>
                <a:r>
                  <a:rPr lang="en-US" sz="2400" b="1" dirty="0"/>
                  <a:t>  </a:t>
                </a:r>
                <a14:m>
                  <m:oMath xmlns:m="http://schemas.openxmlformats.org/officeDocument/2006/math">
                    <m:r>
                      <a:rPr lang="en-US" sz="2400" b="1" i="1" dirty="0">
                        <a:latin typeface="Cambria Math"/>
                        <a:ea typeface="Cambria Math"/>
                      </a:rPr>
                      <m:t>∆</m:t>
                    </m:r>
                    <m:r>
                      <a:rPr lang="en-US" sz="2400" b="1" i="1" dirty="0">
                        <a:latin typeface="Cambria Math"/>
                        <a:ea typeface="Cambria Math"/>
                      </a:rPr>
                      <m:t>𝒕</m:t>
                    </m:r>
                    <m:r>
                      <a:rPr lang="en-US" sz="2400" b="1" i="1" dirty="0" smtClean="0">
                        <a:latin typeface="Cambria Math"/>
                        <a:ea typeface="Cambria Math"/>
                      </a:rPr>
                      <m:t> </m:t>
                    </m:r>
                    <m:r>
                      <a:rPr lang="en-US" sz="2400" b="1" i="1" dirty="0">
                        <a:latin typeface="Cambria Math"/>
                        <a:ea typeface="Cambria Math"/>
                      </a:rPr>
                      <m:t>=</m:t>
                    </m:r>
                    <m:r>
                      <a:rPr lang="en-US" sz="2400" b="1" i="1" dirty="0" smtClean="0">
                        <a:latin typeface="Cambria Math"/>
                        <a:ea typeface="Cambria Math"/>
                      </a:rPr>
                      <m:t> </m:t>
                    </m:r>
                    <m:sSub>
                      <m:sSubPr>
                        <m:ctrlPr>
                          <a:rPr lang="en-US" sz="2400" b="1" i="1" dirty="0">
                            <a:latin typeface="Cambria Math" panose="02040503050406030204" pitchFamily="18" charset="0"/>
                            <a:ea typeface="Cambria Math"/>
                          </a:rPr>
                        </m:ctrlPr>
                      </m:sSubPr>
                      <m:e>
                        <m:r>
                          <a:rPr lang="en-US" sz="2400" b="1" i="1" dirty="0">
                            <a:latin typeface="Cambria Math"/>
                            <a:ea typeface="Cambria Math"/>
                          </a:rPr>
                          <m:t>𝒕</m:t>
                        </m:r>
                      </m:e>
                      <m:sub>
                        <m:r>
                          <a:rPr lang="en-US" sz="2400" b="1" i="1" dirty="0" smtClean="0">
                            <a:latin typeface="Cambria Math"/>
                            <a:ea typeface="Cambria Math"/>
                          </a:rPr>
                          <m:t>𝟒</m:t>
                        </m:r>
                      </m:sub>
                    </m:sSub>
                    <m:r>
                      <a:rPr lang="en-US" sz="2400" b="1" i="1" dirty="0" smtClean="0">
                        <a:latin typeface="Cambria Math"/>
                        <a:ea typeface="Cambria Math"/>
                      </a:rPr>
                      <m:t> </m:t>
                    </m:r>
                    <m:r>
                      <a:rPr lang="en-US" sz="2400" b="1" i="1" dirty="0">
                        <a:latin typeface="Cambria Math"/>
                        <a:ea typeface="Cambria Math"/>
                      </a:rPr>
                      <m:t>−</m:t>
                    </m:r>
                    <m:sSub>
                      <m:sSubPr>
                        <m:ctrlPr>
                          <a:rPr lang="en-US" sz="2400" b="1" i="1" dirty="0">
                            <a:latin typeface="Cambria Math" panose="02040503050406030204" pitchFamily="18" charset="0"/>
                            <a:ea typeface="Cambria Math"/>
                          </a:rPr>
                        </m:ctrlPr>
                      </m:sSubPr>
                      <m:e>
                        <m:r>
                          <a:rPr lang="en-US" sz="2400" b="1" i="1" dirty="0" smtClean="0">
                            <a:latin typeface="Cambria Math"/>
                            <a:ea typeface="Cambria Math"/>
                          </a:rPr>
                          <m:t>  </m:t>
                        </m:r>
                        <m:r>
                          <a:rPr lang="en-US" sz="2400" b="1" i="1" dirty="0">
                            <a:latin typeface="Cambria Math"/>
                            <a:ea typeface="Cambria Math"/>
                          </a:rPr>
                          <m:t>𝒕</m:t>
                        </m:r>
                      </m:e>
                      <m:sub>
                        <m:r>
                          <a:rPr lang="en-US" sz="2400" b="1" i="1" dirty="0" smtClean="0">
                            <a:latin typeface="Cambria Math"/>
                            <a:ea typeface="Cambria Math"/>
                          </a:rPr>
                          <m:t>𝟑</m:t>
                        </m:r>
                      </m:sub>
                    </m:sSub>
                  </m:oMath>
                </a14:m>
                <a:r>
                  <a:rPr lang="en-US" sz="2400" b="1" dirty="0"/>
                  <a:t>  </a:t>
                </a:r>
                <a:r>
                  <a:rPr lang="en-US" b="1" dirty="0"/>
                  <a:t>are shown. When  </a:t>
                </a:r>
                <a14:m>
                  <m:oMath xmlns:m="http://schemas.openxmlformats.org/officeDocument/2006/math">
                    <m:r>
                      <a:rPr lang="en-US" sz="2400" b="1" i="1" dirty="0">
                        <a:latin typeface="Cambria Math"/>
                        <a:ea typeface="Cambria Math"/>
                      </a:rPr>
                      <m:t>∆</m:t>
                    </m:r>
                    <m:r>
                      <a:rPr lang="en-US" sz="2400" b="1" i="1" dirty="0">
                        <a:latin typeface="Cambria Math"/>
                        <a:ea typeface="Cambria Math"/>
                      </a:rPr>
                      <m:t>𝒕</m:t>
                    </m:r>
                  </m:oMath>
                </a14:m>
                <a:r>
                  <a:rPr lang="en-US" sz="2400" b="1" dirty="0"/>
                  <a:t> </a:t>
                </a:r>
                <a:r>
                  <a:rPr lang="en-US" sz="2400" b="1" dirty="0">
                    <a:latin typeface="Cambria Math" panose="02040503050406030204" pitchFamily="18" charset="0"/>
                    <a:ea typeface="Cambria Math" panose="02040503050406030204" pitchFamily="18" charset="0"/>
                  </a:rPr>
                  <a:t>→</a:t>
                </a:r>
                <a:r>
                  <a:rPr lang="en-US" sz="2400" b="1" dirty="0"/>
                  <a:t> </a:t>
                </a:r>
                <a:r>
                  <a:rPr lang="en-US" sz="2400" b="1" dirty="0">
                    <a:latin typeface="Cambria Math" panose="02040503050406030204" pitchFamily="18" charset="0"/>
                    <a:ea typeface="Cambria Math" panose="02040503050406030204" pitchFamily="18" charset="0"/>
                  </a:rPr>
                  <a:t>0</a:t>
                </a:r>
                <a:r>
                  <a:rPr lang="en-US" sz="2400" b="1" dirty="0"/>
                  <a:t>, </a:t>
                </a:r>
                <a:r>
                  <a:rPr lang="en-US" b="1" dirty="0"/>
                  <a:t>the average velocity approaches the instantaneous velocity at  </a:t>
                </a:r>
                <a14:m>
                  <m:oMath xmlns:m="http://schemas.openxmlformats.org/officeDocument/2006/math">
                    <m:r>
                      <a:rPr lang="en-US" sz="2400" b="1" i="1" dirty="0">
                        <a:latin typeface="Cambria Math"/>
                        <a:ea typeface="Cambria Math"/>
                      </a:rPr>
                      <m:t>𝒕</m:t>
                    </m:r>
                    <m:r>
                      <a:rPr lang="en-US" sz="2400" b="1" i="1" dirty="0">
                        <a:latin typeface="Cambria Math"/>
                        <a:ea typeface="Cambria Math"/>
                      </a:rPr>
                      <m:t> = </m:t>
                    </m:r>
                    <m:sSub>
                      <m:sSubPr>
                        <m:ctrlPr>
                          <a:rPr lang="en-US" sz="2400" b="1" i="1" dirty="0">
                            <a:latin typeface="Cambria Math" panose="02040503050406030204" pitchFamily="18" charset="0"/>
                            <a:ea typeface="Cambria Math"/>
                          </a:rPr>
                        </m:ctrlPr>
                      </m:sSubPr>
                      <m:e>
                        <m:r>
                          <a:rPr lang="en-US" sz="2400" b="1" i="1" dirty="0">
                            <a:latin typeface="Cambria Math"/>
                            <a:ea typeface="Cambria Math"/>
                          </a:rPr>
                          <m:t>𝒕</m:t>
                        </m:r>
                      </m:e>
                      <m:sub>
                        <m:r>
                          <a:rPr lang="en-US" sz="2400" b="1" i="1" dirty="0" smtClean="0">
                            <a:latin typeface="Cambria Math"/>
                            <a:ea typeface="Cambria Math"/>
                          </a:rPr>
                          <m:t>𝟎</m:t>
                        </m:r>
                      </m:sub>
                    </m:sSub>
                  </m:oMath>
                </a14:m>
                <a:r>
                  <a:rPr lang="en-US" sz="2400" b="1" dirty="0"/>
                  <a:t> </a:t>
                </a:r>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98022" y="3633629"/>
                <a:ext cx="8546571" cy="2966458"/>
              </a:xfrm>
              <a:blipFill>
                <a:blip r:embed="rId3"/>
                <a:stretch>
                  <a:fillRect l="-642" t="-821" b="-1027"/>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1A1E7852-6E12-E559-008D-A265F4EFD4F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511961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13268" y="61001"/>
            <a:ext cx="5791200" cy="700070"/>
          </a:xfrm>
        </p:spPr>
        <p:txBody>
          <a:bodyPr>
            <a:normAutofit/>
          </a:bodyPr>
          <a:lstStyle/>
          <a:p>
            <a:pPr algn="ctr"/>
            <a:r>
              <a:rPr lang="en-US" altLang="en-US" sz="2800" dirty="0">
                <a:solidFill>
                  <a:schemeClr val="tx1"/>
                </a:solidFill>
              </a:rPr>
              <a:t>x-t and v–t graphs</a:t>
            </a:r>
          </a:p>
        </p:txBody>
      </p:sp>
      <p:pic>
        <p:nvPicPr>
          <p:cNvPr id="2" name="Picture 1" descr="Graph shows position in meters plotted as a function of time at minutes. It starts at the origin, reaches 0.5 meters at 0.5 minutes, remains constant between 0.5 and 0.9 minutes, and decreases to 0 at 2.0 minutes."/>
          <p:cNvPicPr>
            <a:picLocks noChangeAspect="1"/>
          </p:cNvPicPr>
          <p:nvPr/>
        </p:nvPicPr>
        <p:blipFill>
          <a:blip r:embed="rId3"/>
          <a:stretch>
            <a:fillRect/>
          </a:stretch>
        </p:blipFill>
        <p:spPr>
          <a:xfrm>
            <a:off x="90776" y="1008839"/>
            <a:ext cx="4481224" cy="2874141"/>
          </a:xfrm>
          <a:prstGeom prst="rect">
            <a:avLst/>
          </a:prstGeom>
        </p:spPr>
      </p:pic>
      <p:sp>
        <p:nvSpPr>
          <p:cNvPr id="3" name="Rectangle 2"/>
          <p:cNvSpPr/>
          <p:nvPr/>
        </p:nvSpPr>
        <p:spPr>
          <a:xfrm>
            <a:off x="353455" y="3816852"/>
            <a:ext cx="3496159" cy="1569660"/>
          </a:xfrm>
          <a:prstGeom prst="rect">
            <a:avLst/>
          </a:prstGeom>
        </p:spPr>
        <p:txBody>
          <a:bodyPr wrap="square">
            <a:spAutoFit/>
          </a:bodyPr>
          <a:lstStyle/>
          <a:p>
            <a:r>
              <a:rPr lang="en-US" sz="1600" b="1" dirty="0"/>
              <a:t>The object starts out in the positive direction, stops for a short time, and then reverses direction, heading back toward the origin. Notice that the object comes to rest instantaneously.</a:t>
            </a:r>
          </a:p>
        </p:txBody>
      </p:sp>
      <p:pic>
        <p:nvPicPr>
          <p:cNvPr id="4" name="Picture 3" descr="Graph shows velocity in meters per second plotted as a function of time at seconds. The velocity is 1 meter per second between 0 and 0.5 seconds, zero between 0.5 and 1.0 seconds, and -0.5 between 1.0 and 2.0 seconds."/>
          <p:cNvPicPr>
            <a:picLocks noChangeAspect="1"/>
          </p:cNvPicPr>
          <p:nvPr/>
        </p:nvPicPr>
        <p:blipFill>
          <a:blip r:embed="rId4"/>
          <a:stretch>
            <a:fillRect/>
          </a:stretch>
        </p:blipFill>
        <p:spPr>
          <a:xfrm>
            <a:off x="3620287" y="1117544"/>
            <a:ext cx="5575229" cy="3013204"/>
          </a:xfrm>
          <a:prstGeom prst="rect">
            <a:avLst/>
          </a:prstGeom>
        </p:spPr>
      </p:pic>
      <p:sp>
        <p:nvSpPr>
          <p:cNvPr id="5" name="Rectangle 4"/>
          <p:cNvSpPr/>
          <p:nvPr/>
        </p:nvSpPr>
        <p:spPr>
          <a:xfrm>
            <a:off x="5411788" y="4724792"/>
            <a:ext cx="2943940" cy="1323439"/>
          </a:xfrm>
          <a:prstGeom prst="rect">
            <a:avLst/>
          </a:prstGeom>
        </p:spPr>
        <p:txBody>
          <a:bodyPr wrap="square">
            <a:spAutoFit/>
          </a:bodyPr>
          <a:lstStyle/>
          <a:p>
            <a:r>
              <a:rPr lang="en-US" sz="1600" b="1" dirty="0"/>
              <a:t>The velocity is positive for the first part of the trip, zero when the object is stopped, and negative when the object reverses direction.</a:t>
            </a:r>
          </a:p>
        </p:txBody>
      </p:sp>
      <p:pic>
        <p:nvPicPr>
          <p:cNvPr id="7" name="Picture 6" descr="OpenStax logo">
            <a:extLst>
              <a:ext uri="{FF2B5EF4-FFF2-40B4-BE49-F238E27FC236}">
                <a16:creationId xmlns:a16="http://schemas.microsoft.com/office/drawing/2014/main" id="{D745CD54-A6B6-A0AA-7F4B-EBDC39047EE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50809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03CF-4E43-49A0-B0DF-3AACCDE31E84}"/>
              </a:ext>
            </a:extLst>
          </p:cNvPr>
          <p:cNvSpPr>
            <a:spLocks noGrp="1"/>
          </p:cNvSpPr>
          <p:nvPr>
            <p:ph type="title"/>
          </p:nvPr>
        </p:nvSpPr>
        <p:spPr>
          <a:xfrm>
            <a:off x="0" y="74382"/>
            <a:ext cx="9092485" cy="1087606"/>
          </a:xfrm>
        </p:spPr>
        <p:txBody>
          <a:bodyPr>
            <a:normAutofit/>
          </a:bodyPr>
          <a:lstStyle/>
          <a:p>
            <a:pPr algn="ctr"/>
            <a:r>
              <a:rPr lang="en-US" sz="2800" b="1" dirty="0">
                <a:solidFill>
                  <a:schemeClr val="tx1"/>
                </a:solidFill>
              </a:rPr>
              <a:t> Example 3.3, 3.4</a:t>
            </a:r>
            <a:br>
              <a:rPr lang="en-US" sz="2800" b="1" dirty="0"/>
            </a:br>
            <a:r>
              <a:rPr lang="en-US" sz="2800" b="1" dirty="0">
                <a:solidFill>
                  <a:schemeClr val="tx1"/>
                </a:solidFill>
              </a:rPr>
              <a:t> Instantaneous Versus Average  </a:t>
            </a:r>
          </a:p>
        </p:txBody>
      </p:sp>
      <p:sp>
        <p:nvSpPr>
          <p:cNvPr id="4" name="Text Placeholder 3">
            <a:extLst>
              <a:ext uri="{FF2B5EF4-FFF2-40B4-BE49-F238E27FC236}">
                <a16:creationId xmlns:a16="http://schemas.microsoft.com/office/drawing/2014/main" id="{BF6F01E4-BDCC-411B-9B97-ED9095DD2AC7}"/>
              </a:ext>
            </a:extLst>
          </p:cNvPr>
          <p:cNvSpPr>
            <a:spLocks noGrp="1"/>
          </p:cNvSpPr>
          <p:nvPr>
            <p:ph type="body" sz="quarter" idx="14"/>
          </p:nvPr>
        </p:nvSpPr>
        <p:spPr>
          <a:xfrm>
            <a:off x="265042" y="1240855"/>
            <a:ext cx="8613915" cy="5280338"/>
          </a:xfrm>
        </p:spPr>
        <p:txBody>
          <a:bodyPr>
            <a:normAutofit fontScale="25000" lnSpcReduction="20000"/>
          </a:bodyPr>
          <a:lstStyle/>
          <a:p>
            <a:r>
              <a:rPr lang="en-US" sz="9600" b="1" dirty="0">
                <a:solidFill>
                  <a:schemeClr val="tx1"/>
                </a:solidFill>
              </a:rPr>
              <a:t>Example 3.3</a:t>
            </a:r>
          </a:p>
          <a:p>
            <a:r>
              <a:rPr lang="en-US" sz="8000" b="1" dirty="0"/>
              <a:t>The position of a particle is given by x(t)=(3.0m/s)t+(0.5m/s</a:t>
            </a:r>
            <a:r>
              <a:rPr lang="en-US" sz="8000" b="1" baseline="30000" dirty="0"/>
              <a:t>3</a:t>
            </a:r>
            <a:r>
              <a:rPr lang="en-US" sz="8000" b="1" dirty="0"/>
              <a:t>)t</a:t>
            </a:r>
            <a:r>
              <a:rPr lang="en-US" sz="8000" b="1" baseline="30000" dirty="0"/>
              <a:t>3</a:t>
            </a:r>
            <a:r>
              <a:rPr lang="en-US" sz="8000" b="1" dirty="0"/>
              <a:t>.</a:t>
            </a:r>
          </a:p>
          <a:p>
            <a:pPr marL="342900" marR="0" lvl="0" indent="-342900">
              <a:buClrTx/>
              <a:buSzPct val="100000"/>
              <a:buFont typeface="Times New Roman" panose="02020603050405020304" pitchFamily="18" charset="0"/>
              <a:buAutoNum type="arabicPeriod"/>
            </a:pPr>
            <a:r>
              <a:rPr lang="en-US" sz="8000" b="1" dirty="0">
                <a:effectLst/>
                <a:latin typeface="Arial" panose="020B0604020202020204" pitchFamily="34" charset="0"/>
                <a:ea typeface="Times New Roman" panose="02020603050405020304" pitchFamily="18" charset="0"/>
              </a:rPr>
              <a:t>Find the instantaneous velocity at t=2.0 s.</a:t>
            </a:r>
            <a:endParaRPr lang="en-US" sz="8000" dirty="0">
              <a:effectLst/>
              <a:latin typeface="Times New Roman" panose="02020603050405020304" pitchFamily="18" charset="0"/>
              <a:ea typeface="Times New Roman" panose="02020603050405020304" pitchFamily="18" charset="0"/>
            </a:endParaRPr>
          </a:p>
          <a:p>
            <a:pPr marL="342900" marR="0" lvl="0" indent="-342900">
              <a:buClrTx/>
              <a:buSzPct val="100000"/>
              <a:buFont typeface="Times New Roman" panose="02020603050405020304" pitchFamily="18" charset="0"/>
              <a:buAutoNum type="arabicPeriod"/>
            </a:pPr>
            <a:r>
              <a:rPr lang="en-US" sz="8000" b="1" dirty="0">
                <a:effectLst/>
                <a:latin typeface="Arial" panose="020B0604020202020204" pitchFamily="34" charset="0"/>
                <a:ea typeface="Times New Roman" panose="02020603050405020304" pitchFamily="18" charset="0"/>
              </a:rPr>
              <a:t>Calculate the average velocity between 1.0 s and 3.0 s.</a:t>
            </a:r>
            <a:endParaRPr lang="en-US" sz="8000" b="1" dirty="0"/>
          </a:p>
          <a:p>
            <a:endParaRPr lang="en-US" b="1" dirty="0"/>
          </a:p>
          <a:p>
            <a:r>
              <a:rPr lang="en-US" sz="9600" b="1" dirty="0">
                <a:solidFill>
                  <a:schemeClr val="tx1"/>
                </a:solidFill>
              </a:rPr>
              <a:t>Example  3.4 </a:t>
            </a:r>
            <a:r>
              <a:rPr lang="en-US" sz="9600" b="1" dirty="0"/>
              <a:t>Instantaneous Velocity Versus Speed</a:t>
            </a:r>
          </a:p>
          <a:p>
            <a:pPr>
              <a:lnSpc>
                <a:spcPct val="170000"/>
              </a:lnSpc>
            </a:pPr>
            <a:r>
              <a:rPr lang="en-US" sz="8000" b="1" dirty="0"/>
              <a:t>Consider the motion of a particle in which the position is x(t)=(3.0m/s)t–(3m/s</a:t>
            </a:r>
            <a:r>
              <a:rPr lang="en-US" sz="8000" b="1" baseline="30000" dirty="0"/>
              <a:t>2</a:t>
            </a:r>
            <a:r>
              <a:rPr lang="en-US" sz="8000" b="1" dirty="0"/>
              <a:t>)t</a:t>
            </a:r>
            <a:r>
              <a:rPr lang="en-US" sz="8000" b="1" baseline="30000" dirty="0"/>
              <a:t>2</a:t>
            </a:r>
            <a:r>
              <a:rPr lang="en-US" sz="8000" b="1" dirty="0"/>
              <a:t>. </a:t>
            </a:r>
          </a:p>
          <a:p>
            <a:pPr marL="342900" marR="0" lvl="0" indent="-342900">
              <a:buClrTx/>
              <a:buSzPct val="100000"/>
              <a:buFont typeface="Times New Roman" panose="02020603050405020304" pitchFamily="18" charset="0"/>
              <a:buAutoNum type="arabicPeriod"/>
            </a:pPr>
            <a:r>
              <a:rPr lang="en-US" sz="8000" b="1" dirty="0">
                <a:effectLst/>
                <a:latin typeface="Arial" panose="020B0604020202020204" pitchFamily="34" charset="0"/>
                <a:ea typeface="Times New Roman" panose="02020603050405020304" pitchFamily="18" charset="0"/>
              </a:rPr>
              <a:t>What is the instantaneous velocity at t = 0.25 s, t = 0.50 s, and t = 1.0 s?   </a:t>
            </a:r>
            <a:endParaRPr lang="en-US" sz="8000" dirty="0">
              <a:effectLst/>
              <a:latin typeface="Times New Roman" panose="02020603050405020304" pitchFamily="18" charset="0"/>
              <a:ea typeface="Times New Roman" panose="02020603050405020304" pitchFamily="18" charset="0"/>
            </a:endParaRPr>
          </a:p>
          <a:p>
            <a:pPr marL="342900" marR="0" lvl="0" indent="-342900">
              <a:buClrTx/>
              <a:buSzPct val="100000"/>
              <a:buFont typeface="Times New Roman" panose="02020603050405020304" pitchFamily="18" charset="0"/>
              <a:buAutoNum type="arabicPeriod"/>
            </a:pPr>
            <a:r>
              <a:rPr lang="en-US" sz="8000" b="1" dirty="0">
                <a:effectLst/>
                <a:latin typeface="Arial" panose="020B0604020202020204" pitchFamily="34" charset="0"/>
                <a:ea typeface="Times New Roman" panose="02020603050405020304" pitchFamily="18" charset="0"/>
              </a:rPr>
              <a:t>What is the speed of the particle at these times?</a:t>
            </a:r>
            <a:endParaRPr lang="en-US" sz="8000" b="1" dirty="0"/>
          </a:p>
          <a:p>
            <a:pPr>
              <a:lnSpc>
                <a:spcPct val="170000"/>
              </a:lnSpc>
            </a:pPr>
            <a:r>
              <a:rPr lang="en-US" sz="9600" b="1" dirty="0">
                <a:hlinkClick r:id="rId2"/>
              </a:rPr>
              <a:t> Click here for Solution</a:t>
            </a:r>
            <a:endParaRPr lang="en-US" sz="9600" b="1" dirty="0"/>
          </a:p>
        </p:txBody>
      </p:sp>
      <p:pic>
        <p:nvPicPr>
          <p:cNvPr id="5" name="Picture 4" descr="OpenStax logo">
            <a:extLst>
              <a:ext uri="{FF2B5EF4-FFF2-40B4-BE49-F238E27FC236}">
                <a16:creationId xmlns:a16="http://schemas.microsoft.com/office/drawing/2014/main" id="{CAC7D468-B93B-CEC3-CC8F-234050CA6D8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04586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OpenStax logo">
            <a:extLst>
              <a:ext uri="{FF2B5EF4-FFF2-40B4-BE49-F238E27FC236}">
                <a16:creationId xmlns:a16="http://schemas.microsoft.com/office/drawing/2014/main" id="{2897E315-E33A-C4FC-1D83-092F5BBAD3C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pic>
        <p:nvPicPr>
          <p:cNvPr id="8" name="Picture Placeholder 2" descr="Picture shows a subway train coming into a station.">
            <a:extLst>
              <a:ext uri="{FF2B5EF4-FFF2-40B4-BE49-F238E27FC236}">
                <a16:creationId xmlns:a16="http://schemas.microsoft.com/office/drawing/2014/main" id="{FB790040-B359-412C-AC21-851A895C1DBF}"/>
              </a:ext>
            </a:extLst>
          </p:cNvPr>
          <p:cNvPicPr>
            <a:picLocks noChangeAspect="1"/>
          </p:cNvPicPr>
          <p:nvPr/>
        </p:nvPicPr>
        <p:blipFill rotWithShape="1">
          <a:blip r:embed="rId4">
            <a:extLst>
              <a:ext uri="{28A0092B-C50C-407E-A947-70E740481C1C}">
                <a14:useLocalDpi xmlns:a14="http://schemas.microsoft.com/office/drawing/2010/main" val="0"/>
              </a:ext>
            </a:extLst>
          </a:blip>
          <a:srcRect l="29964" r="9389" b="1"/>
          <a:stretch/>
        </p:blipFill>
        <p:spPr>
          <a:xfrm>
            <a:off x="5769581" y="2070446"/>
            <a:ext cx="3058886" cy="3341448"/>
          </a:xfrm>
          <a:prstGeom prst="rect">
            <a:avLst/>
          </a:prstGeom>
          <a:noFill/>
        </p:spPr>
      </p:pic>
      <p:sp>
        <p:nvSpPr>
          <p:cNvPr id="58372" name="Text Box 3"/>
          <p:cNvSpPr txBox="1">
            <a:spLocks noChangeArrowheads="1"/>
          </p:cNvSpPr>
          <p:nvPr/>
        </p:nvSpPr>
        <p:spPr bwMode="auto">
          <a:xfrm>
            <a:off x="170049" y="1813651"/>
            <a:ext cx="5404404" cy="492581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77500" lnSpcReduction="20000"/>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marR="0" lvl="0" indent="-342900" fontAlgn="base">
              <a:lnSpc>
                <a:spcPct val="150000"/>
              </a:lnSpc>
              <a:spcAft>
                <a:spcPct val="0"/>
              </a:spcAft>
              <a:buSzTx/>
              <a:buFont typeface="Wingdings" panose="05000000000000000000" pitchFamily="2" charset="2"/>
              <a:buChar char="Ø"/>
              <a:tabLst/>
            </a:pPr>
            <a:r>
              <a:rPr kumimoji="0" lang="en-US" altLang="en-US" sz="2100" b="1" i="0" u="none" strike="noStrike" cap="none" normalizeH="0" baseline="0" dirty="0">
                <a:ln>
                  <a:noFill/>
                </a:ln>
                <a:effectLst/>
                <a:latin typeface="+mn-lt"/>
              </a:rPr>
              <a:t>Acceleration is a vector in the same direction as the </a:t>
            </a:r>
            <a:r>
              <a:rPr kumimoji="0" lang="en-US" altLang="en-US" sz="2100" b="1" i="1" u="none" strike="noStrike" cap="none" normalizeH="0" baseline="0" dirty="0">
                <a:ln>
                  <a:noFill/>
                </a:ln>
                <a:effectLst/>
                <a:latin typeface="+mn-lt"/>
              </a:rPr>
              <a:t>change</a:t>
            </a:r>
            <a:r>
              <a:rPr kumimoji="0" lang="en-US" altLang="en-US" sz="2100" b="1" i="0" u="none" strike="noStrike" cap="none" normalizeH="0" baseline="0" dirty="0">
                <a:ln>
                  <a:noFill/>
                </a:ln>
                <a:effectLst/>
                <a:latin typeface="+mn-lt"/>
              </a:rPr>
              <a:t> in velocity, </a:t>
            </a:r>
            <a:r>
              <a:rPr kumimoji="0" lang="en-US" altLang="en-US" sz="2100" b="1" i="0" u="none" strike="noStrike" cap="none" normalizeH="0" baseline="0" dirty="0" err="1">
                <a:ln>
                  <a:noFill/>
                </a:ln>
                <a:effectLst/>
                <a:latin typeface="+mn-lt"/>
              </a:rPr>
              <a:t>Δ</a:t>
            </a:r>
            <a:r>
              <a:rPr kumimoji="0" lang="en-US" altLang="en-US" sz="2100" b="1" i="1" u="none" strike="noStrike" cap="none" normalizeH="0" baseline="0" dirty="0" err="1">
                <a:ln>
                  <a:noFill/>
                </a:ln>
                <a:effectLst/>
                <a:latin typeface="+mn-lt"/>
              </a:rPr>
              <a:t>v</a:t>
            </a:r>
            <a:r>
              <a:rPr kumimoji="0" lang="en-US" altLang="en-US" sz="2100" b="1" i="0" u="none" strike="noStrike" cap="none" normalizeH="0" baseline="0" dirty="0">
                <a:ln>
                  <a:noFill/>
                </a:ln>
                <a:effectLst/>
                <a:latin typeface="+mn-lt"/>
              </a:rPr>
              <a:t>. Since velocity is a vector, it can change in magnitude or in direction, or both. </a:t>
            </a:r>
          </a:p>
          <a:p>
            <a:pPr marL="342900" marR="0" lvl="0" indent="-342900" fontAlgn="base">
              <a:lnSpc>
                <a:spcPct val="150000"/>
              </a:lnSpc>
              <a:spcAft>
                <a:spcPct val="0"/>
              </a:spcAft>
              <a:buSzTx/>
              <a:buFont typeface="Wingdings" panose="05000000000000000000" pitchFamily="2" charset="2"/>
              <a:buChar char="Ø"/>
              <a:tabLst/>
            </a:pPr>
            <a:r>
              <a:rPr kumimoji="0" lang="en-US" altLang="en-US" sz="2100" b="1" i="0" u="none" strike="noStrike" cap="none" normalizeH="0" baseline="0" dirty="0">
                <a:ln>
                  <a:noFill/>
                </a:ln>
                <a:effectLst/>
                <a:latin typeface="+mn-lt"/>
              </a:rPr>
              <a:t>Acceleration is, therefore, a change in speed or direction, or both.  </a:t>
            </a:r>
          </a:p>
          <a:p>
            <a:pPr marL="342900" marR="0" lvl="0" indent="-342900" fontAlgn="base">
              <a:lnSpc>
                <a:spcPct val="150000"/>
              </a:lnSpc>
              <a:spcAft>
                <a:spcPct val="0"/>
              </a:spcAft>
              <a:buSzTx/>
              <a:buFont typeface="Wingdings" panose="05000000000000000000" pitchFamily="2" charset="2"/>
              <a:buChar char="Ø"/>
              <a:tabLst/>
            </a:pPr>
            <a:r>
              <a:rPr kumimoji="0" lang="en-US" altLang="en-US" sz="2100" b="1" i="0" u="none" strike="noStrike" cap="none" normalizeH="0" baseline="0" dirty="0">
                <a:ln>
                  <a:noFill/>
                </a:ln>
                <a:effectLst/>
                <a:latin typeface="+mn-lt"/>
              </a:rPr>
              <a:t> When an object slows down, its acceleration is opposite to the direction of its motion. Although this is commonly referred to as deceleration in the Figure,   the train is accelerating in a direction opposite to its direction of motion. Here, </a:t>
            </a:r>
            <a:r>
              <a:rPr lang="en-US" sz="2100" b="1" dirty="0"/>
              <a:t>acceleration is in the negative direction in the chosen coordinate system, so we say the train is undergoing negative acceleration.</a:t>
            </a:r>
            <a:endParaRPr kumimoji="0" lang="en-US" altLang="en-US" sz="2100" b="1" u="none" strike="noStrike" cap="none" normalizeH="0" baseline="0" dirty="0">
              <a:ln>
                <a:noFill/>
              </a:ln>
              <a:effectLst/>
              <a:latin typeface="+mn-lt"/>
            </a:endParaRPr>
          </a:p>
          <a:p>
            <a:pPr>
              <a:lnSpc>
                <a:spcPct val="90000"/>
              </a:lnSpc>
              <a:buClr>
                <a:srgbClr val="6CB255"/>
              </a:buClr>
              <a:buFont typeface="Arial" pitchFamily="34" charset="0"/>
              <a:buNone/>
            </a:pPr>
            <a:endParaRPr lang="en-US" altLang="en-US" sz="1600" b="1" baseline="30000" dirty="0">
              <a:latin typeface="+mn-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DA17135-E5E3-5274-B8EE-9957BD369CF4}"/>
                  </a:ext>
                </a:extLst>
              </p:cNvPr>
              <p:cNvSpPr txBox="1"/>
              <p:nvPr/>
            </p:nvSpPr>
            <p:spPr>
              <a:xfrm>
                <a:off x="223520" y="752878"/>
                <a:ext cx="6785902" cy="958211"/>
              </a:xfrm>
              <a:prstGeom prst="rect">
                <a:avLst/>
              </a:prstGeom>
              <a:noFill/>
            </p:spPr>
            <p:txBody>
              <a:bodyPr wrap="square">
                <a:spAutoFit/>
              </a:bodyPr>
              <a:lstStyle/>
              <a:p>
                <a:pPr>
                  <a:lnSpc>
                    <a:spcPct val="90000"/>
                  </a:lnSpc>
                  <a:buClr>
                    <a:srgbClr val="6CB255"/>
                  </a:buClr>
                  <a:buFont typeface="Arial" pitchFamily="34" charset="0"/>
                  <a:buNone/>
                </a:pPr>
                <a:r>
                  <a:rPr lang="en-US" altLang="en-US" sz="2400" b="1" dirty="0">
                    <a:latin typeface="+mn-lt"/>
                  </a:rPr>
                  <a:t>Acceleration is the rate of change of velocity.</a:t>
                </a:r>
              </a:p>
              <a:p>
                <a:pPr>
                  <a:lnSpc>
                    <a:spcPct val="90000"/>
                  </a:lnSpc>
                  <a:buClr>
                    <a:srgbClr val="6CB255"/>
                  </a:buClr>
                  <a:buFont typeface="Arial" pitchFamily="34" charset="0"/>
                  <a:buNone/>
                </a:pPr>
                <a:r>
                  <a:rPr lang="en-US" altLang="en-US" sz="2400" b="1" dirty="0">
                    <a:latin typeface="+mn-lt"/>
                  </a:rPr>
                  <a:t>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𝒂𝒗𝒈</m:t>
                        </m:r>
                      </m:sub>
                    </m:sSub>
                    <m:r>
                      <a:rPr lang="en-US" sz="2400" b="1" i="1">
                        <a:latin typeface="Cambria Math" panose="02040503050406030204" pitchFamily="18" charset="0"/>
                      </a:rPr>
                      <m:t>=</m:t>
                    </m:r>
                    <m:f>
                      <m:fPr>
                        <m:ctrlPr>
                          <a:rPr lang="en-US" sz="2400" b="1" i="1">
                            <a:latin typeface="Cambria Math" panose="02040503050406030204" pitchFamily="18" charset="0"/>
                          </a:rPr>
                        </m:ctrlPr>
                      </m:fPr>
                      <m:num>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𝟐</m:t>
                            </m:r>
                          </m:sub>
                        </m:sSub>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𝟏</m:t>
                            </m:r>
                          </m:sub>
                        </m:sSub>
                      </m:num>
                      <m:den>
                        <m:sSub>
                          <m:sSubPr>
                            <m:ctrlPr>
                              <a:rPr lang="en-US" sz="2400" b="1" i="1">
                                <a:latin typeface="Cambria Math" panose="02040503050406030204" pitchFamily="18" charset="0"/>
                              </a:rPr>
                            </m:ctrlPr>
                          </m:sSubPr>
                          <m:e>
                            <m:r>
                              <a:rPr lang="en-US" sz="2400" b="1" i="1">
                                <a:latin typeface="Cambria Math" panose="02040503050406030204" pitchFamily="18" charset="0"/>
                              </a:rPr>
                              <m:t>𝒕</m:t>
                            </m:r>
                          </m:e>
                          <m:sub>
                            <m:r>
                              <a:rPr lang="en-US" sz="2400" b="1" i="1">
                                <a:latin typeface="Cambria Math" panose="02040503050406030204" pitchFamily="18" charset="0"/>
                              </a:rPr>
                              <m:t>𝟐</m:t>
                            </m:r>
                          </m:sub>
                        </m:sSub>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𝒕</m:t>
                            </m:r>
                          </m:e>
                          <m:sub>
                            <m:r>
                              <a:rPr lang="en-US" sz="2400" b="1" i="1">
                                <a:latin typeface="Cambria Math" panose="02040503050406030204" pitchFamily="18" charset="0"/>
                              </a:rPr>
                              <m:t>𝟏</m:t>
                            </m:r>
                          </m:sub>
                        </m:sSub>
                      </m:den>
                    </m:f>
                    <m:r>
                      <a:rPr lang="en-US" sz="2400" b="1" i="1">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𝜟</m:t>
                        </m:r>
                        <m:r>
                          <a:rPr lang="en-US" sz="2400" b="1" i="1">
                            <a:latin typeface="Cambria Math" panose="02040503050406030204" pitchFamily="18" charset="0"/>
                          </a:rPr>
                          <m:t>𝒗</m:t>
                        </m:r>
                      </m:num>
                      <m:den>
                        <m:r>
                          <a:rPr lang="en-US" sz="2400" b="1" i="1">
                            <a:latin typeface="Cambria Math" panose="02040503050406030204" pitchFamily="18" charset="0"/>
                          </a:rPr>
                          <m:t>𝜟</m:t>
                        </m:r>
                        <m:r>
                          <a:rPr lang="en-US" sz="2400" b="1" i="1">
                            <a:latin typeface="Cambria Math" panose="02040503050406030204" pitchFamily="18" charset="0"/>
                          </a:rPr>
                          <m:t>𝒕</m:t>
                        </m:r>
                      </m:den>
                    </m:f>
                  </m:oMath>
                </a14:m>
                <a:r>
                  <a:rPr lang="en-US" sz="2400" b="1" dirty="0">
                    <a:latin typeface="+mn-lt"/>
                  </a:rPr>
                  <a:t>     </a:t>
                </a:r>
                <a:r>
                  <a:rPr lang="en-US" altLang="en-US" sz="2400" b="1" dirty="0">
                    <a:latin typeface="Cambria Math" panose="02040503050406030204" pitchFamily="18" charset="0"/>
                    <a:ea typeface="Cambria Math" panose="02040503050406030204" pitchFamily="18" charset="0"/>
                  </a:rPr>
                  <a:t>units: m/s</a:t>
                </a:r>
                <a:r>
                  <a:rPr lang="en-US" altLang="en-US" sz="2400" b="1" baseline="30000" dirty="0">
                    <a:latin typeface="Cambria Math" panose="02040503050406030204" pitchFamily="18" charset="0"/>
                    <a:ea typeface="Cambria Math" panose="02040503050406030204" pitchFamily="18" charset="0"/>
                  </a:rPr>
                  <a:t>2</a:t>
                </a:r>
              </a:p>
            </p:txBody>
          </p:sp>
        </mc:Choice>
        <mc:Fallback xmlns="">
          <p:sp>
            <p:nvSpPr>
              <p:cNvPr id="7" name="TextBox 6">
                <a:extLst>
                  <a:ext uri="{FF2B5EF4-FFF2-40B4-BE49-F238E27FC236}">
                    <a16:creationId xmlns:a16="http://schemas.microsoft.com/office/drawing/2014/main" id="{2DA17135-E5E3-5274-B8EE-9957BD369CF4}"/>
                  </a:ext>
                </a:extLst>
              </p:cNvPr>
              <p:cNvSpPr txBox="1">
                <a:spLocks noRot="1" noChangeAspect="1" noMove="1" noResize="1" noEditPoints="1" noAdjustHandles="1" noChangeArrowheads="1" noChangeShapeType="1" noTextEdit="1"/>
              </p:cNvSpPr>
              <p:nvPr/>
            </p:nvSpPr>
            <p:spPr>
              <a:xfrm>
                <a:off x="223520" y="752878"/>
                <a:ext cx="6785902" cy="958211"/>
              </a:xfrm>
              <a:prstGeom prst="rect">
                <a:avLst/>
              </a:prstGeom>
              <a:blipFill>
                <a:blip r:embed="rId5"/>
                <a:stretch>
                  <a:fillRect l="-1438" t="-8280" r="-270"/>
                </a:stretch>
              </a:blipFill>
            </p:spPr>
            <p:txBody>
              <a:bodyPr/>
              <a:lstStyle/>
              <a:p>
                <a:r>
                  <a:rPr lang="en-US">
                    <a:noFill/>
                  </a:rPr>
                  <a:t> </a:t>
                </a:r>
              </a:p>
            </p:txBody>
          </p:sp>
        </mc:Fallback>
      </mc:AlternateContent>
      <p:sp>
        <p:nvSpPr>
          <p:cNvPr id="2" name="Title 1"/>
          <p:cNvSpPr>
            <a:spLocks noGrp="1"/>
          </p:cNvSpPr>
          <p:nvPr>
            <p:ph type="title"/>
          </p:nvPr>
        </p:nvSpPr>
        <p:spPr>
          <a:xfrm>
            <a:off x="698369" y="172197"/>
            <a:ext cx="7543800" cy="509677"/>
          </a:xfrm>
        </p:spPr>
        <p:txBody>
          <a:bodyPr vert="horz" lIns="91440" tIns="45720" rIns="91440" bIns="45720" rtlCol="0" anchor="b">
            <a:noAutofit/>
          </a:bodyPr>
          <a:lstStyle/>
          <a:p>
            <a:pPr algn="ctr"/>
            <a:r>
              <a:rPr lang="en-US" altLang="en-US" sz="2800" b="1" kern="1200" cap="all" spc="-60" baseline="0" dirty="0">
                <a:solidFill>
                  <a:schemeClr val="tx1"/>
                </a:solidFill>
                <a:latin typeface="+mj-lt"/>
                <a:ea typeface="+mj-ea"/>
                <a:cs typeface="+mj-cs"/>
              </a:rPr>
              <a:t>Average Acceleration</a:t>
            </a:r>
            <a:endParaRPr lang="en-US" sz="2800" b="1" kern="1200" cap="all" spc="-60" baseline="0" dirty="0">
              <a:solidFill>
                <a:schemeClr val="tx1"/>
              </a:solidFill>
              <a:latin typeface="+mj-lt"/>
              <a:ea typeface="+mj-ea"/>
              <a:cs typeface="+mj-cs"/>
            </a:endParaRPr>
          </a:p>
        </p:txBody>
      </p:sp>
    </p:spTree>
    <p:extLst>
      <p:ext uri="{BB962C8B-B14F-4D97-AF65-F5344CB8AC3E}">
        <p14:creationId xmlns:p14="http://schemas.microsoft.com/office/powerpoint/2010/main" val="2026127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18427"/>
            <a:ext cx="8534400" cy="600076"/>
          </a:xfrm>
        </p:spPr>
        <p:txBody>
          <a:bodyPr>
            <a:noAutofit/>
          </a:bodyPr>
          <a:lstStyle/>
          <a:p>
            <a:pPr algn="ctr"/>
            <a:r>
              <a:rPr lang="en-US" altLang="en-US" sz="2800" b="1" dirty="0">
                <a:solidFill>
                  <a:schemeClr val="tx1"/>
                </a:solidFill>
              </a:rPr>
              <a:t>Instantaneous Acceleration</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66564" name="Text Box 5"/>
              <p:cNvSpPr txBox="1">
                <a:spLocks noChangeArrowheads="1"/>
              </p:cNvSpPr>
              <p:nvPr/>
            </p:nvSpPr>
            <p:spPr bwMode="auto">
              <a:xfrm>
                <a:off x="355600" y="1265184"/>
                <a:ext cx="8432800" cy="47365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b="1" dirty="0"/>
                  <a:t>The instantaneous acceleration is the average acceleration in the limit as the time interval becomes infinitesimally short.</a:t>
                </a:r>
              </a:p>
              <a:p>
                <a:pPr>
                  <a:spcBef>
                    <a:spcPct val="50000"/>
                  </a:spcBef>
                  <a:buNone/>
                </a:pPr>
                <a14:m>
                  <m:oMathPara xmlns:m="http://schemas.openxmlformats.org/officeDocument/2006/math">
                    <m:oMathParaPr>
                      <m:jc m:val="centerGroup"/>
                    </m:oMathParaPr>
                    <m:oMath xmlns:m="http://schemas.openxmlformats.org/officeDocument/2006/math">
                      <m:r>
                        <a:rPr lang="en-US" sz="2800" b="1" i="1">
                          <a:latin typeface="Cambria Math" panose="02040503050406030204" pitchFamily="18" charset="0"/>
                        </a:rPr>
                        <m:t>𝒂</m:t>
                      </m:r>
                      <m:r>
                        <a:rPr lang="en-US" sz="2800" b="1" i="1">
                          <a:latin typeface="Cambria Math" panose="02040503050406030204" pitchFamily="18" charset="0"/>
                        </a:rPr>
                        <m:t>=</m:t>
                      </m:r>
                      <m:func>
                        <m:funcPr>
                          <m:ctrlPr>
                            <a:rPr lang="en-US" sz="2800" b="1" i="1">
                              <a:latin typeface="Cambria Math" panose="02040503050406030204" pitchFamily="18" charset="0"/>
                            </a:rPr>
                          </m:ctrlPr>
                        </m:funcPr>
                        <m:fName>
                          <m:r>
                            <a:rPr lang="en-US" sz="2800" b="1" i="1">
                              <a:latin typeface="Cambria Math" panose="02040503050406030204" pitchFamily="18" charset="0"/>
                            </a:rPr>
                            <m:t> </m:t>
                          </m:r>
                        </m:fName>
                        <m:e>
                          <m:f>
                            <m:fPr>
                              <m:ctrlPr>
                                <a:rPr lang="en-US" sz="2800" b="1" i="1">
                                  <a:latin typeface="Cambria Math" panose="02040503050406030204" pitchFamily="18" charset="0"/>
                                </a:rPr>
                              </m:ctrlPr>
                            </m:fPr>
                            <m:num>
                              <m:r>
                                <a:rPr lang="en-US" sz="2800" b="1" i="1">
                                  <a:latin typeface="Cambria Math" panose="02040503050406030204" pitchFamily="18" charset="0"/>
                                </a:rPr>
                                <m:t>𝜟</m:t>
                              </m:r>
                              <m:r>
                                <a:rPr lang="en-US" sz="2800" b="1" i="1">
                                  <a:latin typeface="Cambria Math" panose="02040503050406030204" pitchFamily="18" charset="0"/>
                                </a:rPr>
                                <m:t>𝒗</m:t>
                              </m:r>
                            </m:num>
                            <m:den>
                              <m:r>
                                <a:rPr lang="en-US" sz="2800" b="1" i="1">
                                  <a:latin typeface="Cambria Math" panose="02040503050406030204" pitchFamily="18" charset="0"/>
                                </a:rPr>
                                <m:t>𝜟</m:t>
                              </m:r>
                              <m:r>
                                <a:rPr lang="en-US" sz="2800" b="1" i="1">
                                  <a:latin typeface="Cambria Math" panose="02040503050406030204" pitchFamily="18" charset="0"/>
                                </a:rPr>
                                <m:t>𝒕</m:t>
                              </m:r>
                            </m:den>
                          </m:f>
                        </m:e>
                      </m:func>
                      <m:r>
                        <a:rPr lang="en-US" sz="2800" b="1" i="1">
                          <a:latin typeface="Cambria Math" panose="02040503050406030204" pitchFamily="18" charset="0"/>
                        </a:rPr>
                        <m:t>=</m:t>
                      </m:r>
                      <m:f>
                        <m:fPr>
                          <m:ctrlPr>
                            <a:rPr lang="en-US" sz="2800" b="1" i="1">
                              <a:latin typeface="Cambria Math" panose="02040503050406030204" pitchFamily="18" charset="0"/>
                            </a:rPr>
                          </m:ctrlPr>
                        </m:fPr>
                        <m:num>
                          <m:r>
                            <a:rPr lang="en-US" sz="2800" b="1" i="1">
                              <a:latin typeface="Cambria Math" panose="02040503050406030204" pitchFamily="18" charset="0"/>
                            </a:rPr>
                            <m:t>𝒅𝒗</m:t>
                          </m:r>
                        </m:num>
                        <m:den>
                          <m:r>
                            <a:rPr lang="en-US" sz="2800" b="1" i="1">
                              <a:latin typeface="Cambria Math" panose="02040503050406030204" pitchFamily="18" charset="0"/>
                            </a:rPr>
                            <m:t>𝒅𝒕</m:t>
                          </m:r>
                        </m:den>
                      </m:f>
                      <m:r>
                        <m:rPr>
                          <m:nor/>
                        </m:rPr>
                        <a:rPr lang="en-US" sz="2800" b="1">
                          <a:latin typeface="Cambria Math" panose="02040503050406030204" pitchFamily="18" charset="0"/>
                        </a:rPr>
                        <m:t>,  </m:t>
                      </m:r>
                      <m:r>
                        <m:rPr>
                          <m:nor/>
                        </m:rPr>
                        <a:rPr lang="en-US" sz="2800" b="1" i="0" smtClean="0">
                          <a:latin typeface="Cambria Math" panose="02040503050406030204" pitchFamily="18" charset="0"/>
                        </a:rPr>
                        <m:t>         </m:t>
                      </m:r>
                      <m:r>
                        <m:rPr>
                          <m:nor/>
                        </m:rPr>
                        <a:rPr lang="en-US" sz="2800" b="1">
                          <a:latin typeface="Cambria Math" panose="02040503050406030204" pitchFamily="18" charset="0"/>
                        </a:rPr>
                        <m:t> </m:t>
                      </m:r>
                      <m:r>
                        <a:rPr lang="en-US" sz="2800" b="1" i="1">
                          <a:latin typeface="Cambria Math" panose="02040503050406030204" pitchFamily="18" charset="0"/>
                        </a:rPr>
                        <m:t>𝒂</m:t>
                      </m:r>
                      <m:r>
                        <a:rPr lang="en-US" sz="2800" b="1" i="1">
                          <a:latin typeface="Cambria Math" panose="02040503050406030204" pitchFamily="18" charset="0"/>
                        </a:rPr>
                        <m:t>=</m:t>
                      </m:r>
                      <m:r>
                        <m:rPr>
                          <m:nor/>
                        </m:rPr>
                        <a:rPr lang="en-US" sz="2800" b="1">
                          <a:latin typeface="Cambria Math" panose="02040503050406030204" pitchFamily="18" charset="0"/>
                        </a:rPr>
                        <m:t>  </m:t>
                      </m:r>
                      <m:f>
                        <m:fPr>
                          <m:ctrlPr>
                            <a:rPr lang="en-US" sz="2800" b="1" i="1">
                              <a:latin typeface="Cambria Math" panose="02040503050406030204" pitchFamily="18" charset="0"/>
                            </a:rPr>
                          </m:ctrlPr>
                        </m:fPr>
                        <m:num>
                          <m:r>
                            <a:rPr lang="en-US" sz="2800" b="1" i="1">
                              <a:latin typeface="Cambria Math" panose="02040503050406030204" pitchFamily="18" charset="0"/>
                            </a:rPr>
                            <m:t>𝒅𝒗</m:t>
                          </m:r>
                        </m:num>
                        <m:den>
                          <m:r>
                            <a:rPr lang="en-US" sz="2800" b="1" i="1">
                              <a:latin typeface="Cambria Math" panose="02040503050406030204" pitchFamily="18" charset="0"/>
                            </a:rPr>
                            <m:t>𝒅𝒕</m:t>
                          </m:r>
                        </m:den>
                      </m:f>
                      <m:r>
                        <a:rPr lang="en-US" sz="2800" b="1" i="1">
                          <a:latin typeface="Cambria Math" panose="02040503050406030204" pitchFamily="18" charset="0"/>
                        </a:rPr>
                        <m:t>=</m:t>
                      </m:r>
                      <m:f>
                        <m:fPr>
                          <m:ctrlPr>
                            <a:rPr lang="en-US" sz="2800" b="1" i="1">
                              <a:latin typeface="Cambria Math" panose="02040503050406030204" pitchFamily="18" charset="0"/>
                            </a:rPr>
                          </m:ctrlPr>
                        </m:fPr>
                        <m:num>
                          <m:r>
                            <a:rPr lang="en-US" sz="2800" b="1" i="1">
                              <a:latin typeface="Cambria Math" panose="02040503050406030204" pitchFamily="18" charset="0"/>
                            </a:rPr>
                            <m:t>𝒅</m:t>
                          </m:r>
                        </m:num>
                        <m:den>
                          <m:r>
                            <a:rPr lang="en-US" sz="2800" b="1" i="1">
                              <a:latin typeface="Cambria Math" panose="02040503050406030204" pitchFamily="18" charset="0"/>
                            </a:rPr>
                            <m:t>𝒅𝒕</m:t>
                          </m:r>
                        </m:den>
                      </m:f>
                      <m:d>
                        <m:dPr>
                          <m:ctrlPr>
                            <a:rPr lang="en-US" sz="2800" b="1" i="1">
                              <a:latin typeface="Cambria Math" panose="02040503050406030204" pitchFamily="18" charset="0"/>
                            </a:rPr>
                          </m:ctrlPr>
                        </m:dPr>
                        <m:e>
                          <m:f>
                            <m:fPr>
                              <m:ctrlPr>
                                <a:rPr lang="en-US" sz="2800" b="1" i="1">
                                  <a:latin typeface="Cambria Math" panose="02040503050406030204" pitchFamily="18" charset="0"/>
                                </a:rPr>
                              </m:ctrlPr>
                            </m:fPr>
                            <m:num>
                              <m:r>
                                <a:rPr lang="en-US" sz="2800" b="1" i="1">
                                  <a:latin typeface="Cambria Math" panose="02040503050406030204" pitchFamily="18" charset="0"/>
                                </a:rPr>
                                <m:t>𝒅𝒙</m:t>
                              </m:r>
                            </m:num>
                            <m:den>
                              <m:r>
                                <a:rPr lang="en-US" sz="2800" b="1" i="1">
                                  <a:latin typeface="Cambria Math" panose="02040503050406030204" pitchFamily="18" charset="0"/>
                                </a:rPr>
                                <m:t>𝒅𝒕</m:t>
                              </m:r>
                            </m:den>
                          </m:f>
                        </m:e>
                      </m:d>
                      <m:r>
                        <a:rPr lang="en-US" sz="2800" b="1" i="1">
                          <a:latin typeface="Cambria Math" panose="02040503050406030204" pitchFamily="18" charset="0"/>
                        </a:rPr>
                        <m:t>=</m:t>
                      </m:r>
                      <m:f>
                        <m:fPr>
                          <m:ctrlPr>
                            <a:rPr lang="en-US" sz="2800" b="1" i="1">
                              <a:latin typeface="Cambria Math" panose="02040503050406030204" pitchFamily="18" charset="0"/>
                            </a:rPr>
                          </m:ctrlPr>
                        </m:fPr>
                        <m:num>
                          <m:sSup>
                            <m:sSupPr>
                              <m:ctrlPr>
                                <a:rPr lang="en-US" sz="2800" b="1" i="1">
                                  <a:latin typeface="Cambria Math" panose="02040503050406030204" pitchFamily="18" charset="0"/>
                                </a:rPr>
                              </m:ctrlPr>
                            </m:sSupPr>
                            <m:e>
                              <m:r>
                                <a:rPr lang="en-US" sz="2800" b="1" i="1">
                                  <a:latin typeface="Cambria Math" panose="02040503050406030204" pitchFamily="18" charset="0"/>
                                </a:rPr>
                                <m:t>𝒅</m:t>
                              </m:r>
                            </m:e>
                            <m:sup>
                              <m:r>
                                <a:rPr lang="en-US" sz="2800" b="1" i="1">
                                  <a:latin typeface="Cambria Math" panose="02040503050406030204" pitchFamily="18" charset="0"/>
                                </a:rPr>
                                <m:t>𝟐</m:t>
                              </m:r>
                            </m:sup>
                          </m:sSup>
                          <m:r>
                            <a:rPr lang="en-US" sz="2800" b="1" i="1">
                              <a:latin typeface="Cambria Math" panose="02040503050406030204" pitchFamily="18" charset="0"/>
                            </a:rPr>
                            <m:t>𝒙</m:t>
                          </m:r>
                        </m:num>
                        <m:den>
                          <m:r>
                            <a:rPr lang="en-US" sz="2800" b="1" i="1">
                              <a:latin typeface="Cambria Math" panose="02040503050406030204" pitchFamily="18" charset="0"/>
                            </a:rPr>
                            <m:t>𝒅</m:t>
                          </m:r>
                          <m:sSup>
                            <m:sSupPr>
                              <m:ctrlPr>
                                <a:rPr lang="en-US" sz="2800" b="1" i="1">
                                  <a:latin typeface="Cambria Math" panose="02040503050406030204" pitchFamily="18" charset="0"/>
                                </a:rPr>
                              </m:ctrlPr>
                            </m:sSupPr>
                            <m:e>
                              <m:r>
                                <a:rPr lang="en-US" sz="2800" b="1" i="1">
                                  <a:latin typeface="Cambria Math" panose="02040503050406030204" pitchFamily="18" charset="0"/>
                                </a:rPr>
                                <m:t>𝒕</m:t>
                              </m:r>
                            </m:e>
                            <m:sup>
                              <m:r>
                                <a:rPr lang="en-US" sz="2800" b="1" i="1">
                                  <a:latin typeface="Cambria Math" panose="02040503050406030204" pitchFamily="18" charset="0"/>
                                </a:rPr>
                                <m:t>𝟐</m:t>
                              </m:r>
                            </m:sup>
                          </m:sSup>
                        </m:den>
                      </m:f>
                    </m:oMath>
                  </m:oMathPara>
                </a14:m>
                <a:endParaRPr lang="en-US" altLang="en-US" sz="2800" b="1" dirty="0"/>
              </a:p>
              <a:p>
                <a:pPr>
                  <a:spcBef>
                    <a:spcPct val="50000"/>
                  </a:spcBef>
                  <a:buNone/>
                </a:pPr>
                <a:endParaRPr lang="en-US" altLang="en-US" sz="2800" b="1" dirty="0"/>
              </a:p>
              <a:p>
                <a:pPr>
                  <a:buNone/>
                </a:pPr>
                <a:r>
                  <a:rPr lang="en-US" sz="2400" b="1" dirty="0">
                    <a:solidFill>
                      <a:srgbClr val="3333FF"/>
                    </a:solidFill>
                    <a:hlinkClick r:id="rId3">
                      <a:extLst>
                        <a:ext uri="{A12FA001-AC4F-418D-AE19-62706E023703}">
                          <ahyp:hlinkClr xmlns:ahyp="http://schemas.microsoft.com/office/drawing/2018/hyperlinkcolor" val="tx"/>
                        </a:ext>
                      </a:extLst>
                    </a:hlinkClick>
                  </a:rPr>
                  <a:t>Click here to watch video on Average Acceleration and Deceleration</a:t>
                </a:r>
                <a:endParaRPr lang="en-US" sz="2400" b="1" dirty="0">
                  <a:solidFill>
                    <a:srgbClr val="3333FF"/>
                  </a:solidFill>
                </a:endParaRPr>
              </a:p>
              <a:p>
                <a:pPr>
                  <a:buNone/>
                </a:pPr>
                <a:r>
                  <a:rPr lang="en-US" sz="2400" b="1" dirty="0">
                    <a:solidFill>
                      <a:srgbClr val="3333FF"/>
                    </a:solidFill>
                    <a:hlinkClick r:id="rId4">
                      <a:extLst>
                        <a:ext uri="{A12FA001-AC4F-418D-AE19-62706E023703}">
                          <ahyp:hlinkClr xmlns:ahyp="http://schemas.microsoft.com/office/drawing/2018/hyperlinkcolor" val="tx"/>
                        </a:ext>
                      </a:extLst>
                    </a:hlinkClick>
                  </a:rPr>
                  <a:t>Click here to watch video on Instantaneous Acceleration</a:t>
                </a:r>
                <a:endParaRPr lang="en-US" sz="2400" b="1" dirty="0">
                  <a:solidFill>
                    <a:srgbClr val="3333FF"/>
                  </a:solidFill>
                </a:endParaRPr>
              </a:p>
              <a:p>
                <a:pPr>
                  <a:spcBef>
                    <a:spcPct val="50000"/>
                  </a:spcBef>
                  <a:buNone/>
                </a:pPr>
                <a:endParaRPr lang="en-US" altLang="en-US" sz="2800" b="1" dirty="0"/>
              </a:p>
            </p:txBody>
          </p:sp>
        </mc:Choice>
        <mc:Fallback xmlns="">
          <p:sp>
            <p:nvSpPr>
              <p:cNvPr id="66564" name="Text Box 5"/>
              <p:cNvSpPr txBox="1">
                <a:spLocks noRot="1" noChangeAspect="1" noMove="1" noResize="1" noEditPoints="1" noAdjustHandles="1" noChangeArrowheads="1" noChangeShapeType="1" noTextEdit="1"/>
              </p:cNvSpPr>
              <p:nvPr/>
            </p:nvSpPr>
            <p:spPr bwMode="auto">
              <a:xfrm>
                <a:off x="355600" y="1265184"/>
                <a:ext cx="8432800" cy="4736553"/>
              </a:xfrm>
              <a:prstGeom prst="rect">
                <a:avLst/>
              </a:prstGeom>
              <a:blipFill>
                <a:blip r:embed="rId5"/>
                <a:stretch>
                  <a:fillRect l="-1084" t="-901" r="-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F5BE8D55-12E8-731F-B59D-0A012C66311D}"/>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892820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2349" y="59663"/>
            <a:ext cx="8873544" cy="847637"/>
          </a:xfrm>
        </p:spPr>
        <p:txBody>
          <a:bodyPr>
            <a:normAutofit fontScale="90000"/>
          </a:bodyPr>
          <a:lstStyle/>
          <a:p>
            <a:pPr algn="ctr"/>
            <a:r>
              <a:rPr lang="en-US" dirty="0"/>
              <a:t> </a:t>
            </a:r>
            <a:r>
              <a:rPr lang="en-US" sz="2700" dirty="0">
                <a:solidFill>
                  <a:schemeClr val="tx1"/>
                </a:solidFill>
              </a:rPr>
              <a:t>velocity versus time, instantaneous acceleration Graphs</a:t>
            </a:r>
          </a:p>
        </p:txBody>
      </p:sp>
      <p:pic>
        <p:nvPicPr>
          <p:cNvPr id="2" name="Picture Placeholder 1" descr="Graph A shows velocity plotted versus time. Velocity increases from t1 to t2 and t3. It reaches maximum at t0. It decreases to t4 and continues to decrease to t5 and t6. The slope of the tangent line at t0 is indicated as the instantaneous velocity. Graph B shows velocity plotted versus time. Velocity decreases from t1 to t2 and t3. It reaches minimum at t0. It increases to t4 and continues to increase to t5 and t6. The slope of the tangent line at t0 is indicated as the instantaneous velocity."/>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843" r="-843"/>
          <a:stretch>
            <a:fillRect/>
          </a:stretch>
        </p:blipFill>
        <p:spPr>
          <a:xfrm>
            <a:off x="1205653" y="934965"/>
            <a:ext cx="6546306" cy="2841719"/>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148107" y="3740726"/>
                <a:ext cx="8995893" cy="2881263"/>
              </a:xfrm>
            </p:spPr>
            <p:txBody>
              <a:bodyPr>
                <a:noAutofit/>
              </a:bodyPr>
              <a:lstStyle/>
              <a:p>
                <a:r>
                  <a:rPr lang="en-US" sz="1600" b="1" dirty="0"/>
                  <a:t>In a graph of velocity versus time, instantaneous acceleration is the slope of the tangent line.</a:t>
                </a:r>
              </a:p>
              <a:p>
                <a:pPr marL="228600" indent="-228600">
                  <a:buClrTx/>
                  <a:buFont typeface="+mj-lt"/>
                  <a:buAutoNum type="alphaLcParenR"/>
                </a:pPr>
                <a:r>
                  <a:rPr lang="en-US" sz="1600" b="1" dirty="0"/>
                  <a:t>Shown is average acceleration  </a:t>
                </a:r>
                <a14:m>
                  <m:oMath xmlns:m="http://schemas.openxmlformats.org/officeDocument/2006/math">
                    <m:acc>
                      <m:accPr>
                        <m:chr m:val="̅"/>
                        <m:ctrlPr>
                          <a:rPr lang="en-US" sz="2400" b="1" i="1">
                            <a:latin typeface="Cambria Math" panose="02040503050406030204" pitchFamily="18" charset="0"/>
                          </a:rPr>
                        </m:ctrlPr>
                      </m:accPr>
                      <m:e>
                        <m:r>
                          <a:rPr lang="en-US" sz="2400" b="1" i="1" smtClean="0">
                            <a:latin typeface="Cambria Math"/>
                          </a:rPr>
                          <m:t>𝒂</m:t>
                        </m:r>
                      </m:e>
                    </m:acc>
                    <m:r>
                      <a:rPr lang="en-US" sz="2400" b="1" i="1" smtClean="0">
                        <a:latin typeface="Cambria Math"/>
                      </a:rPr>
                      <m:t> = </m:t>
                    </m:r>
                    <m:f>
                      <m:fPr>
                        <m:ctrlPr>
                          <a:rPr lang="en-US" sz="2400" b="1" i="1">
                            <a:latin typeface="Cambria Math" panose="02040503050406030204" pitchFamily="18" charset="0"/>
                          </a:rPr>
                        </m:ctrlPr>
                      </m:fPr>
                      <m:num>
                        <m:r>
                          <a:rPr lang="el-GR" sz="2400" b="1" i="1" smtClean="0">
                            <a:latin typeface="Cambria Math"/>
                          </a:rPr>
                          <m:t>𝚫</m:t>
                        </m:r>
                        <m:r>
                          <a:rPr lang="en-US" sz="2400" b="1" i="1" smtClean="0">
                            <a:latin typeface="Cambria Math"/>
                          </a:rPr>
                          <m:t>𝒗</m:t>
                        </m:r>
                      </m:num>
                      <m:den>
                        <m:r>
                          <a:rPr lang="el-GR" sz="2400" b="1" i="1" smtClean="0">
                            <a:latin typeface="Cambria Math"/>
                          </a:rPr>
                          <m:t>𝚫</m:t>
                        </m:r>
                        <m:r>
                          <a:rPr lang="en-US" sz="2400" b="1" i="1" smtClean="0">
                            <a:latin typeface="Cambria Math"/>
                          </a:rPr>
                          <m:t>𝒕</m:t>
                        </m:r>
                      </m:den>
                    </m:f>
                    <m:r>
                      <a:rPr lang="en-US" sz="2400" b="1" i="1" smtClean="0">
                        <a:latin typeface="Cambria Math"/>
                      </a:rPr>
                      <m:t> = </m:t>
                    </m:r>
                    <m:box>
                      <m:boxPr>
                        <m:ctrlPr>
                          <a:rPr lang="en-US" sz="2400" b="1" i="1">
                            <a:latin typeface="Cambria Math" panose="02040503050406030204" pitchFamily="18" charset="0"/>
                          </a:rPr>
                        </m:ctrlPr>
                      </m:boxPr>
                      <m:e>
                        <m:argPr>
                          <m:argSz m:val="-1"/>
                        </m:argPr>
                        <m:f>
                          <m:fPr>
                            <m:ctrlPr>
                              <a:rPr lang="en-US" sz="2400" b="1" i="1">
                                <a:latin typeface="Cambria Math" panose="02040503050406030204" pitchFamily="18" charset="0"/>
                              </a:rPr>
                            </m:ctrlPr>
                          </m:fPr>
                          <m:num>
                            <m:sSub>
                              <m:sSubPr>
                                <m:ctrlPr>
                                  <a:rPr lang="en-US" sz="2400" b="1" i="1" dirty="0">
                                    <a:latin typeface="Cambria Math" panose="02040503050406030204" pitchFamily="18" charset="0"/>
                                  </a:rPr>
                                </m:ctrlPr>
                              </m:sSubPr>
                              <m:e>
                                <m:r>
                                  <a:rPr lang="en-US" sz="2400" b="1" i="1" dirty="0" smtClean="0">
                                    <a:latin typeface="Cambria Math"/>
                                  </a:rPr>
                                  <m:t>𝒗</m:t>
                                </m:r>
                              </m:e>
                              <m:sub>
                                <m:r>
                                  <a:rPr lang="en-US" sz="2400" b="1" i="1" dirty="0" smtClean="0">
                                    <a:latin typeface="Cambria Math"/>
                                  </a:rPr>
                                  <m:t>𝒇</m:t>
                                </m:r>
                                <m:r>
                                  <a:rPr lang="en-US" sz="2400" b="1" i="1" dirty="0" smtClean="0">
                                    <a:latin typeface="Cambria Math"/>
                                  </a:rPr>
                                  <m:t> </m:t>
                                </m:r>
                              </m:sub>
                            </m:sSub>
                            <m:r>
                              <a:rPr lang="en-US" sz="2400" b="1" i="1" smtClean="0">
                                <a:latin typeface="Cambria Math"/>
                              </a:rPr>
                              <m:t>− </m:t>
                            </m:r>
                            <m:sSub>
                              <m:sSubPr>
                                <m:ctrlPr>
                                  <a:rPr lang="en-US" sz="2400" b="1" i="1" dirty="0">
                                    <a:latin typeface="Cambria Math" panose="02040503050406030204" pitchFamily="18" charset="0"/>
                                  </a:rPr>
                                </m:ctrlPr>
                              </m:sSubPr>
                              <m:e>
                                <m:r>
                                  <a:rPr lang="en-US" sz="2400" b="1" i="1" dirty="0" smtClean="0">
                                    <a:latin typeface="Cambria Math"/>
                                  </a:rPr>
                                  <m:t>𝒗</m:t>
                                </m:r>
                              </m:e>
                              <m:sub>
                                <m:r>
                                  <a:rPr lang="en-US" sz="2400" b="1" i="1" dirty="0" smtClean="0">
                                    <a:latin typeface="Cambria Math"/>
                                  </a:rPr>
                                  <m:t>𝒊</m:t>
                                </m:r>
                              </m:sub>
                            </m:sSub>
                          </m:num>
                          <m:den>
                            <m:sSub>
                              <m:sSubPr>
                                <m:ctrlPr>
                                  <a:rPr lang="en-US" sz="2400" b="1" i="1" dirty="0">
                                    <a:latin typeface="Cambria Math" panose="02040503050406030204" pitchFamily="18" charset="0"/>
                                  </a:rPr>
                                </m:ctrlPr>
                              </m:sSubPr>
                              <m:e>
                                <m:r>
                                  <a:rPr lang="en-US" sz="2400" b="1" i="1" dirty="0" smtClean="0">
                                    <a:latin typeface="Cambria Math"/>
                                  </a:rPr>
                                  <m:t>𝒕</m:t>
                                </m:r>
                              </m:e>
                              <m:sub>
                                <m:r>
                                  <a:rPr lang="en-US" sz="2400" b="1" i="1" dirty="0" smtClean="0">
                                    <a:latin typeface="Cambria Math"/>
                                  </a:rPr>
                                  <m:t>𝒇</m:t>
                                </m:r>
                              </m:sub>
                            </m:sSub>
                            <m:r>
                              <a:rPr lang="en-US" sz="2400" b="1" i="1" smtClean="0">
                                <a:latin typeface="Cambria Math"/>
                              </a:rPr>
                              <m:t>−</m:t>
                            </m:r>
                            <m:sSub>
                              <m:sSubPr>
                                <m:ctrlPr>
                                  <a:rPr lang="en-US" sz="2400" b="1" i="1" dirty="0">
                                    <a:latin typeface="Cambria Math" panose="02040503050406030204" pitchFamily="18" charset="0"/>
                                  </a:rPr>
                                </m:ctrlPr>
                              </m:sSubPr>
                              <m:e>
                                <m:r>
                                  <a:rPr lang="en-US" sz="2400" b="1" i="1" dirty="0" smtClean="0">
                                    <a:latin typeface="Cambria Math"/>
                                  </a:rPr>
                                  <m:t> </m:t>
                                </m:r>
                                <m:r>
                                  <a:rPr lang="en-US" sz="2400" b="1" i="1" dirty="0" smtClean="0">
                                    <a:latin typeface="Cambria Math"/>
                                  </a:rPr>
                                  <m:t>𝒕</m:t>
                                </m:r>
                              </m:e>
                              <m:sub>
                                <m:r>
                                  <a:rPr lang="en-US" sz="2400" b="1" i="1" dirty="0" smtClean="0">
                                    <a:latin typeface="Cambria Math"/>
                                  </a:rPr>
                                  <m:t>𝒊</m:t>
                                </m:r>
                              </m:sub>
                            </m:sSub>
                          </m:den>
                        </m:f>
                      </m:e>
                    </m:box>
                  </m:oMath>
                </a14:m>
                <a:r>
                  <a:rPr lang="en-US" sz="1600" b="1" dirty="0"/>
                  <a:t>  between times </a:t>
                </a:r>
                <a14:m>
                  <m:oMath xmlns:m="http://schemas.openxmlformats.org/officeDocument/2006/math">
                    <m:r>
                      <a:rPr lang="en-US" sz="1600" b="1" i="1" dirty="0" smtClean="0">
                        <a:latin typeface="Cambria Math"/>
                        <a:ea typeface="Cambria Math"/>
                      </a:rPr>
                      <m:t>∆</m:t>
                    </m:r>
                    <m:r>
                      <a:rPr lang="en-US" sz="1600" b="1" i="1" dirty="0" smtClean="0">
                        <a:latin typeface="Cambria Math"/>
                        <a:ea typeface="Cambria Math"/>
                      </a:rPr>
                      <m:t>𝒕</m:t>
                    </m:r>
                    <m:r>
                      <a:rPr lang="en-US" sz="1600" b="1" i="1" dirty="0" smtClean="0">
                        <a:latin typeface="Cambria Math"/>
                        <a:ea typeface="Cambria Math"/>
                      </a:rPr>
                      <m:t> =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𝟔</m:t>
                        </m:r>
                      </m:sub>
                    </m:sSub>
                    <m:r>
                      <a:rPr lang="en-US" sz="1600" b="1" i="1" dirty="0" smtClean="0">
                        <a:latin typeface="Cambria Math"/>
                        <a:ea typeface="Cambria Math"/>
                      </a:rPr>
                      <m:t> −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𝟏</m:t>
                        </m:r>
                      </m:sub>
                    </m:sSub>
                    <m:r>
                      <a:rPr lang="en-US" sz="1600" b="1" i="1" dirty="0" smtClean="0">
                        <a:latin typeface="Cambria Math"/>
                        <a:ea typeface="Cambria Math"/>
                      </a:rPr>
                      <m:t>,  ∆</m:t>
                    </m:r>
                    <m:r>
                      <a:rPr lang="en-US" sz="1600" b="1" i="1" dirty="0" smtClean="0">
                        <a:latin typeface="Cambria Math"/>
                        <a:ea typeface="Cambria Math"/>
                      </a:rPr>
                      <m:t>𝒕</m:t>
                    </m:r>
                    <m:r>
                      <a:rPr lang="en-US" sz="1600" b="1" i="1" dirty="0" smtClean="0">
                        <a:latin typeface="Cambria Math"/>
                        <a:ea typeface="Cambria Math"/>
                      </a:rPr>
                      <m:t>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𝟓</m:t>
                        </m:r>
                      </m:sub>
                    </m:sSub>
                    <m:r>
                      <a:rPr lang="en-US" sz="1600" b="1" i="1" dirty="0" smtClean="0">
                        <a:latin typeface="Cambria Math"/>
                        <a:ea typeface="Cambria Math"/>
                      </a:rPr>
                      <m:t> −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𝟐</m:t>
                        </m:r>
                      </m:sub>
                    </m:sSub>
                  </m:oMath>
                </a14:m>
                <a:r>
                  <a:rPr lang="en-US" sz="1600" b="1" dirty="0"/>
                  <a:t>, and  </a:t>
                </a:r>
                <a14:m>
                  <m:oMath xmlns:m="http://schemas.openxmlformats.org/officeDocument/2006/math">
                    <m:r>
                      <a:rPr lang="en-US" sz="1600" b="1" i="1" dirty="0" smtClean="0">
                        <a:latin typeface="Cambria Math"/>
                        <a:ea typeface="Cambria Math"/>
                      </a:rPr>
                      <m:t>∆</m:t>
                    </m:r>
                    <m:r>
                      <a:rPr lang="en-US" sz="1600" b="1" i="1" dirty="0" smtClean="0">
                        <a:latin typeface="Cambria Math"/>
                        <a:ea typeface="Cambria Math"/>
                      </a:rPr>
                      <m:t>𝒕</m:t>
                    </m:r>
                    <m:r>
                      <a:rPr lang="en-US" sz="1600" b="1" i="1" dirty="0" smtClean="0">
                        <a:latin typeface="Cambria Math"/>
                        <a:ea typeface="Cambria Math"/>
                      </a:rPr>
                      <m:t> =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𝟒</m:t>
                        </m:r>
                      </m:sub>
                    </m:sSub>
                    <m:r>
                      <a:rPr lang="en-US" sz="1600" b="1" i="1" dirty="0" smtClean="0">
                        <a:latin typeface="Cambria Math"/>
                        <a:ea typeface="Cambria Math"/>
                      </a:rPr>
                      <m:t> −</m:t>
                    </m:r>
                    <m:sSub>
                      <m:sSubPr>
                        <m:ctrlPr>
                          <a:rPr lang="en-US" sz="1600" b="1" i="1" dirty="0">
                            <a:latin typeface="Cambria Math" panose="02040503050406030204" pitchFamily="18" charset="0"/>
                            <a:ea typeface="Cambria Math"/>
                          </a:rPr>
                        </m:ctrlPr>
                      </m:sSubPr>
                      <m:e>
                        <m:r>
                          <a:rPr lang="en-US" sz="1600" b="1" i="1" dirty="0" smtClean="0">
                            <a:latin typeface="Cambria Math"/>
                            <a:ea typeface="Cambria Math"/>
                          </a:rPr>
                          <m:t>  </m:t>
                        </m:r>
                        <m:r>
                          <a:rPr lang="en-US" sz="1600" b="1" i="1" dirty="0" smtClean="0">
                            <a:latin typeface="Cambria Math"/>
                            <a:ea typeface="Cambria Math"/>
                          </a:rPr>
                          <m:t>𝒕</m:t>
                        </m:r>
                      </m:e>
                      <m:sub>
                        <m:r>
                          <a:rPr lang="en-US" sz="1600" b="1" i="1" dirty="0" smtClean="0">
                            <a:latin typeface="Cambria Math"/>
                            <a:ea typeface="Cambria Math"/>
                          </a:rPr>
                          <m:t>𝟑</m:t>
                        </m:r>
                      </m:sub>
                    </m:sSub>
                  </m:oMath>
                </a14:m>
                <a:r>
                  <a:rPr lang="en-US" sz="1600" b="1" dirty="0"/>
                  <a:t>. When </a:t>
                </a:r>
                <a14:m>
                  <m:oMath xmlns:m="http://schemas.openxmlformats.org/officeDocument/2006/math">
                    <m:r>
                      <a:rPr lang="en-US" sz="1600" b="1" i="1" dirty="0" smtClean="0">
                        <a:latin typeface="Cambria Math"/>
                        <a:ea typeface="Cambria Math"/>
                      </a:rPr>
                      <m:t>∆</m:t>
                    </m:r>
                    <m:r>
                      <a:rPr lang="en-US" sz="1600" b="1" i="1" dirty="0" smtClean="0">
                        <a:latin typeface="Cambria Math"/>
                        <a:ea typeface="Cambria Math"/>
                      </a:rPr>
                      <m:t>𝒕</m:t>
                    </m:r>
                  </m:oMath>
                </a14:m>
                <a:r>
                  <a:rPr lang="en-US" sz="1600" b="1" dirty="0"/>
                  <a:t> </a:t>
                </a:r>
                <a:r>
                  <a:rPr lang="en-US" sz="1600" b="1" dirty="0">
                    <a:latin typeface="Cambria Math" panose="02040503050406030204" pitchFamily="18" charset="0"/>
                    <a:ea typeface="Cambria Math" panose="02040503050406030204" pitchFamily="18" charset="0"/>
                  </a:rPr>
                  <a:t>→</a:t>
                </a:r>
                <a:r>
                  <a:rPr lang="en-US" sz="1600" b="1" dirty="0"/>
                  <a:t> </a:t>
                </a:r>
                <a:r>
                  <a:rPr lang="en-US" sz="1600" b="1" dirty="0">
                    <a:latin typeface="Cambria Math" panose="02040503050406030204" pitchFamily="18" charset="0"/>
                    <a:ea typeface="Cambria Math" panose="02040503050406030204" pitchFamily="18" charset="0"/>
                  </a:rPr>
                  <a:t>0</a:t>
                </a:r>
                <a:r>
                  <a:rPr lang="en-US" sz="1600" b="1" dirty="0"/>
                  <a:t>, the average acceleration approaches instantaneous acceleration at time </a:t>
                </a:r>
                <a14:m>
                  <m:oMath xmlns:m="http://schemas.openxmlformats.org/officeDocument/2006/math">
                    <m:sSub>
                      <m:sSubPr>
                        <m:ctrlPr>
                          <a:rPr lang="en-US" sz="1600" b="1" i="1" dirty="0" smtClean="0">
                            <a:latin typeface="Cambria Math" panose="02040503050406030204" pitchFamily="18" charset="0"/>
                            <a:ea typeface="Cambria Math"/>
                          </a:rPr>
                        </m:ctrlPr>
                      </m:sSubPr>
                      <m:e>
                        <m:r>
                          <a:rPr lang="en-US" sz="1600" b="1" i="1" dirty="0" smtClean="0">
                            <a:latin typeface="Cambria Math"/>
                            <a:ea typeface="Cambria Math"/>
                          </a:rPr>
                          <m:t>𝒕</m:t>
                        </m:r>
                      </m:e>
                      <m:sub>
                        <m:r>
                          <a:rPr lang="en-US" sz="1600" b="1" i="1" dirty="0" smtClean="0">
                            <a:latin typeface="Cambria Math"/>
                            <a:ea typeface="Cambria Math"/>
                          </a:rPr>
                          <m:t>𝟎</m:t>
                        </m:r>
                      </m:sub>
                    </m:sSub>
                    <m:r>
                      <a:rPr lang="en-US" sz="1600" b="1" i="1" dirty="0" smtClean="0">
                        <a:latin typeface="Cambria Math"/>
                        <a:ea typeface="Cambria Math"/>
                      </a:rPr>
                      <m:t> </m:t>
                    </m:r>
                  </m:oMath>
                </a14:m>
                <a:r>
                  <a:rPr lang="en-US" sz="1600" b="1" dirty="0"/>
                  <a:t>. In view </a:t>
                </a:r>
                <a:r>
                  <a:rPr lang="en-US" sz="1600" b="1" dirty="0">
                    <a:solidFill>
                      <a:schemeClr val="tx1"/>
                    </a:solidFill>
                  </a:rPr>
                  <a:t>(a), instantaneous acceleration is shown for the point on the velocity curve at maximum velocity. At this point, instantaneous acceleration is the slope of the tangent line, which is zero. At any other time, the slope of the tangent line—and  thus instantaneous acceleration—would not b</a:t>
                </a:r>
                <a:r>
                  <a:rPr lang="en-US" sz="1600" b="1" dirty="0"/>
                  <a:t>e zero.</a:t>
                </a:r>
              </a:p>
              <a:p>
                <a:pPr marL="228600" indent="-228600">
                  <a:buClrTx/>
                  <a:buFont typeface="+mj-lt"/>
                  <a:buAutoNum type="alphaLcParenR"/>
                </a:pPr>
                <a:r>
                  <a:rPr lang="en-US" sz="1600" b="1" dirty="0"/>
                  <a:t> Same </a:t>
                </a:r>
                <a:r>
                  <a:rPr lang="en-US" sz="1600" b="1" dirty="0">
                    <a:solidFill>
                      <a:schemeClr val="tx1"/>
                    </a:solidFill>
                  </a:rPr>
                  <a:t>as (a) but </a:t>
                </a:r>
                <a:r>
                  <a:rPr lang="en-US" sz="1600" b="1" dirty="0"/>
                  <a:t>shown for instantaneous acceleration at minimum velocity.</a:t>
                </a:r>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148107" y="3740726"/>
                <a:ext cx="8995893" cy="2881263"/>
              </a:xfrm>
              <a:blipFill>
                <a:blip r:embed="rId3"/>
                <a:stretch>
                  <a:fillRect l="-339" t="-636" b="-5085"/>
                </a:stretch>
              </a:blipFill>
            </p:spPr>
            <p:txBody>
              <a:bodyPr/>
              <a:lstStyle/>
              <a:p>
                <a:r>
                  <a:rPr lang="en-US">
                    <a:noFill/>
                  </a:rPr>
                  <a:t> </a:t>
                </a:r>
              </a:p>
            </p:txBody>
          </p:sp>
        </mc:Fallback>
      </mc:AlternateContent>
      <p:pic>
        <p:nvPicPr>
          <p:cNvPr id="6" name="Picture 5" descr="OpenStax logo">
            <a:extLst>
              <a:ext uri="{FF2B5EF4-FFF2-40B4-BE49-F238E27FC236}">
                <a16:creationId xmlns:a16="http://schemas.microsoft.com/office/drawing/2014/main" id="{9C4725DE-9C09-7121-4ED3-8296958A0E18}"/>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4023800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5874" y="0"/>
            <a:ext cx="8948126" cy="814985"/>
          </a:xfrm>
        </p:spPr>
        <p:txBody>
          <a:bodyPr>
            <a:normAutofit/>
          </a:bodyPr>
          <a:lstStyle/>
          <a:p>
            <a:pPr algn="ctr"/>
            <a:r>
              <a:rPr lang="en-US" dirty="0"/>
              <a:t> </a:t>
            </a:r>
            <a:r>
              <a:rPr lang="en-US" sz="2800" dirty="0">
                <a:solidFill>
                  <a:schemeClr val="tx1"/>
                </a:solidFill>
              </a:rPr>
              <a:t>velocity-versus-time graph</a:t>
            </a:r>
            <a:r>
              <a:rPr lang="en-US" sz="2800" u="sng" dirty="0">
                <a:solidFill>
                  <a:schemeClr val="tx1"/>
                </a:solidFill>
              </a:rPr>
              <a:t> </a:t>
            </a:r>
            <a:endParaRPr lang="en-US" sz="2800" dirty="0">
              <a:solidFill>
                <a:schemeClr val="tx1"/>
              </a:solidFill>
            </a:endParaRPr>
          </a:p>
        </p:txBody>
      </p:sp>
      <p:pic>
        <p:nvPicPr>
          <p:cNvPr id="2" name="Picture Placeholder 1" descr=" (a, b) The velocity-versus-time graph is linear and has a negative constant slope (a) that is equal to acceleration, shown in (b).&#10;"/>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630" r="-2630"/>
          <a:stretch>
            <a:fillRect/>
          </a:stretch>
        </p:blipFill>
        <p:spPr>
          <a:xfrm>
            <a:off x="785707" y="978151"/>
            <a:ext cx="7764306" cy="3370447"/>
          </a:xfrm>
        </p:spPr>
      </p:pic>
      <p:sp>
        <p:nvSpPr>
          <p:cNvPr id="7" name="Text Placeholder 6"/>
          <p:cNvSpPr>
            <a:spLocks noGrp="1"/>
          </p:cNvSpPr>
          <p:nvPr>
            <p:ph type="body" sz="quarter" idx="14"/>
          </p:nvPr>
        </p:nvSpPr>
        <p:spPr>
          <a:xfrm>
            <a:off x="457200" y="4843982"/>
            <a:ext cx="8062912" cy="1534516"/>
          </a:xfrm>
        </p:spPr>
        <p:txBody>
          <a:bodyPr>
            <a:noAutofit/>
          </a:bodyPr>
          <a:lstStyle/>
          <a:p>
            <a:r>
              <a:rPr lang="en-US" sz="2400" b="1" dirty="0">
                <a:solidFill>
                  <a:schemeClr val="tx1"/>
                </a:solidFill>
              </a:rPr>
              <a:t>(a, b) The velocity-versus-time graph is linear and has a negative constant slope (a) that is equal to acceleration, shown in (b).</a:t>
            </a:r>
          </a:p>
        </p:txBody>
      </p:sp>
      <p:pic>
        <p:nvPicPr>
          <p:cNvPr id="6" name="Picture 5" descr="OpenStax logo">
            <a:extLst>
              <a:ext uri="{FF2B5EF4-FFF2-40B4-BE49-F238E27FC236}">
                <a16:creationId xmlns:a16="http://schemas.microsoft.com/office/drawing/2014/main" id="{84D9F38E-2A84-8786-1B32-8CA5B97D163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6296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201CE-8F41-4AA8-96FD-A2B50A62F0A0}"/>
              </a:ext>
            </a:extLst>
          </p:cNvPr>
          <p:cNvSpPr>
            <a:spLocks noGrp="1"/>
          </p:cNvSpPr>
          <p:nvPr>
            <p:ph type="title"/>
          </p:nvPr>
        </p:nvSpPr>
        <p:spPr/>
        <p:txBody>
          <a:bodyPr>
            <a:normAutofit/>
          </a:bodyPr>
          <a:lstStyle/>
          <a:p>
            <a:r>
              <a:rPr lang="en-US" sz="3200" dirty="0">
                <a:solidFill>
                  <a:schemeClr val="tx1"/>
                </a:solidFill>
              </a:rPr>
              <a:t>EXAMPLE PROBLEMS</a:t>
            </a:r>
          </a:p>
        </p:txBody>
      </p:sp>
      <p:sp>
        <p:nvSpPr>
          <p:cNvPr id="4" name="Text Placeholder 3">
            <a:extLst>
              <a:ext uri="{FF2B5EF4-FFF2-40B4-BE49-F238E27FC236}">
                <a16:creationId xmlns:a16="http://schemas.microsoft.com/office/drawing/2014/main" id="{515EF701-8D7E-4176-A5B8-B5624C495E21}"/>
              </a:ext>
            </a:extLst>
          </p:cNvPr>
          <p:cNvSpPr>
            <a:spLocks noGrp="1"/>
          </p:cNvSpPr>
          <p:nvPr>
            <p:ph type="body" sz="quarter" idx="14"/>
          </p:nvPr>
        </p:nvSpPr>
        <p:spPr>
          <a:xfrm>
            <a:off x="457200" y="2072647"/>
            <a:ext cx="8062912" cy="2175796"/>
          </a:xfrm>
        </p:spPr>
        <p:txBody>
          <a:bodyPr>
            <a:noAutofit/>
          </a:bodyPr>
          <a:lstStyle/>
          <a:p>
            <a:r>
              <a:rPr lang="en-US" sz="2800" b="1" dirty="0">
                <a:solidFill>
                  <a:srgbClr val="3333FF"/>
                </a:solidFill>
                <a:hlinkClick r:id="rId2">
                  <a:extLst>
                    <a:ext uri="{A12FA001-AC4F-418D-AE19-62706E023703}">
                      <ahyp:hlinkClr xmlns:ahyp="http://schemas.microsoft.com/office/drawing/2018/hyperlinkcolor" val="tx"/>
                    </a:ext>
                  </a:extLst>
                </a:hlinkClick>
              </a:rPr>
              <a:t>Click here to watch  Instantaneous Velocity Example </a:t>
            </a:r>
            <a:r>
              <a:rPr lang="en-US" sz="2800" b="1" dirty="0">
                <a:solidFill>
                  <a:srgbClr val="3333FF"/>
                </a:solidFill>
              </a:rPr>
              <a:t> </a:t>
            </a:r>
          </a:p>
          <a:p>
            <a:r>
              <a:rPr lang="en-US" sz="2800" b="1" dirty="0">
                <a:solidFill>
                  <a:srgbClr val="3333FF"/>
                </a:solidFill>
                <a:hlinkClick r:id="rId3">
                  <a:extLst>
                    <a:ext uri="{A12FA001-AC4F-418D-AE19-62706E023703}">
                      <ahyp:hlinkClr xmlns:ahyp="http://schemas.microsoft.com/office/drawing/2018/hyperlinkcolor" val="tx"/>
                    </a:ext>
                  </a:extLst>
                </a:hlinkClick>
              </a:rPr>
              <a:t>Click here to watch Instantaneous Acceleration Example </a:t>
            </a:r>
            <a:r>
              <a:rPr lang="en-US" sz="2800" b="1" dirty="0">
                <a:solidFill>
                  <a:srgbClr val="3333FF"/>
                </a:solidFill>
              </a:rPr>
              <a:t> </a:t>
            </a:r>
          </a:p>
        </p:txBody>
      </p:sp>
      <p:pic>
        <p:nvPicPr>
          <p:cNvPr id="3" name="Picture 2" descr="Raji K Physics Logo">
            <a:extLst>
              <a:ext uri="{FF2B5EF4-FFF2-40B4-BE49-F238E27FC236}">
                <a16:creationId xmlns:a16="http://schemas.microsoft.com/office/drawing/2014/main" id="{1347F49E-9608-C387-057A-30B4DBDB03B5}"/>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126505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1AC19-D488-45DE-ABC5-BFC271F2E42A}"/>
              </a:ext>
            </a:extLst>
          </p:cNvPr>
          <p:cNvSpPr>
            <a:spLocks noGrp="1"/>
          </p:cNvSpPr>
          <p:nvPr>
            <p:ph type="title"/>
          </p:nvPr>
        </p:nvSpPr>
        <p:spPr>
          <a:xfrm>
            <a:off x="180304" y="296214"/>
            <a:ext cx="8873543" cy="926619"/>
          </a:xfrm>
        </p:spPr>
        <p:txBody>
          <a:bodyPr>
            <a:noAutofit/>
          </a:bodyPr>
          <a:lstStyle/>
          <a:p>
            <a:r>
              <a:rPr lang="en-US" sz="2800" dirty="0">
                <a:solidFill>
                  <a:schemeClr val="tx1"/>
                </a:solidFill>
              </a:rPr>
              <a:t>Example 3.6 Instantaneous Acceleration</a:t>
            </a:r>
          </a:p>
        </p:txBody>
      </p:sp>
      <p:sp>
        <p:nvSpPr>
          <p:cNvPr id="4" name="Text Placeholder 3">
            <a:extLst>
              <a:ext uri="{FF2B5EF4-FFF2-40B4-BE49-F238E27FC236}">
                <a16:creationId xmlns:a16="http://schemas.microsoft.com/office/drawing/2014/main" id="{D155601C-6F13-43FB-80C0-F675BFD9ECD6}"/>
              </a:ext>
            </a:extLst>
          </p:cNvPr>
          <p:cNvSpPr>
            <a:spLocks noGrp="1"/>
          </p:cNvSpPr>
          <p:nvPr>
            <p:ph type="body" sz="quarter" idx="14"/>
          </p:nvPr>
        </p:nvSpPr>
        <p:spPr>
          <a:xfrm>
            <a:off x="254905" y="1341120"/>
            <a:ext cx="8448827" cy="4666827"/>
          </a:xfrm>
        </p:spPr>
        <p:txBody>
          <a:bodyPr>
            <a:normAutofit fontScale="70000" lnSpcReduction="20000"/>
          </a:bodyPr>
          <a:lstStyle/>
          <a:p>
            <a:r>
              <a:rPr lang="en-US" dirty="0"/>
              <a:t> </a:t>
            </a:r>
            <a:r>
              <a:rPr lang="en-US" sz="3200" b="1" dirty="0"/>
              <a:t>A particle is in motion and is accelerating. The functional form of the velocity is v(t)=(20m/s)t–(5m/s</a:t>
            </a:r>
            <a:r>
              <a:rPr lang="en-US" sz="3200" b="1" baseline="30000" dirty="0"/>
              <a:t>2</a:t>
            </a:r>
            <a:r>
              <a:rPr lang="en-US" sz="3200" b="1" dirty="0"/>
              <a:t>)t</a:t>
            </a:r>
            <a:r>
              <a:rPr lang="en-US" sz="3200" b="1" baseline="30000" dirty="0"/>
              <a:t>2</a:t>
            </a:r>
            <a:r>
              <a:rPr lang="en-US" sz="3200" b="1" dirty="0"/>
              <a:t>.</a:t>
            </a:r>
          </a:p>
          <a:p>
            <a:endParaRPr lang="en-US" sz="2900" b="1" dirty="0"/>
          </a:p>
          <a:p>
            <a:pPr marL="514350" marR="0" lvl="0" indent="-514350">
              <a:lnSpc>
                <a:spcPct val="170000"/>
              </a:lnSpc>
              <a:spcBef>
                <a:spcPts val="0"/>
              </a:spcBef>
              <a:spcAft>
                <a:spcPts val="0"/>
              </a:spcAft>
              <a:buClrTx/>
              <a:buFont typeface="+mj-lt"/>
              <a:buAutoNum type="alphaLcParenR"/>
            </a:pPr>
            <a:r>
              <a:rPr lang="en-US" sz="2900" b="1" dirty="0">
                <a:effectLst/>
                <a:latin typeface="Calibri" panose="020F0502020204030204" pitchFamily="34" charset="0"/>
                <a:ea typeface="Calibri" panose="020F0502020204030204" pitchFamily="34" charset="0"/>
                <a:cs typeface="Times New Roman" panose="02020603050405020304" pitchFamily="18" charset="0"/>
              </a:rPr>
              <a:t>Find the functional form of the acceleration.</a:t>
            </a:r>
          </a:p>
          <a:p>
            <a:pPr marL="514350" marR="0" lvl="0" indent="-514350">
              <a:lnSpc>
                <a:spcPct val="170000"/>
              </a:lnSpc>
              <a:spcBef>
                <a:spcPts val="0"/>
              </a:spcBef>
              <a:spcAft>
                <a:spcPts val="0"/>
              </a:spcAft>
              <a:buClrTx/>
              <a:buFont typeface="+mj-lt"/>
              <a:buAutoNum type="alphaLcParenR"/>
            </a:pPr>
            <a:r>
              <a:rPr lang="en-US" sz="2900" b="1" dirty="0">
                <a:effectLst/>
                <a:latin typeface="Calibri" panose="020F0502020204030204" pitchFamily="34" charset="0"/>
                <a:ea typeface="Calibri" panose="020F0502020204030204" pitchFamily="34" charset="0"/>
                <a:cs typeface="Times New Roman" panose="02020603050405020304" pitchFamily="18" charset="0"/>
              </a:rPr>
              <a:t>Find the instantaneous velocity at t = 1, 2, 3, and 5 s.</a:t>
            </a:r>
          </a:p>
          <a:p>
            <a:pPr marL="514350" marR="0" lvl="0" indent="-514350">
              <a:lnSpc>
                <a:spcPct val="170000"/>
              </a:lnSpc>
              <a:spcBef>
                <a:spcPts val="0"/>
              </a:spcBef>
              <a:spcAft>
                <a:spcPts val="0"/>
              </a:spcAft>
              <a:buClrTx/>
              <a:buFont typeface="+mj-lt"/>
              <a:buAutoNum type="alphaLcParenR"/>
            </a:pPr>
            <a:r>
              <a:rPr lang="en-US" sz="2900" b="1" dirty="0">
                <a:effectLst/>
                <a:latin typeface="Calibri" panose="020F0502020204030204" pitchFamily="34" charset="0"/>
                <a:ea typeface="Calibri" panose="020F0502020204030204" pitchFamily="34" charset="0"/>
                <a:cs typeface="Times New Roman" panose="02020603050405020304" pitchFamily="18" charset="0"/>
              </a:rPr>
              <a:t>Find the instantaneous acceleration at t = 1, 2, 3, and 5 s.</a:t>
            </a:r>
          </a:p>
          <a:p>
            <a:pPr marL="514350" marR="0" lvl="0" indent="-514350">
              <a:lnSpc>
                <a:spcPct val="170000"/>
              </a:lnSpc>
              <a:spcBef>
                <a:spcPts val="0"/>
              </a:spcBef>
              <a:spcAft>
                <a:spcPts val="0"/>
              </a:spcAft>
              <a:buClrTx/>
              <a:buFont typeface="+mj-lt"/>
              <a:buAutoNum type="alphaLcParenR"/>
            </a:pPr>
            <a:r>
              <a:rPr lang="en-US" sz="2900" b="1" dirty="0"/>
              <a:t>Interpret the results of (c) in terms of the directions of the     acceleration and velocity vectors.</a:t>
            </a:r>
          </a:p>
          <a:p>
            <a:pPr marL="342900" marR="0" lvl="0" indent="-342900">
              <a:lnSpc>
                <a:spcPct val="170000"/>
              </a:lnSpc>
              <a:spcBef>
                <a:spcPts val="0"/>
              </a:spcBef>
              <a:spcAft>
                <a:spcPts val="0"/>
              </a:spcAft>
              <a:buClrTx/>
              <a:buFont typeface="Arial" panose="020B0604020202020204" pitchFamily="34" charset="0"/>
              <a:buChar char="•"/>
            </a:pPr>
            <a:endParaRPr lang="en-US" sz="2400" b="1" dirty="0"/>
          </a:p>
          <a:p>
            <a:pPr marR="0" lvl="0">
              <a:spcBef>
                <a:spcPts val="0"/>
              </a:spcBef>
              <a:spcAft>
                <a:spcPts val="0"/>
              </a:spcAft>
              <a:buClrTx/>
            </a:pPr>
            <a:endParaRPr lang="en-US" sz="2400" b="1" dirty="0"/>
          </a:p>
          <a:p>
            <a:r>
              <a:rPr lang="en-US" sz="2600" b="1" dirty="0">
                <a:hlinkClick r:id="rId2"/>
              </a:rPr>
              <a:t>Click  here for Solution</a:t>
            </a:r>
            <a:endParaRPr lang="en-US" sz="2600" b="1" dirty="0"/>
          </a:p>
          <a:p>
            <a:endParaRPr lang="en-US" dirty="0"/>
          </a:p>
        </p:txBody>
      </p:sp>
      <p:pic>
        <p:nvPicPr>
          <p:cNvPr id="5" name="Picture 4" descr="OpenStax logo">
            <a:extLst>
              <a:ext uri="{FF2B5EF4-FFF2-40B4-BE49-F238E27FC236}">
                <a16:creationId xmlns:a16="http://schemas.microsoft.com/office/drawing/2014/main" id="{905CC7DD-E9A7-C83A-8101-305BC231150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300406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3024" y="126925"/>
            <a:ext cx="8173844" cy="792481"/>
          </a:xfrm>
        </p:spPr>
        <p:txBody>
          <a:bodyPr>
            <a:normAutofit/>
          </a:bodyPr>
          <a:lstStyle/>
          <a:p>
            <a:pPr algn="ctr" eaLnBrk="1" hangingPunct="1"/>
            <a:r>
              <a:rPr lang="en-US" altLang="en-US" sz="3200" dirty="0">
                <a:solidFill>
                  <a:schemeClr val="tx1"/>
                </a:solidFill>
              </a:rPr>
              <a:t>Kinematic Equations</a:t>
            </a:r>
          </a:p>
        </p:txBody>
      </p:sp>
      <p:sp>
        <p:nvSpPr>
          <p:cNvPr id="72707" name="Rectangle 3"/>
          <p:cNvSpPr>
            <a:spLocks noGrp="1" noChangeArrowheads="1"/>
          </p:cNvSpPr>
          <p:nvPr>
            <p:ph type="body" idx="1"/>
          </p:nvPr>
        </p:nvSpPr>
        <p:spPr>
          <a:xfrm>
            <a:off x="223024" y="1470723"/>
            <a:ext cx="8702035" cy="4298591"/>
          </a:xfrm>
        </p:spPr>
        <p:txBody>
          <a:bodyPr>
            <a:noAutofit/>
          </a:bodyPr>
          <a:lstStyle/>
          <a:p>
            <a:pPr marL="342900" indent="-342900" eaLnBrk="1" hangingPunct="1">
              <a:buClrTx/>
              <a:buFont typeface="Wingdings" panose="05000000000000000000" pitchFamily="2" charset="2"/>
              <a:buChar char="Ø"/>
            </a:pPr>
            <a:r>
              <a:rPr lang="en-US" altLang="en-US" sz="2400" b="1" dirty="0"/>
              <a:t>The kinematic equations can be used with any particle under uniform acceleration.</a:t>
            </a:r>
          </a:p>
          <a:p>
            <a:pPr marL="342900" indent="-342900" eaLnBrk="1" hangingPunct="1">
              <a:buClrTx/>
              <a:buFont typeface="Wingdings" panose="05000000000000000000" pitchFamily="2" charset="2"/>
              <a:buChar char="Ø"/>
            </a:pPr>
            <a:r>
              <a:rPr lang="en-US" altLang="en-US" sz="2400" b="1" dirty="0"/>
              <a:t>The kinematic equations may be used to solve any problem involving one-dimensional motion with a constant acceleration</a:t>
            </a:r>
          </a:p>
          <a:p>
            <a:pPr marL="342900" indent="-342900" eaLnBrk="1" hangingPunct="1">
              <a:buClrTx/>
              <a:buFont typeface="Wingdings" panose="05000000000000000000" pitchFamily="2" charset="2"/>
              <a:buChar char="Ø"/>
            </a:pPr>
            <a:r>
              <a:rPr lang="en-US" altLang="en-US" sz="2400" b="1" dirty="0"/>
              <a:t>You may need to use two of the equations to solve one problem</a:t>
            </a:r>
          </a:p>
          <a:p>
            <a:pPr marL="342900" indent="-342900" eaLnBrk="1" hangingPunct="1">
              <a:buClrTx/>
              <a:buFont typeface="Wingdings" panose="05000000000000000000" pitchFamily="2" charset="2"/>
              <a:buChar char="Ø"/>
            </a:pPr>
            <a:r>
              <a:rPr lang="en-US" altLang="en-US" sz="2400" b="1" dirty="0"/>
              <a:t>Many times, there is more than one way to solve a problem</a:t>
            </a:r>
          </a:p>
        </p:txBody>
      </p:sp>
      <p:pic>
        <p:nvPicPr>
          <p:cNvPr id="2" name="Picture 1" descr="Raji K Physics Logo">
            <a:extLst>
              <a:ext uri="{FF2B5EF4-FFF2-40B4-BE49-F238E27FC236}">
                <a16:creationId xmlns:a16="http://schemas.microsoft.com/office/drawing/2014/main" id="{89EBA2BE-B0D6-7CD2-3A2E-B5EEBD6AF02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542711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401"/>
            <a:ext cx="8839200" cy="635319"/>
          </a:xfrm>
        </p:spPr>
        <p:txBody>
          <a:bodyPr>
            <a:noAutofit/>
          </a:bodyPr>
          <a:lstStyle/>
          <a:p>
            <a:pPr algn="ctr"/>
            <a:r>
              <a:rPr lang="en-US" sz="2400" b="1" dirty="0"/>
              <a:t> </a:t>
            </a:r>
            <a:br>
              <a:rPr lang="en-US" b="1" dirty="0"/>
            </a:br>
            <a:r>
              <a:rPr lang="en-US" altLang="en-US" sz="2800" dirty="0">
                <a:solidFill>
                  <a:schemeClr val="tx1"/>
                </a:solidFill>
              </a:rPr>
              <a:t>Kinematic Equations 1 and 2</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74755" name="Text Box 3"/>
              <p:cNvSpPr txBox="1">
                <a:spLocks noChangeArrowheads="1"/>
              </p:cNvSpPr>
              <p:nvPr/>
            </p:nvSpPr>
            <p:spPr bwMode="auto">
              <a:xfrm>
                <a:off x="135467" y="630918"/>
                <a:ext cx="8744373" cy="52144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None/>
                </a:pPr>
                <a:r>
                  <a:rPr lang="en-US" altLang="en-US" sz="2400" b="1" dirty="0"/>
                  <a:t>The average velocity of an object during a time interval </a:t>
                </a:r>
                <a:r>
                  <a:rPr lang="en-US" altLang="en-US" sz="2400" b="1" i="1" dirty="0"/>
                  <a:t>t</a:t>
                </a:r>
                <a:r>
                  <a:rPr lang="en-US" altLang="en-US" sz="2400" b="1" dirty="0"/>
                  <a:t> is</a:t>
                </a:r>
                <a:endParaRPr lang="en-US" sz="2400" dirty="0"/>
              </a:p>
              <a:p>
                <a:pPr>
                  <a:lnSpc>
                    <a:spcPct val="150000"/>
                  </a:lnSpc>
                  <a:buNone/>
                </a:pPr>
                <a14:m>
                  <m:oMath xmlns:m="http://schemas.openxmlformats.org/officeDocument/2006/math">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𝒗</m:t>
                        </m:r>
                        <m:r>
                          <a:rPr lang="en-US" b="1" i="1">
                            <a:latin typeface="Cambria Math" panose="02040503050406030204" pitchFamily="18" charset="0"/>
                            <a:ea typeface="Cambria Math" panose="02040503050406030204" pitchFamily="18" charset="0"/>
                          </a:rPr>
                          <m:t> </m:t>
                        </m:r>
                      </m:e>
                    </m:acc>
                  </m:oMath>
                </a14:m>
                <a:r>
                  <a:rPr lang="en-US" b="1" dirty="0">
                    <a:latin typeface="Cambria Math" panose="02040503050406030204" pitchFamily="18" charset="0"/>
                    <a:ea typeface="Cambria Math" panose="02040503050406030204" pitchFamily="18" charset="0"/>
                  </a:rPr>
                  <a:t> =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num>
                      <m:den>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𝒕</m:t>
                        </m:r>
                      </m:den>
                    </m:f>
                  </m:oMath>
                </a14:m>
                <a:r>
                  <a:rPr lang="en-US" b="1" dirty="0">
                    <a:latin typeface="Cambria Math" panose="02040503050406030204" pitchFamily="18" charset="0"/>
                    <a:ea typeface="Cambria Math" panose="02040503050406030204" pitchFamily="18" charset="0"/>
                  </a:rPr>
                  <a:t> =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 </m:t>
                            </m:r>
                          </m:sub>
                        </m:sSub>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b="1" i="1" baseline="-25000">
                            <a:latin typeface="Cambria Math" panose="02040503050406030204" pitchFamily="18" charset="0"/>
                            <a:ea typeface="Cambria Math" panose="02040503050406030204" pitchFamily="18" charset="0"/>
                          </a:rPr>
                          <m:t>𝟎</m:t>
                        </m:r>
                      </m:num>
                      <m:den>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𝒕</m:t>
                            </m:r>
                          </m:e>
                          <m:sub>
                            <m:r>
                              <a:rPr lang="en-US" b="1" i="1">
                                <a:latin typeface="Cambria Math" panose="02040503050406030204" pitchFamily="18" charset="0"/>
                                <a:ea typeface="Cambria Math" panose="02040503050406030204" pitchFamily="18" charset="0"/>
                              </a:rPr>
                              <m:t> </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𝒕</m:t>
                            </m:r>
                          </m:e>
                          <m:sub>
                            <m:r>
                              <a:rPr lang="en-US" b="1" i="1">
                                <a:latin typeface="Cambria Math" panose="02040503050406030204" pitchFamily="18" charset="0"/>
                                <a:ea typeface="Cambria Math" panose="02040503050406030204" pitchFamily="18" charset="0"/>
                              </a:rPr>
                              <m:t>𝟎</m:t>
                            </m:r>
                          </m:sub>
                        </m:sSub>
                      </m:den>
                    </m:f>
                  </m:oMath>
                </a14:m>
                <a:r>
                  <a:rPr lang="en-US" b="1" dirty="0">
                    <a:latin typeface="Cambria Math" panose="02040503050406030204" pitchFamily="18" charset="0"/>
                    <a:ea typeface="Cambria Math" panose="02040503050406030204" pitchFamily="18" charset="0"/>
                  </a:rPr>
                  <a:t> = </a:t>
                </a:r>
                <a14:m>
                  <m:oMath xmlns:m="http://schemas.openxmlformats.org/officeDocument/2006/math">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𝒙</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b="1" i="1" baseline="-25000">
                            <a:latin typeface="Cambria Math" panose="02040503050406030204" pitchFamily="18" charset="0"/>
                            <a:ea typeface="Cambria Math" panose="02040503050406030204" pitchFamily="18" charset="0"/>
                          </a:rPr>
                          <m:t>𝟎</m:t>
                        </m:r>
                      </m:num>
                      <m:den>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𝒕</m:t>
                            </m:r>
                          </m:e>
                          <m:sub>
                            <m:r>
                              <a:rPr lang="en-US" b="1" i="1">
                                <a:latin typeface="Cambria Math" panose="02040503050406030204" pitchFamily="18" charset="0"/>
                                <a:ea typeface="Cambria Math" panose="02040503050406030204" pitchFamily="18" charset="0"/>
                              </a:rPr>
                              <m:t> </m:t>
                            </m:r>
                          </m:sub>
                        </m:sSub>
                      </m:den>
                    </m:f>
                  </m:oMath>
                </a14:m>
                <a:endParaRPr lang="en-US" b="1" dirty="0">
                  <a:latin typeface="Cambria Math" panose="02040503050406030204" pitchFamily="18" charset="0"/>
                  <a:ea typeface="Cambria Math" panose="02040503050406030204" pitchFamily="18" charset="0"/>
                </a:endParaRPr>
              </a:p>
              <a:p>
                <a:pPr>
                  <a:lnSpc>
                    <a:spcPct val="150000"/>
                  </a:lnSpc>
                  <a:buNone/>
                </a:pPr>
                <a:r>
                  <a:rPr lang="en-US" sz="2000" b="1" dirty="0">
                    <a:ea typeface="Cambria Math" panose="02040503050406030204" pitchFamily="18" charset="0"/>
                  </a:rPr>
                  <a:t>Equation  for d</a:t>
                </a:r>
                <a:r>
                  <a:rPr lang="en-US" sz="2000" b="1" dirty="0"/>
                  <a:t>isplacement and Position from Velocity</a:t>
                </a:r>
              </a:p>
              <a:p>
                <a:pPr>
                  <a:lnSpc>
                    <a:spcPct val="150000"/>
                  </a:lnSpc>
                  <a:buNone/>
                </a:pPr>
                <a:r>
                  <a:rPr lang="en-US" b="1" dirty="0">
                    <a:latin typeface="Cambria Math" panose="02040503050406030204" pitchFamily="18" charset="0"/>
                    <a:ea typeface="Cambria Math" panose="02040503050406030204" pitchFamily="18" charset="0"/>
                  </a:rPr>
                  <a:t> </a:t>
                </a:r>
                <a14:m>
                  <m:oMath xmlns:m="http://schemas.openxmlformats.org/officeDocument/2006/math">
                    <m:r>
                      <a:rPr lang="en-US" b="1" i="0"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𝒙</m:t>
                    </m:r>
                  </m:oMath>
                </a14:m>
                <a:r>
                  <a:rPr lang="en-US" b="1" dirty="0">
                    <a:latin typeface="Cambria Math" panose="02040503050406030204" pitchFamily="18" charset="0"/>
                    <a:ea typeface="Cambria Math" panose="02040503050406030204" pitchFamily="18"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rPr>
                      <m:t>𝒙</m:t>
                    </m:r>
                  </m:oMath>
                </a14:m>
                <a:r>
                  <a:rPr lang="en-US" b="1" baseline="-25000" dirty="0">
                    <a:latin typeface="Cambria Math" panose="02040503050406030204" pitchFamily="18" charset="0"/>
                    <a:ea typeface="Cambria Math" panose="02040503050406030204" pitchFamily="18" charset="0"/>
                  </a:rPr>
                  <a:t>0</a:t>
                </a:r>
                <a:r>
                  <a:rPr lang="en-US" b="1" dirty="0">
                    <a:latin typeface="Cambria Math" panose="02040503050406030204" pitchFamily="18" charset="0"/>
                    <a:ea typeface="Cambria Math" panose="02040503050406030204" pitchFamily="18"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𝒗</m:t>
                        </m:r>
                      </m:e>
                    </m:acc>
                    <m:r>
                      <a:rPr lang="en-US" b="1" i="1">
                        <a:latin typeface="Cambria Math" panose="02040503050406030204" pitchFamily="18" charset="0"/>
                        <a:ea typeface="Cambria Math" panose="02040503050406030204" pitchFamily="18" charset="0"/>
                      </a:rPr>
                      <m:t>𝒕</m:t>
                    </m:r>
                    <m:r>
                      <a:rPr lang="en-US" b="1" i="0" smtClean="0">
                        <a:latin typeface="Cambria Math" panose="02040503050406030204" pitchFamily="18" charset="0"/>
                        <a:ea typeface="Cambria Math" panose="02040503050406030204" pitchFamily="18" charset="0"/>
                      </a:rPr>
                      <m:t>          </m:t>
                    </m:r>
                  </m:oMath>
                </a14:m>
                <a:r>
                  <a:rPr lang="en-US" sz="2400" b="1" dirty="0">
                    <a:latin typeface="+mn-lt"/>
                    <a:ea typeface="Cambria Math" panose="02040503050406030204" pitchFamily="18" charset="0"/>
                  </a:rPr>
                  <a:t>Average velocity =   </a:t>
                </a:r>
                <a14:m>
                  <m:oMath xmlns:m="http://schemas.openxmlformats.org/officeDocument/2006/math">
                    <m:acc>
                      <m:accPr>
                        <m:chr m:val="̅"/>
                        <m:ctrlPr>
                          <a:rPr lang="en-US" b="1" i="1" smtClean="0">
                            <a:effectLst/>
                            <a:latin typeface="Cambria Math" panose="02040503050406030204" pitchFamily="18" charset="0"/>
                            <a:ea typeface="Calibri" panose="020F0502020204030204" pitchFamily="34" charset="0"/>
                            <a:cs typeface="Times New Roman" panose="02020603050405020304" pitchFamily="18" charset="0"/>
                          </a:rPr>
                        </m:ctrlPr>
                      </m:accPr>
                      <m:e>
                        <m:r>
                          <a:rPr lang="en-US" b="1" i="1">
                            <a:effectLst/>
                            <a:latin typeface="Cambria Math" panose="02040503050406030204" pitchFamily="18" charset="0"/>
                            <a:ea typeface="Calibri" panose="020F0502020204030204" pitchFamily="34" charset="0"/>
                            <a:cs typeface="Times New Roman" panose="02020603050405020304" pitchFamily="18" charset="0"/>
                          </a:rPr>
                          <m:t>𝒗</m:t>
                        </m:r>
                      </m:e>
                    </m:acc>
                  </m:oMath>
                </a14:m>
                <a:r>
                  <a:rPr lang="en-US"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b="1"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b="1"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effectLst/>
                                <a:latin typeface="Cambria Math" panose="02040503050406030204" pitchFamily="18" charset="0"/>
                                <a:ea typeface="Times New Roman" panose="02020603050405020304" pitchFamily="18" charset="0"/>
                                <a:cs typeface="Times New Roman" panose="02020603050405020304" pitchFamily="18" charset="0"/>
                              </a:rPr>
                              <m:t>𝒗</m:t>
                            </m:r>
                          </m:e>
                          <m:sub>
                            <m:r>
                              <a:rPr lang="en-US" b="1" i="1">
                                <a:effectLst/>
                                <a:latin typeface="Cambria Math" panose="02040503050406030204" pitchFamily="18" charset="0"/>
                                <a:ea typeface="Times New Roman" panose="02020603050405020304" pitchFamily="18" charset="0"/>
                                <a:cs typeface="Times New Roman" panose="02020603050405020304" pitchFamily="18" charset="0"/>
                              </a:rPr>
                              <m:t>𝟎</m:t>
                            </m:r>
                          </m:sub>
                        </m:sSub>
                        <m:r>
                          <a:rPr lang="en-US"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𝒗</m:t>
                        </m:r>
                      </m:num>
                      <m:den>
                        <m:r>
                          <a:rPr lang="en-US" b="1" i="1">
                            <a:effectLst/>
                            <a:latin typeface="Cambria Math" panose="02040503050406030204" pitchFamily="18" charset="0"/>
                            <a:ea typeface="Times New Roman" panose="02020603050405020304" pitchFamily="18" charset="0"/>
                            <a:cs typeface="Times New Roman" panose="02020603050405020304" pitchFamily="18" charset="0"/>
                          </a:rPr>
                          <m:t>𝟐</m:t>
                        </m:r>
                      </m:den>
                    </m:f>
                    <m:r>
                      <a:rPr lang="en-US" b="1" i="1">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US" b="1" dirty="0">
                  <a:latin typeface="+mn-lt"/>
                  <a:ea typeface="Cambria Math" panose="02040503050406030204" pitchFamily="18" charset="0"/>
                </a:endParaRPr>
              </a:p>
              <a:p>
                <a:pPr>
                  <a:buNone/>
                </a:pPr>
                <a:r>
                  <a:rPr lang="en-US" sz="2400" b="1" dirty="0"/>
                  <a:t>Solving for Final Velocity from Acceleration and Time</a:t>
                </a:r>
                <a:endParaRPr lang="en-US" b="1" dirty="0">
                  <a:latin typeface="Cambria Math" panose="02040503050406030204" pitchFamily="18" charset="0"/>
                  <a:ea typeface="Cambria Math" panose="02040503050406030204" pitchFamily="18" charset="0"/>
                </a:endParaRPr>
              </a:p>
              <a:p>
                <a:pPr>
                  <a:buNone/>
                </a:pPr>
                <a:r>
                  <a:rPr lang="en-US" sz="3600" b="1"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sz="3600" b="1" i="1">
                            <a:latin typeface="Cambria Math" panose="02040503050406030204" pitchFamily="18" charset="0"/>
                            <a:ea typeface="Cambria Math" panose="02040503050406030204" pitchFamily="18" charset="0"/>
                          </a:rPr>
                        </m:ctrlPr>
                      </m:sSubPr>
                      <m:e>
                        <m:r>
                          <a:rPr lang="en-US" sz="3600" b="1" i="1">
                            <a:latin typeface="Cambria Math" panose="02040503050406030204" pitchFamily="18" charset="0"/>
                            <a:ea typeface="Cambria Math" panose="02040503050406030204" pitchFamily="18" charset="0"/>
                          </a:rPr>
                          <m:t>𝒂</m:t>
                        </m:r>
                      </m:e>
                      <m:sub>
                        <m:r>
                          <a:rPr lang="en-US" sz="3600" b="1" i="1">
                            <a:latin typeface="Cambria Math" panose="02040503050406030204" pitchFamily="18" charset="0"/>
                            <a:ea typeface="Cambria Math" panose="02040503050406030204" pitchFamily="18" charset="0"/>
                          </a:rPr>
                          <m:t> </m:t>
                        </m:r>
                      </m:sub>
                    </m:sSub>
                  </m:oMath>
                </a14:m>
                <a:r>
                  <a:rPr lang="en-US" sz="3600" b="1" dirty="0">
                    <a:latin typeface="Cambria Math" panose="02040503050406030204" pitchFamily="18" charset="0"/>
                    <a:ea typeface="Cambria Math" panose="02040503050406030204" pitchFamily="18" charset="0"/>
                  </a:rPr>
                  <a:t>= </a:t>
                </a:r>
                <a14:m>
                  <m:oMath xmlns:m="http://schemas.openxmlformats.org/officeDocument/2006/math">
                    <m:f>
                      <m:fPr>
                        <m:ctrlPr>
                          <a:rPr lang="en-US" sz="3600" b="1" i="1">
                            <a:latin typeface="Cambria Math" panose="02040503050406030204" pitchFamily="18" charset="0"/>
                            <a:ea typeface="Cambria Math" panose="02040503050406030204" pitchFamily="18" charset="0"/>
                          </a:rPr>
                        </m:ctrlPr>
                      </m:fPr>
                      <m:num>
                        <m:sSub>
                          <m:sSubPr>
                            <m:ctrlPr>
                              <a:rPr lang="en-US" sz="3600" b="1" i="1">
                                <a:latin typeface="Cambria Math" panose="02040503050406030204" pitchFamily="18" charset="0"/>
                                <a:ea typeface="Cambria Math" panose="02040503050406030204" pitchFamily="18" charset="0"/>
                              </a:rPr>
                            </m:ctrlPr>
                          </m:sSubPr>
                          <m:e>
                            <m:r>
                              <a:rPr lang="en-US" sz="3600" b="1" i="1">
                                <a:latin typeface="Cambria Math" panose="02040503050406030204" pitchFamily="18" charset="0"/>
                                <a:ea typeface="Cambria Math" panose="02040503050406030204" pitchFamily="18" charset="0"/>
                              </a:rPr>
                              <m:t>𝒗</m:t>
                            </m:r>
                          </m:e>
                          <m:sub>
                            <m:r>
                              <a:rPr lang="en-US" sz="3600" b="1" i="1">
                                <a:latin typeface="Cambria Math" panose="02040503050406030204" pitchFamily="18" charset="0"/>
                                <a:ea typeface="Cambria Math" panose="02040503050406030204" pitchFamily="18" charset="0"/>
                              </a:rPr>
                              <m:t> </m:t>
                            </m:r>
                          </m:sub>
                        </m:sSub>
                        <m:r>
                          <a:rPr lang="en-US" sz="3600" b="1" i="1">
                            <a:latin typeface="Cambria Math" panose="02040503050406030204" pitchFamily="18" charset="0"/>
                            <a:ea typeface="Cambria Math" panose="02040503050406030204" pitchFamily="18" charset="0"/>
                          </a:rPr>
                          <m:t>−</m:t>
                        </m:r>
                        <m:sSub>
                          <m:sSubPr>
                            <m:ctrlPr>
                              <a:rPr lang="en-US" sz="3600" b="1" i="1">
                                <a:latin typeface="Cambria Math" panose="02040503050406030204" pitchFamily="18" charset="0"/>
                                <a:ea typeface="Cambria Math" panose="02040503050406030204" pitchFamily="18" charset="0"/>
                              </a:rPr>
                            </m:ctrlPr>
                          </m:sSubPr>
                          <m:e>
                            <m:r>
                              <a:rPr lang="en-US" sz="3600" b="1" i="1">
                                <a:latin typeface="Cambria Math" panose="02040503050406030204" pitchFamily="18" charset="0"/>
                                <a:ea typeface="Cambria Math" panose="02040503050406030204" pitchFamily="18" charset="0"/>
                              </a:rPr>
                              <m:t>𝒗</m:t>
                            </m:r>
                          </m:e>
                          <m:sub>
                            <m:r>
                              <a:rPr lang="en-US" sz="3600" b="1" i="1">
                                <a:latin typeface="Cambria Math" panose="02040503050406030204" pitchFamily="18" charset="0"/>
                                <a:ea typeface="Cambria Math" panose="02040503050406030204" pitchFamily="18" charset="0"/>
                              </a:rPr>
                              <m:t>𝟎</m:t>
                            </m:r>
                          </m:sub>
                        </m:sSub>
                      </m:num>
                      <m:den>
                        <m:sSub>
                          <m:sSubPr>
                            <m:ctrlPr>
                              <a:rPr lang="en-US" sz="3600" b="1" i="1">
                                <a:latin typeface="Cambria Math" panose="02040503050406030204" pitchFamily="18" charset="0"/>
                                <a:ea typeface="Cambria Math" panose="02040503050406030204" pitchFamily="18" charset="0"/>
                              </a:rPr>
                            </m:ctrlPr>
                          </m:sSubPr>
                          <m:e>
                            <m:r>
                              <a:rPr lang="en-US" sz="3600" b="1" i="1">
                                <a:latin typeface="Cambria Math" panose="02040503050406030204" pitchFamily="18" charset="0"/>
                                <a:ea typeface="Cambria Math" panose="02040503050406030204" pitchFamily="18" charset="0"/>
                              </a:rPr>
                              <m:t>𝒕</m:t>
                            </m:r>
                          </m:e>
                          <m:sub>
                            <m:r>
                              <a:rPr lang="en-US" sz="3600" b="1" i="1">
                                <a:latin typeface="Cambria Math" panose="02040503050406030204" pitchFamily="18" charset="0"/>
                                <a:ea typeface="Cambria Math" panose="02040503050406030204" pitchFamily="18" charset="0"/>
                              </a:rPr>
                              <m:t> </m:t>
                            </m:r>
                          </m:sub>
                        </m:sSub>
                      </m:den>
                    </m:f>
                  </m:oMath>
                </a14:m>
                <a:r>
                  <a:rPr lang="en-US" sz="3600" b="1" dirty="0">
                    <a:latin typeface="Cambria Math" panose="02040503050406030204" pitchFamily="18" charset="0"/>
                    <a:ea typeface="Cambria Math" panose="02040503050406030204" pitchFamily="18" charset="0"/>
                  </a:rPr>
                  <a:t>        </a:t>
                </a:r>
                <a:r>
                  <a:rPr lang="en-US" sz="2400" b="1" dirty="0">
                    <a:latin typeface="+mn-lt"/>
                    <a:ea typeface="Cambria Math" panose="02040503050406030204" pitchFamily="18" charset="0"/>
                  </a:rPr>
                  <a:t>rearranging we get    </a:t>
                </a:r>
                <a14:m>
                  <m:oMath xmlns:m="http://schemas.openxmlformats.org/officeDocument/2006/math">
                    <m:r>
                      <a:rPr lang="en-US" sz="3600" b="1" i="1">
                        <a:latin typeface="Cambria Math" panose="02040503050406030204" pitchFamily="18" charset="0"/>
                        <a:ea typeface="Cambria Math" panose="02040503050406030204" pitchFamily="18" charset="0"/>
                      </a:rPr>
                      <m:t>𝒗</m:t>
                    </m:r>
                  </m:oMath>
                </a14:m>
                <a:r>
                  <a:rPr lang="en-US" sz="3600" b="1" dirty="0">
                    <a:latin typeface="Cambria Math" panose="02040503050406030204" pitchFamily="18" charset="0"/>
                    <a:ea typeface="Cambria Math" panose="02040503050406030204" pitchFamily="18" charset="0"/>
                  </a:rPr>
                  <a:t>= </a:t>
                </a:r>
                <a14:m>
                  <m:oMath xmlns:m="http://schemas.openxmlformats.org/officeDocument/2006/math">
                    <m:r>
                      <a:rPr lang="en-US" sz="3600" b="1" i="1">
                        <a:latin typeface="Cambria Math" panose="02040503050406030204" pitchFamily="18" charset="0"/>
                        <a:ea typeface="Cambria Math" panose="02040503050406030204" pitchFamily="18" charset="0"/>
                      </a:rPr>
                      <m:t>𝒗</m:t>
                    </m:r>
                  </m:oMath>
                </a14:m>
                <a:r>
                  <a:rPr lang="en-US" sz="3600" b="1" baseline="-25000" dirty="0">
                    <a:latin typeface="Cambria Math" panose="02040503050406030204" pitchFamily="18" charset="0"/>
                    <a:ea typeface="Cambria Math" panose="02040503050406030204" pitchFamily="18" charset="0"/>
                  </a:rPr>
                  <a:t>0</a:t>
                </a:r>
                <a:r>
                  <a:rPr lang="en-US" sz="3600" b="1" dirty="0">
                    <a:latin typeface="Cambria Math" panose="02040503050406030204" pitchFamily="18" charset="0"/>
                    <a:ea typeface="Cambria Math" panose="02040503050406030204" pitchFamily="18" charset="0"/>
                  </a:rPr>
                  <a:t> +</a:t>
                </a:r>
                <a14:m>
                  <m:oMath xmlns:m="http://schemas.openxmlformats.org/officeDocument/2006/math">
                    <m:r>
                      <a:rPr lang="en-US" sz="3600" b="1" i="1">
                        <a:latin typeface="Cambria Math" panose="02040503050406030204" pitchFamily="18" charset="0"/>
                        <a:ea typeface="Cambria Math" panose="02040503050406030204" pitchFamily="18" charset="0"/>
                      </a:rPr>
                      <m:t> </m:t>
                    </m:r>
                    <m:r>
                      <a:rPr lang="en-US" sz="3600" b="1" i="1">
                        <a:latin typeface="Cambria Math" panose="02040503050406030204" pitchFamily="18" charset="0"/>
                        <a:ea typeface="Cambria Math" panose="02040503050406030204" pitchFamily="18" charset="0"/>
                      </a:rPr>
                      <m:t>𝒂𝒕</m:t>
                    </m:r>
                  </m:oMath>
                </a14:m>
                <a:endParaRPr lang="en-US" sz="2400" b="1" dirty="0">
                  <a:latin typeface="+mn-lt"/>
                  <a:ea typeface="Cambria Math" panose="02040503050406030204" pitchFamily="18" charset="0"/>
                </a:endParaRPr>
              </a:p>
              <a:p>
                <a:pPr algn="r">
                  <a:buNone/>
                </a:pPr>
                <a:r>
                  <a:rPr lang="en-US" sz="2400" b="1" i="1" dirty="0">
                    <a:latin typeface="+mn-lt"/>
                    <a:ea typeface="Cambria Math" panose="02040503050406030204" pitchFamily="18" charset="0"/>
                  </a:rPr>
                  <a:t>Next slide lists all the kinematics equations</a:t>
                </a:r>
              </a:p>
            </p:txBody>
          </p:sp>
        </mc:Choice>
        <mc:Fallback xmlns="">
          <p:sp>
            <p:nvSpPr>
              <p:cNvPr id="74755" name="Text Box 3"/>
              <p:cNvSpPr txBox="1">
                <a:spLocks noRot="1" noChangeAspect="1" noMove="1" noResize="1" noEditPoints="1" noAdjustHandles="1" noChangeArrowheads="1" noChangeShapeType="1" noTextEdit="1"/>
              </p:cNvSpPr>
              <p:nvPr/>
            </p:nvSpPr>
            <p:spPr bwMode="auto">
              <a:xfrm>
                <a:off x="135467" y="630918"/>
                <a:ext cx="8744373" cy="5214441"/>
              </a:xfrm>
              <a:prstGeom prst="rect">
                <a:avLst/>
              </a:prstGeom>
              <a:blipFill>
                <a:blip r:embed="rId3"/>
                <a:stretch>
                  <a:fillRect l="-1045" t="-818" r="-1045" b="-17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530D4156-9B82-7EC2-B316-141C1AB4BA2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38626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30B81-015E-DB0A-1ECA-36442CA7B8BD}"/>
              </a:ext>
            </a:extLst>
          </p:cNvPr>
          <p:cNvSpPr>
            <a:spLocks noGrp="1"/>
          </p:cNvSpPr>
          <p:nvPr>
            <p:ph type="title"/>
          </p:nvPr>
        </p:nvSpPr>
        <p:spPr>
          <a:xfrm>
            <a:off x="379927" y="131853"/>
            <a:ext cx="8062912" cy="659535"/>
          </a:xfrm>
        </p:spPr>
        <p:txBody>
          <a:bodyPr>
            <a:normAutofit/>
          </a:bodyPr>
          <a:lstStyle/>
          <a:p>
            <a:pPr algn="ctr"/>
            <a:r>
              <a:rPr lang="en-US" altLang="en-US" sz="2800" cap="none" spc="0" dirty="0">
                <a:solidFill>
                  <a:prstClr val="black"/>
                </a:solidFill>
                <a:ea typeface="+mn-ea"/>
                <a:cs typeface="+mn-cs"/>
              </a:rPr>
              <a:t>CONSTANT ACCELERATION-EQUATIONS</a:t>
            </a:r>
            <a:endParaRPr lang="en-US" sz="2800"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C43613A-B94C-4C68-05CC-1144C105D639}"/>
                  </a:ext>
                </a:extLst>
              </p:cNvPr>
              <p:cNvSpPr>
                <a:spLocks noGrp="1"/>
              </p:cNvSpPr>
              <p:nvPr>
                <p:ph type="body" sz="quarter" idx="14"/>
              </p:nvPr>
            </p:nvSpPr>
            <p:spPr>
              <a:xfrm>
                <a:off x="0" y="4111637"/>
                <a:ext cx="9079605" cy="2369809"/>
              </a:xfrm>
            </p:spPr>
            <p:txBody>
              <a:bodyPr>
                <a:normAutofit/>
              </a:bodyPr>
              <a:lstStyle/>
              <a:p>
                <a:r>
                  <a:rPr lang="en-US" altLang="en-US" b="1" dirty="0"/>
                  <a:t>U</a:t>
                </a:r>
                <a:r>
                  <a:rPr lang="en-US" altLang="en-US" sz="2000" b="1" dirty="0"/>
                  <a:t>sing the simplified notation, with the initial time taken to be zero, </a:t>
                </a:r>
                <a14:m>
                  <m:oMath xmlns:m="http://schemas.openxmlformats.org/officeDocument/2006/math">
                    <m:r>
                      <a:rPr lang="en-US" altLang="en-US" sz="2000" b="1" i="1">
                        <a:latin typeface="Cambria Math" panose="02040503050406030204" pitchFamily="18" charset="0"/>
                        <a:ea typeface="Cambria Math" panose="02040503050406030204" pitchFamily="18" charset="0"/>
                      </a:rPr>
                      <m:t>∆</m:t>
                    </m:r>
                    <m:r>
                      <a:rPr lang="en-US" altLang="en-US" sz="2000" b="1" i="1" smtClean="0">
                        <a:latin typeface="Cambria Math" panose="02040503050406030204" pitchFamily="18" charset="0"/>
                        <a:ea typeface="Cambria Math" panose="02040503050406030204" pitchFamily="18" charset="0"/>
                      </a:rPr>
                      <m:t>𝒕</m:t>
                    </m:r>
                    <m:r>
                      <a:rPr lang="en-US" altLang="en-US" sz="2000" b="1" i="1">
                        <a:latin typeface="Cambria Math" panose="02040503050406030204" pitchFamily="18" charset="0"/>
                        <a:ea typeface="Cambria Math" panose="02040503050406030204" pitchFamily="18" charset="0"/>
                      </a:rPr>
                      <m:t>=</m:t>
                    </m:r>
                    <m:r>
                      <a:rPr lang="en-US" altLang="en-US" sz="2000" b="1" i="1" smtClean="0">
                        <a:latin typeface="Cambria Math" panose="02040503050406030204" pitchFamily="18" charset="0"/>
                        <a:ea typeface="Cambria Math" panose="02040503050406030204" pitchFamily="18" charset="0"/>
                      </a:rPr>
                      <m:t>𝒕</m:t>
                    </m:r>
                  </m:oMath>
                </a14:m>
                <a:endParaRPr lang="en-US" sz="1200" b="1" dirty="0">
                  <a:latin typeface="Cambria Math" panose="02040503050406030204" pitchFamily="18" charset="0"/>
                  <a:ea typeface="Cambria Math" panose="02040503050406030204" pitchFamily="18" charset="0"/>
                </a:endParaRPr>
              </a:p>
              <a:p>
                <a:r>
                  <a:rPr lang="en-US" sz="2400" b="1" dirty="0">
                    <a:latin typeface="Cambria Math" panose="02040503050406030204" pitchFamily="18" charset="0"/>
                    <a:ea typeface="Cambria Math" panose="02040503050406030204" pitchFamily="18" charset="0"/>
                  </a:rPr>
                  <a:t>We can  also  replace </a:t>
                </a:r>
                <a14:m>
                  <m:oMath xmlns:m="http://schemas.openxmlformats.org/officeDocument/2006/math">
                    <m:r>
                      <m:rPr>
                        <m:nor/>
                      </m:rPr>
                      <a:rPr lang="en-US" sz="2400" b="1">
                        <a:latin typeface="Cambria Math" panose="02040503050406030204" pitchFamily="18" charset="0"/>
                        <a:ea typeface="Cambria Math" panose="02040503050406030204" pitchFamily="18" charset="0"/>
                      </a:rPr>
                      <m:t> </m:t>
                    </m:r>
                    <m:r>
                      <a:rPr lang="en-US" sz="2400" b="1" i="1" smtClean="0">
                        <a:latin typeface="Cambria Math" panose="02040503050406030204" pitchFamily="18" charset="0"/>
                        <a:ea typeface="Cambria Math" panose="02040503050406030204" pitchFamily="18" charset="0"/>
                      </a:rPr>
                      <m:t> </m:t>
                    </m:r>
                    <m:r>
                      <a:rPr lang="en-US" altLang="en-US" sz="2400" b="1" i="1">
                        <a:latin typeface="Cambria Math" panose="02040503050406030204" pitchFamily="18" charset="0"/>
                        <a:ea typeface="Cambria Math" panose="02040503050406030204" pitchFamily="18" charset="0"/>
                      </a:rPr>
                      <m:t>∆</m:t>
                    </m:r>
                    <m:r>
                      <a:rPr lang="en-US" altLang="en-US" sz="2400" b="1" i="1">
                        <a:latin typeface="Cambria Math" panose="02040503050406030204" pitchFamily="18" charset="0"/>
                        <a:ea typeface="Cambria Math" panose="02040503050406030204" pitchFamily="18" charset="0"/>
                      </a:rPr>
                      <m:t>𝒙</m:t>
                    </m:r>
                    <m:r>
                      <a:rPr lang="en-US" altLang="en-US" sz="2400" b="1" i="1">
                        <a:latin typeface="Cambria Math" panose="02040503050406030204" pitchFamily="18" charset="0"/>
                        <a:ea typeface="Cambria Math" panose="02040503050406030204" pitchFamily="18" charset="0"/>
                      </a:rPr>
                      <m:t>=</m:t>
                    </m:r>
                    <m:r>
                      <a:rPr lang="en-US" altLang="en-US" sz="2400" b="1" i="1">
                        <a:latin typeface="Cambria Math" panose="02040503050406030204" pitchFamily="18" charset="0"/>
                        <a:ea typeface="Cambria Math" panose="02040503050406030204" pitchFamily="18" charset="0"/>
                      </a:rPr>
                      <m:t>𝒙</m:t>
                    </m:r>
                    <m:r>
                      <a:rPr lang="en-US" altLang="en-US" sz="2400" b="1" i="1">
                        <a:latin typeface="Cambria Math" panose="02040503050406030204" pitchFamily="18" charset="0"/>
                        <a:ea typeface="Cambria Math" panose="02040503050406030204" pitchFamily="18" charset="0"/>
                      </a:rPr>
                      <m:t>−</m:t>
                    </m:r>
                    <m:r>
                      <a:rPr lang="en-US" altLang="en-US" sz="2400" b="1" i="1">
                        <a:latin typeface="Cambria Math" panose="02040503050406030204" pitchFamily="18" charset="0"/>
                        <a:ea typeface="Cambria Math" panose="02040503050406030204" pitchFamily="18" charset="0"/>
                      </a:rPr>
                      <m:t>𝒙</m:t>
                    </m:r>
                    <m:r>
                      <a:rPr lang="en-US" altLang="en-US" sz="2400" b="1" i="1">
                        <a:latin typeface="Cambria Math" panose="02040503050406030204" pitchFamily="18" charset="0"/>
                        <a:ea typeface="Cambria Math" panose="02040503050406030204" pitchFamily="18" charset="0"/>
                      </a:rPr>
                      <m:t> </m:t>
                    </m:r>
                    <m:r>
                      <a:rPr lang="en-US" altLang="en-US" sz="2400" b="1" i="1" baseline="-25000">
                        <a:latin typeface="Cambria Math" panose="02040503050406030204" pitchFamily="18" charset="0"/>
                        <a:ea typeface="Cambria Math" panose="02040503050406030204" pitchFamily="18" charset="0"/>
                      </a:rPr>
                      <m:t>𝟎</m:t>
                    </m:r>
                  </m:oMath>
                </a14:m>
                <a:r>
                  <a:rPr lang="en-US" altLang="en-US" sz="2800" b="1" baseline="-25000" dirty="0">
                    <a:latin typeface="Cambria Math" panose="02040503050406030204" pitchFamily="18" charset="0"/>
                    <a:ea typeface="Cambria Math" panose="02040503050406030204" pitchFamily="18" charset="0"/>
                  </a:rPr>
                  <a:t>   </a:t>
                </a:r>
                <a:r>
                  <a:rPr lang="en-US" altLang="en-US" sz="2800" b="1" dirty="0">
                    <a:latin typeface="Cambria Math" panose="02040503050406030204" pitchFamily="18" charset="0"/>
                    <a:ea typeface="Cambria Math" panose="02040503050406030204" pitchFamily="18" charset="0"/>
                  </a:rPr>
                  <a:t>and   </a:t>
                </a:r>
                <a:r>
                  <a:rPr lang="en-US" altLang="en-US" sz="2800" b="1" baseline="-25000" dirty="0">
                    <a:latin typeface="Cambria Math" panose="02040503050406030204" pitchFamily="18" charset="0"/>
                    <a:ea typeface="Cambria Math" panose="02040503050406030204" pitchFamily="18" charset="0"/>
                  </a:rPr>
                  <a:t> </a:t>
                </a:r>
                <a14:m>
                  <m:oMath xmlns:m="http://schemas.openxmlformats.org/officeDocument/2006/math">
                    <m:r>
                      <a:rPr lang="en-US" altLang="en-US" sz="2800" b="1" i="1">
                        <a:latin typeface="Cambria Math" panose="02040503050406030204" pitchFamily="18" charset="0"/>
                        <a:ea typeface="Cambria Math" panose="02040503050406030204" pitchFamily="18" charset="0"/>
                      </a:rPr>
                      <m:t>∆</m:t>
                    </m:r>
                    <m:r>
                      <a:rPr lang="en-US" altLang="en-US" sz="2800" b="1" i="1">
                        <a:latin typeface="Cambria Math" panose="02040503050406030204" pitchFamily="18" charset="0"/>
                        <a:ea typeface="Cambria Math" panose="02040503050406030204" pitchFamily="18" charset="0"/>
                      </a:rPr>
                      <m:t>𝒗</m:t>
                    </m:r>
                    <m:r>
                      <a:rPr lang="en-US" altLang="en-US" sz="2800" b="1" i="1">
                        <a:latin typeface="Cambria Math" panose="02040503050406030204" pitchFamily="18" charset="0"/>
                        <a:ea typeface="Cambria Math" panose="02040503050406030204" pitchFamily="18" charset="0"/>
                      </a:rPr>
                      <m:t>=</m:t>
                    </m:r>
                    <m:r>
                      <a:rPr lang="en-US" altLang="en-US" sz="2800" b="1" i="1">
                        <a:latin typeface="Cambria Math" panose="02040503050406030204" pitchFamily="18" charset="0"/>
                        <a:ea typeface="Cambria Math" panose="02040503050406030204" pitchFamily="18" charset="0"/>
                      </a:rPr>
                      <m:t>𝒗</m:t>
                    </m:r>
                    <m:r>
                      <a:rPr lang="en-US" altLang="en-US" sz="2800" b="1" i="1">
                        <a:latin typeface="Cambria Math" panose="02040503050406030204" pitchFamily="18" charset="0"/>
                        <a:ea typeface="Cambria Math" panose="02040503050406030204" pitchFamily="18" charset="0"/>
                      </a:rPr>
                      <m:t>−</m:t>
                    </m:r>
                    <m:r>
                      <a:rPr lang="en-US" altLang="en-US" sz="2800" b="1" i="1">
                        <a:latin typeface="Cambria Math" panose="02040503050406030204" pitchFamily="18" charset="0"/>
                        <a:ea typeface="Cambria Math" panose="02040503050406030204" pitchFamily="18" charset="0"/>
                      </a:rPr>
                      <m:t>𝒗</m:t>
                    </m:r>
                    <m:r>
                      <a:rPr lang="en-US" altLang="en-US" sz="2800" b="1" i="1">
                        <a:latin typeface="Cambria Math" panose="02040503050406030204" pitchFamily="18" charset="0"/>
                        <a:ea typeface="Cambria Math" panose="02040503050406030204" pitchFamily="18" charset="0"/>
                      </a:rPr>
                      <m:t> </m:t>
                    </m:r>
                    <m:r>
                      <a:rPr lang="en-US" altLang="en-US" sz="2800" b="1" i="1" baseline="-25000">
                        <a:latin typeface="Cambria Math" panose="02040503050406030204" pitchFamily="18" charset="0"/>
                        <a:ea typeface="Cambria Math" panose="02040503050406030204" pitchFamily="18" charset="0"/>
                      </a:rPr>
                      <m:t>𝟎</m:t>
                    </m:r>
                  </m:oMath>
                </a14:m>
                <a:endParaRPr lang="en-US" altLang="en-US" sz="2800" b="1" baseline="-25000" dirty="0">
                  <a:latin typeface="Cambria Math" panose="02040503050406030204" pitchFamily="18" charset="0"/>
                  <a:ea typeface="Cambria Math" panose="02040503050406030204" pitchFamily="18" charset="0"/>
                </a:endParaRPr>
              </a:p>
              <a:p>
                <a:r>
                  <a:rPr lang="en-US" sz="2400" b="1" dirty="0">
                    <a:effectLst/>
                    <a:ea typeface="Calibri" panose="020F0502020204030204" pitchFamily="34" charset="0"/>
                    <a:cs typeface="Times New Roman" panose="02020603050405020304" pitchFamily="18" charset="0"/>
                  </a:rPr>
                  <a:t>Also</a:t>
                </a:r>
                <a:r>
                  <a:rPr lang="en-US" sz="2800" b="1" dirty="0">
                    <a:effectLst/>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acc>
                      <m:accPr>
                        <m:chr m:val="̅"/>
                        <m:ctrlPr>
                          <a:rPr lang="en-US" sz="2800" b="1" i="1" smtClean="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𝒗</m:t>
                        </m:r>
                      </m:e>
                    </m:acc>
                  </m:oMath>
                </a14:m>
                <a:r>
                  <a:rPr lang="en-US" sz="2800" b="1" dirty="0">
                    <a:effectLst/>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 =</m:t>
                    </m:r>
                    <m:f>
                      <m:fPr>
                        <m:ctrlPr>
                          <a:rPr lang="en-US" sz="2800" b="1"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2800" b="1"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𝒗</m:t>
                            </m:r>
                          </m:e>
                          <m:sub>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𝟎</m:t>
                            </m:r>
                          </m:sub>
                        </m:sSub>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m:t>
                        </m:r>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𝒗</m:t>
                        </m:r>
                      </m:num>
                      <m:den>
                        <m:r>
                          <a:rPr lang="en-US" sz="2800" b="1" i="1">
                            <a:effectLst/>
                            <a:latin typeface="Cambria Math" panose="02040503050406030204" pitchFamily="18" charset="0"/>
                            <a:ea typeface="Cambria Math" panose="02040503050406030204" pitchFamily="18" charset="0"/>
                            <a:cs typeface="Times New Roman" panose="02020603050405020304" pitchFamily="18" charset="0"/>
                          </a:rPr>
                          <m:t>𝟐</m:t>
                        </m:r>
                      </m:den>
                    </m:f>
                  </m:oMath>
                </a14:m>
                <a:endParaRPr lang="en-US" altLang="en-US" sz="2800" b="1" baseline="-25000" dirty="0">
                  <a:latin typeface="Cambria Math" panose="02040503050406030204" pitchFamily="18" charset="0"/>
                  <a:ea typeface="Cambria Math" panose="02040503050406030204" pitchFamily="18" charset="0"/>
                </a:endParaRPr>
              </a:p>
              <a:p>
                <a:r>
                  <a:rPr lang="en-US" altLang="en-US" sz="2800" b="1" baseline="-25000" dirty="0">
                    <a:hlinkClick r:id="rId2"/>
                  </a:rPr>
                  <a:t> Motion under Constant Acceleration Equations Video</a:t>
                </a:r>
                <a:endParaRPr lang="en-US" altLang="en-US" sz="2800" b="1" baseline="-25000" dirty="0"/>
              </a:p>
              <a:p>
                <a:endParaRPr lang="en-US" altLang="en-US" sz="2800" b="1" baseline="-25000" dirty="0">
                  <a:latin typeface="Cambria Math" panose="02040503050406030204" pitchFamily="18" charset="0"/>
                  <a:ea typeface="Cambria Math" panose="02040503050406030204" pitchFamily="18" charset="0"/>
                </a:endParaRPr>
              </a:p>
              <a:p>
                <a:endParaRPr lang="en-US" altLang="en-US" sz="2000" b="1" baseline="-25000" dirty="0"/>
              </a:p>
              <a:p>
                <a:endParaRPr lang="en-US" dirty="0"/>
              </a:p>
            </p:txBody>
          </p:sp>
        </mc:Choice>
        <mc:Fallback xmlns="">
          <p:sp>
            <p:nvSpPr>
              <p:cNvPr id="4" name="Text Placeholder 3">
                <a:extLst>
                  <a:ext uri="{FF2B5EF4-FFF2-40B4-BE49-F238E27FC236}">
                    <a16:creationId xmlns:a16="http://schemas.microsoft.com/office/drawing/2014/main" id="{7C43613A-B94C-4C68-05CC-1144C105D639}"/>
                  </a:ext>
                </a:extLst>
              </p:cNvPr>
              <p:cNvSpPr>
                <a:spLocks noGrp="1" noRot="1" noChangeAspect="1" noMove="1" noResize="1" noEditPoints="1" noAdjustHandles="1" noChangeArrowheads="1" noChangeShapeType="1" noTextEdit="1"/>
              </p:cNvSpPr>
              <p:nvPr>
                <p:ph type="body" sz="quarter" idx="14"/>
              </p:nvPr>
            </p:nvSpPr>
            <p:spPr>
              <a:xfrm>
                <a:off x="0" y="4111637"/>
                <a:ext cx="9079605" cy="2369809"/>
              </a:xfrm>
              <a:blipFill>
                <a:blip r:embed="rId3"/>
                <a:stretch>
                  <a:fillRect l="-1007" t="-1028" b="-2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876F712-525F-A79C-B8CB-E0FA046C7BBE}"/>
                  </a:ext>
                </a:extLst>
              </p:cNvPr>
              <p:cNvGraphicFramePr>
                <a:graphicFrameLocks noGrp="1"/>
              </p:cNvGraphicFramePr>
              <p:nvPr>
                <p:extLst>
                  <p:ext uri="{D42A27DB-BD31-4B8C-83A1-F6EECF244321}">
                    <p14:modId xmlns:p14="http://schemas.microsoft.com/office/powerpoint/2010/main" val="3414283743"/>
                  </p:ext>
                </p:extLst>
              </p:nvPr>
            </p:nvGraphicFramePr>
            <p:xfrm>
              <a:off x="1068946" y="1009703"/>
              <a:ext cx="6832611" cy="3101506"/>
            </p:xfrm>
            <a:graphic>
              <a:graphicData uri="http://schemas.openxmlformats.org/drawingml/2006/table">
                <a:tbl>
                  <a:tblPr firstRow="1" bandRow="1">
                    <a:tableStyleId>{46F890A9-2807-4EBB-B81D-B2AA78EC7F39}</a:tableStyleId>
                  </a:tblPr>
                  <a:tblGrid>
                    <a:gridCol w="716944">
                      <a:extLst>
                        <a:ext uri="{9D8B030D-6E8A-4147-A177-3AD203B41FA5}">
                          <a16:colId xmlns:a16="http://schemas.microsoft.com/office/drawing/2014/main" val="344239218"/>
                        </a:ext>
                      </a:extLst>
                    </a:gridCol>
                    <a:gridCol w="3838130">
                      <a:extLst>
                        <a:ext uri="{9D8B030D-6E8A-4147-A177-3AD203B41FA5}">
                          <a16:colId xmlns:a16="http://schemas.microsoft.com/office/drawing/2014/main" val="4241412567"/>
                        </a:ext>
                      </a:extLst>
                    </a:gridCol>
                    <a:gridCol w="2277537">
                      <a:extLst>
                        <a:ext uri="{9D8B030D-6E8A-4147-A177-3AD203B41FA5}">
                          <a16:colId xmlns:a16="http://schemas.microsoft.com/office/drawing/2014/main" val="1800025546"/>
                        </a:ext>
                      </a:extLst>
                    </a:gridCol>
                  </a:tblGrid>
                  <a:tr h="404361">
                    <a:tc>
                      <a:txBody>
                        <a:bodyPr/>
                        <a:lstStyle/>
                        <a:p>
                          <a:r>
                            <a:rPr lang="en-US"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QUANTITIES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8584805"/>
                      </a:ext>
                    </a:extLst>
                  </a:tr>
                  <a:tr h="498527">
                    <a:tc>
                      <a:txBody>
                        <a:bodyPr/>
                        <a:lstStyle/>
                        <a:p>
                          <a:pPr marL="0" marR="0">
                            <a:spcBef>
                              <a:spcPts val="0"/>
                            </a:spcBef>
                            <a:spcAft>
                              <a:spcPts val="0"/>
                            </a:spcAft>
                          </a:pPr>
                          <a:r>
                            <a:rPr lang="en-US" sz="2400" b="1" dirty="0">
                              <a:solidFill>
                                <a:srgbClr val="000000"/>
                              </a:solidFill>
                              <a:effectLst/>
                            </a:rPr>
                            <a:t>1</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400" b="1" kern="1200">
                                  <a:solidFill>
                                    <a:srgbClr val="000000"/>
                                  </a:solidFill>
                                  <a:effectLst/>
                                  <a:latin typeface="Cambria Math" panose="02040503050406030204" pitchFamily="18" charset="0"/>
                                </a:rPr>
                                <m:t>𝒙</m:t>
                              </m:r>
                            </m:oMath>
                          </a14:m>
                          <a:r>
                            <a:rPr lang="en-US" sz="2400" b="1" kern="1200" dirty="0">
                              <a:solidFill>
                                <a:srgbClr val="000000"/>
                              </a:solidFill>
                              <a:effectLst/>
                            </a:rPr>
                            <a:t>= </a:t>
                          </a:r>
                          <a14:m>
                            <m:oMath xmlns:m="http://schemas.openxmlformats.org/officeDocument/2006/math">
                              <m:sSub>
                                <m:sSubPr>
                                  <m:ctrlPr>
                                    <a:rPr lang="en-US" sz="2400" b="1" i="1" kern="1200">
                                      <a:solidFill>
                                        <a:srgbClr val="000000"/>
                                      </a:solidFill>
                                      <a:effectLst/>
                                      <a:latin typeface="Cambria Math" panose="02040503050406030204" pitchFamily="18" charset="0"/>
                                    </a:rPr>
                                  </m:ctrlPr>
                                </m:sSubPr>
                                <m:e>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oMath>
                          </a14:m>
                          <a:r>
                            <a:rPr lang="en-US" sz="2400" b="1" kern="1200" dirty="0">
                              <a:solidFill>
                                <a:srgbClr val="000000"/>
                              </a:solidFill>
                              <a:effectLst/>
                            </a:rPr>
                            <a:t> +</a:t>
                          </a:r>
                          <a14:m>
                            <m:oMath xmlns:m="http://schemas.openxmlformats.org/officeDocument/2006/math">
                              <m:acc>
                                <m:accPr>
                                  <m:chr m:val="̅"/>
                                  <m:ctrlPr>
                                    <a:rPr lang="en-US" sz="2400" b="1" i="1" kern="1200">
                                      <a:solidFill>
                                        <a:srgbClr val="000000"/>
                                      </a:solidFill>
                                      <a:effectLst/>
                                      <a:latin typeface="Cambria Math" panose="02040503050406030204" pitchFamily="18" charset="0"/>
                                    </a:rPr>
                                  </m:ctrlPr>
                                </m:accPr>
                                <m:e>
                                  <m:r>
                                    <a:rPr lang="en-US" sz="2400" b="1" kern="1200">
                                      <a:solidFill>
                                        <a:srgbClr val="000000"/>
                                      </a:solidFill>
                                      <a:effectLst/>
                                      <a:latin typeface="Cambria Math" panose="02040503050406030204" pitchFamily="18" charset="0"/>
                                    </a:rPr>
                                    <m:t>𝒗</m:t>
                                  </m:r>
                                  <m:r>
                                    <a:rPr lang="en-US" sz="2400" b="1" kern="1200">
                                      <a:solidFill>
                                        <a:srgbClr val="000000"/>
                                      </a:solidFill>
                                      <a:effectLst/>
                                      <a:latin typeface="Cambria Math" panose="02040503050406030204" pitchFamily="18" charset="0"/>
                                    </a:rPr>
                                    <m:t> </m:t>
                                  </m:r>
                                </m:e>
                              </m:acc>
                              <m:r>
                                <a:rPr lang="en-US" sz="2400" b="1" kern="1200">
                                  <a:solidFill>
                                    <a:srgbClr val="000000"/>
                                  </a:solidFill>
                                  <a:effectLst/>
                                  <a:latin typeface="Cambria Math" panose="02040503050406030204" pitchFamily="18" charset="0"/>
                                </a:rPr>
                                <m:t>𝒕</m:t>
                              </m:r>
                            </m:oMath>
                          </a14:m>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400" b="1" kern="1200">
                                  <a:solidFill>
                                    <a:srgbClr val="000000"/>
                                  </a:solidFill>
                                  <a:effectLst/>
                                  <a:latin typeface="Cambria Math" panose="02040503050406030204" pitchFamily="18" charset="0"/>
                                </a:rPr>
                                <m:t>𝒙</m:t>
                              </m:r>
                            </m:oMath>
                          </a14:m>
                          <a:r>
                            <a:rPr lang="en-US" sz="2400" b="1" dirty="0">
                              <a:solidFill>
                                <a:srgbClr val="000000"/>
                              </a:solidFill>
                              <a:effectLst/>
                            </a:rPr>
                            <a:t>, </a:t>
                          </a:r>
                          <a14:m>
                            <m:oMath xmlns:m="http://schemas.openxmlformats.org/officeDocument/2006/math">
                              <m:sSub>
                                <m:sSubPr>
                                  <m:ctrlPr>
                                    <a:rPr lang="en-US" sz="2400" b="1" i="1" kern="1200">
                                      <a:solidFill>
                                        <a:srgbClr val="000000"/>
                                      </a:solidFill>
                                      <a:effectLst/>
                                      <a:latin typeface="Cambria Math" panose="02040503050406030204" pitchFamily="18" charset="0"/>
                                    </a:rPr>
                                  </m:ctrlPr>
                                </m:sSubPr>
                                <m:e>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r>
                                <a:rPr lang="en-US" sz="2400" b="1" kern="1200">
                                  <a:solidFill>
                                    <a:srgbClr val="000000"/>
                                  </a:solidFill>
                                  <a:effectLst/>
                                  <a:latin typeface="Cambria Math" panose="02040503050406030204" pitchFamily="18" charset="0"/>
                                </a:rPr>
                                <m:t> ,</m:t>
                              </m:r>
                            </m:oMath>
                          </a14:m>
                          <a:r>
                            <a:rPr lang="en-US" sz="2400" b="1" kern="1200" baseline="-25000" dirty="0">
                              <a:solidFill>
                                <a:srgbClr val="000000"/>
                              </a:solidFill>
                              <a:effectLst/>
                            </a:rPr>
                            <a:t> </a:t>
                          </a:r>
                          <a14:m>
                            <m:oMath xmlns:m="http://schemas.openxmlformats.org/officeDocument/2006/math">
                              <m:acc>
                                <m:accPr>
                                  <m:chr m:val="̅"/>
                                  <m:ctrlPr>
                                    <a:rPr lang="en-US" sz="2400" b="1" i="1" kern="1200">
                                      <a:solidFill>
                                        <a:srgbClr val="000000"/>
                                      </a:solidFill>
                                      <a:effectLst/>
                                      <a:latin typeface="Cambria Math" panose="02040503050406030204" pitchFamily="18" charset="0"/>
                                    </a:rPr>
                                  </m:ctrlPr>
                                </m:accPr>
                                <m:e>
                                  <m:r>
                                    <a:rPr lang="en-US" sz="2400" b="1" kern="1200">
                                      <a:solidFill>
                                        <a:srgbClr val="000000"/>
                                      </a:solidFill>
                                      <a:effectLst/>
                                      <a:latin typeface="Cambria Math" panose="02040503050406030204" pitchFamily="18" charset="0"/>
                                    </a:rPr>
                                    <m:t>𝒗</m:t>
                                  </m:r>
                                </m:e>
                              </m:acc>
                              <m:r>
                                <a:rPr lang="en-US" sz="2400" b="1" kern="1200">
                                  <a:solidFill>
                                    <a:srgbClr val="000000"/>
                                  </a:solidFill>
                                  <a:effectLst/>
                                  <a:latin typeface="Cambria Math" panose="02040503050406030204" pitchFamily="18" charset="0"/>
                                </a:rPr>
                                <m:t>,</m:t>
                              </m:r>
                              <m:r>
                                <a:rPr lang="en-US" sz="2400" b="1" kern="1200">
                                  <a:solidFill>
                                    <a:srgbClr val="000000"/>
                                  </a:solidFill>
                                  <a:effectLst/>
                                  <a:latin typeface="Cambria Math" panose="02040503050406030204" pitchFamily="18" charset="0"/>
                                </a:rPr>
                                <m:t>𝒕</m:t>
                              </m:r>
                            </m:oMath>
                          </a14:m>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76888"/>
                      </a:ext>
                    </a:extLst>
                  </a:tr>
                  <a:tr h="516045">
                    <a:tc>
                      <a:txBody>
                        <a:bodyPr/>
                        <a:lstStyle/>
                        <a:p>
                          <a:pPr marL="0" marR="0">
                            <a:spcBef>
                              <a:spcPts val="0"/>
                            </a:spcBef>
                            <a:spcAft>
                              <a:spcPts val="0"/>
                            </a:spcAft>
                          </a:pPr>
                          <a:r>
                            <a:rPr lang="en-US" sz="2400" b="1" dirty="0">
                              <a:solidFill>
                                <a:srgbClr val="000000"/>
                              </a:solidFill>
                              <a:effectLst/>
                            </a:rPr>
                            <a:t>2</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2400" b="1" kern="1200" smtClean="0">
                                  <a:solidFill>
                                    <a:schemeClr val="dk1"/>
                                  </a:solidFill>
                                  <a:effectLst/>
                                  <a:latin typeface="Cambria Math" panose="02040503050406030204" pitchFamily="18" charset="0"/>
                                </a:rPr>
                                <m:t>𝒗</m:t>
                              </m:r>
                              <m:r>
                                <m:rPr>
                                  <m:nor/>
                                </m:rPr>
                                <a:rPr lang="en-US" sz="2400" b="1" kern="1200" smtClean="0">
                                  <a:solidFill>
                                    <a:schemeClr val="dk1"/>
                                  </a:solidFill>
                                  <a:effectLst/>
                                </a:rPr>
                                <m:t> </m:t>
                              </m:r>
                              <m:r>
                                <m:rPr>
                                  <m:nor/>
                                </m:rPr>
                                <a:rPr lang="en-US" sz="2400" b="1" kern="1200">
                                  <a:solidFill>
                                    <a:schemeClr val="dk1"/>
                                  </a:solidFill>
                                  <a:effectLst/>
                                </a:rPr>
                                <m:t>=</m:t>
                              </m:r>
                            </m:oMath>
                          </a14:m>
                          <a:r>
                            <a:rPr lang="en-US" sz="2400" b="1" dirty="0"/>
                            <a:t> </a:t>
                          </a:r>
                          <a14:m>
                            <m:oMath xmlns:m="http://schemas.openxmlformats.org/officeDocument/2006/math">
                              <m:r>
                                <a:rPr lang="en-US" sz="2400" b="1" kern="1200" smtClean="0">
                                  <a:solidFill>
                                    <a:schemeClr val="dk1"/>
                                  </a:solidFill>
                                  <a:effectLst/>
                                  <a:latin typeface="Cambria Math" panose="02040503050406030204" pitchFamily="18" charset="0"/>
                                </a:rPr>
                                <m:t>𝒗</m:t>
                              </m:r>
                            </m:oMath>
                          </a14:m>
                          <a:r>
                            <a:rPr lang="en-US" sz="2400" b="1" kern="1200" baseline="-25000" dirty="0">
                              <a:solidFill>
                                <a:schemeClr val="dk1"/>
                              </a:solidFill>
                              <a:effectLst/>
                            </a:rPr>
                            <a:t>0</a:t>
                          </a:r>
                          <a:r>
                            <a:rPr lang="en-US" sz="2400" b="1" kern="1200" dirty="0">
                              <a:solidFill>
                                <a:schemeClr val="dk1"/>
                              </a:solidFill>
                              <a:effectLst/>
                            </a:rPr>
                            <a:t> + </a:t>
                          </a:r>
                          <a14:m>
                            <m:oMath xmlns:m="http://schemas.openxmlformats.org/officeDocument/2006/math">
                              <m:r>
                                <a:rPr lang="en-US" sz="2400" b="1" kern="1200" smtClean="0">
                                  <a:solidFill>
                                    <a:schemeClr val="dk1"/>
                                  </a:solidFill>
                                  <a:effectLst/>
                                  <a:latin typeface="Cambria Math" panose="02040503050406030204" pitchFamily="18" charset="0"/>
                                </a:rPr>
                                <m:t>𝒂𝒕</m:t>
                              </m:r>
                            </m:oMath>
                          </a14:m>
                          <a:r>
                            <a:rPr lang="en-US" sz="2400" b="1" kern="1200" dirty="0">
                              <a:solidFill>
                                <a:schemeClr val="dk1"/>
                              </a:solidFill>
                              <a:effectLst/>
                            </a:rPr>
                            <a:t> </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US" sz="2400" b="1" kern="1200" smtClean="0">
                                    <a:solidFill>
                                      <a:schemeClr val="dk1"/>
                                    </a:solidFill>
                                    <a:effectLst/>
                                    <a:latin typeface="Cambria Math" panose="02040503050406030204" pitchFamily="18" charset="0"/>
                                  </a:rPr>
                                  <m:t>𝒗</m:t>
                                </m:r>
                                <m:r>
                                  <a:rPr lang="en-US" sz="2400" b="1" kern="1200" smtClean="0">
                                    <a:solidFill>
                                      <a:schemeClr val="dk1"/>
                                    </a:solidFill>
                                    <a:effectLst/>
                                    <a:latin typeface="Cambria Math" panose="02040503050406030204" pitchFamily="18" charset="0"/>
                                  </a:rPr>
                                  <m:t>,</m:t>
                                </m:r>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r>
                                      <a:rPr lang="en-US" sz="2400" b="1" kern="1200">
                                        <a:solidFill>
                                          <a:schemeClr val="dk1"/>
                                        </a:solidFill>
                                        <a:effectLst/>
                                        <a:latin typeface="Cambria Math" panose="02040503050406030204" pitchFamily="18" charset="0"/>
                                      </a:rPr>
                                      <m:t> , </m:t>
                                    </m:r>
                                  </m:sub>
                                </m:sSub>
                                <m:r>
                                  <a:rPr lang="en-US" sz="2400" b="1" kern="1200">
                                    <a:solidFill>
                                      <a:schemeClr val="dk1"/>
                                    </a:solidFill>
                                    <a:effectLst/>
                                    <a:latin typeface="Cambria Math" panose="02040503050406030204" pitchFamily="18" charset="0"/>
                                  </a:rPr>
                                  <m:t>𝒂</m:t>
                                </m:r>
                                <m:r>
                                  <a:rPr lang="en-US" sz="2400" b="1" kern="1200">
                                    <a:solidFill>
                                      <a:schemeClr val="dk1"/>
                                    </a:solidFill>
                                    <a:effectLst/>
                                    <a:latin typeface="Cambria Math" panose="02040503050406030204" pitchFamily="18" charset="0"/>
                                  </a:rPr>
                                  <m:t>,</m:t>
                                </m:r>
                                <m:r>
                                  <a:rPr lang="en-US" sz="2400" b="1" kern="1200">
                                    <a:solidFill>
                                      <a:schemeClr val="dk1"/>
                                    </a:solidFill>
                                    <a:effectLst/>
                                    <a:latin typeface="Cambria Math" panose="02040503050406030204" pitchFamily="18" charset="0"/>
                                  </a:rPr>
                                  <m:t>𝒕</m:t>
                                </m:r>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0372999"/>
                      </a:ext>
                    </a:extLst>
                  </a:tr>
                  <a:tr h="721895">
                    <a:tc>
                      <a:txBody>
                        <a:bodyPr/>
                        <a:lstStyle/>
                        <a:p>
                          <a:r>
                            <a:rPr lang="en-US" sz="2400" b="1" dirty="0"/>
                            <a:t>3</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US" sz="2400" b="1" kern="1200" smtClean="0">
                                    <a:solidFill>
                                      <a:srgbClr val="000000"/>
                                    </a:solidFill>
                                    <a:effectLst/>
                                    <a:latin typeface="Cambria Math" panose="02040503050406030204" pitchFamily="18" charset="0"/>
                                  </a:rPr>
                                  <m:t>𝒙</m:t>
                                </m:r>
                                <m:r>
                                  <a:rPr lang="en-US" sz="2400" b="1" kern="1200">
                                    <a:solidFill>
                                      <a:schemeClr val="dk1"/>
                                    </a:solidFill>
                                    <a:effectLst/>
                                    <a:latin typeface="Cambria Math" panose="02040503050406030204" pitchFamily="18" charset="0"/>
                                  </a:rPr>
                                  <m:t>=</m:t>
                                </m:r>
                                <m:r>
                                  <a:rPr lang="en-US" sz="2400" b="1" kern="1200" smtClean="0">
                                    <a:solidFill>
                                      <a:schemeClr val="dk1"/>
                                    </a:solidFill>
                                    <a:effectLst/>
                                    <a:latin typeface="Cambria Math" panose="02040503050406030204" pitchFamily="18" charset="0"/>
                                  </a:rPr>
                                  <m:t> </m:t>
                                </m:r>
                                <m:sSub>
                                  <m:sSubPr>
                                    <m:ctrlPr>
                                      <a:rPr lang="en-US" sz="2400" b="1" i="1" kern="1200" smtClean="0">
                                        <a:solidFill>
                                          <a:srgbClr val="000000"/>
                                        </a:solidFill>
                                        <a:effectLst/>
                                        <a:latin typeface="Cambria Math" panose="02040503050406030204" pitchFamily="18" charset="0"/>
                                      </a:rPr>
                                    </m:ctrlPr>
                                  </m:sSubPr>
                                  <m:e>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sSub>
                                  <m:sSubPr>
                                    <m:ctrlPr>
                                      <a:rPr lang="en-US" sz="2400" b="1" i="1" kern="1200" smtClean="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 </m:t>
                                </m:r>
                                <m:r>
                                  <a:rPr lang="en-US" sz="2400" b="1" kern="1200">
                                    <a:solidFill>
                                      <a:schemeClr val="dk1"/>
                                    </a:solidFill>
                                    <a:effectLst/>
                                    <a:latin typeface="Cambria Math" panose="02040503050406030204" pitchFamily="18" charset="0"/>
                                  </a:rPr>
                                  <m:t>𝒕</m:t>
                                </m:r>
                                <m:r>
                                  <a:rPr lang="en-US" sz="2400" b="1" kern="1200">
                                    <a:solidFill>
                                      <a:schemeClr val="dk1"/>
                                    </a:solidFill>
                                    <a:effectLst/>
                                    <a:latin typeface="Cambria Math" panose="02040503050406030204" pitchFamily="18" charset="0"/>
                                  </a:rPr>
                                  <m:t>+ </m:t>
                                </m:r>
                                <m:f>
                                  <m:fPr>
                                    <m:ctrlPr>
                                      <a:rPr lang="en-US" sz="2400" b="1" i="1" kern="1200">
                                        <a:solidFill>
                                          <a:schemeClr val="dk1"/>
                                        </a:solidFill>
                                        <a:effectLst/>
                                        <a:latin typeface="Cambria Math" panose="02040503050406030204" pitchFamily="18" charset="0"/>
                                      </a:rPr>
                                    </m:ctrlPr>
                                  </m:fPr>
                                  <m:num>
                                    <m:r>
                                      <a:rPr lang="en-US" sz="2400" b="1" kern="1200">
                                        <a:solidFill>
                                          <a:schemeClr val="dk1"/>
                                        </a:solidFill>
                                        <a:effectLst/>
                                        <a:latin typeface="Cambria Math" panose="02040503050406030204" pitchFamily="18" charset="0"/>
                                      </a:rPr>
                                      <m:t>𝟏</m:t>
                                    </m:r>
                                  </m:num>
                                  <m:den>
                                    <m:r>
                                      <a:rPr lang="en-US" sz="2400" b="1" kern="1200">
                                        <a:solidFill>
                                          <a:schemeClr val="dk1"/>
                                        </a:solidFill>
                                        <a:effectLst/>
                                        <a:latin typeface="Cambria Math" panose="02040503050406030204" pitchFamily="18" charset="0"/>
                                      </a:rPr>
                                      <m:t>𝟐</m:t>
                                    </m:r>
                                  </m:den>
                                </m:f>
                                <m:r>
                                  <m:rPr>
                                    <m:nor/>
                                  </m:rPr>
                                  <a:rPr lang="en-US" sz="2400" b="1" kern="1200">
                                    <a:solidFill>
                                      <a:schemeClr val="dk1"/>
                                    </a:solidFill>
                                    <a:effectLst/>
                                  </a:rPr>
                                  <m:t>a</m:t>
                                </m:r>
                                <m:sSup>
                                  <m:sSupPr>
                                    <m:ctrlPr>
                                      <a:rPr lang="en-US" sz="2400" b="1" i="1" kern="120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𝒕</m:t>
                                    </m:r>
                                  </m:e>
                                  <m:sup>
                                    <m:r>
                                      <a:rPr lang="en-US" sz="2400" b="1" kern="1200">
                                        <a:solidFill>
                                          <a:schemeClr val="dk1"/>
                                        </a:solidFill>
                                        <a:effectLst/>
                                        <a:latin typeface="Cambria Math" panose="02040503050406030204" pitchFamily="18" charset="0"/>
                                      </a:rPr>
                                      <m:t>𝟐</m:t>
                                    </m:r>
                                  </m:sup>
                                </m:sSup>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sSub>
                                  <m:sSubPr>
                                    <m:ctrlPr>
                                      <a:rPr lang="en-US" sz="2400" b="1" i="1" kern="1200" smtClean="0">
                                        <a:solidFill>
                                          <a:srgbClr val="000000"/>
                                        </a:solidFill>
                                        <a:effectLst/>
                                        <a:latin typeface="Cambria Math" panose="02040503050406030204" pitchFamily="18" charset="0"/>
                                      </a:rPr>
                                    </m:ctrlPr>
                                  </m:sSubPr>
                                  <m:e>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r>
                                  <a:rPr lang="en-US" sz="2400" b="1" kern="1200" smtClean="0">
                                    <a:solidFill>
                                      <a:srgbClr val="000000"/>
                                    </a:solidFill>
                                    <a:effectLst/>
                                    <a:latin typeface="Cambria Math" panose="02040503050406030204" pitchFamily="18" charset="0"/>
                                  </a:rPr>
                                  <m:t>𝒙</m:t>
                                </m:r>
                                <m:r>
                                  <a:rPr lang="en-US" sz="2400" b="1" kern="1200" smtClean="0">
                                    <a:solidFill>
                                      <a:srgbClr val="000000"/>
                                    </a:solidFill>
                                    <a:effectLst/>
                                    <a:latin typeface="Cambria Math" panose="02040503050406030204" pitchFamily="18" charset="0"/>
                                  </a:rPr>
                                  <m:t>, </m:t>
                                </m:r>
                                <m:r>
                                  <a:rPr lang="en-US" sz="2400" b="1" kern="1200">
                                    <a:solidFill>
                                      <a:schemeClr val="dk1"/>
                                    </a:solidFill>
                                    <a:effectLst/>
                                    <a:latin typeface="Cambria Math" panose="02040503050406030204" pitchFamily="18" charset="0"/>
                                  </a:rPr>
                                  <m:t>𝒕</m:t>
                                </m:r>
                                <m:r>
                                  <a:rPr lang="en-US" sz="2400" b="1" kern="1200">
                                    <a:solidFill>
                                      <a:schemeClr val="dk1"/>
                                    </a:solidFill>
                                    <a:effectLst/>
                                    <a:latin typeface="Cambria Math" panose="02040503050406030204" pitchFamily="18" charset="0"/>
                                  </a:rPr>
                                  <m:t>,</m:t>
                                </m:r>
                                <m:sSub>
                                  <m:sSubPr>
                                    <m:ctrlPr>
                                      <a:rPr lang="en-US" sz="2400" b="1" i="1" kern="1200" smtClean="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m:rPr>
                                    <m:nor/>
                                  </m:rPr>
                                  <a:rPr lang="en-US" sz="2400" b="1" kern="1200" smtClean="0">
                                    <a:solidFill>
                                      <a:schemeClr val="dk1"/>
                                    </a:solidFill>
                                    <a:effectLst/>
                                  </a:rPr>
                                  <m:t>, </m:t>
                                </m:r>
                                <m:r>
                                  <m:rPr>
                                    <m:nor/>
                                  </m:rPr>
                                  <a:rPr lang="en-US" sz="2400" b="1" kern="1200">
                                    <a:solidFill>
                                      <a:schemeClr val="dk1"/>
                                    </a:solidFill>
                                    <a:effectLst/>
                                  </a:rPr>
                                  <m:t>a</m:t>
                                </m:r>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898794"/>
                      </a:ext>
                    </a:extLst>
                  </a:tr>
                  <a:tr h="906349">
                    <a:tc>
                      <a:txBody>
                        <a:bodyPr/>
                        <a:lstStyle/>
                        <a:p>
                          <a:r>
                            <a:rPr lang="en-US" sz="2400" b="1" dirty="0"/>
                            <a:t>4</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2400" b="1" i="1" kern="1200" smtClean="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𝒗</m:t>
                                    </m:r>
                                  </m:e>
                                  <m:sup>
                                    <m:r>
                                      <a:rPr lang="en-US" sz="2400" b="1" kern="1200">
                                        <a:solidFill>
                                          <a:schemeClr val="dk1"/>
                                        </a:solidFill>
                                        <a:effectLst/>
                                        <a:latin typeface="Cambria Math" panose="02040503050406030204" pitchFamily="18" charset="0"/>
                                      </a:rPr>
                                      <m:t>𝟐</m:t>
                                    </m:r>
                                  </m:sup>
                                </m:sSup>
                                <m:r>
                                  <a:rPr lang="en-US" sz="2400" b="1" kern="1200">
                                    <a:solidFill>
                                      <a:schemeClr val="dk1"/>
                                    </a:solidFill>
                                    <a:effectLst/>
                                    <a:latin typeface="Cambria Math" panose="02040503050406030204" pitchFamily="18" charset="0"/>
                                  </a:rPr>
                                  <m:t>=</m:t>
                                </m:r>
                                <m:sSup>
                                  <m:sSupPr>
                                    <m:ctrlPr>
                                      <a:rPr lang="en-US" sz="2400" b="1" i="1" kern="1200">
                                        <a:solidFill>
                                          <a:schemeClr val="dk1"/>
                                        </a:solidFill>
                                        <a:effectLst/>
                                        <a:latin typeface="Cambria Math" panose="02040503050406030204" pitchFamily="18" charset="0"/>
                                      </a:rPr>
                                    </m:ctrlPr>
                                  </m:sSupPr>
                                  <m:e>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e>
                                  <m:sup>
                                    <m:r>
                                      <a:rPr lang="en-US" sz="2400" b="1" kern="1200">
                                        <a:solidFill>
                                          <a:schemeClr val="dk1"/>
                                        </a:solidFill>
                                        <a:effectLst/>
                                        <a:latin typeface="Cambria Math" panose="02040503050406030204" pitchFamily="18" charset="0"/>
                                      </a:rPr>
                                      <m:t>𝟐</m:t>
                                    </m:r>
                                  </m:sup>
                                </m:sSup>
                                <m:r>
                                  <a:rPr lang="en-US" sz="2400" b="1" kern="1200">
                                    <a:solidFill>
                                      <a:schemeClr val="dk1"/>
                                    </a:solidFill>
                                    <a:effectLst/>
                                    <a:latin typeface="Cambria Math" panose="02040503050406030204" pitchFamily="18" charset="0"/>
                                  </a:rPr>
                                  <m:t>+</m:t>
                                </m:r>
                                <m:r>
                                  <m:rPr>
                                    <m:nor/>
                                  </m:rPr>
                                  <a:rPr lang="en-US" sz="2400" b="1" kern="1200">
                                    <a:solidFill>
                                      <a:schemeClr val="dk1"/>
                                    </a:solidFill>
                                    <a:effectLst/>
                                  </a:rPr>
                                  <m:t>2</m:t>
                                </m:r>
                                <m:r>
                                  <m:rPr>
                                    <m:nor/>
                                  </m:rPr>
                                  <a:rPr lang="en-US" sz="2400" b="1" kern="1200">
                                    <a:solidFill>
                                      <a:schemeClr val="dk1"/>
                                    </a:solidFill>
                                    <a:effectLst/>
                                  </a:rPr>
                                  <m:t>a</m:t>
                                </m:r>
                                <m:r>
                                  <m:rPr>
                                    <m:nor/>
                                  </m:rPr>
                                  <a:rPr lang="en-US" sz="2400" b="1" kern="1200">
                                    <a:solidFill>
                                      <a:schemeClr val="dk1"/>
                                    </a:solidFill>
                                    <a:effectLst/>
                                  </a:rPr>
                                  <m:t>(</m:t>
                                </m:r>
                                <m:r>
                                  <a:rPr lang="en-US" sz="2400" b="1" kern="1200" smtClean="0">
                                    <a:solidFill>
                                      <a:srgbClr val="000000"/>
                                    </a:solidFill>
                                    <a:effectLst/>
                                    <a:latin typeface="Cambria Math" panose="02040503050406030204" pitchFamily="18" charset="0"/>
                                  </a:rPr>
                                  <m:t>𝒙</m:t>
                                </m:r>
                                <m:r>
                                  <m:rPr>
                                    <m:nor/>
                                  </m:rPr>
                                  <a:rPr lang="en-US" sz="2400" b="1" kern="1200" smtClean="0">
                                    <a:solidFill>
                                      <a:srgbClr val="000000"/>
                                    </a:solidFill>
                                    <a:effectLst/>
                                  </a:rPr>
                                  <m:t> </m:t>
                                </m:r>
                                <m:r>
                                  <m:rPr>
                                    <m:nor/>
                                  </m:rPr>
                                  <a:rPr lang="en-US" sz="2400" b="1" kern="1200">
                                    <a:solidFill>
                                      <a:schemeClr val="dk1"/>
                                    </a:solidFill>
                                    <a:effectLst/>
                                  </a:rPr>
                                  <m:t>−</m:t>
                                </m:r>
                                <m:sSub>
                                  <m:sSubPr>
                                    <m:ctrlPr>
                                      <a:rPr lang="en-US" sz="2400" b="1" i="1" kern="1200" smtClean="0">
                                        <a:solidFill>
                                          <a:srgbClr val="000000"/>
                                        </a:solidFill>
                                        <a:effectLst/>
                                        <a:latin typeface="Cambria Math" panose="02040503050406030204" pitchFamily="18" charset="0"/>
                                      </a:rPr>
                                    </m:ctrlPr>
                                  </m:sSubPr>
                                  <m:e>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r>
                                  <m:rPr>
                                    <m:nor/>
                                  </m:rPr>
                                  <a:rPr lang="en-US" sz="2400" b="1" kern="1200">
                                    <a:solidFill>
                                      <a:schemeClr val="dk1"/>
                                    </a:solidFill>
                                    <a:effectLst/>
                                  </a:rPr>
                                  <m:t>)</m:t>
                                </m:r>
                              </m:oMath>
                            </m:oMathPara>
                          </a14:m>
                          <a:endParaRPr lang="en-US" sz="2400" b="1" kern="1200" dirty="0">
                            <a:solidFill>
                              <a:schemeClr val="dk1"/>
                            </a:solidFill>
                            <a:effectLst/>
                          </a:endParaRPr>
                        </a:p>
                        <a:p>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2400" b="1" i="1" kern="1200" smtClean="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𝒗</m:t>
                                    </m:r>
                                    <m:r>
                                      <a:rPr lang="en-US" sz="2400" b="1" kern="1200">
                                        <a:solidFill>
                                          <a:schemeClr val="dk1"/>
                                        </a:solidFill>
                                        <a:effectLst/>
                                        <a:latin typeface="Cambria Math" panose="02040503050406030204" pitchFamily="18" charset="0"/>
                                      </a:rPr>
                                      <m:t>,</m:t>
                                    </m:r>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e>
                                  <m:sup>
                                    <m:r>
                                      <a:rPr lang="en-US" sz="2400" b="1" kern="1200">
                                        <a:solidFill>
                                          <a:schemeClr val="dk1"/>
                                        </a:solidFill>
                                        <a:effectLst/>
                                        <a:latin typeface="Cambria Math" panose="02040503050406030204" pitchFamily="18" charset="0"/>
                                      </a:rPr>
                                      <m:t> </m:t>
                                    </m:r>
                                  </m:sup>
                                </m:sSup>
                                <m:r>
                                  <m:rPr>
                                    <m:nor/>
                                  </m:rPr>
                                  <a:rPr lang="en-US" sz="2400" b="1" kern="1200">
                                    <a:solidFill>
                                      <a:schemeClr val="dk1"/>
                                    </a:solidFill>
                                    <a:effectLst/>
                                  </a:rPr>
                                  <m:t>a</m:t>
                                </m:r>
                                <m:r>
                                  <m:rPr>
                                    <m:nor/>
                                  </m:rPr>
                                  <a:rPr lang="en-US" sz="2400" b="1" kern="1200">
                                    <a:solidFill>
                                      <a:schemeClr val="dk1"/>
                                    </a:solidFill>
                                    <a:effectLst/>
                                  </a:rPr>
                                  <m:t>,</m:t>
                                </m:r>
                                <m:r>
                                  <a:rPr lang="en-US" sz="2400" b="1" kern="1200" smtClean="0">
                                    <a:solidFill>
                                      <a:schemeClr val="dk1"/>
                                    </a:solidFill>
                                    <a:effectLst/>
                                    <a:latin typeface="Cambria Math" panose="02040503050406030204" pitchFamily="18" charset="0"/>
                                  </a:rPr>
                                  <m:t>   </m:t>
                                </m:r>
                                <m:r>
                                  <a:rPr lang="en-US" sz="2400" b="1" kern="1200" smtClean="0">
                                    <a:solidFill>
                                      <a:srgbClr val="000000"/>
                                    </a:solidFill>
                                    <a:effectLst/>
                                    <a:latin typeface="Cambria Math" panose="02040503050406030204" pitchFamily="18" charset="0"/>
                                  </a:rPr>
                                  <m:t>𝒙</m:t>
                                </m:r>
                                <m:r>
                                  <m:rPr>
                                    <m:nor/>
                                  </m:rPr>
                                  <a:rPr lang="en-US" sz="2400" b="1" kern="1200">
                                    <a:solidFill>
                                      <a:schemeClr val="dk1"/>
                                    </a:solidFill>
                                    <a:effectLst/>
                                  </a:rPr>
                                  <m:t>,</m:t>
                                </m:r>
                                <m:sSub>
                                  <m:sSubPr>
                                    <m:ctrlPr>
                                      <a:rPr lang="en-US" sz="2400" b="1" i="1" kern="1200" smtClean="0">
                                        <a:solidFill>
                                          <a:srgbClr val="000000"/>
                                        </a:solidFill>
                                        <a:effectLst/>
                                        <a:latin typeface="Cambria Math" panose="02040503050406030204" pitchFamily="18" charset="0"/>
                                      </a:rPr>
                                    </m:ctrlPr>
                                  </m:sSubPr>
                                  <m:e>
                                    <m:r>
                                      <a:rPr lang="en-US" sz="2400" b="1" kern="1200" smtClean="0">
                                        <a:solidFill>
                                          <a:srgbClr val="000000"/>
                                        </a:solidFill>
                                        <a:effectLst/>
                                        <a:latin typeface="Cambria Math" panose="02040503050406030204" pitchFamily="18" charset="0"/>
                                      </a:rPr>
                                      <m:t> </m:t>
                                    </m:r>
                                    <m:r>
                                      <a:rPr lang="en-US" sz="2400" b="1" kern="1200">
                                        <a:solidFill>
                                          <a:srgbClr val="000000"/>
                                        </a:solidFill>
                                        <a:effectLst/>
                                        <a:latin typeface="Cambria Math" panose="02040503050406030204" pitchFamily="18" charset="0"/>
                                      </a:rPr>
                                      <m:t>𝒙</m:t>
                                    </m:r>
                                  </m:e>
                                  <m:sub>
                                    <m:r>
                                      <a:rPr lang="en-US" sz="2400" b="1" kern="1200">
                                        <a:solidFill>
                                          <a:srgbClr val="000000"/>
                                        </a:solidFill>
                                        <a:effectLst/>
                                        <a:latin typeface="Cambria Math" panose="02040503050406030204" pitchFamily="18" charset="0"/>
                                      </a:rPr>
                                      <m:t>𝟎</m:t>
                                    </m:r>
                                  </m:sub>
                                </m:sSub>
                              </m:oMath>
                            </m:oMathPara>
                          </a14:m>
                          <a:endParaRPr lang="en-US" sz="2400" b="1" kern="1200" dirty="0">
                            <a:solidFill>
                              <a:schemeClr val="dk1"/>
                            </a:solidFill>
                            <a:effectLst/>
                          </a:endParaRPr>
                        </a:p>
                        <a:p>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608513"/>
                      </a:ext>
                    </a:extLst>
                  </a:tr>
                </a:tbl>
              </a:graphicData>
            </a:graphic>
          </p:graphicFrame>
        </mc:Choice>
        <mc:Fallback xmlns="">
          <p:graphicFrame>
            <p:nvGraphicFramePr>
              <p:cNvPr id="5" name="Table 5">
                <a:extLst>
                  <a:ext uri="{FF2B5EF4-FFF2-40B4-BE49-F238E27FC236}">
                    <a16:creationId xmlns:a16="http://schemas.microsoft.com/office/drawing/2014/main" id="{5876F712-525F-A79C-B8CB-E0FA046C7BBE}"/>
                  </a:ext>
                </a:extLst>
              </p:cNvPr>
              <p:cNvGraphicFramePr>
                <a:graphicFrameLocks noGrp="1"/>
              </p:cNvGraphicFramePr>
              <p:nvPr>
                <p:extLst>
                  <p:ext uri="{D42A27DB-BD31-4B8C-83A1-F6EECF244321}">
                    <p14:modId xmlns:p14="http://schemas.microsoft.com/office/powerpoint/2010/main" val="3414283743"/>
                  </p:ext>
                </p:extLst>
              </p:nvPr>
            </p:nvGraphicFramePr>
            <p:xfrm>
              <a:off x="1068946" y="1009703"/>
              <a:ext cx="6832611" cy="3101506"/>
            </p:xfrm>
            <a:graphic>
              <a:graphicData uri="http://schemas.openxmlformats.org/drawingml/2006/table">
                <a:tbl>
                  <a:tblPr firstRow="1" bandRow="1">
                    <a:tableStyleId>{46F890A9-2807-4EBB-B81D-B2AA78EC7F39}</a:tableStyleId>
                  </a:tblPr>
                  <a:tblGrid>
                    <a:gridCol w="716944">
                      <a:extLst>
                        <a:ext uri="{9D8B030D-6E8A-4147-A177-3AD203B41FA5}">
                          <a16:colId xmlns:a16="http://schemas.microsoft.com/office/drawing/2014/main" val="344239218"/>
                        </a:ext>
                      </a:extLst>
                    </a:gridCol>
                    <a:gridCol w="3838130">
                      <a:extLst>
                        <a:ext uri="{9D8B030D-6E8A-4147-A177-3AD203B41FA5}">
                          <a16:colId xmlns:a16="http://schemas.microsoft.com/office/drawing/2014/main" val="4241412567"/>
                        </a:ext>
                      </a:extLst>
                    </a:gridCol>
                    <a:gridCol w="2277537">
                      <a:extLst>
                        <a:ext uri="{9D8B030D-6E8A-4147-A177-3AD203B41FA5}">
                          <a16:colId xmlns:a16="http://schemas.microsoft.com/office/drawing/2014/main" val="1800025546"/>
                        </a:ext>
                      </a:extLst>
                    </a:gridCol>
                  </a:tblGrid>
                  <a:tr h="404361">
                    <a:tc>
                      <a:txBody>
                        <a:bodyPr/>
                        <a:lstStyle/>
                        <a:p>
                          <a:r>
                            <a:rPr lang="en-US"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QUANTITIES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8584805"/>
                      </a:ext>
                    </a:extLst>
                  </a:tr>
                  <a:tr h="498527">
                    <a:tc>
                      <a:txBody>
                        <a:bodyPr/>
                        <a:lstStyle/>
                        <a:p>
                          <a:pPr marL="0" marR="0">
                            <a:spcBef>
                              <a:spcPts val="0"/>
                            </a:spcBef>
                            <a:spcAft>
                              <a:spcPts val="0"/>
                            </a:spcAft>
                          </a:pPr>
                          <a:r>
                            <a:rPr lang="en-US" sz="2400" b="1" dirty="0">
                              <a:solidFill>
                                <a:srgbClr val="000000"/>
                              </a:solidFill>
                              <a:effectLst/>
                            </a:rPr>
                            <a:t>1</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89" t="-86585" r="-59683" b="-44390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7" t="-86585" r="-535" b="-443902"/>
                          </a:stretch>
                        </a:blipFill>
                      </a:tcPr>
                    </a:tc>
                    <a:extLst>
                      <a:ext uri="{0D108BD9-81ED-4DB2-BD59-A6C34878D82A}">
                        <a16:rowId xmlns:a16="http://schemas.microsoft.com/office/drawing/2014/main" val="371976888"/>
                      </a:ext>
                    </a:extLst>
                  </a:tr>
                  <a:tr h="516045">
                    <a:tc>
                      <a:txBody>
                        <a:bodyPr/>
                        <a:lstStyle/>
                        <a:p>
                          <a:pPr marL="0" marR="0">
                            <a:spcBef>
                              <a:spcPts val="0"/>
                            </a:spcBef>
                            <a:spcAft>
                              <a:spcPts val="0"/>
                            </a:spcAft>
                          </a:pPr>
                          <a:r>
                            <a:rPr lang="en-US" sz="2400" b="1" dirty="0">
                              <a:solidFill>
                                <a:srgbClr val="000000"/>
                              </a:solidFill>
                              <a:effectLst/>
                            </a:rPr>
                            <a:t>2</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89" t="-180000" r="-59683" b="-3282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7" t="-180000" r="-535" b="-328235"/>
                          </a:stretch>
                        </a:blipFill>
                      </a:tcPr>
                    </a:tc>
                    <a:extLst>
                      <a:ext uri="{0D108BD9-81ED-4DB2-BD59-A6C34878D82A}">
                        <a16:rowId xmlns:a16="http://schemas.microsoft.com/office/drawing/2014/main" val="710372999"/>
                      </a:ext>
                    </a:extLst>
                  </a:tr>
                  <a:tr h="776224">
                    <a:tc>
                      <a:txBody>
                        <a:bodyPr/>
                        <a:lstStyle/>
                        <a:p>
                          <a:r>
                            <a:rPr lang="en-US" sz="2400" b="1" dirty="0"/>
                            <a:t>3</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89" t="-185938" r="-59683" b="-11796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7" t="-185938" r="-535" b="-117969"/>
                          </a:stretch>
                        </a:blipFill>
                      </a:tcPr>
                    </a:tc>
                    <a:extLst>
                      <a:ext uri="{0D108BD9-81ED-4DB2-BD59-A6C34878D82A}">
                        <a16:rowId xmlns:a16="http://schemas.microsoft.com/office/drawing/2014/main" val="629898794"/>
                      </a:ext>
                    </a:extLst>
                  </a:tr>
                  <a:tr h="906349">
                    <a:tc>
                      <a:txBody>
                        <a:bodyPr/>
                        <a:lstStyle/>
                        <a:p>
                          <a:r>
                            <a:rPr lang="en-US" sz="2400" b="1" dirty="0"/>
                            <a:t>4</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8889" t="-245638" r="-59683" b="-134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267" t="-245638" r="-535" b="-1342"/>
                          </a:stretch>
                        </a:blipFill>
                      </a:tcPr>
                    </a:tc>
                    <a:extLst>
                      <a:ext uri="{0D108BD9-81ED-4DB2-BD59-A6C34878D82A}">
                        <a16:rowId xmlns:a16="http://schemas.microsoft.com/office/drawing/2014/main" val="2506608513"/>
                      </a:ext>
                    </a:extLst>
                  </a:tr>
                </a:tbl>
              </a:graphicData>
            </a:graphic>
          </p:graphicFrame>
        </mc:Fallback>
      </mc:AlternateContent>
      <p:pic>
        <p:nvPicPr>
          <p:cNvPr id="3" name="Picture 2" descr="Raji K Physics Logo">
            <a:extLst>
              <a:ext uri="{FF2B5EF4-FFF2-40B4-BE49-F238E27FC236}">
                <a16:creationId xmlns:a16="http://schemas.microsoft.com/office/drawing/2014/main" id="{AF01F481-5DAE-9C67-6B97-01C31D0546E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196392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900" y="31750"/>
            <a:ext cx="7620000" cy="647700"/>
          </a:xfrm>
        </p:spPr>
        <p:txBody>
          <a:bodyPr>
            <a:normAutofit/>
          </a:bodyPr>
          <a:lstStyle/>
          <a:p>
            <a:r>
              <a:rPr lang="en-US" altLang="en-US" sz="2800" b="1" dirty="0">
                <a:solidFill>
                  <a:schemeClr val="tx1"/>
                </a:solidFill>
              </a:rPr>
              <a:t>Problem Solving STRATEGIES</a:t>
            </a:r>
            <a:endParaRPr lang="en-US" sz="2800" dirty="0">
              <a:solidFill>
                <a:schemeClr val="tx1"/>
              </a:solidFill>
            </a:endParaRPr>
          </a:p>
        </p:txBody>
      </p:sp>
      <p:sp>
        <p:nvSpPr>
          <p:cNvPr id="80900" name="Text Box 4"/>
          <p:cNvSpPr txBox="1">
            <a:spLocks noChangeArrowheads="1"/>
          </p:cNvSpPr>
          <p:nvPr/>
        </p:nvSpPr>
        <p:spPr bwMode="auto">
          <a:xfrm>
            <a:off x="457200" y="914400"/>
            <a:ext cx="8458200" cy="584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50000"/>
              </a:spcBef>
              <a:buFontTx/>
              <a:buAutoNum type="arabicPeriod"/>
            </a:pPr>
            <a:r>
              <a:rPr lang="en-US" altLang="en-US" sz="2800" b="1" dirty="0"/>
              <a:t> </a:t>
            </a:r>
            <a:r>
              <a:rPr lang="en-US" altLang="en-US" sz="2400" b="1" dirty="0"/>
              <a:t>Read the whole problem and make sure you understand it. Then read it again.</a:t>
            </a:r>
          </a:p>
          <a:p>
            <a:pPr eaLnBrk="1" hangingPunct="1">
              <a:lnSpc>
                <a:spcPct val="150000"/>
              </a:lnSpc>
              <a:spcBef>
                <a:spcPct val="50000"/>
              </a:spcBef>
              <a:buFontTx/>
              <a:buAutoNum type="arabicPeriod"/>
            </a:pPr>
            <a:r>
              <a:rPr lang="en-US" altLang="en-US" sz="2400" b="1" dirty="0"/>
              <a:t> Decide on the objects under study and what the time interval is.</a:t>
            </a:r>
          </a:p>
          <a:p>
            <a:pPr eaLnBrk="1" hangingPunct="1">
              <a:lnSpc>
                <a:spcPct val="150000"/>
              </a:lnSpc>
              <a:spcBef>
                <a:spcPct val="50000"/>
              </a:spcBef>
              <a:buFontTx/>
              <a:buAutoNum type="arabicPeriod"/>
            </a:pPr>
            <a:r>
              <a:rPr lang="en-US" altLang="en-US" sz="2400" b="1" dirty="0"/>
              <a:t> Draw a diagram and choose coordinate axes.</a:t>
            </a:r>
          </a:p>
          <a:p>
            <a:pPr eaLnBrk="1" hangingPunct="1">
              <a:lnSpc>
                <a:spcPct val="150000"/>
              </a:lnSpc>
              <a:spcBef>
                <a:spcPct val="50000"/>
              </a:spcBef>
              <a:buFontTx/>
              <a:buAutoNum type="arabicPeriod"/>
            </a:pPr>
            <a:r>
              <a:rPr lang="en-US" altLang="en-US" sz="2400" b="1" dirty="0"/>
              <a:t> Write down the known (given) quantities, and then the unknown ones that you need to find.</a:t>
            </a:r>
          </a:p>
          <a:p>
            <a:pPr eaLnBrk="1" hangingPunct="1">
              <a:lnSpc>
                <a:spcPct val="150000"/>
              </a:lnSpc>
              <a:spcBef>
                <a:spcPct val="50000"/>
              </a:spcBef>
              <a:buFontTx/>
              <a:buAutoNum type="arabicPeriod"/>
            </a:pPr>
            <a:r>
              <a:rPr lang="en-US" altLang="en-US" sz="2400" b="1" dirty="0"/>
              <a:t> What physics applies here? Plan an approach to a solution.</a:t>
            </a:r>
          </a:p>
        </p:txBody>
      </p:sp>
      <p:pic>
        <p:nvPicPr>
          <p:cNvPr id="3" name="Picture 2" descr="Raji K Physics Logo">
            <a:extLst>
              <a:ext uri="{FF2B5EF4-FFF2-40B4-BE49-F238E27FC236}">
                <a16:creationId xmlns:a16="http://schemas.microsoft.com/office/drawing/2014/main" id="{BE2C0171-F9D8-B9C6-AF03-D99337889F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738929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221933"/>
            <a:ext cx="5791200" cy="600392"/>
          </a:xfrm>
        </p:spPr>
        <p:txBody>
          <a:bodyPr>
            <a:normAutofit/>
          </a:bodyPr>
          <a:lstStyle/>
          <a:p>
            <a:r>
              <a:rPr lang="en-US" altLang="en-US" sz="2800" b="1" dirty="0">
                <a:solidFill>
                  <a:schemeClr val="tx1"/>
                </a:solidFill>
              </a:rPr>
              <a:t>Solving Problems</a:t>
            </a:r>
            <a:endParaRPr lang="en-US" sz="2800" dirty="0">
              <a:solidFill>
                <a:schemeClr val="tx1"/>
              </a:solidFill>
            </a:endParaRPr>
          </a:p>
        </p:txBody>
      </p:sp>
      <p:sp>
        <p:nvSpPr>
          <p:cNvPr id="82948" name="Text Box 3"/>
          <p:cNvSpPr txBox="1">
            <a:spLocks noChangeArrowheads="1"/>
          </p:cNvSpPr>
          <p:nvPr/>
        </p:nvSpPr>
        <p:spPr bwMode="auto">
          <a:xfrm>
            <a:off x="228600" y="838200"/>
            <a:ext cx="8686800" cy="556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50000"/>
              </a:spcBef>
              <a:buFontTx/>
              <a:buNone/>
            </a:pPr>
            <a:r>
              <a:rPr lang="en-US" altLang="en-US" sz="2400" b="1" dirty="0"/>
              <a:t>6. Which equations relate the known and unknown quantities? Are they valid in this situation? Solve algebraically for the unknown quantities, and check that your result is sensible (correct dimensions).</a:t>
            </a:r>
          </a:p>
          <a:p>
            <a:pPr eaLnBrk="1" hangingPunct="1">
              <a:lnSpc>
                <a:spcPct val="150000"/>
              </a:lnSpc>
              <a:spcBef>
                <a:spcPct val="50000"/>
              </a:spcBef>
              <a:buFontTx/>
              <a:buNone/>
            </a:pPr>
            <a:r>
              <a:rPr lang="en-US" altLang="en-US" sz="2400" b="1" dirty="0"/>
              <a:t>7. Calculate the solution and round it to the appropriate number of significant figures.</a:t>
            </a:r>
          </a:p>
          <a:p>
            <a:pPr eaLnBrk="1" hangingPunct="1">
              <a:lnSpc>
                <a:spcPct val="150000"/>
              </a:lnSpc>
              <a:spcBef>
                <a:spcPct val="50000"/>
              </a:spcBef>
              <a:buFontTx/>
              <a:buNone/>
            </a:pPr>
            <a:r>
              <a:rPr lang="en-US" altLang="en-US" sz="2400" b="1" dirty="0"/>
              <a:t>8. Look at the result</a:t>
            </a:r>
            <a:r>
              <a:rPr lang="en-US" altLang="en-US" sz="2400" b="1" dirty="0">
                <a:cs typeface="Arial" panose="020B0604020202020204" pitchFamily="34" charset="0"/>
              </a:rPr>
              <a:t>—</a:t>
            </a:r>
            <a:r>
              <a:rPr lang="en-US" altLang="en-US" sz="2400" b="1" dirty="0"/>
              <a:t>is it reasonable? Does it agree with a rough estimate?</a:t>
            </a:r>
          </a:p>
          <a:p>
            <a:pPr eaLnBrk="1" hangingPunct="1">
              <a:lnSpc>
                <a:spcPct val="150000"/>
              </a:lnSpc>
              <a:spcBef>
                <a:spcPct val="50000"/>
              </a:spcBef>
              <a:buFontTx/>
              <a:buNone/>
            </a:pPr>
            <a:r>
              <a:rPr lang="en-US" altLang="en-US" sz="2400" b="1" dirty="0"/>
              <a:t>9. Check the units again.</a:t>
            </a:r>
          </a:p>
        </p:txBody>
      </p:sp>
      <p:pic>
        <p:nvPicPr>
          <p:cNvPr id="3" name="Picture 2" descr="Raji K Physics Logo">
            <a:extLst>
              <a:ext uri="{FF2B5EF4-FFF2-40B4-BE49-F238E27FC236}">
                <a16:creationId xmlns:a16="http://schemas.microsoft.com/office/drawing/2014/main" id="{E793D11D-14BC-43C7-DB16-342881C6059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40307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E3F0-F8D0-4808-83B7-107A869F7B83}"/>
              </a:ext>
            </a:extLst>
          </p:cNvPr>
          <p:cNvSpPr>
            <a:spLocks noGrp="1"/>
          </p:cNvSpPr>
          <p:nvPr>
            <p:ph type="title"/>
          </p:nvPr>
        </p:nvSpPr>
        <p:spPr>
          <a:xfrm>
            <a:off x="32197" y="148107"/>
            <a:ext cx="9079606" cy="855785"/>
          </a:xfrm>
        </p:spPr>
        <p:txBody>
          <a:bodyPr>
            <a:noAutofit/>
          </a:bodyPr>
          <a:lstStyle/>
          <a:p>
            <a:pPr algn="ctr"/>
            <a:r>
              <a:rPr lang="en-US" sz="2800" dirty="0">
                <a:solidFill>
                  <a:schemeClr val="tx1"/>
                </a:solidFill>
              </a:rPr>
              <a:t>Uniform Acceleration Example Problems</a:t>
            </a:r>
          </a:p>
        </p:txBody>
      </p:sp>
      <p:sp>
        <p:nvSpPr>
          <p:cNvPr id="4" name="Text Placeholder 3">
            <a:extLst>
              <a:ext uri="{FF2B5EF4-FFF2-40B4-BE49-F238E27FC236}">
                <a16:creationId xmlns:a16="http://schemas.microsoft.com/office/drawing/2014/main" id="{2EF4FBD3-3E0B-4D96-AB64-4E517E17B374}"/>
              </a:ext>
            </a:extLst>
          </p:cNvPr>
          <p:cNvSpPr>
            <a:spLocks noGrp="1"/>
          </p:cNvSpPr>
          <p:nvPr>
            <p:ph type="body" sz="quarter" idx="14"/>
          </p:nvPr>
        </p:nvSpPr>
        <p:spPr>
          <a:xfrm>
            <a:off x="457200" y="1476157"/>
            <a:ext cx="8062912" cy="2149246"/>
          </a:xfrm>
        </p:spPr>
        <p:txBody>
          <a:bodyPr>
            <a:normAutofit/>
          </a:bodyPr>
          <a:lstStyle/>
          <a:p>
            <a:pPr>
              <a:lnSpc>
                <a:spcPct val="150000"/>
              </a:lnSpc>
            </a:pPr>
            <a:r>
              <a:rPr lang="en-US" sz="2400" b="1" dirty="0"/>
              <a:t> </a:t>
            </a:r>
            <a:r>
              <a:rPr lang="en-US" sz="2400" b="1" dirty="0">
                <a:hlinkClick r:id="rId2"/>
              </a:rPr>
              <a:t>Uniform Acceleration Example # 1</a:t>
            </a:r>
            <a:endParaRPr lang="en-US" sz="2400" b="1" dirty="0"/>
          </a:p>
          <a:p>
            <a:pPr>
              <a:lnSpc>
                <a:spcPct val="150000"/>
              </a:lnSpc>
            </a:pPr>
            <a:r>
              <a:rPr lang="en-US" sz="2400" b="1" dirty="0"/>
              <a:t> </a:t>
            </a:r>
            <a:r>
              <a:rPr lang="en-US" sz="2400" b="1" dirty="0">
                <a:hlinkClick r:id="rId3"/>
              </a:rPr>
              <a:t>Uniform Acceleration Example # 2</a:t>
            </a:r>
            <a:endParaRPr lang="en-US" sz="2400" b="1" dirty="0"/>
          </a:p>
          <a:p>
            <a:pPr>
              <a:lnSpc>
                <a:spcPct val="150000"/>
              </a:lnSpc>
            </a:pPr>
            <a:r>
              <a:rPr lang="en-US" sz="2400" b="1" dirty="0">
                <a:hlinkClick r:id="rId4"/>
              </a:rPr>
              <a:t>Uniform Acceleration Example # 3</a:t>
            </a:r>
            <a:endParaRPr lang="en-US" sz="2400" b="1" dirty="0"/>
          </a:p>
          <a:p>
            <a:endParaRPr lang="en-US" dirty="0"/>
          </a:p>
          <a:p>
            <a:endParaRPr lang="en-US" dirty="0"/>
          </a:p>
        </p:txBody>
      </p:sp>
      <p:pic>
        <p:nvPicPr>
          <p:cNvPr id="3" name="Picture 2" descr="Raji K Physics Logo">
            <a:extLst>
              <a:ext uri="{FF2B5EF4-FFF2-40B4-BE49-F238E27FC236}">
                <a16:creationId xmlns:a16="http://schemas.microsoft.com/office/drawing/2014/main" id="{932A8611-8D17-578E-81B1-C6B65BB0130D}"/>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507023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3" y="0"/>
            <a:ext cx="9131997" cy="569299"/>
          </a:xfrm>
        </p:spPr>
        <p:txBody>
          <a:bodyPr>
            <a:noAutofit/>
          </a:bodyPr>
          <a:lstStyle/>
          <a:p>
            <a:r>
              <a:rPr lang="en-US" sz="2800" b="1" dirty="0">
                <a:solidFill>
                  <a:schemeClr val="tx1"/>
                </a:solidFill>
              </a:rPr>
              <a:t>PROBLEMS USING KINEMATICS EQUATIONS</a:t>
            </a:r>
          </a:p>
        </p:txBody>
      </p:sp>
      <p:sp>
        <p:nvSpPr>
          <p:cNvPr id="87043" name="Rectangle 2"/>
          <p:cNvSpPr>
            <a:spLocks noChangeArrowheads="1"/>
          </p:cNvSpPr>
          <p:nvPr/>
        </p:nvSpPr>
        <p:spPr bwMode="auto">
          <a:xfrm>
            <a:off x="98022" y="650848"/>
            <a:ext cx="8768271"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None/>
            </a:pPr>
            <a:r>
              <a:rPr lang="en-US" altLang="en-US" sz="2000" b="1" dirty="0"/>
              <a:t>1)An airplane lands with an initial velocity of 70.0 m/s and then decelerates at 1.50 m/s2 for 40.0 s. What is its final velocity?</a:t>
            </a:r>
          </a:p>
          <a:p>
            <a:pPr>
              <a:lnSpc>
                <a:spcPct val="150000"/>
              </a:lnSpc>
              <a:spcBef>
                <a:spcPct val="0"/>
              </a:spcBef>
              <a:buNone/>
            </a:pPr>
            <a:r>
              <a:rPr lang="en-US" altLang="en-US" sz="2000" b="1" dirty="0"/>
              <a:t>2)  Calculating Displacement of an Accelerating Object :Dragsters can achieve average accelerations of 26.0 m/s2 . Suppose such a dragster accelerates from rest at this rate for 5.56 s. How far does it travel in this time? </a:t>
            </a:r>
          </a:p>
          <a:p>
            <a:pPr>
              <a:lnSpc>
                <a:spcPct val="150000"/>
              </a:lnSpc>
              <a:spcBef>
                <a:spcPct val="0"/>
              </a:spcBef>
              <a:buNone/>
            </a:pPr>
            <a:r>
              <a:rPr lang="en-US" altLang="en-US" sz="2000" b="1" dirty="0"/>
              <a:t>3) Calculating Final Velocity:  Calculate the final velocity of the dragster in Example 2 a. without using information about time. </a:t>
            </a:r>
          </a:p>
          <a:p>
            <a:pPr>
              <a:lnSpc>
                <a:spcPct val="150000"/>
              </a:lnSpc>
              <a:spcBef>
                <a:spcPct val="0"/>
              </a:spcBef>
              <a:buNone/>
            </a:pPr>
            <a:r>
              <a:rPr lang="en-US" altLang="en-US" sz="2000" b="1" dirty="0"/>
              <a:t>4) Suppose a car merges into freeway traffic on a 200-m-long ramp. If its initial velocity is 10.0 m/s and it accelerates at 2.00 m/s2 , how long does it take to travel the 200 m up the ramp? (Such information might be useful to a traffic engineer.)</a:t>
            </a:r>
            <a:endParaRPr lang="en-US" altLang="en-US" sz="2000" b="1" dirty="0">
              <a:solidFill>
                <a:srgbClr val="0066FF"/>
              </a:solidFill>
            </a:endParaRPr>
          </a:p>
          <a:p>
            <a:pPr>
              <a:spcBef>
                <a:spcPct val="0"/>
              </a:spcBef>
              <a:buNone/>
            </a:pPr>
            <a:r>
              <a:rPr lang="en-US" altLang="en-US" sz="2400" b="1" dirty="0">
                <a:solidFill>
                  <a:srgbClr val="0066FF"/>
                </a:solidFill>
              </a:rPr>
              <a:t> </a:t>
            </a:r>
            <a:r>
              <a:rPr lang="en-US" altLang="en-US" sz="2400" b="1" dirty="0">
                <a:solidFill>
                  <a:srgbClr val="0066FF"/>
                </a:solidFill>
                <a:hlinkClick r:id="rId3">
                  <a:extLst>
                    <a:ext uri="{A12FA001-AC4F-418D-AE19-62706E023703}">
                      <ahyp:hlinkClr xmlns:ahyp="http://schemas.microsoft.com/office/drawing/2018/hyperlinkcolor" val="tx"/>
                    </a:ext>
                  </a:extLst>
                </a:hlinkClick>
              </a:rPr>
              <a:t>Click here for solutions</a:t>
            </a:r>
            <a:endParaRPr lang="en-US" altLang="en-US" sz="2400" b="1" dirty="0">
              <a:solidFill>
                <a:srgbClr val="0066FF"/>
              </a:solidFill>
            </a:endParaRPr>
          </a:p>
        </p:txBody>
      </p:sp>
      <p:pic>
        <p:nvPicPr>
          <p:cNvPr id="4" name="Picture 3" descr="OpenStax logo">
            <a:extLst>
              <a:ext uri="{FF2B5EF4-FFF2-40B4-BE49-F238E27FC236}">
                <a16:creationId xmlns:a16="http://schemas.microsoft.com/office/drawing/2014/main" id="{817EF954-0354-7A4A-746D-D5EF36DC0A1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845987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9569" y="0"/>
            <a:ext cx="8062912" cy="659535"/>
          </a:xfrm>
        </p:spPr>
        <p:txBody>
          <a:bodyPr>
            <a:normAutofit/>
          </a:bodyPr>
          <a:lstStyle/>
          <a:p>
            <a:pPr algn="ctr"/>
            <a:r>
              <a:rPr lang="en-US" sz="2800" dirty="0">
                <a:solidFill>
                  <a:schemeClr val="tx1"/>
                </a:solidFill>
              </a:rPr>
              <a:t>Objects under FREE FALL MOTION</a:t>
            </a:r>
          </a:p>
        </p:txBody>
      </p:sp>
      <p:pic>
        <p:nvPicPr>
          <p:cNvPr id="2" name="Picture Placeholder 1" descr=" A hammer and a feather fall with the same constant acceleration if air resistance is negligible. "/>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338" r="-5338"/>
          <a:stretch>
            <a:fillRect/>
          </a:stretch>
        </p:blipFill>
        <p:spPr>
          <a:xfrm>
            <a:off x="843566" y="900861"/>
            <a:ext cx="7765756" cy="3371077"/>
          </a:xfrm>
        </p:spPr>
      </p:pic>
      <p:sp>
        <p:nvSpPr>
          <p:cNvPr id="7" name="Text Placeholder 6"/>
          <p:cNvSpPr>
            <a:spLocks noGrp="1"/>
          </p:cNvSpPr>
          <p:nvPr>
            <p:ph type="body" sz="quarter" idx="14"/>
          </p:nvPr>
        </p:nvSpPr>
        <p:spPr>
          <a:xfrm>
            <a:off x="248878" y="4513264"/>
            <a:ext cx="8360444" cy="1657013"/>
          </a:xfrm>
        </p:spPr>
        <p:txBody>
          <a:bodyPr>
            <a:noAutofit/>
          </a:bodyPr>
          <a:lstStyle/>
          <a:p>
            <a:r>
              <a:rPr lang="en-US" b="1" dirty="0"/>
              <a:t>A hammer and a feather fall with the same constant acceleration if air resistance is negligible. This is a general characteristic of gravity not unique to Earth, as astronaut David R. Scott demonstrated in 1971 on the Moon, where the acceleration from gravity is only 1.67 m/s</a:t>
            </a:r>
            <a:r>
              <a:rPr lang="en-US" b="1" baseline="30000" dirty="0"/>
              <a:t>2</a:t>
            </a:r>
            <a:r>
              <a:rPr lang="en-US" b="1" dirty="0"/>
              <a:t> and there is no atmosphere.</a:t>
            </a:r>
          </a:p>
        </p:txBody>
      </p:sp>
      <p:pic>
        <p:nvPicPr>
          <p:cNvPr id="6" name="Picture 5" descr="OpenStax logo">
            <a:extLst>
              <a:ext uri="{FF2B5EF4-FFF2-40B4-BE49-F238E27FC236}">
                <a16:creationId xmlns:a16="http://schemas.microsoft.com/office/drawing/2014/main" id="{43ECCDB2-12C9-F83A-BC32-7DA4E575D6C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797192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21DBD-83D6-F0C8-FB2C-6473EAB3FCDB}"/>
              </a:ext>
            </a:extLst>
          </p:cNvPr>
          <p:cNvSpPr>
            <a:spLocks noGrp="1"/>
          </p:cNvSpPr>
          <p:nvPr>
            <p:ph type="title"/>
          </p:nvPr>
        </p:nvSpPr>
        <p:spPr/>
        <p:txBody>
          <a:bodyPr>
            <a:normAutofit/>
          </a:bodyPr>
          <a:lstStyle/>
          <a:p>
            <a:pPr algn="ctr"/>
            <a:r>
              <a:rPr lang="en-US" sz="2800" b="1" dirty="0">
                <a:solidFill>
                  <a:schemeClr val="tx1"/>
                </a:solidFill>
              </a:rPr>
              <a:t>Acceleration due to gravity</a:t>
            </a:r>
            <a:endParaRPr lang="en-US" sz="2800" dirty="0">
              <a:solidFill>
                <a:schemeClr val="tx1"/>
              </a:solidFill>
            </a:endParaRPr>
          </a:p>
        </p:txBody>
      </p:sp>
      <p:sp>
        <p:nvSpPr>
          <p:cNvPr id="4" name="Text Placeholder 3">
            <a:extLst>
              <a:ext uri="{FF2B5EF4-FFF2-40B4-BE49-F238E27FC236}">
                <a16:creationId xmlns:a16="http://schemas.microsoft.com/office/drawing/2014/main" id="{C3E07783-DEF2-F00F-E69F-A27D74837EE5}"/>
              </a:ext>
            </a:extLst>
          </p:cNvPr>
          <p:cNvSpPr>
            <a:spLocks noGrp="1"/>
          </p:cNvSpPr>
          <p:nvPr>
            <p:ph type="body" sz="quarter" idx="14"/>
          </p:nvPr>
        </p:nvSpPr>
        <p:spPr>
          <a:xfrm>
            <a:off x="164955" y="1166439"/>
            <a:ext cx="8633040" cy="4687681"/>
          </a:xfrm>
        </p:spPr>
        <p:txBody>
          <a:bodyPr>
            <a:normAutofit fontScale="85000" lnSpcReduction="20000"/>
          </a:bodyPr>
          <a:lstStyle/>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b="1" dirty="0"/>
              <a:t>For the ideal situations, an object falling without air resistance or friction is defined to be in free fall. The force of gravity causes objects to fall toward the center of Earth. </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sz="2400" b="1" dirty="0"/>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2400" b="1" dirty="0"/>
              <a:t>The acceleration of free-falling objects is called acceleration due to gravity. Acceleration due to gravity is constant, which means we can apply the kinematic equations to any falling object where air resistance and friction are negligible.</a:t>
            </a:r>
            <a:r>
              <a:rPr kumimoji="0" lang="en-US" altLang="en-US" sz="2400" b="1" u="none" strike="noStrike" cap="none" normalizeH="0" baseline="0" dirty="0">
                <a:ln>
                  <a:noFill/>
                </a:ln>
                <a:solidFill>
                  <a:schemeClr val="tx1"/>
                </a:solidFill>
                <a:effectLst/>
                <a:latin typeface="Arial" panose="020B0604020202020204" pitchFamily="34" charset="0"/>
              </a:rPr>
              <a:t> </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u="none" strike="noStrike" cap="none" normalizeH="0" baseline="0" dirty="0">
                <a:ln>
                  <a:noFill/>
                </a:ln>
                <a:solidFill>
                  <a:schemeClr val="tx1"/>
                </a:solidFill>
                <a:effectLst/>
                <a:latin typeface="Arial" panose="020B0604020202020204" pitchFamily="34" charset="0"/>
              </a:rPr>
              <a:t>Acceleration due to gravity  is given its own symbol, g. It is constant at any given location on Earth and has the average value (magnitude) </a:t>
            </a:r>
            <a:r>
              <a:rPr kumimoji="0" lang="en-US" altLang="en-US" sz="2400" b="1" u="none" strike="noStrike" cap="none" normalizeH="0" baseline="0" dirty="0">
                <a:ln>
                  <a:noFill/>
                </a:ln>
                <a:solidFill>
                  <a:schemeClr val="tx1"/>
                </a:solidFill>
                <a:effectLst/>
                <a:latin typeface="MathJax_Math"/>
              </a:rPr>
              <a:t>g</a:t>
            </a:r>
            <a:r>
              <a:rPr kumimoji="0" lang="en-US" altLang="en-US" sz="2400" b="1" u="none" strike="noStrike" cap="none" normalizeH="0" baseline="0" dirty="0">
                <a:ln>
                  <a:noFill/>
                </a:ln>
                <a:solidFill>
                  <a:schemeClr val="tx1"/>
                </a:solidFill>
                <a:effectLst/>
                <a:latin typeface="MathJax_Main"/>
              </a:rPr>
              <a:t>=9.81m/s</a:t>
            </a:r>
            <a:r>
              <a:rPr kumimoji="0" lang="en-US" altLang="en-US" sz="2400" b="1" u="none" strike="noStrike" cap="none" normalizeH="0" baseline="30000" dirty="0">
                <a:ln>
                  <a:noFill/>
                </a:ln>
                <a:solidFill>
                  <a:schemeClr val="tx1"/>
                </a:solidFill>
                <a:effectLst/>
                <a:latin typeface="MathJax_Main"/>
              </a:rPr>
              <a:t>2</a:t>
            </a:r>
            <a:r>
              <a:rPr kumimoji="0" lang="en-US" altLang="en-US" sz="2400" b="1" u="none" strike="noStrike" cap="none" normalizeH="0" baseline="0" dirty="0">
                <a:ln>
                  <a:noFill/>
                </a:ln>
                <a:solidFill>
                  <a:schemeClr val="tx1"/>
                </a:solidFill>
                <a:effectLst/>
                <a:latin typeface="MathJax_Main"/>
              </a:rPr>
              <a:t>(or32.2ft/s</a:t>
            </a:r>
            <a:r>
              <a:rPr kumimoji="0" lang="en-US" altLang="en-US" sz="2400" b="1" u="none" strike="noStrike" cap="none" normalizeH="0" baseline="30000" dirty="0">
                <a:ln>
                  <a:noFill/>
                </a:ln>
                <a:solidFill>
                  <a:schemeClr val="tx1"/>
                </a:solidFill>
                <a:effectLst/>
                <a:latin typeface="MathJax_Main"/>
              </a:rPr>
              <a:t>2</a:t>
            </a:r>
            <a:r>
              <a:rPr kumimoji="0" lang="en-US" altLang="en-US" sz="2400" b="1" u="none" strike="noStrike" cap="none" normalizeH="0" baseline="0" dirty="0">
                <a:ln>
                  <a:noFill/>
                </a:ln>
                <a:solidFill>
                  <a:schemeClr val="tx1"/>
                </a:solidFill>
                <a:effectLst/>
                <a:latin typeface="MathJax_Main"/>
              </a:rPr>
              <a:t>). T</a:t>
            </a:r>
            <a:r>
              <a:rPr lang="en-US" sz="2400" b="1" dirty="0"/>
              <a:t>he direction of acceleration due to gravity to be downward (toward the center of Earth).</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sz="2400" b="1" dirty="0"/>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u="none" strike="noStrike" cap="none" normalizeH="0" baseline="0" dirty="0">
                <a:ln>
                  <a:noFill/>
                </a:ln>
                <a:solidFill>
                  <a:schemeClr val="tx1"/>
                </a:solidFill>
                <a:effectLst/>
                <a:latin typeface="Arial" panose="020B0604020202020204" pitchFamily="34" charset="0"/>
              </a:rPr>
              <a:t>Note that whether acceleration a in the kinematic equations has the value +g or −g depends on how we define our coordinate system. If we define the upward direction as positive, then </a:t>
            </a:r>
            <a:r>
              <a:rPr kumimoji="0" lang="en-US" altLang="en-US" sz="2400" b="1" u="none" strike="noStrike" cap="none" normalizeH="0" baseline="0" dirty="0">
                <a:ln>
                  <a:noFill/>
                </a:ln>
                <a:solidFill>
                  <a:schemeClr val="tx1"/>
                </a:solidFill>
                <a:effectLst/>
                <a:latin typeface="MathJax_Math"/>
              </a:rPr>
              <a:t>a </a:t>
            </a:r>
            <a:r>
              <a:rPr kumimoji="0" lang="en-US" altLang="en-US" sz="2400" b="1" u="none" strike="noStrike" cap="none" normalizeH="0" baseline="0" dirty="0">
                <a:ln>
                  <a:noFill/>
                </a:ln>
                <a:solidFill>
                  <a:schemeClr val="tx1"/>
                </a:solidFill>
                <a:effectLst/>
                <a:latin typeface="MathJax_Main"/>
              </a:rPr>
              <a:t>=−</a:t>
            </a:r>
            <a:r>
              <a:rPr kumimoji="0" lang="en-US" altLang="en-US" sz="2400" b="1" u="none" strike="noStrike" cap="none" normalizeH="0" baseline="0" dirty="0">
                <a:ln>
                  <a:noFill/>
                </a:ln>
                <a:solidFill>
                  <a:schemeClr val="tx1"/>
                </a:solidFill>
                <a:effectLst/>
                <a:latin typeface="MathJax_Math"/>
              </a:rPr>
              <a:t>g</a:t>
            </a:r>
            <a:r>
              <a:rPr kumimoji="0" lang="en-US" altLang="en-US" sz="2400" b="1" u="none" strike="noStrike" cap="none" normalizeH="0" baseline="0" dirty="0">
                <a:ln>
                  <a:noFill/>
                </a:ln>
                <a:solidFill>
                  <a:schemeClr val="tx1"/>
                </a:solidFill>
                <a:effectLst/>
                <a:latin typeface="MathJax_Main"/>
              </a:rPr>
              <a:t>=−9.8m/s</a:t>
            </a:r>
            <a:r>
              <a:rPr kumimoji="0" lang="en-US" altLang="en-US" sz="2400" b="1" u="none" strike="noStrike" cap="none" normalizeH="0" baseline="30000" dirty="0">
                <a:ln>
                  <a:noFill/>
                </a:ln>
                <a:solidFill>
                  <a:schemeClr val="tx1"/>
                </a:solidFill>
                <a:effectLst/>
                <a:latin typeface="MathJax_Main"/>
              </a:rPr>
              <a:t>2</a:t>
            </a:r>
            <a:r>
              <a:rPr kumimoji="0" lang="en-US" altLang="en-US" sz="2400" b="1" u="none" strike="noStrike" cap="none" normalizeH="0" baseline="0" dirty="0">
                <a:ln>
                  <a:noFill/>
                </a:ln>
                <a:solidFill>
                  <a:schemeClr val="tx1"/>
                </a:solidFill>
                <a:effectLst/>
                <a:latin typeface="MathJax_Main"/>
              </a:rPr>
              <a:t>,</a:t>
            </a:r>
            <a:r>
              <a:rPr kumimoji="0" lang="en-US" altLang="en-US" sz="2400" b="1" u="none" strike="noStrike" cap="none" normalizeH="0" baseline="0" dirty="0">
                <a:ln>
                  <a:noFill/>
                </a:ln>
                <a:solidFill>
                  <a:schemeClr val="tx1"/>
                </a:solidFill>
                <a:effectLst/>
              </a:rPr>
              <a:t> and if we define the downward direction as positive, then </a:t>
            </a:r>
            <a:r>
              <a:rPr kumimoji="0" lang="en-US" altLang="en-US" sz="2400" b="1" u="none" strike="noStrike" cap="none" normalizeH="0" baseline="0" dirty="0">
                <a:ln>
                  <a:noFill/>
                </a:ln>
                <a:solidFill>
                  <a:schemeClr val="tx1"/>
                </a:solidFill>
                <a:effectLst/>
                <a:latin typeface="MathJax_Math"/>
              </a:rPr>
              <a:t>a</a:t>
            </a:r>
            <a:r>
              <a:rPr kumimoji="0" lang="en-US" altLang="en-US" sz="2400" b="1" u="none" strike="noStrike" cap="none" normalizeH="0" baseline="0" dirty="0">
                <a:ln>
                  <a:noFill/>
                </a:ln>
                <a:solidFill>
                  <a:schemeClr val="tx1"/>
                </a:solidFill>
                <a:effectLst/>
                <a:latin typeface="MathJax_Main"/>
              </a:rPr>
              <a:t>=</a:t>
            </a:r>
            <a:r>
              <a:rPr kumimoji="0" lang="en-US" altLang="en-US" sz="2400" b="1" u="none" strike="noStrike" cap="none" normalizeH="0" baseline="0" dirty="0">
                <a:ln>
                  <a:noFill/>
                </a:ln>
                <a:solidFill>
                  <a:schemeClr val="tx1"/>
                </a:solidFill>
                <a:effectLst/>
                <a:latin typeface="MathJax_Math"/>
              </a:rPr>
              <a:t>g</a:t>
            </a:r>
            <a:r>
              <a:rPr kumimoji="0" lang="en-US" altLang="en-US" sz="2400" b="1" u="none" strike="noStrike" cap="none" normalizeH="0" baseline="0" dirty="0">
                <a:ln>
                  <a:noFill/>
                </a:ln>
                <a:solidFill>
                  <a:schemeClr val="tx1"/>
                </a:solidFill>
                <a:effectLst/>
                <a:latin typeface="MathJax_Main"/>
              </a:rPr>
              <a:t>=9.8m/s</a:t>
            </a:r>
            <a:r>
              <a:rPr kumimoji="0" lang="en-US" altLang="en-US" sz="2400" b="1" u="none" strike="noStrike" cap="none" normalizeH="0" baseline="30000" dirty="0">
                <a:ln>
                  <a:noFill/>
                </a:ln>
                <a:solidFill>
                  <a:schemeClr val="tx1"/>
                </a:solidFill>
                <a:effectLst/>
                <a:latin typeface="MathJax_Main"/>
              </a:rPr>
              <a:t>2</a:t>
            </a:r>
            <a:r>
              <a:rPr kumimoji="0" lang="en-US" altLang="en-US" sz="2400" b="1" u="none" strike="noStrike" cap="none" normalizeH="0" baseline="0" dirty="0">
                <a:ln>
                  <a:noFill/>
                </a:ln>
                <a:solidFill>
                  <a:schemeClr val="tx1"/>
                </a:solidFill>
                <a:effectLst/>
              </a:rPr>
              <a:t>. </a:t>
            </a:r>
            <a:endParaRPr kumimoji="0" lang="en-US" altLang="en-US" sz="2400" b="1"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sz="2400" dirty="0"/>
          </a:p>
        </p:txBody>
      </p:sp>
      <p:pic>
        <p:nvPicPr>
          <p:cNvPr id="7" name="Picture 6" descr="OpenStax logo">
            <a:extLst>
              <a:ext uri="{FF2B5EF4-FFF2-40B4-BE49-F238E27FC236}">
                <a16:creationId xmlns:a16="http://schemas.microsoft.com/office/drawing/2014/main" id="{030D149C-6210-4E0E-AF8A-4B29B7487FB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128768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517" y="61754"/>
            <a:ext cx="7917366" cy="536893"/>
          </a:xfrm>
        </p:spPr>
        <p:txBody>
          <a:bodyPr>
            <a:noAutofit/>
          </a:bodyPr>
          <a:lstStyle/>
          <a:p>
            <a:pPr algn="ctr"/>
            <a:r>
              <a:rPr lang="en-US" sz="2800" dirty="0">
                <a:solidFill>
                  <a:schemeClr val="tx1"/>
                </a:solidFill>
              </a:rPr>
              <a:t>FREE FALL MOTION</a:t>
            </a:r>
            <a:endParaRPr lang="en-US" sz="2800" dirty="0"/>
          </a:p>
        </p:txBody>
      </p:sp>
      <mc:AlternateContent xmlns:mc="http://schemas.openxmlformats.org/markup-compatibility/2006" xmlns:a14="http://schemas.microsoft.com/office/drawing/2010/main">
        <mc:Choice Requires="a14">
          <p:sp>
            <p:nvSpPr>
              <p:cNvPr id="103427" name="Rectangle 4"/>
              <p:cNvSpPr>
                <a:spLocks noChangeArrowheads="1"/>
              </p:cNvSpPr>
              <p:nvPr/>
            </p:nvSpPr>
            <p:spPr bwMode="auto">
              <a:xfrm>
                <a:off x="238260" y="506726"/>
                <a:ext cx="8854226" cy="522604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indent="0" eaLnBrk="1" hangingPunct="1">
                  <a:spcBef>
                    <a:spcPct val="0"/>
                  </a:spcBef>
                  <a:buNone/>
                </a:pPr>
                <a:r>
                  <a:rPr lang="en-US" altLang="en-US" sz="2400" b="1" dirty="0"/>
                  <a:t>For an object thrown vertically upward,</a:t>
                </a:r>
              </a:p>
              <a:p>
                <a:pPr marL="457200" indent="-457200" eaLnBrk="1" hangingPunct="1">
                  <a:spcBef>
                    <a:spcPct val="0"/>
                  </a:spcBef>
                  <a:buFont typeface="+mj-lt"/>
                  <a:buAutoNum type="alphaLcParenR"/>
                </a:pPr>
                <a:endParaRPr lang="en-US" altLang="en-US" sz="2400" b="1" dirty="0"/>
              </a:p>
              <a:p>
                <a:pPr marL="457200" indent="-457200" eaLnBrk="1" hangingPunct="1">
                  <a:spcBef>
                    <a:spcPct val="0"/>
                  </a:spcBef>
                  <a:buFont typeface="+mj-lt"/>
                  <a:buAutoNum type="alphaLcParenR"/>
                </a:pPr>
                <a:r>
                  <a:rPr lang="en-US" altLang="en-US" sz="2400" b="1" dirty="0"/>
                  <a:t>upward motion  the velocity is positive  </a:t>
                </a:r>
              </a:p>
              <a:p>
                <a:pPr marL="457200" indent="-457200" eaLnBrk="1" hangingPunct="1">
                  <a:spcBef>
                    <a:spcPct val="0"/>
                  </a:spcBef>
                  <a:buFont typeface="+mj-lt"/>
                  <a:buAutoNum type="alphaLcParenR"/>
                </a:pPr>
                <a:r>
                  <a:rPr lang="en-US" altLang="en-US" sz="2400" b="1" dirty="0"/>
                  <a:t>Velocity is It is momentarily zero at  </a:t>
                </a:r>
                <a:r>
                  <a:rPr lang="en-US" altLang="en-US" sz="2400" b="1" i="1" dirty="0"/>
                  <a:t>maximum height</a:t>
                </a:r>
                <a:r>
                  <a:rPr lang="en-US" altLang="en-US" sz="2400" b="1" dirty="0"/>
                  <a:t>.</a:t>
                </a:r>
              </a:p>
              <a:p>
                <a:pPr marL="0" indent="0" eaLnBrk="1" hangingPunct="1">
                  <a:spcBef>
                    <a:spcPct val="0"/>
                  </a:spcBef>
                  <a:buNone/>
                </a:pPr>
                <a:r>
                  <a:rPr lang="en-US" altLang="en-US" sz="2400" b="1" dirty="0"/>
                  <a:t>c)The velocity becomes negative on the downward motion.</a:t>
                </a:r>
              </a:p>
              <a:p>
                <a:pPr marL="0" indent="0" eaLnBrk="1" hangingPunct="1">
                  <a:spcBef>
                    <a:spcPct val="0"/>
                  </a:spcBef>
                  <a:buNone/>
                </a:pPr>
                <a:r>
                  <a:rPr lang="en-US" altLang="en-US" sz="2400" b="1" dirty="0"/>
                  <a:t>d) </a:t>
                </a:r>
                <a14:m>
                  <m:oMath xmlns:m="http://schemas.openxmlformats.org/officeDocument/2006/math">
                    <m:r>
                      <m:rPr>
                        <m:nor/>
                      </m:rPr>
                      <a:rPr lang="en-US" sz="2400" b="1" kern="1200" smtClean="0">
                        <a:solidFill>
                          <a:schemeClr val="dk1"/>
                        </a:solidFill>
                        <a:effectLst/>
                        <a:latin typeface="Cambria Math" panose="02040503050406030204" pitchFamily="18" charset="0"/>
                        <a:ea typeface="Cambria Math" panose="02040503050406030204" pitchFamily="18" charset="0"/>
                        <a:cs typeface="+mn-cs"/>
                      </a:rPr>
                      <m:t>a</m:t>
                    </m:r>
                  </m:oMath>
                </a14:m>
                <a:r>
                  <a:rPr lang="en-US" altLang="en-US" sz="2400" b="1" dirty="0"/>
                  <a:t> = </a:t>
                </a:r>
                <a:r>
                  <a:rPr lang="en-US" altLang="en-US" sz="2400" b="1" dirty="0">
                    <a:latin typeface="Cambria Math" panose="02040503050406030204" pitchFamily="18" charset="0"/>
                    <a:ea typeface="Cambria Math" panose="02040503050406030204" pitchFamily="18" charset="0"/>
                  </a:rPr>
                  <a:t>g </a:t>
                </a:r>
                <a:r>
                  <a:rPr lang="en-US" altLang="en-US" sz="2400" b="1" dirty="0"/>
                  <a:t>= 9.8 m/s</a:t>
                </a:r>
                <a:r>
                  <a:rPr lang="en-US" altLang="en-US" sz="2400" b="1" baseline="30000" dirty="0"/>
                  <a:t>2 </a:t>
                </a:r>
                <a:r>
                  <a:rPr lang="en-US" altLang="en-US" sz="2400" b="1" dirty="0"/>
                  <a:t>   Always and is in the downward direction</a:t>
                </a:r>
              </a:p>
              <a:p>
                <a:pPr marL="0" indent="0" eaLnBrk="1" hangingPunct="1">
                  <a:spcBef>
                    <a:spcPct val="30000"/>
                  </a:spcBef>
                  <a:buNone/>
                </a:pPr>
                <a:r>
                  <a:rPr lang="en-US" altLang="en-US" sz="2400" b="1" dirty="0"/>
                  <a:t>e) At its highest point, the speed of thrown object is zero   acceleration  is not zero </a:t>
                </a:r>
                <a14:m>
                  <m:oMath xmlns:m="http://schemas.openxmlformats.org/officeDocument/2006/math">
                    <m:r>
                      <m:rPr>
                        <m:nor/>
                      </m:rPr>
                      <a:rPr lang="en-US" sz="2400" b="1" kern="1200" smtClean="0">
                        <a:solidFill>
                          <a:schemeClr val="dk1"/>
                        </a:solidFill>
                        <a:effectLst/>
                        <a:latin typeface="Cambria Math" panose="02040503050406030204" pitchFamily="18" charset="0"/>
                        <a:ea typeface="Cambria Math" panose="02040503050406030204" pitchFamily="18" charset="0"/>
                        <a:cs typeface="+mn-cs"/>
                      </a:rPr>
                      <m:t>a</m:t>
                    </m:r>
                  </m:oMath>
                </a14:m>
                <a:r>
                  <a:rPr lang="en-US" altLang="en-US" sz="2400" b="1" dirty="0"/>
                  <a:t> = </a:t>
                </a:r>
                <a:r>
                  <a:rPr lang="en-US" altLang="en-US" sz="2400" b="1" dirty="0">
                    <a:latin typeface="Cambria Math" panose="02040503050406030204" pitchFamily="18" charset="0"/>
                    <a:ea typeface="Cambria Math" panose="02040503050406030204" pitchFamily="18" charset="0"/>
                  </a:rPr>
                  <a:t>g</a:t>
                </a:r>
                <a:r>
                  <a:rPr lang="en-US" altLang="en-US" sz="2400" b="1" dirty="0"/>
                  <a:t>.  </a:t>
                </a:r>
              </a:p>
              <a:p>
                <a:pPr marL="0" indent="0" eaLnBrk="1" hangingPunct="1">
                  <a:spcBef>
                    <a:spcPct val="30000"/>
                  </a:spcBef>
                  <a:buNone/>
                </a:pPr>
                <a:endParaRPr lang="en-US" altLang="en-US" sz="2400" b="1" dirty="0"/>
              </a:p>
              <a:p>
                <a:pPr marL="0" indent="0" eaLnBrk="1" hangingPunct="1">
                  <a:spcBef>
                    <a:spcPct val="30000"/>
                  </a:spcBef>
                  <a:buNone/>
                </a:pPr>
                <a:r>
                  <a:rPr lang="en-US" altLang="en-US" sz="2800" b="1" baseline="30000" dirty="0">
                    <a:hlinkClick r:id="rId3"/>
                  </a:rPr>
                  <a:t> </a:t>
                </a:r>
                <a:r>
                  <a:rPr lang="en-US" altLang="en-US" sz="2400" b="1" dirty="0">
                    <a:cs typeface="Arial" panose="020B0604020202020204" pitchFamily="34" charset="0"/>
                    <a:hlinkClick r:id="rId3"/>
                  </a:rPr>
                  <a:t>Objects in Free Fall Video</a:t>
                </a:r>
                <a:endParaRPr lang="en-US" altLang="en-US" sz="2400" b="1" dirty="0">
                  <a:cs typeface="Arial" panose="020B0604020202020204" pitchFamily="34" charset="0"/>
                </a:endParaRPr>
              </a:p>
              <a:p>
                <a:pPr eaLnBrk="1" hangingPunct="1">
                  <a:spcBef>
                    <a:spcPct val="50000"/>
                  </a:spcBef>
                  <a:buFontTx/>
                  <a:buNone/>
                </a:pPr>
                <a:r>
                  <a:rPr lang="en-US" altLang="en-US" sz="2400" b="1" dirty="0">
                    <a:cs typeface="Arial" panose="020B0604020202020204" pitchFamily="34" charset="0"/>
                    <a:hlinkClick r:id="rId4"/>
                  </a:rPr>
                  <a:t>Object in Free Fall Example # 1 Video</a:t>
                </a:r>
                <a:endParaRPr lang="en-US" altLang="en-US" sz="2400" b="1" dirty="0">
                  <a:cs typeface="Arial" panose="020B0604020202020204" pitchFamily="34" charset="0"/>
                </a:endParaRPr>
              </a:p>
              <a:p>
                <a:pPr eaLnBrk="1" hangingPunct="1">
                  <a:spcBef>
                    <a:spcPct val="50000"/>
                  </a:spcBef>
                  <a:buFontTx/>
                  <a:buNone/>
                </a:pPr>
                <a:r>
                  <a:rPr lang="en-US" altLang="en-US" sz="2400" b="1" dirty="0">
                    <a:cs typeface="Arial" panose="020B0604020202020204" pitchFamily="34" charset="0"/>
                    <a:hlinkClick r:id="rId5"/>
                  </a:rPr>
                  <a:t> Object in Free Fall Example # 2 Video</a:t>
                </a:r>
                <a:endParaRPr lang="en-US" altLang="en-US" sz="2400" b="1" dirty="0">
                  <a:cs typeface="Arial" panose="020B0604020202020204" pitchFamily="34" charset="0"/>
                </a:endParaRPr>
              </a:p>
            </p:txBody>
          </p:sp>
        </mc:Choice>
        <mc:Fallback xmlns="">
          <p:sp>
            <p:nvSpPr>
              <p:cNvPr id="103427" name="Rectangle 4"/>
              <p:cNvSpPr>
                <a:spLocks noRot="1" noChangeAspect="1" noMove="1" noResize="1" noEditPoints="1" noAdjustHandles="1" noChangeArrowheads="1" noChangeShapeType="1" noTextEdit="1"/>
              </p:cNvSpPr>
              <p:nvPr/>
            </p:nvSpPr>
            <p:spPr bwMode="auto">
              <a:xfrm>
                <a:off x="238260" y="506726"/>
                <a:ext cx="8854226" cy="5226046"/>
              </a:xfrm>
              <a:prstGeom prst="rect">
                <a:avLst/>
              </a:prstGeom>
              <a:blipFill>
                <a:blip r:embed="rId6"/>
                <a:stretch>
                  <a:fillRect l="-1032" t="-817" r="-964" b="-18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descr="OpenStax logo">
            <a:extLst>
              <a:ext uri="{FF2B5EF4-FFF2-40B4-BE49-F238E27FC236}">
                <a16:creationId xmlns:a16="http://schemas.microsoft.com/office/drawing/2014/main" id="{0B1E8AF5-44BA-A6B6-5890-DF96E10337D9}"/>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776873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DDBC4-5D94-3034-F3C8-8E0382881999}"/>
              </a:ext>
            </a:extLst>
          </p:cNvPr>
          <p:cNvSpPr>
            <a:spLocks noGrp="1"/>
          </p:cNvSpPr>
          <p:nvPr>
            <p:ph type="title"/>
          </p:nvPr>
        </p:nvSpPr>
        <p:spPr>
          <a:xfrm>
            <a:off x="1" y="193184"/>
            <a:ext cx="8886422" cy="1190636"/>
          </a:xfrm>
        </p:spPr>
        <p:txBody>
          <a:bodyPr>
            <a:normAutofit fontScale="90000"/>
          </a:bodyPr>
          <a:lstStyle/>
          <a:p>
            <a:pPr algn="ctr"/>
            <a:r>
              <a:rPr lang="en-US" sz="3100" b="1" dirty="0">
                <a:solidFill>
                  <a:schemeClr val="tx1"/>
                </a:solidFill>
              </a:rPr>
              <a:t>Kinematic Equations for Objects in Free Fall</a:t>
            </a:r>
            <a:br>
              <a:rPr lang="en-US" b="1" dirty="0"/>
            </a:br>
            <a:endParaRPr 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B8CA29E-8B8C-B9B7-9187-E14238F0234F}"/>
                  </a:ext>
                </a:extLst>
              </p:cNvPr>
              <p:cNvGraphicFramePr>
                <a:graphicFrameLocks noGrp="1"/>
              </p:cNvGraphicFramePr>
              <p:nvPr>
                <p:extLst>
                  <p:ext uri="{D42A27DB-BD31-4B8C-83A1-F6EECF244321}">
                    <p14:modId xmlns:p14="http://schemas.microsoft.com/office/powerpoint/2010/main" val="993400822"/>
                  </p:ext>
                </p:extLst>
              </p:nvPr>
            </p:nvGraphicFramePr>
            <p:xfrm>
              <a:off x="824248" y="2569336"/>
              <a:ext cx="6832611" cy="2602979"/>
            </p:xfrm>
            <a:graphic>
              <a:graphicData uri="http://schemas.openxmlformats.org/drawingml/2006/table">
                <a:tbl>
                  <a:tblPr firstRow="1" bandRow="1">
                    <a:tableStyleId>{46F890A9-2807-4EBB-B81D-B2AA78EC7F39}</a:tableStyleId>
                  </a:tblPr>
                  <a:tblGrid>
                    <a:gridCol w="716944">
                      <a:extLst>
                        <a:ext uri="{9D8B030D-6E8A-4147-A177-3AD203B41FA5}">
                          <a16:colId xmlns:a16="http://schemas.microsoft.com/office/drawing/2014/main" val="344239218"/>
                        </a:ext>
                      </a:extLst>
                    </a:gridCol>
                    <a:gridCol w="3838130">
                      <a:extLst>
                        <a:ext uri="{9D8B030D-6E8A-4147-A177-3AD203B41FA5}">
                          <a16:colId xmlns:a16="http://schemas.microsoft.com/office/drawing/2014/main" val="4241412567"/>
                        </a:ext>
                      </a:extLst>
                    </a:gridCol>
                    <a:gridCol w="2277537">
                      <a:extLst>
                        <a:ext uri="{9D8B030D-6E8A-4147-A177-3AD203B41FA5}">
                          <a16:colId xmlns:a16="http://schemas.microsoft.com/office/drawing/2014/main" val="1800025546"/>
                        </a:ext>
                      </a:extLst>
                    </a:gridCol>
                  </a:tblGrid>
                  <a:tr h="404361">
                    <a:tc>
                      <a:txBody>
                        <a:bodyPr/>
                        <a:lstStyle/>
                        <a:p>
                          <a:r>
                            <a:rPr lang="en-US"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QUANTITIES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8584805"/>
                      </a:ext>
                    </a:extLst>
                  </a:tr>
                  <a:tr h="516045">
                    <a:tc>
                      <a:txBody>
                        <a:bodyPr/>
                        <a:lstStyle/>
                        <a:p>
                          <a:pPr marL="0" marR="0">
                            <a:spcBef>
                              <a:spcPts val="0"/>
                            </a:spcBef>
                            <a:spcAft>
                              <a:spcPts val="0"/>
                            </a:spcAft>
                          </a:pPr>
                          <a:r>
                            <a:rPr lang="en-US" sz="2400" b="1" dirty="0">
                              <a:solidFill>
                                <a:srgbClr val="000000"/>
                              </a:solidFill>
                              <a:effectLst/>
                            </a:rPr>
                            <a:t>1</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2400" b="1" kern="1200" smtClean="0">
                                  <a:solidFill>
                                    <a:schemeClr val="dk1"/>
                                  </a:solidFill>
                                  <a:effectLst/>
                                  <a:latin typeface="Cambria Math" panose="02040503050406030204" pitchFamily="18" charset="0"/>
                                </a:rPr>
                                <m:t>𝒗</m:t>
                              </m:r>
                              <m:r>
                                <m:rPr>
                                  <m:nor/>
                                </m:rPr>
                                <a:rPr lang="en-US" sz="2400" b="1" kern="1200" smtClean="0">
                                  <a:solidFill>
                                    <a:schemeClr val="dk1"/>
                                  </a:solidFill>
                                  <a:effectLst/>
                                </a:rPr>
                                <m:t> </m:t>
                              </m:r>
                              <m:r>
                                <m:rPr>
                                  <m:nor/>
                                </m:rPr>
                                <a:rPr lang="en-US" sz="2400" b="1" kern="1200">
                                  <a:solidFill>
                                    <a:schemeClr val="dk1"/>
                                  </a:solidFill>
                                  <a:effectLst/>
                                </a:rPr>
                                <m:t>=</m:t>
                              </m:r>
                            </m:oMath>
                          </a14:m>
                          <a:r>
                            <a:rPr lang="en-US" sz="2400" b="1" dirty="0"/>
                            <a:t> </a:t>
                          </a:r>
                          <a14:m>
                            <m:oMath xmlns:m="http://schemas.openxmlformats.org/officeDocument/2006/math">
                              <m:r>
                                <a:rPr lang="en-US" sz="2400" b="1" kern="1200" smtClean="0">
                                  <a:solidFill>
                                    <a:schemeClr val="dk1"/>
                                  </a:solidFill>
                                  <a:effectLst/>
                                  <a:latin typeface="Cambria Math" panose="02040503050406030204" pitchFamily="18" charset="0"/>
                                </a:rPr>
                                <m:t>𝒗</m:t>
                              </m:r>
                            </m:oMath>
                          </a14:m>
                          <a:r>
                            <a:rPr lang="en-US" sz="2400" b="1" kern="1200" baseline="-25000" dirty="0">
                              <a:solidFill>
                                <a:schemeClr val="dk1"/>
                              </a:solidFill>
                              <a:effectLst/>
                            </a:rPr>
                            <a:t>0</a:t>
                          </a:r>
                          <a:r>
                            <a:rPr lang="en-US" sz="2400" b="1" kern="1200" dirty="0">
                              <a:solidFill>
                                <a:schemeClr val="dk1"/>
                              </a:solidFill>
                              <a:effectLst/>
                            </a:rPr>
                            <a:t> </a:t>
                          </a:r>
                          <a14:m>
                            <m:oMath xmlns:m="http://schemas.openxmlformats.org/officeDocument/2006/math">
                              <m:r>
                                <a:rPr lang="en-US" sz="2400" b="1" kern="1200" smtClean="0">
                                  <a:solidFill>
                                    <a:schemeClr val="dk1"/>
                                  </a:solidFill>
                                  <a:effectLst/>
                                  <a:latin typeface="Cambria Math" panose="02040503050406030204" pitchFamily="18" charset="0"/>
                                </a:rPr>
                                <m:t>−</m:t>
                              </m:r>
                            </m:oMath>
                          </a14:m>
                          <a:r>
                            <a:rPr lang="en-US" sz="2400" b="1" kern="1200" dirty="0">
                              <a:solidFill>
                                <a:schemeClr val="dk1"/>
                              </a:solidFill>
                              <a:effectLst/>
                            </a:rPr>
                            <a:t> g</a:t>
                          </a:r>
                          <a14:m>
                            <m:oMath xmlns:m="http://schemas.openxmlformats.org/officeDocument/2006/math">
                              <m:r>
                                <a:rPr lang="en-US" sz="2400" b="1" kern="1200" smtClean="0">
                                  <a:solidFill>
                                    <a:schemeClr val="dk1"/>
                                  </a:solidFill>
                                  <a:effectLst/>
                                  <a:latin typeface="Cambria Math" panose="02040503050406030204" pitchFamily="18" charset="0"/>
                                </a:rPr>
                                <m:t>𝒕</m:t>
                              </m:r>
                            </m:oMath>
                          </a14:m>
                          <a:r>
                            <a:rPr lang="en-US" sz="2400" b="1" kern="1200" dirty="0">
                              <a:solidFill>
                                <a:schemeClr val="dk1"/>
                              </a:solidFill>
                              <a:effectLst/>
                            </a:rPr>
                            <a:t> </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US" sz="2400" b="1" kern="1200" smtClean="0">
                                    <a:solidFill>
                                      <a:schemeClr val="dk1"/>
                                    </a:solidFill>
                                    <a:effectLst/>
                                    <a:latin typeface="Cambria Math" panose="02040503050406030204" pitchFamily="18" charset="0"/>
                                  </a:rPr>
                                  <m:t>𝒗</m:t>
                                </m:r>
                                <m:r>
                                  <a:rPr lang="en-US" sz="2400" b="1" kern="1200" smtClean="0">
                                    <a:solidFill>
                                      <a:schemeClr val="dk1"/>
                                    </a:solidFill>
                                    <a:effectLst/>
                                    <a:latin typeface="Cambria Math" panose="02040503050406030204" pitchFamily="18" charset="0"/>
                                  </a:rPr>
                                  <m:t>,</m:t>
                                </m:r>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r>
                                      <a:rPr lang="en-US" sz="2400" b="1" kern="1200">
                                        <a:solidFill>
                                          <a:schemeClr val="dk1"/>
                                        </a:solidFill>
                                        <a:effectLst/>
                                        <a:latin typeface="Cambria Math" panose="02040503050406030204" pitchFamily="18" charset="0"/>
                                      </a:rPr>
                                      <m:t> , </m:t>
                                    </m:r>
                                  </m:sub>
                                </m:sSub>
                                <m:r>
                                  <a:rPr lang="en-US" sz="2400" b="1" kern="1200" smtClean="0">
                                    <a:solidFill>
                                      <a:schemeClr val="dk1"/>
                                    </a:solidFill>
                                    <a:effectLst/>
                                    <a:latin typeface="Cambria Math" panose="02040503050406030204" pitchFamily="18" charset="0"/>
                                  </a:rPr>
                                  <m:t>𝒈</m:t>
                                </m:r>
                                <m:r>
                                  <a:rPr lang="en-US" sz="2400" b="1" kern="1200">
                                    <a:solidFill>
                                      <a:schemeClr val="dk1"/>
                                    </a:solidFill>
                                    <a:effectLst/>
                                    <a:latin typeface="Cambria Math" panose="02040503050406030204" pitchFamily="18" charset="0"/>
                                  </a:rPr>
                                  <m:t>,</m:t>
                                </m:r>
                                <m:r>
                                  <a:rPr lang="en-US" sz="2400" b="1" kern="1200">
                                    <a:solidFill>
                                      <a:schemeClr val="dk1"/>
                                    </a:solidFill>
                                    <a:effectLst/>
                                    <a:latin typeface="Cambria Math" panose="02040503050406030204" pitchFamily="18" charset="0"/>
                                  </a:rPr>
                                  <m:t>𝒕</m:t>
                                </m:r>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0372999"/>
                      </a:ext>
                    </a:extLst>
                  </a:tr>
                  <a:tr h="721895">
                    <a:tc>
                      <a:txBody>
                        <a:bodyPr/>
                        <a:lstStyle/>
                        <a:p>
                          <a:r>
                            <a:rPr lang="en-US" sz="2400" b="1" dirty="0"/>
                            <a:t>2</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r>
                                  <a:rPr lang="en-US" sz="2400" b="1" kern="1200" smtClean="0">
                                    <a:solidFill>
                                      <a:srgbClr val="000000"/>
                                    </a:solidFill>
                                    <a:effectLst/>
                                    <a:latin typeface="Cambria Math" panose="02040503050406030204" pitchFamily="18" charset="0"/>
                                  </a:rPr>
                                  <m:t>𝒚</m:t>
                                </m:r>
                                <m:r>
                                  <a:rPr lang="en-US" sz="2400" b="1" kern="1200">
                                    <a:solidFill>
                                      <a:schemeClr val="dk1"/>
                                    </a:solidFill>
                                    <a:effectLst/>
                                    <a:latin typeface="Cambria Math" panose="02040503050406030204" pitchFamily="18" charset="0"/>
                                  </a:rPr>
                                  <m:t>=</m:t>
                                </m:r>
                                <m:r>
                                  <a:rPr lang="en-US" sz="2400" b="1" kern="1200" smtClean="0">
                                    <a:solidFill>
                                      <a:schemeClr val="dk1"/>
                                    </a:solidFill>
                                    <a:effectLst/>
                                    <a:latin typeface="Cambria Math" panose="02040503050406030204" pitchFamily="18" charset="0"/>
                                  </a:rPr>
                                  <m:t> </m:t>
                                </m:r>
                                <m:sSub>
                                  <m:sSubPr>
                                    <m:ctrlPr>
                                      <a:rPr lang="en-US" sz="2400" b="1" i="1" kern="1200" smtClean="0">
                                        <a:solidFill>
                                          <a:srgbClr val="000000"/>
                                        </a:solidFill>
                                        <a:effectLst/>
                                        <a:latin typeface="Cambria Math" panose="02040503050406030204" pitchFamily="18" charset="0"/>
                                      </a:rPr>
                                    </m:ctrlPr>
                                  </m:sSubPr>
                                  <m:e>
                                    <m:r>
                                      <a:rPr lang="en-US" sz="2400" b="1" kern="1200" smtClean="0">
                                        <a:solidFill>
                                          <a:srgbClr val="000000"/>
                                        </a:solidFill>
                                        <a:effectLst/>
                                        <a:latin typeface="Cambria Math" panose="02040503050406030204" pitchFamily="18" charset="0"/>
                                      </a:rPr>
                                      <m:t>𝒚</m:t>
                                    </m:r>
                                  </m:e>
                                  <m:sub>
                                    <m:r>
                                      <a:rPr lang="en-US" sz="2400" b="1" kern="1200">
                                        <a:solidFill>
                                          <a:srgbClr val="000000"/>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sSub>
                                  <m:sSubPr>
                                    <m:ctrlPr>
                                      <a:rPr lang="en-US" sz="2400" b="1" i="1" kern="1200" smtClean="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 </m:t>
                                </m:r>
                                <m:r>
                                  <a:rPr lang="en-US" sz="2400" b="1" kern="1200">
                                    <a:solidFill>
                                      <a:schemeClr val="dk1"/>
                                    </a:solidFill>
                                    <a:effectLst/>
                                    <a:latin typeface="Cambria Math" panose="02040503050406030204" pitchFamily="18" charset="0"/>
                                  </a:rPr>
                                  <m:t>𝒕</m:t>
                                </m:r>
                                <m:r>
                                  <a:rPr lang="en-US" sz="2400" b="1" kern="1200" smtClean="0">
                                    <a:solidFill>
                                      <a:schemeClr val="dk1"/>
                                    </a:solidFill>
                                    <a:effectLst/>
                                    <a:latin typeface="Cambria Math" panose="02040503050406030204" pitchFamily="18" charset="0"/>
                                  </a:rPr>
                                  <m:t>−</m:t>
                                </m:r>
                                <m:r>
                                  <a:rPr lang="en-US" sz="2400" b="1" kern="1200">
                                    <a:solidFill>
                                      <a:schemeClr val="dk1"/>
                                    </a:solidFill>
                                    <a:effectLst/>
                                    <a:latin typeface="Cambria Math" panose="02040503050406030204" pitchFamily="18" charset="0"/>
                                  </a:rPr>
                                  <m:t> </m:t>
                                </m:r>
                                <m:f>
                                  <m:fPr>
                                    <m:ctrlPr>
                                      <a:rPr lang="en-US" sz="2400" b="1" i="1" kern="1200">
                                        <a:solidFill>
                                          <a:schemeClr val="dk1"/>
                                        </a:solidFill>
                                        <a:effectLst/>
                                        <a:latin typeface="Cambria Math" panose="02040503050406030204" pitchFamily="18" charset="0"/>
                                      </a:rPr>
                                    </m:ctrlPr>
                                  </m:fPr>
                                  <m:num>
                                    <m:r>
                                      <a:rPr lang="en-US" sz="2400" b="1" kern="1200">
                                        <a:solidFill>
                                          <a:schemeClr val="dk1"/>
                                        </a:solidFill>
                                        <a:effectLst/>
                                        <a:latin typeface="Cambria Math" panose="02040503050406030204" pitchFamily="18" charset="0"/>
                                      </a:rPr>
                                      <m:t>𝟏</m:t>
                                    </m:r>
                                  </m:num>
                                  <m:den>
                                    <m:r>
                                      <a:rPr lang="en-US" sz="2400" b="1" kern="1200">
                                        <a:solidFill>
                                          <a:schemeClr val="dk1"/>
                                        </a:solidFill>
                                        <a:effectLst/>
                                        <a:latin typeface="Cambria Math" panose="02040503050406030204" pitchFamily="18" charset="0"/>
                                      </a:rPr>
                                      <m:t>𝟐</m:t>
                                    </m:r>
                                  </m:den>
                                </m:f>
                                <m:r>
                                  <m:rPr>
                                    <m:nor/>
                                  </m:rPr>
                                  <a:rPr lang="en-US" sz="2400" b="1" kern="1200" smtClean="0">
                                    <a:solidFill>
                                      <a:schemeClr val="dk1"/>
                                    </a:solidFill>
                                    <a:effectLst/>
                                  </a:rPr>
                                  <m:t>g</m:t>
                                </m:r>
                                <m:sSup>
                                  <m:sSupPr>
                                    <m:ctrlPr>
                                      <a:rPr lang="en-US" sz="2400" b="1" i="1" kern="120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𝒕</m:t>
                                    </m:r>
                                  </m:e>
                                  <m:sup>
                                    <m:r>
                                      <a:rPr lang="en-US" sz="2400" b="1" kern="1200">
                                        <a:solidFill>
                                          <a:schemeClr val="dk1"/>
                                        </a:solidFill>
                                        <a:effectLst/>
                                        <a:latin typeface="Cambria Math" panose="02040503050406030204" pitchFamily="18" charset="0"/>
                                      </a:rPr>
                                      <m:t>𝟐</m:t>
                                    </m:r>
                                  </m:sup>
                                </m:sSup>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left"/>
                              </m:oMathParaPr>
                              <m:oMath xmlns:m="http://schemas.openxmlformats.org/officeDocument/2006/math">
                                <m:sSub>
                                  <m:sSubPr>
                                    <m:ctrlPr>
                                      <a:rPr lang="en-US" sz="2400" b="1" i="1" kern="1200" smtClean="0">
                                        <a:solidFill>
                                          <a:srgbClr val="000000"/>
                                        </a:solidFill>
                                        <a:effectLst/>
                                        <a:latin typeface="Cambria Math" panose="02040503050406030204" pitchFamily="18" charset="0"/>
                                      </a:rPr>
                                    </m:ctrlPr>
                                  </m:sSubPr>
                                  <m:e>
                                    <m:r>
                                      <a:rPr lang="en-US" sz="2400" b="1" kern="1200" smtClean="0">
                                        <a:solidFill>
                                          <a:srgbClr val="000000"/>
                                        </a:solidFill>
                                        <a:effectLst/>
                                        <a:latin typeface="Cambria Math" panose="02040503050406030204" pitchFamily="18" charset="0"/>
                                      </a:rPr>
                                      <m:t>𝒚</m:t>
                                    </m:r>
                                  </m:e>
                                  <m:sub>
                                    <m:r>
                                      <a:rPr lang="en-US" sz="2400" b="1" kern="1200">
                                        <a:solidFill>
                                          <a:srgbClr val="000000"/>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r>
                                  <a:rPr lang="en-US" sz="2400" b="1" kern="1200" smtClean="0">
                                    <a:solidFill>
                                      <a:schemeClr val="dk1"/>
                                    </a:solidFill>
                                    <a:effectLst/>
                                    <a:latin typeface="Cambria Math" panose="02040503050406030204" pitchFamily="18" charset="0"/>
                                  </a:rPr>
                                  <m:t>𝒚</m:t>
                                </m:r>
                                <m:r>
                                  <a:rPr lang="en-US" sz="2400" b="1" kern="1200" smtClean="0">
                                    <a:solidFill>
                                      <a:srgbClr val="000000"/>
                                    </a:solidFill>
                                    <a:effectLst/>
                                    <a:latin typeface="Cambria Math" panose="02040503050406030204" pitchFamily="18" charset="0"/>
                                  </a:rPr>
                                  <m:t>, </m:t>
                                </m:r>
                                <m:r>
                                  <a:rPr lang="en-US" sz="2400" b="1" kern="1200">
                                    <a:solidFill>
                                      <a:schemeClr val="dk1"/>
                                    </a:solidFill>
                                    <a:effectLst/>
                                    <a:latin typeface="Cambria Math" panose="02040503050406030204" pitchFamily="18" charset="0"/>
                                  </a:rPr>
                                  <m:t>𝒕</m:t>
                                </m:r>
                                <m:r>
                                  <a:rPr lang="en-US" sz="2400" b="1" kern="1200">
                                    <a:solidFill>
                                      <a:schemeClr val="dk1"/>
                                    </a:solidFill>
                                    <a:effectLst/>
                                    <a:latin typeface="Cambria Math" panose="02040503050406030204" pitchFamily="18" charset="0"/>
                                  </a:rPr>
                                  <m:t>,</m:t>
                                </m:r>
                                <m:sSub>
                                  <m:sSubPr>
                                    <m:ctrlPr>
                                      <a:rPr lang="en-US" sz="2400" b="1" i="1" kern="1200" smtClean="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m:rPr>
                                    <m:nor/>
                                  </m:rPr>
                                  <a:rPr lang="en-US" sz="2400" b="1" kern="1200" smtClean="0">
                                    <a:solidFill>
                                      <a:schemeClr val="dk1"/>
                                    </a:solidFill>
                                    <a:effectLst/>
                                  </a:rPr>
                                  <m:t>, </m:t>
                                </m:r>
                                <m:r>
                                  <m:rPr>
                                    <m:nor/>
                                  </m:rPr>
                                  <a:rPr lang="en-US" sz="2400" b="1" kern="1200" smtClean="0">
                                    <a:solidFill>
                                      <a:schemeClr val="dk1"/>
                                    </a:solidFill>
                                    <a:effectLst/>
                                  </a:rPr>
                                  <m:t>g</m:t>
                                </m:r>
                              </m:oMath>
                            </m:oMathPara>
                          </a14:m>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898794"/>
                      </a:ext>
                    </a:extLst>
                  </a:tr>
                  <a:tr h="906349">
                    <a:tc>
                      <a:txBody>
                        <a:bodyPr/>
                        <a:lstStyle/>
                        <a:p>
                          <a:r>
                            <a:rPr lang="en-US" sz="2400" b="1" dirty="0"/>
                            <a:t>3</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2400" b="1" i="1" kern="1200" smtClean="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𝒗</m:t>
                                    </m:r>
                                  </m:e>
                                  <m:sup>
                                    <m:r>
                                      <a:rPr lang="en-US" sz="2400" b="1" kern="1200">
                                        <a:solidFill>
                                          <a:schemeClr val="dk1"/>
                                        </a:solidFill>
                                        <a:effectLst/>
                                        <a:latin typeface="Cambria Math" panose="02040503050406030204" pitchFamily="18" charset="0"/>
                                      </a:rPr>
                                      <m:t>𝟐</m:t>
                                    </m:r>
                                  </m:sup>
                                </m:sSup>
                                <m:r>
                                  <a:rPr lang="en-US" sz="2400" b="1" kern="1200">
                                    <a:solidFill>
                                      <a:schemeClr val="dk1"/>
                                    </a:solidFill>
                                    <a:effectLst/>
                                    <a:latin typeface="Cambria Math" panose="02040503050406030204" pitchFamily="18" charset="0"/>
                                  </a:rPr>
                                  <m:t>=</m:t>
                                </m:r>
                                <m:sSup>
                                  <m:sSupPr>
                                    <m:ctrlPr>
                                      <a:rPr lang="en-US" sz="2400" b="1" i="1" kern="1200">
                                        <a:solidFill>
                                          <a:schemeClr val="dk1"/>
                                        </a:solidFill>
                                        <a:effectLst/>
                                        <a:latin typeface="Cambria Math" panose="02040503050406030204" pitchFamily="18" charset="0"/>
                                      </a:rPr>
                                    </m:ctrlPr>
                                  </m:sSupPr>
                                  <m:e>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e>
                                  <m:sup>
                                    <m:r>
                                      <a:rPr lang="en-US" sz="2400" b="1" kern="1200">
                                        <a:solidFill>
                                          <a:schemeClr val="dk1"/>
                                        </a:solidFill>
                                        <a:effectLst/>
                                        <a:latin typeface="Cambria Math" panose="02040503050406030204" pitchFamily="18" charset="0"/>
                                      </a:rPr>
                                      <m:t>𝟐</m:t>
                                    </m:r>
                                  </m:sup>
                                </m:sSup>
                                <m:r>
                                  <a:rPr lang="en-US" sz="2400" b="1" kern="1200">
                                    <a:solidFill>
                                      <a:schemeClr val="dk1"/>
                                    </a:solidFill>
                                    <a:effectLst/>
                                    <a:latin typeface="Cambria Math" panose="02040503050406030204" pitchFamily="18" charset="0"/>
                                  </a:rPr>
                                  <m:t>+</m:t>
                                </m:r>
                                <m:r>
                                  <m:rPr>
                                    <m:nor/>
                                  </m:rPr>
                                  <a:rPr lang="en-US" sz="2400" b="1" kern="1200">
                                    <a:solidFill>
                                      <a:schemeClr val="dk1"/>
                                    </a:solidFill>
                                    <a:effectLst/>
                                  </a:rPr>
                                  <m:t>2</m:t>
                                </m:r>
                                <m:r>
                                  <m:rPr>
                                    <m:nor/>
                                  </m:rPr>
                                  <a:rPr lang="en-US" sz="2400" b="1" kern="1200" smtClean="0">
                                    <a:solidFill>
                                      <a:schemeClr val="dk1"/>
                                    </a:solidFill>
                                    <a:effectLst/>
                                  </a:rPr>
                                  <m:t>g</m:t>
                                </m:r>
                                <m:r>
                                  <m:rPr>
                                    <m:nor/>
                                  </m:rPr>
                                  <a:rPr lang="en-US" sz="2400" b="1" kern="1200" smtClean="0">
                                    <a:solidFill>
                                      <a:schemeClr val="dk1"/>
                                    </a:solidFill>
                                    <a:effectLst/>
                                  </a:rPr>
                                  <m:t> (</m:t>
                                </m:r>
                                <m:r>
                                  <a:rPr lang="en-US" sz="2400" b="1" kern="1200" smtClean="0">
                                    <a:solidFill>
                                      <a:srgbClr val="000000"/>
                                    </a:solidFill>
                                    <a:effectLst/>
                                    <a:latin typeface="Cambria Math" panose="02040503050406030204" pitchFamily="18" charset="0"/>
                                  </a:rPr>
                                  <m:t>𝒚</m:t>
                                </m:r>
                                <m:r>
                                  <m:rPr>
                                    <m:nor/>
                                  </m:rPr>
                                  <a:rPr lang="en-US" sz="2400" b="1" kern="1200">
                                    <a:solidFill>
                                      <a:schemeClr val="dk1"/>
                                    </a:solidFill>
                                    <a:effectLst/>
                                  </a:rPr>
                                  <m:t>−</m:t>
                                </m:r>
                                <m:sSub>
                                  <m:sSubPr>
                                    <m:ctrlPr>
                                      <a:rPr lang="en-US" sz="2400" b="1" i="1" kern="1200" smtClean="0">
                                        <a:solidFill>
                                          <a:srgbClr val="000000"/>
                                        </a:solidFill>
                                        <a:effectLst/>
                                        <a:latin typeface="Cambria Math" panose="02040503050406030204" pitchFamily="18" charset="0"/>
                                      </a:rPr>
                                    </m:ctrlPr>
                                  </m:sSubPr>
                                  <m:e>
                                    <m:r>
                                      <a:rPr lang="en-US" sz="2400" b="1" kern="1200" smtClean="0">
                                        <a:solidFill>
                                          <a:srgbClr val="000000"/>
                                        </a:solidFill>
                                        <a:effectLst/>
                                        <a:latin typeface="Cambria Math" panose="02040503050406030204" pitchFamily="18" charset="0"/>
                                      </a:rPr>
                                      <m:t>𝒚</m:t>
                                    </m:r>
                                  </m:e>
                                  <m:sub>
                                    <m:r>
                                      <a:rPr lang="en-US" sz="2400" b="1" kern="1200">
                                        <a:solidFill>
                                          <a:srgbClr val="000000"/>
                                        </a:solidFill>
                                        <a:effectLst/>
                                        <a:latin typeface="Cambria Math" panose="02040503050406030204" pitchFamily="18" charset="0"/>
                                      </a:rPr>
                                      <m:t>𝟎</m:t>
                                    </m:r>
                                  </m:sub>
                                </m:sSub>
                                <m:r>
                                  <m:rPr>
                                    <m:nor/>
                                  </m:rPr>
                                  <a:rPr lang="en-US" sz="2400" b="1" kern="1200">
                                    <a:solidFill>
                                      <a:schemeClr val="dk1"/>
                                    </a:solidFill>
                                    <a:effectLst/>
                                  </a:rPr>
                                  <m:t>)</m:t>
                                </m:r>
                              </m:oMath>
                            </m:oMathPara>
                          </a14:m>
                          <a:endParaRPr lang="en-US" sz="2400" b="1" kern="1200" dirty="0">
                            <a:solidFill>
                              <a:schemeClr val="dk1"/>
                            </a:solidFill>
                            <a:effectLst/>
                          </a:endParaRPr>
                        </a:p>
                        <a:p>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sz="2400" b="1" i="1" kern="1200" smtClean="0">
                                        <a:solidFill>
                                          <a:schemeClr val="dk1"/>
                                        </a:solidFill>
                                        <a:effectLst/>
                                        <a:latin typeface="Cambria Math" panose="02040503050406030204" pitchFamily="18" charset="0"/>
                                      </a:rPr>
                                    </m:ctrlPr>
                                  </m:sSupPr>
                                  <m:e>
                                    <m:r>
                                      <a:rPr lang="en-US" sz="2400" b="1" kern="1200">
                                        <a:solidFill>
                                          <a:schemeClr val="dk1"/>
                                        </a:solidFill>
                                        <a:effectLst/>
                                        <a:latin typeface="Cambria Math" panose="02040503050406030204" pitchFamily="18" charset="0"/>
                                      </a:rPr>
                                      <m:t>𝒗</m:t>
                                    </m:r>
                                    <m:r>
                                      <a:rPr lang="en-US" sz="2400" b="1" kern="1200">
                                        <a:solidFill>
                                          <a:schemeClr val="dk1"/>
                                        </a:solidFill>
                                        <a:effectLst/>
                                        <a:latin typeface="Cambria Math" panose="02040503050406030204" pitchFamily="18" charset="0"/>
                                      </a:rPr>
                                      <m:t>,</m:t>
                                    </m:r>
                                    <m:sSub>
                                      <m:sSubPr>
                                        <m:ctrlPr>
                                          <a:rPr lang="en-US" sz="2400" b="1" i="1" kern="1200">
                                            <a:solidFill>
                                              <a:schemeClr val="dk1"/>
                                            </a:solidFill>
                                            <a:effectLst/>
                                            <a:latin typeface="Cambria Math" panose="02040503050406030204" pitchFamily="18" charset="0"/>
                                          </a:rPr>
                                        </m:ctrlPr>
                                      </m:sSubPr>
                                      <m:e>
                                        <m:r>
                                          <a:rPr lang="en-US" sz="2400" b="1" kern="1200">
                                            <a:solidFill>
                                              <a:schemeClr val="dk1"/>
                                            </a:solidFill>
                                            <a:effectLst/>
                                            <a:latin typeface="Cambria Math" panose="02040503050406030204" pitchFamily="18" charset="0"/>
                                          </a:rPr>
                                          <m:t>𝒗</m:t>
                                        </m:r>
                                      </m:e>
                                      <m:sub>
                                        <m:r>
                                          <a:rPr lang="en-US" sz="2400" b="1" kern="1200">
                                            <a:solidFill>
                                              <a:schemeClr val="dk1"/>
                                            </a:solidFill>
                                            <a:effectLst/>
                                            <a:latin typeface="Cambria Math" panose="02040503050406030204" pitchFamily="18" charset="0"/>
                                          </a:rPr>
                                          <m:t>𝟎</m:t>
                                        </m:r>
                                      </m:sub>
                                    </m:sSub>
                                    <m:r>
                                      <a:rPr lang="en-US" sz="2400" b="1" kern="1200">
                                        <a:solidFill>
                                          <a:schemeClr val="dk1"/>
                                        </a:solidFill>
                                        <a:effectLst/>
                                        <a:latin typeface="Cambria Math" panose="02040503050406030204" pitchFamily="18" charset="0"/>
                                      </a:rPr>
                                      <m:t>,</m:t>
                                    </m:r>
                                  </m:e>
                                  <m:sup>
                                    <m:r>
                                      <a:rPr lang="en-US" sz="2400" b="1" kern="1200">
                                        <a:solidFill>
                                          <a:schemeClr val="dk1"/>
                                        </a:solidFill>
                                        <a:effectLst/>
                                        <a:latin typeface="Cambria Math" panose="02040503050406030204" pitchFamily="18" charset="0"/>
                                      </a:rPr>
                                      <m:t> </m:t>
                                    </m:r>
                                  </m:sup>
                                </m:sSup>
                                <m:r>
                                  <m:rPr>
                                    <m:nor/>
                                  </m:rPr>
                                  <a:rPr lang="en-US" sz="2400" b="1" kern="1200" smtClean="0">
                                    <a:solidFill>
                                      <a:schemeClr val="dk1"/>
                                    </a:solidFill>
                                    <a:effectLst/>
                                  </a:rPr>
                                  <m:t>g</m:t>
                                </m:r>
                                <m:r>
                                  <m:rPr>
                                    <m:nor/>
                                  </m:rPr>
                                  <a:rPr lang="en-US" sz="2400" b="1" kern="1200">
                                    <a:solidFill>
                                      <a:schemeClr val="dk1"/>
                                    </a:solidFill>
                                    <a:effectLst/>
                                  </a:rPr>
                                  <m:t>,</m:t>
                                </m:r>
                                <m:r>
                                  <a:rPr lang="en-US" sz="2400" b="1" kern="1200" smtClean="0">
                                    <a:solidFill>
                                      <a:schemeClr val="dk1"/>
                                    </a:solidFill>
                                    <a:effectLst/>
                                    <a:latin typeface="Cambria Math" panose="02040503050406030204" pitchFamily="18" charset="0"/>
                                  </a:rPr>
                                  <m:t>   </m:t>
                                </m:r>
                                <m:r>
                                  <a:rPr lang="en-US" sz="2400" b="1" kern="1200" smtClean="0">
                                    <a:solidFill>
                                      <a:srgbClr val="000000"/>
                                    </a:solidFill>
                                    <a:effectLst/>
                                    <a:latin typeface="Cambria Math" panose="02040503050406030204" pitchFamily="18" charset="0"/>
                                  </a:rPr>
                                  <m:t>𝒚</m:t>
                                </m:r>
                                <m:r>
                                  <a:rPr lang="en-US" sz="2400" b="1" kern="1200" smtClean="0">
                                    <a:solidFill>
                                      <a:srgbClr val="000000"/>
                                    </a:solidFill>
                                    <a:effectLst/>
                                    <a:latin typeface="Cambria Math" panose="02040503050406030204" pitchFamily="18" charset="0"/>
                                  </a:rPr>
                                  <m:t>,</m:t>
                                </m:r>
                                <m:sSub>
                                  <m:sSubPr>
                                    <m:ctrlPr>
                                      <a:rPr lang="en-US" sz="2400" b="1" i="1" kern="1200" smtClean="0">
                                        <a:solidFill>
                                          <a:srgbClr val="000000"/>
                                        </a:solidFill>
                                        <a:effectLst/>
                                        <a:latin typeface="Cambria Math" panose="02040503050406030204" pitchFamily="18" charset="0"/>
                                      </a:rPr>
                                    </m:ctrlPr>
                                  </m:sSubPr>
                                  <m:e>
                                    <m:r>
                                      <a:rPr lang="en-US" sz="2400" b="1" kern="1200" smtClean="0">
                                        <a:solidFill>
                                          <a:srgbClr val="000000"/>
                                        </a:solidFill>
                                        <a:effectLst/>
                                        <a:latin typeface="Cambria Math" panose="02040503050406030204" pitchFamily="18" charset="0"/>
                                      </a:rPr>
                                      <m:t>𝒚</m:t>
                                    </m:r>
                                  </m:e>
                                  <m:sub>
                                    <m:r>
                                      <a:rPr lang="en-US" sz="2400" b="1" kern="1200">
                                        <a:solidFill>
                                          <a:srgbClr val="000000"/>
                                        </a:solidFill>
                                        <a:effectLst/>
                                        <a:latin typeface="Cambria Math" panose="02040503050406030204" pitchFamily="18" charset="0"/>
                                      </a:rPr>
                                      <m:t>𝟎</m:t>
                                    </m:r>
                                  </m:sub>
                                </m:sSub>
                              </m:oMath>
                            </m:oMathPara>
                          </a14:m>
                          <a:endParaRPr lang="en-US" sz="2400" b="1" kern="1200" dirty="0">
                            <a:solidFill>
                              <a:schemeClr val="dk1"/>
                            </a:solidFill>
                            <a:effectLst/>
                          </a:endParaRPr>
                        </a:p>
                        <a:p>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608513"/>
                      </a:ext>
                    </a:extLst>
                  </a:tr>
                </a:tbl>
              </a:graphicData>
            </a:graphic>
          </p:graphicFrame>
        </mc:Choice>
        <mc:Fallback xmlns="">
          <p:graphicFrame>
            <p:nvGraphicFramePr>
              <p:cNvPr id="5" name="Table 5">
                <a:extLst>
                  <a:ext uri="{FF2B5EF4-FFF2-40B4-BE49-F238E27FC236}">
                    <a16:creationId xmlns:a16="http://schemas.microsoft.com/office/drawing/2014/main" id="{9B8CA29E-8B8C-B9B7-9187-E14238F0234F}"/>
                  </a:ext>
                </a:extLst>
              </p:cNvPr>
              <p:cNvGraphicFramePr>
                <a:graphicFrameLocks noGrp="1"/>
              </p:cNvGraphicFramePr>
              <p:nvPr>
                <p:extLst>
                  <p:ext uri="{D42A27DB-BD31-4B8C-83A1-F6EECF244321}">
                    <p14:modId xmlns:p14="http://schemas.microsoft.com/office/powerpoint/2010/main" val="993400822"/>
                  </p:ext>
                </p:extLst>
              </p:nvPr>
            </p:nvGraphicFramePr>
            <p:xfrm>
              <a:off x="824248" y="2569336"/>
              <a:ext cx="6832611" cy="2602979"/>
            </p:xfrm>
            <a:graphic>
              <a:graphicData uri="http://schemas.openxmlformats.org/drawingml/2006/table">
                <a:tbl>
                  <a:tblPr firstRow="1" bandRow="1">
                    <a:tableStyleId>{46F890A9-2807-4EBB-B81D-B2AA78EC7F39}</a:tableStyleId>
                  </a:tblPr>
                  <a:tblGrid>
                    <a:gridCol w="716944">
                      <a:extLst>
                        <a:ext uri="{9D8B030D-6E8A-4147-A177-3AD203B41FA5}">
                          <a16:colId xmlns:a16="http://schemas.microsoft.com/office/drawing/2014/main" val="344239218"/>
                        </a:ext>
                      </a:extLst>
                    </a:gridCol>
                    <a:gridCol w="3838130">
                      <a:extLst>
                        <a:ext uri="{9D8B030D-6E8A-4147-A177-3AD203B41FA5}">
                          <a16:colId xmlns:a16="http://schemas.microsoft.com/office/drawing/2014/main" val="4241412567"/>
                        </a:ext>
                      </a:extLst>
                    </a:gridCol>
                    <a:gridCol w="2277537">
                      <a:extLst>
                        <a:ext uri="{9D8B030D-6E8A-4147-A177-3AD203B41FA5}">
                          <a16:colId xmlns:a16="http://schemas.microsoft.com/office/drawing/2014/main" val="1800025546"/>
                        </a:ext>
                      </a:extLst>
                    </a:gridCol>
                  </a:tblGrid>
                  <a:tr h="404361">
                    <a:tc>
                      <a:txBody>
                        <a:bodyPr/>
                        <a:lstStyle/>
                        <a:p>
                          <a:r>
                            <a:rPr lang="en-US"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EQUATION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QUANTITIES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8584805"/>
                      </a:ext>
                    </a:extLst>
                  </a:tr>
                  <a:tr h="516045">
                    <a:tc>
                      <a:txBody>
                        <a:bodyPr/>
                        <a:lstStyle/>
                        <a:p>
                          <a:pPr marL="0" marR="0">
                            <a:spcBef>
                              <a:spcPts val="0"/>
                            </a:spcBef>
                            <a:spcAft>
                              <a:spcPts val="0"/>
                            </a:spcAft>
                          </a:pPr>
                          <a:r>
                            <a:rPr lang="en-US" sz="2400" b="1" dirty="0">
                              <a:solidFill>
                                <a:srgbClr val="000000"/>
                              </a:solidFill>
                              <a:effectLst/>
                            </a:rPr>
                            <a:t>1</a:t>
                          </a:r>
                          <a:endParaRPr lang="en-US" sz="2400" b="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89" t="-83529" r="-59683" b="-32823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67" t="-83529" r="-535" b="-328235"/>
                          </a:stretch>
                        </a:blipFill>
                      </a:tcPr>
                    </a:tc>
                    <a:extLst>
                      <a:ext uri="{0D108BD9-81ED-4DB2-BD59-A6C34878D82A}">
                        <a16:rowId xmlns:a16="http://schemas.microsoft.com/office/drawing/2014/main" val="710372999"/>
                      </a:ext>
                    </a:extLst>
                  </a:tr>
                  <a:tr h="776224">
                    <a:tc>
                      <a:txBody>
                        <a:bodyPr/>
                        <a:lstStyle/>
                        <a:p>
                          <a:r>
                            <a:rPr lang="en-US" sz="2400" b="1" dirty="0"/>
                            <a:t>2</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89" t="-121875" r="-59683" b="-11796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67" t="-121875" r="-535" b="-117969"/>
                          </a:stretch>
                        </a:blipFill>
                      </a:tcPr>
                    </a:tc>
                    <a:extLst>
                      <a:ext uri="{0D108BD9-81ED-4DB2-BD59-A6C34878D82A}">
                        <a16:rowId xmlns:a16="http://schemas.microsoft.com/office/drawing/2014/main" val="629898794"/>
                      </a:ext>
                    </a:extLst>
                  </a:tr>
                  <a:tr h="906349">
                    <a:tc>
                      <a:txBody>
                        <a:bodyPr/>
                        <a:lstStyle/>
                        <a:p>
                          <a:r>
                            <a:rPr lang="en-US" sz="2400" b="1" dirty="0"/>
                            <a:t>3</a:t>
                          </a:r>
                          <a:endParaRPr lang="en-US" sz="2400" b="1" dirty="0">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89" t="-190604" r="-59683" b="-1342"/>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267" t="-190604" r="-535" b="-1342"/>
                          </a:stretch>
                        </a:blipFill>
                      </a:tcPr>
                    </a:tc>
                    <a:extLst>
                      <a:ext uri="{0D108BD9-81ED-4DB2-BD59-A6C34878D82A}">
                        <a16:rowId xmlns:a16="http://schemas.microsoft.com/office/drawing/2014/main" val="2506608513"/>
                      </a:ext>
                    </a:extLst>
                  </a:tr>
                </a:tbl>
              </a:graphicData>
            </a:graphic>
          </p:graphicFrame>
        </mc:Fallback>
      </mc:AlternateContent>
      <p:sp>
        <p:nvSpPr>
          <p:cNvPr id="7" name="TextBox 6">
            <a:extLst>
              <a:ext uri="{FF2B5EF4-FFF2-40B4-BE49-F238E27FC236}">
                <a16:creationId xmlns:a16="http://schemas.microsoft.com/office/drawing/2014/main" id="{3BA519E3-50B3-047A-5ADB-3730146CC9AB}"/>
              </a:ext>
            </a:extLst>
          </p:cNvPr>
          <p:cNvSpPr txBox="1"/>
          <p:nvPr/>
        </p:nvSpPr>
        <p:spPr>
          <a:xfrm>
            <a:off x="392805" y="1398725"/>
            <a:ext cx="6226935" cy="369332"/>
          </a:xfrm>
          <a:prstGeom prst="rect">
            <a:avLst/>
          </a:prstGeom>
          <a:noFill/>
        </p:spPr>
        <p:txBody>
          <a:bodyPr wrap="square">
            <a:spAutoFit/>
          </a:bodyPr>
          <a:lstStyle/>
          <a:p>
            <a:r>
              <a:rPr lang="en-US" dirty="0"/>
              <a:t>acceleration equals −</a:t>
            </a:r>
            <a:r>
              <a:rPr lang="en-US" i="1" dirty="0"/>
              <a:t>g</a:t>
            </a:r>
            <a:r>
              <a:rPr lang="en-US" dirty="0"/>
              <a:t> (with the positive direction upward).</a:t>
            </a:r>
          </a:p>
        </p:txBody>
      </p:sp>
      <p:pic>
        <p:nvPicPr>
          <p:cNvPr id="3" name="Picture 2" descr="Raji K Physics Logo">
            <a:extLst>
              <a:ext uri="{FF2B5EF4-FFF2-40B4-BE49-F238E27FC236}">
                <a16:creationId xmlns:a16="http://schemas.microsoft.com/office/drawing/2014/main" id="{0229528D-B545-2E00-1CC1-60CFF2E8970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232502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DB4FD-9007-12B7-C1B1-5699A3FE4F30}"/>
              </a:ext>
            </a:extLst>
          </p:cNvPr>
          <p:cNvSpPr>
            <a:spLocks noGrp="1"/>
          </p:cNvSpPr>
          <p:nvPr>
            <p:ph type="title"/>
          </p:nvPr>
        </p:nvSpPr>
        <p:spPr>
          <a:xfrm>
            <a:off x="148106" y="173866"/>
            <a:ext cx="8854225" cy="572449"/>
          </a:xfrm>
        </p:spPr>
        <p:txBody>
          <a:bodyPr>
            <a:normAutofit/>
          </a:bodyPr>
          <a:lstStyle/>
          <a:p>
            <a:pPr algn="ctr"/>
            <a:r>
              <a:rPr lang="en-US" sz="2800" b="1" dirty="0">
                <a:solidFill>
                  <a:schemeClr val="tx1"/>
                </a:solidFill>
              </a:rPr>
              <a:t>Problem-Solving Strategy : Free Fall </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615E215-CC0F-40DE-FBEB-2525D7E139D6}"/>
                  </a:ext>
                </a:extLst>
              </p:cNvPr>
              <p:cNvSpPr>
                <a:spLocks noGrp="1"/>
              </p:cNvSpPr>
              <p:nvPr>
                <p:ph type="body" sz="quarter" idx="14"/>
              </p:nvPr>
            </p:nvSpPr>
            <p:spPr>
              <a:xfrm>
                <a:off x="457200" y="1476157"/>
                <a:ext cx="8062912" cy="4364412"/>
              </a:xfrm>
            </p:spPr>
            <p:txBody>
              <a:bodyPr>
                <a:normAutofit/>
              </a:bodyPr>
              <a:lstStyle/>
              <a:p>
                <a:pPr>
                  <a:buClrTx/>
                  <a:buFont typeface="+mj-lt"/>
                  <a:buAutoNum type="arabicPeriod"/>
                </a:pPr>
                <a:r>
                  <a:rPr lang="en-US" b="1" dirty="0"/>
                  <a:t>Decide on the sign of the acceleration of gravity.  In the table acceleration </a:t>
                </a:r>
                <a:r>
                  <a:rPr lang="en-US" b="1" i="1" dirty="0"/>
                  <a:t>g</a:t>
                </a:r>
                <a:r>
                  <a:rPr lang="en-US" b="1" dirty="0"/>
                  <a:t> is negative, which says the positive direction is upward and the negative direction is downward. Use </a:t>
                </a:r>
                <a14:m>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𝒈</m:t>
                        </m:r>
                      </m:e>
                    </m:d>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 </m:t>
                        </m:r>
                      </m:e>
                    </m:d>
                  </m:oMath>
                </a14:m>
                <a:r>
                  <a:rPr lang="en-US" b="1" dirty="0"/>
                  <a:t> = 9.8 m/s</a:t>
                </a:r>
                <a:r>
                  <a:rPr lang="en-US" b="1" baseline="30000" dirty="0"/>
                  <a:t>2</a:t>
                </a:r>
                <a:r>
                  <a:rPr lang="en-US" b="1" dirty="0"/>
                  <a:t> in calculations.</a:t>
                </a:r>
              </a:p>
              <a:p>
                <a:pPr>
                  <a:buClrTx/>
                  <a:buFont typeface="+mj-lt"/>
                  <a:buAutoNum type="arabicPeriod"/>
                </a:pPr>
                <a:r>
                  <a:rPr lang="en-US" b="1" dirty="0"/>
                  <a:t>Draw a sketch of the problem. This helps visualize the physics involved.</a:t>
                </a:r>
              </a:p>
              <a:p>
                <a:pPr>
                  <a:buClrTx/>
                  <a:buFont typeface="+mj-lt"/>
                  <a:buAutoNum type="arabicPeriod"/>
                </a:pPr>
                <a:r>
                  <a:rPr lang="en-US" b="1" dirty="0"/>
                  <a:t>Record the knowns and unknowns from the problem description. This helps devise a strategy for selecting the appropriate equations to solve the problem.</a:t>
                </a:r>
              </a:p>
              <a:p>
                <a:pPr>
                  <a:buClrTx/>
                  <a:buFont typeface="+mj-lt"/>
                  <a:buAutoNum type="arabicPeriod"/>
                </a:pPr>
                <a:r>
                  <a:rPr lang="en-US" b="1" dirty="0"/>
                  <a:t>Decide which of  are to be used to solve for the unknowns.</a:t>
                </a:r>
              </a:p>
              <a:p>
                <a:endParaRPr lang="en-US" dirty="0"/>
              </a:p>
            </p:txBody>
          </p:sp>
        </mc:Choice>
        <mc:Fallback xmlns="">
          <p:sp>
            <p:nvSpPr>
              <p:cNvPr id="4" name="Text Placeholder 3">
                <a:extLst>
                  <a:ext uri="{FF2B5EF4-FFF2-40B4-BE49-F238E27FC236}">
                    <a16:creationId xmlns:a16="http://schemas.microsoft.com/office/drawing/2014/main" id="{B615E215-CC0F-40DE-FBEB-2525D7E139D6}"/>
                  </a:ext>
                </a:extLst>
              </p:cNvPr>
              <p:cNvSpPr>
                <a:spLocks noGrp="1" noRot="1" noChangeAspect="1" noMove="1" noResize="1" noEditPoints="1" noAdjustHandles="1" noChangeArrowheads="1" noChangeShapeType="1" noTextEdit="1"/>
              </p:cNvSpPr>
              <p:nvPr>
                <p:ph type="body" sz="quarter" idx="14"/>
              </p:nvPr>
            </p:nvSpPr>
            <p:spPr>
              <a:xfrm>
                <a:off x="457200" y="1476157"/>
                <a:ext cx="8062912" cy="4364412"/>
              </a:xfrm>
              <a:blipFill>
                <a:blip r:embed="rId2"/>
                <a:stretch>
                  <a:fillRect l="-756" t="-559"/>
                </a:stretch>
              </a:blipFill>
            </p:spPr>
            <p:txBody>
              <a:bodyPr/>
              <a:lstStyle/>
              <a:p>
                <a:r>
                  <a:rPr lang="en-US">
                    <a:noFill/>
                  </a:rPr>
                  <a:t> </a:t>
                </a:r>
              </a:p>
            </p:txBody>
          </p:sp>
        </mc:Fallback>
      </mc:AlternateContent>
      <p:pic>
        <p:nvPicPr>
          <p:cNvPr id="5" name="Picture 4" descr="OpenStax logo">
            <a:extLst>
              <a:ext uri="{FF2B5EF4-FFF2-40B4-BE49-F238E27FC236}">
                <a16:creationId xmlns:a16="http://schemas.microsoft.com/office/drawing/2014/main" id="{AC357F79-580E-1D39-AC10-111ECD51EF4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667913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57337"/>
            <a:ext cx="8062912" cy="659535"/>
          </a:xfrm>
        </p:spPr>
        <p:txBody>
          <a:bodyPr>
            <a:normAutofit/>
          </a:bodyPr>
          <a:lstStyle/>
          <a:p>
            <a:pPr algn="ctr"/>
            <a:r>
              <a:rPr lang="en-US" sz="3200" dirty="0">
                <a:solidFill>
                  <a:srgbClr val="6CB255"/>
                </a:solidFill>
              </a:rPr>
              <a:t> </a:t>
            </a:r>
            <a:r>
              <a:rPr lang="en-US" sz="3200" dirty="0">
                <a:solidFill>
                  <a:schemeClr val="tx1"/>
                </a:solidFill>
              </a:rPr>
              <a:t> </a:t>
            </a:r>
            <a:r>
              <a:rPr lang="en-US" sz="2800" b="1" dirty="0">
                <a:solidFill>
                  <a:schemeClr val="tx1"/>
                </a:solidFill>
              </a:rPr>
              <a:t>Free Fall of a Ball</a:t>
            </a:r>
            <a:endParaRPr lang="en-US" sz="2800" dirty="0">
              <a:solidFill>
                <a:schemeClr val="tx1"/>
              </a:solidFill>
            </a:endParaRPr>
          </a:p>
        </p:txBody>
      </p:sp>
      <p:sp>
        <p:nvSpPr>
          <p:cNvPr id="14" name="Text Placeholder 13" descr="&#10;"/>
          <p:cNvSpPr>
            <a:spLocks noGrp="1"/>
          </p:cNvSpPr>
          <p:nvPr>
            <p:ph type="body" sz="quarter" idx="14"/>
          </p:nvPr>
        </p:nvSpPr>
        <p:spPr>
          <a:xfrm>
            <a:off x="457200" y="1706452"/>
            <a:ext cx="4114800" cy="3998890"/>
          </a:xfrm>
        </p:spPr>
        <p:txBody>
          <a:bodyPr>
            <a:noAutofit/>
          </a:bodyPr>
          <a:lstStyle/>
          <a:p>
            <a:r>
              <a:rPr lang="en-US" sz="2000" b="1" dirty="0">
                <a:solidFill>
                  <a:srgbClr val="3333FF"/>
                </a:solidFill>
                <a:hlinkClick r:id="rId2">
                  <a:extLst>
                    <a:ext uri="{A12FA001-AC4F-418D-AE19-62706E023703}">
                      <ahyp:hlinkClr xmlns:ahyp="http://schemas.microsoft.com/office/drawing/2018/hyperlinkcolor" val="tx"/>
                    </a:ext>
                  </a:extLst>
                </a:hlinkClick>
              </a:rPr>
              <a:t>Figure 3.27</a:t>
            </a:r>
            <a:r>
              <a:rPr lang="en-US" sz="2000" b="1" dirty="0">
                <a:solidFill>
                  <a:srgbClr val="3333FF"/>
                </a:solidFill>
              </a:rPr>
              <a:t> </a:t>
            </a:r>
            <a:r>
              <a:rPr lang="en-US" sz="2000" b="1" dirty="0">
                <a:solidFill>
                  <a:schemeClr val="tx1"/>
                </a:solidFill>
              </a:rPr>
              <a:t>shows the positions of a ball, at 1-s intervals, with an initial velocity of 4.9 m/s downward, that is thrown from the top of a 98-m-high building. (a) How much time elapses before the ball reaches the ground? (b) What is the velocity when it arrives at the ground? </a:t>
            </a:r>
          </a:p>
          <a:p>
            <a:r>
              <a:rPr lang="en-US" b="1" dirty="0">
                <a:solidFill>
                  <a:schemeClr val="tx1"/>
                </a:solidFill>
                <a:hlinkClick r:id="rId3"/>
              </a:rPr>
              <a:t>CLICK Here for Solution</a:t>
            </a:r>
            <a:endParaRPr lang="en-US" sz="2400" b="1" dirty="0">
              <a:solidFill>
                <a:schemeClr val="tx1"/>
              </a:solidFill>
            </a:endParaRPr>
          </a:p>
        </p:txBody>
      </p:sp>
      <p:pic>
        <p:nvPicPr>
          <p:cNvPr id="2" name="Picture Placeholder 1" descr=" The positions and velocities at 1-s intervals of a ball thrown downward from a tall building at 4.9 m/s."/>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3451" b="-3451"/>
          <a:stretch>
            <a:fillRect/>
          </a:stretch>
        </p:blipFill>
        <p:spPr>
          <a:xfrm>
            <a:off x="4773614" y="900861"/>
            <a:ext cx="4030663" cy="5256213"/>
          </a:xfrm>
        </p:spPr>
      </p:pic>
      <p:pic>
        <p:nvPicPr>
          <p:cNvPr id="6" name="Picture 5" descr="OpenStax logo">
            <a:extLst>
              <a:ext uri="{FF2B5EF4-FFF2-40B4-BE49-F238E27FC236}">
                <a16:creationId xmlns:a16="http://schemas.microsoft.com/office/drawing/2014/main" id="{6A471788-B611-221B-2307-E17E0A18607D}"/>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793688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7360" y="133103"/>
            <a:ext cx="8841941" cy="850723"/>
          </a:xfrm>
        </p:spPr>
        <p:txBody>
          <a:bodyPr>
            <a:normAutofit/>
          </a:bodyPr>
          <a:lstStyle/>
          <a:p>
            <a:pPr>
              <a:defRPr/>
            </a:pPr>
            <a:r>
              <a:rPr lang="en-US" dirty="0"/>
              <a:t> </a:t>
            </a:r>
            <a:r>
              <a:rPr lang="en-US" b="1" dirty="0">
                <a:solidFill>
                  <a:schemeClr val="tx1"/>
                </a:solidFill>
              </a:rPr>
              <a:t>Calculating Position and Velocity of a Falling Object: A Rock Thrown Upward</a:t>
            </a:r>
            <a:endParaRPr lang="en-US" dirty="0">
              <a:solidFill>
                <a:schemeClr val="tx1"/>
              </a:solidFill>
            </a:endParaRPr>
          </a:p>
        </p:txBody>
      </p:sp>
      <p:sp>
        <p:nvSpPr>
          <p:cNvPr id="8195" name="Text Placeholder 13"/>
          <p:cNvSpPr>
            <a:spLocks noGrp="1"/>
          </p:cNvSpPr>
          <p:nvPr>
            <p:ph type="body" sz="quarter" idx="14"/>
          </p:nvPr>
        </p:nvSpPr>
        <p:spPr>
          <a:xfrm>
            <a:off x="476518" y="1108075"/>
            <a:ext cx="8043595" cy="5256213"/>
          </a:xfrm>
        </p:spPr>
        <p:txBody>
          <a:bodyPr>
            <a:noAutofit/>
          </a:bodyPr>
          <a:lstStyle/>
          <a:p>
            <a:pPr marL="342900" indent="-342900">
              <a:buClrTx/>
              <a:buAutoNum type="alphaLcParenR"/>
            </a:pPr>
            <a:r>
              <a:rPr lang="en-US" sz="2400" b="1" dirty="0">
                <a:solidFill>
                  <a:schemeClr val="tx1"/>
                </a:solidFill>
              </a:rPr>
              <a:t>A person throws a rock straight up with an initial velocity of 13.0 m/s. The rock misses the edge of the cliff as it falls back to earth. Calculate the position and velocity of the rock 1.00 s, 2.00 s, and 3.00 s after it is thrown, neglecting the effects of air resistance. </a:t>
            </a:r>
          </a:p>
          <a:p>
            <a:pPr marL="342900" indent="-342900">
              <a:buClrTx/>
              <a:buAutoNum type="alphaLcParenR"/>
            </a:pPr>
            <a:r>
              <a:rPr lang="en-US" sz="2400" b="1" dirty="0">
                <a:solidFill>
                  <a:schemeClr val="tx1"/>
                </a:solidFill>
              </a:rPr>
              <a:t>A person throws a rock straight down from a cliff with the same initial speed as before. calculate the velocity of the rock when it is 5.10 m below the starting point, and has been thrown downward with an initial speed of 13.0 m/s.</a:t>
            </a:r>
          </a:p>
          <a:p>
            <a:pPr>
              <a:buClrTx/>
            </a:pPr>
            <a:r>
              <a:rPr lang="en-US" sz="2400" b="1" dirty="0">
                <a:solidFill>
                  <a:schemeClr val="tx1"/>
                </a:solidFill>
                <a:hlinkClick r:id="rId2"/>
              </a:rPr>
              <a:t>Click Here for solution</a:t>
            </a:r>
            <a:endParaRPr lang="en-US" sz="2400" b="1" dirty="0">
              <a:solidFill>
                <a:schemeClr val="tx1"/>
              </a:solidFill>
            </a:endParaRPr>
          </a:p>
        </p:txBody>
      </p:sp>
      <p:pic>
        <p:nvPicPr>
          <p:cNvPr id="4" name="Picture 3" descr="OpenStax logo">
            <a:extLst>
              <a:ext uri="{FF2B5EF4-FFF2-40B4-BE49-F238E27FC236}">
                <a16:creationId xmlns:a16="http://schemas.microsoft.com/office/drawing/2014/main" id="{79FD868C-D1A7-917A-A4BB-B9EDC4C92C19}"/>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234558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06C0F-B36E-4E8F-8B2C-8096E0B26651}"/>
              </a:ext>
            </a:extLst>
          </p:cNvPr>
          <p:cNvSpPr>
            <a:spLocks noGrp="1"/>
          </p:cNvSpPr>
          <p:nvPr>
            <p:ph type="title"/>
          </p:nvPr>
        </p:nvSpPr>
        <p:spPr>
          <a:xfrm>
            <a:off x="0" y="0"/>
            <a:ext cx="9144000" cy="1088220"/>
          </a:xfrm>
        </p:spPr>
        <p:txBody>
          <a:bodyPr>
            <a:normAutofit/>
          </a:bodyPr>
          <a:lstStyle/>
          <a:p>
            <a:pPr algn="ctr"/>
            <a:r>
              <a:rPr lang="en-US" sz="2800" b="1" dirty="0">
                <a:solidFill>
                  <a:schemeClr val="tx1"/>
                </a:solidFill>
              </a:rPr>
              <a:t>Kinematic Equations from Integral Calculus</a:t>
            </a:r>
            <a:endParaRPr lang="en-US" sz="2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C0D1FA-2948-459E-AC43-CAF68F2BCFE4}"/>
                  </a:ext>
                </a:extLst>
              </p:cNvPr>
              <p:cNvSpPr>
                <a:spLocks noGrp="1"/>
              </p:cNvSpPr>
              <p:nvPr>
                <p:ph idx="1"/>
              </p:nvPr>
            </p:nvSpPr>
            <p:spPr>
              <a:xfrm>
                <a:off x="0" y="1177635"/>
                <a:ext cx="9144000" cy="5769779"/>
              </a:xfrm>
            </p:spPr>
            <p:txBody>
              <a:bodyPr>
                <a:normAutofit fontScale="32500" lnSpcReduction="20000"/>
              </a:bodyPr>
              <a:lstStyle/>
              <a:p>
                <a:r>
                  <a:rPr lang="en-US" sz="5100" b="1" dirty="0"/>
                  <a:t>The time derivative of the velocity function is acceleration,</a:t>
                </a:r>
              </a:p>
              <a:p>
                <a:r>
                  <a:rPr lang="en-US" sz="11100" b="1" dirty="0">
                    <a:latin typeface="Cambria Math" panose="02040503050406030204" pitchFamily="18" charset="0"/>
                    <a:ea typeface="Cambria Math" panose="02040503050406030204" pitchFamily="18" charset="0"/>
                  </a:rPr>
                  <a:t> </a:t>
                </a:r>
                <a14:m>
                  <m:oMath xmlns:m="http://schemas.openxmlformats.org/officeDocument/2006/math">
                    <m:f>
                      <m:fPr>
                        <m:ctrlPr>
                          <a:rPr lang="en-US" sz="11100" b="1" i="1">
                            <a:latin typeface="Cambria Math" panose="02040503050406030204" pitchFamily="18" charset="0"/>
                            <a:ea typeface="Cambria Math" panose="02040503050406030204" pitchFamily="18" charset="0"/>
                          </a:rPr>
                        </m:ctrlPr>
                      </m:fPr>
                      <m:num>
                        <m:r>
                          <a:rPr lang="en-US" sz="11100" b="1" i="0" smtClean="0">
                            <a:latin typeface="Cambria Math" panose="02040503050406030204" pitchFamily="18" charset="0"/>
                            <a:ea typeface="Cambria Math" panose="02040503050406030204" pitchFamily="18" charset="0"/>
                          </a:rPr>
                          <m:t>𝐝</m:t>
                        </m:r>
                      </m:num>
                      <m:den>
                        <m:r>
                          <a:rPr lang="en-US" sz="11100" b="1" i="0" smtClean="0">
                            <a:latin typeface="Cambria Math" panose="02040503050406030204" pitchFamily="18" charset="0"/>
                            <a:ea typeface="Cambria Math" panose="02040503050406030204" pitchFamily="18" charset="0"/>
                          </a:rPr>
                          <m:t>𝐝𝐭</m:t>
                        </m:r>
                      </m:den>
                    </m:f>
                  </m:oMath>
                </a14:m>
                <a:r>
                  <a:rPr lang="en-US" sz="11100" b="1" dirty="0">
                    <a:latin typeface="Cambria Math" panose="02040503050406030204" pitchFamily="18" charset="0"/>
                    <a:ea typeface="Cambria Math" panose="02040503050406030204" pitchFamily="18" charset="0"/>
                  </a:rPr>
                  <a:t>v(t)=a(t)</a:t>
                </a:r>
              </a:p>
              <a:p>
                <a:endParaRPr lang="en-US" sz="5100" b="1" dirty="0"/>
              </a:p>
              <a:p>
                <a:r>
                  <a:rPr lang="en-US" sz="5100" b="1" dirty="0"/>
                  <a:t>we can take the indefinite integral of both sides, finding</a:t>
                </a:r>
              </a:p>
              <a:p>
                <a:r>
                  <a:rPr lang="en-US" sz="9000" b="1" dirty="0">
                    <a:latin typeface="Cambria Math" panose="02040503050406030204" pitchFamily="18" charset="0"/>
                    <a:ea typeface="Cambria Math" panose="02040503050406030204" pitchFamily="18" charset="0"/>
                  </a:rPr>
                  <a:t>∫ </a:t>
                </a:r>
                <a14:m>
                  <m:oMath xmlns:m="http://schemas.openxmlformats.org/officeDocument/2006/math">
                    <m:f>
                      <m:fPr>
                        <m:ctrlPr>
                          <a:rPr lang="en-US" sz="9000" b="1" i="1">
                            <a:latin typeface="Cambria Math" panose="02040503050406030204" pitchFamily="18" charset="0"/>
                            <a:ea typeface="Cambria Math" panose="02040503050406030204" pitchFamily="18" charset="0"/>
                          </a:rPr>
                        </m:ctrlPr>
                      </m:fPr>
                      <m:num>
                        <m:r>
                          <a:rPr lang="en-US" sz="9000" b="1" i="0">
                            <a:latin typeface="Cambria Math" panose="02040503050406030204" pitchFamily="18" charset="0"/>
                            <a:ea typeface="Cambria Math" panose="02040503050406030204" pitchFamily="18" charset="0"/>
                          </a:rPr>
                          <m:t>𝐝</m:t>
                        </m:r>
                      </m:num>
                      <m:den>
                        <m:r>
                          <a:rPr lang="en-US" sz="9000" b="1" i="0">
                            <a:latin typeface="Cambria Math" panose="02040503050406030204" pitchFamily="18" charset="0"/>
                            <a:ea typeface="Cambria Math" panose="02040503050406030204" pitchFamily="18" charset="0"/>
                          </a:rPr>
                          <m:t>𝐝𝐭</m:t>
                        </m:r>
                      </m:den>
                    </m:f>
                  </m:oMath>
                </a14:m>
                <a:r>
                  <a:rPr lang="en-US" sz="9000" b="1" dirty="0">
                    <a:latin typeface="Cambria Math" panose="02040503050406030204" pitchFamily="18" charset="0"/>
                    <a:ea typeface="Cambria Math" panose="02040503050406030204" pitchFamily="18" charset="0"/>
                  </a:rPr>
                  <a:t>v(t)dt=  ∫a(t)dt +C</a:t>
                </a:r>
                <a:r>
                  <a:rPr lang="en-US" sz="9000" b="1" baseline="-25000" dirty="0">
                    <a:latin typeface="Cambria Math" panose="02040503050406030204" pitchFamily="18" charset="0"/>
                    <a:ea typeface="Cambria Math" panose="02040503050406030204" pitchFamily="18" charset="0"/>
                  </a:rPr>
                  <a:t> 1</a:t>
                </a:r>
                <a:endParaRPr lang="en-US" sz="9000" b="1" dirty="0">
                  <a:latin typeface="Cambria Math" panose="02040503050406030204" pitchFamily="18" charset="0"/>
                  <a:ea typeface="Cambria Math" panose="02040503050406030204" pitchFamily="18" charset="0"/>
                </a:endParaRPr>
              </a:p>
              <a:p>
                <a:pPr>
                  <a:lnSpc>
                    <a:spcPct val="107000"/>
                  </a:lnSpc>
                  <a:spcBef>
                    <a:spcPts val="0"/>
                  </a:spcBef>
                  <a:spcAft>
                    <a:spcPts val="800"/>
                  </a:spcAft>
                </a:pPr>
                <a:r>
                  <a:rPr lang="en-US" sz="5100" b="1" dirty="0"/>
                  <a:t>where </a:t>
                </a:r>
                <a:r>
                  <a:rPr lang="en-US" sz="5100" b="1" i="1" dirty="0"/>
                  <a:t>C</a:t>
                </a:r>
                <a:r>
                  <a:rPr lang="en-US" sz="5100" b="1" baseline="-25000" dirty="0"/>
                  <a:t>1</a:t>
                </a:r>
                <a:r>
                  <a:rPr lang="en-US" sz="5100" b="1" dirty="0"/>
                  <a:t> is a constant of integration. Since</a:t>
                </a:r>
                <a:endParaRPr lang="en-US" sz="5100" b="1" dirty="0">
                  <a:ea typeface="Calibri" panose="020F0502020204030204" pitchFamily="34" charset="0"/>
                  <a:cs typeface="Times New Roman" panose="02020603050405020304" pitchFamily="18" charset="0"/>
                </a:endParaRPr>
              </a:p>
              <a:p>
                <a:r>
                  <a:rPr lang="en-US" sz="11100" b="1" dirty="0">
                    <a:latin typeface="Cambria Math" panose="02040503050406030204" pitchFamily="18" charset="0"/>
                    <a:ea typeface="Cambria Math" panose="02040503050406030204" pitchFamily="18" charset="0"/>
                  </a:rPr>
                  <a:t> ∫</a:t>
                </a:r>
                <a:r>
                  <a:rPr lang="en-US" sz="11100" b="1" dirty="0">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f>
                      <m:fPr>
                        <m:ctrlPr>
                          <a:rPr lang="en-US" sz="11100" b="1"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sz="11100" b="1" i="0" smtClean="0">
                            <a:latin typeface="Cambria Math" panose="02040503050406030204" pitchFamily="18" charset="0"/>
                            <a:ea typeface="Cambria Math" panose="02040503050406030204" pitchFamily="18" charset="0"/>
                            <a:cs typeface="Times New Roman" panose="02020603050405020304" pitchFamily="18" charset="0"/>
                          </a:rPr>
                          <m:t>𝐝</m:t>
                        </m:r>
                      </m:num>
                      <m:den>
                        <m:r>
                          <a:rPr lang="en-US" sz="11100" b="1" i="0" smtClean="0">
                            <a:latin typeface="Cambria Math" panose="02040503050406030204" pitchFamily="18" charset="0"/>
                            <a:ea typeface="Cambria Math" panose="02040503050406030204" pitchFamily="18" charset="0"/>
                            <a:cs typeface="Times New Roman" panose="02020603050405020304" pitchFamily="18" charset="0"/>
                          </a:rPr>
                          <m:t>𝐝𝐭</m:t>
                        </m:r>
                      </m:den>
                    </m:f>
                    <m:r>
                      <a:rPr lang="en-US" sz="11100" b="1" i="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11100" b="1" dirty="0">
                    <a:latin typeface="Cambria Math" panose="02040503050406030204" pitchFamily="18" charset="0"/>
                    <a:ea typeface="Cambria Math" panose="02040503050406030204" pitchFamily="18" charset="0"/>
                  </a:rPr>
                  <a:t>v(t)dt=v(t)          </a:t>
                </a:r>
                <a14:m>
                  <m:oMath xmlns:m="http://schemas.openxmlformats.org/officeDocument/2006/math">
                    <m:r>
                      <a:rPr lang="en-US" sz="9800" i="1">
                        <a:latin typeface="Cambria Math" panose="02040503050406030204" pitchFamily="18" charset="0"/>
                      </a:rPr>
                      <m:t>→</m:t>
                    </m:r>
                  </m:oMath>
                </a14:m>
                <a:r>
                  <a:rPr lang="en-US" sz="11100" b="1" dirty="0">
                    <a:latin typeface="Cambria Math" panose="02040503050406030204" pitchFamily="18" charset="0"/>
                    <a:ea typeface="Cambria Math" panose="02040503050406030204" pitchFamily="18" charset="0"/>
                  </a:rPr>
                  <a:t>   v(t)=∫a(t)dt +C </a:t>
                </a:r>
                <a:r>
                  <a:rPr lang="en-US" sz="11100" b="1" baseline="-25000" dirty="0">
                    <a:latin typeface="Cambria Math" panose="02040503050406030204" pitchFamily="18" charset="0"/>
                    <a:ea typeface="Cambria Math" panose="02040503050406030204" pitchFamily="18" charset="0"/>
                  </a:rPr>
                  <a:t>1</a:t>
                </a:r>
                <a:endParaRPr lang="en-US" sz="7600" b="1" baseline="-25000" dirty="0">
                  <a:latin typeface="Cambria Math" panose="02040503050406030204" pitchFamily="18" charset="0"/>
                  <a:ea typeface="Cambria Math" panose="02040503050406030204" pitchFamily="18" charset="0"/>
                </a:endParaRPr>
              </a:p>
              <a:p>
                <a:r>
                  <a:rPr lang="en-US" sz="6000" b="1" dirty="0"/>
                  <a:t>the time derivative of the position function is the velocity function,</a:t>
                </a:r>
              </a:p>
              <a:p>
                <a14:m>
                  <m:oMath xmlns:m="http://schemas.openxmlformats.org/officeDocument/2006/math">
                    <m:f>
                      <m:fPr>
                        <m:ctrlPr>
                          <a:rPr lang="en-US" sz="11100" b="1" i="1">
                            <a:latin typeface="Cambria Math" panose="02040503050406030204" pitchFamily="18" charset="0"/>
                            <a:ea typeface="Cambria Math" panose="02040503050406030204" pitchFamily="18" charset="0"/>
                          </a:rPr>
                        </m:ctrlPr>
                      </m:fPr>
                      <m:num>
                        <m:r>
                          <a:rPr lang="en-US" sz="11100" b="1" i="0">
                            <a:latin typeface="Cambria Math" panose="02040503050406030204" pitchFamily="18" charset="0"/>
                            <a:ea typeface="Cambria Math" panose="02040503050406030204" pitchFamily="18" charset="0"/>
                          </a:rPr>
                          <m:t>𝐝</m:t>
                        </m:r>
                      </m:num>
                      <m:den>
                        <m:r>
                          <a:rPr lang="en-US" sz="11100" b="1" i="0">
                            <a:latin typeface="Cambria Math" panose="02040503050406030204" pitchFamily="18" charset="0"/>
                            <a:ea typeface="Cambria Math" panose="02040503050406030204" pitchFamily="18" charset="0"/>
                          </a:rPr>
                          <m:t>𝐝𝐭</m:t>
                        </m:r>
                      </m:den>
                    </m:f>
                  </m:oMath>
                </a14:m>
                <a:r>
                  <a:rPr lang="en-US" sz="11100" b="1" dirty="0">
                    <a:latin typeface="Cambria Math" panose="02040503050406030204" pitchFamily="18" charset="0"/>
                    <a:ea typeface="Cambria Math" panose="02040503050406030204" pitchFamily="18" charset="0"/>
                  </a:rPr>
                  <a:t>x(t) = v(t)</a:t>
                </a:r>
                <a:r>
                  <a:rPr lang="en-US" sz="11100" dirty="0">
                    <a:latin typeface="Cambria Math" panose="02040503050406030204" pitchFamily="18" charset="0"/>
                    <a:ea typeface="Cambria Math" panose="02040503050406030204" pitchFamily="18" charset="0"/>
                  </a:rPr>
                  <a:t> </a:t>
                </a:r>
                <a14:m>
                  <m:oMath xmlns:m="http://schemas.openxmlformats.org/officeDocument/2006/math">
                    <m:r>
                      <a:rPr lang="en-US" sz="11100" b="0" i="0" smtClean="0">
                        <a:latin typeface="Cambria Math" panose="02040503050406030204" pitchFamily="18" charset="0"/>
                      </a:rPr>
                      <m:t>                </m:t>
                    </m:r>
                    <m:r>
                      <a:rPr lang="en-US" sz="11100" i="1">
                        <a:latin typeface="Cambria Math" panose="02040503050406030204" pitchFamily="18" charset="0"/>
                      </a:rPr>
                      <m:t>→</m:t>
                    </m:r>
                  </m:oMath>
                </a14:m>
                <a:r>
                  <a:rPr lang="en-US" sz="11100" dirty="0">
                    <a:latin typeface="Cambria Math" panose="02040503050406030204" pitchFamily="18" charset="0"/>
                    <a:ea typeface="Cambria Math" panose="02040503050406030204" pitchFamily="18" charset="0"/>
                  </a:rPr>
                  <a:t>   </a:t>
                </a:r>
                <a:r>
                  <a:rPr lang="en-US" sz="11100" b="1" dirty="0">
                    <a:latin typeface="Cambria Math" panose="02040503050406030204" pitchFamily="18" charset="0"/>
                    <a:ea typeface="Cambria Math" panose="02040503050406030204" pitchFamily="18" charset="0"/>
                  </a:rPr>
                  <a:t>x(t)=∫v(t)dt+C</a:t>
                </a:r>
                <a:r>
                  <a:rPr lang="en-US" sz="11100" b="1" baseline="-25000" dirty="0">
                    <a:latin typeface="Cambria Math" panose="02040503050406030204" pitchFamily="18" charset="0"/>
                    <a:ea typeface="Cambria Math" panose="02040503050406030204" pitchFamily="18" charset="0"/>
                  </a:rPr>
                  <a:t>2</a:t>
                </a:r>
                <a:endParaRPr lang="en-US" sz="11100" baseline="-25000" dirty="0">
                  <a:latin typeface="Cambria Math" panose="02040503050406030204" pitchFamily="18" charset="0"/>
                  <a:ea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1CC0D1FA-2948-459E-AC43-CAF68F2BCFE4}"/>
                  </a:ext>
                </a:extLst>
              </p:cNvPr>
              <p:cNvSpPr>
                <a:spLocks noGrp="1" noRot="1" noChangeAspect="1" noMove="1" noResize="1" noEditPoints="1" noAdjustHandles="1" noChangeArrowheads="1" noChangeShapeType="1" noTextEdit="1"/>
              </p:cNvSpPr>
              <p:nvPr>
                <p:ph idx="1"/>
              </p:nvPr>
            </p:nvSpPr>
            <p:spPr>
              <a:xfrm>
                <a:off x="0" y="1177635"/>
                <a:ext cx="9144000" cy="5769779"/>
              </a:xfrm>
              <a:blipFill>
                <a:blip r:embed="rId2"/>
                <a:stretch>
                  <a:fillRect l="-1400" t="-1162"/>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7622DF02-BD25-A92F-1291-CF4CDC67A41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4431206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922" y="104600"/>
            <a:ext cx="8585200" cy="886532"/>
          </a:xfrm>
        </p:spPr>
        <p:txBody>
          <a:bodyPr>
            <a:noAutofit/>
          </a:bodyPr>
          <a:lstStyle/>
          <a:p>
            <a:pPr algn="ctr"/>
            <a:r>
              <a:rPr lang="en-US" altLang="en-US" sz="2800" b="1" dirty="0">
                <a:solidFill>
                  <a:schemeClr val="tx1"/>
                </a:solidFill>
              </a:rPr>
              <a:t>Variable Acceleration; Integral Calculus</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113669" name="Text Box 7"/>
              <p:cNvSpPr txBox="1">
                <a:spLocks noChangeArrowheads="1"/>
              </p:cNvSpPr>
              <p:nvPr/>
            </p:nvSpPr>
            <p:spPr bwMode="auto">
              <a:xfrm>
                <a:off x="279400" y="1074835"/>
                <a:ext cx="8585200" cy="54148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07000"/>
                  </a:lnSpc>
                  <a:spcBef>
                    <a:spcPts val="0"/>
                  </a:spcBef>
                  <a:spcAft>
                    <a:spcPts val="800"/>
                  </a:spcAft>
                  <a:buNone/>
                </a:pPr>
                <a:r>
                  <a:rPr lang="en-US" altLang="en-US" sz="2400" b="1" dirty="0"/>
                  <a:t>Deriving the kinematic equations through integration: </a:t>
                </a:r>
                <a14:m>
                  <m:oMath xmlns:m="http://schemas.openxmlformats.org/officeDocument/2006/math">
                    <m:r>
                      <a:rPr lang="en-US" sz="2800" b="1" i="1" smtClean="0">
                        <a:latin typeface="Cambria Math" panose="02040503050406030204" pitchFamily="18" charset="0"/>
                      </a:rPr>
                      <m:t>𝒂</m:t>
                    </m:r>
                    <m:r>
                      <a:rPr lang="en-US" sz="2800" b="1" i="1" smtClean="0">
                        <a:latin typeface="Cambria Math" panose="02040503050406030204" pitchFamily="18" charset="0"/>
                      </a:rPr>
                      <m:t>=</m:t>
                    </m:r>
                    <m:r>
                      <m:rPr>
                        <m:nor/>
                      </m:rPr>
                      <a:rPr lang="en-US" sz="2800" b="1">
                        <a:latin typeface="Cambria Math" panose="02040503050406030204" pitchFamily="18" charset="0"/>
                      </a:rPr>
                      <m:t>  </m:t>
                    </m:r>
                    <m:f>
                      <m:fPr>
                        <m:ctrlPr>
                          <a:rPr lang="en-US" sz="2800" b="1" i="1">
                            <a:latin typeface="Cambria Math" panose="02040503050406030204" pitchFamily="18" charset="0"/>
                          </a:rPr>
                        </m:ctrlPr>
                      </m:fPr>
                      <m:num>
                        <m:r>
                          <a:rPr lang="en-US" sz="2800" b="1" i="1">
                            <a:latin typeface="Cambria Math" panose="02040503050406030204" pitchFamily="18" charset="0"/>
                          </a:rPr>
                          <m:t>𝒅𝒗</m:t>
                        </m:r>
                      </m:num>
                      <m:den>
                        <m:r>
                          <a:rPr lang="en-US" sz="2800" b="1" i="1">
                            <a:latin typeface="Cambria Math" panose="02040503050406030204" pitchFamily="18" charset="0"/>
                          </a:rPr>
                          <m:t>𝒅𝒕</m:t>
                        </m:r>
                      </m:den>
                    </m:f>
                  </m:oMath>
                </a14:m>
                <a:endParaRPr lang="en-US" sz="2800" b="1" i="1" dirty="0">
                  <a:latin typeface="Cambria Math" panose="02040503050406030204" pitchFamily="18" charset="0"/>
                  <a:ea typeface="Times New Roman" panose="02020603050405020304" pitchFamily="18" charset="0"/>
                  <a:cs typeface="Times New Roman" panose="02020603050405020304" pitchFamily="18" charset="0"/>
                </a:endParaRPr>
              </a:p>
              <a:p>
                <a:pPr>
                  <a:lnSpc>
                    <a:spcPct val="107000"/>
                  </a:lnSpc>
                  <a:spcBef>
                    <a:spcPts val="0"/>
                  </a:spcBef>
                  <a:spcAft>
                    <a:spcPts val="800"/>
                  </a:spcAft>
                  <a:buNone/>
                </a:pPr>
                <a14:m>
                  <m:oMathPara xmlns:m="http://schemas.openxmlformats.org/officeDocument/2006/math">
                    <m:oMathParaPr>
                      <m:jc m:val="left"/>
                    </m:oMathParaPr>
                    <m:oMath xmlns:m="http://schemas.openxmlformats.org/officeDocument/2006/math">
                      <m:r>
                        <a:rPr lang="en-US" sz="3600" b="1" i="1">
                          <a:latin typeface="Cambria Math" panose="02040503050406030204" pitchFamily="18" charset="0"/>
                        </a:rPr>
                        <m:t>𝒅𝒗</m:t>
                      </m:r>
                      <m:r>
                        <a:rPr lang="en-US" sz="3600" b="1" i="1">
                          <a:latin typeface="Cambria Math" panose="02040503050406030204" pitchFamily="18" charset="0"/>
                        </a:rPr>
                        <m:t>= </m:t>
                      </m:r>
                      <m:r>
                        <a:rPr lang="en-US" sz="3600" b="1" i="1">
                          <a:latin typeface="Cambria Math" panose="02040503050406030204" pitchFamily="18" charset="0"/>
                        </a:rPr>
                        <m:t>𝒂𝒅𝒕</m:t>
                      </m:r>
                    </m:oMath>
                  </m:oMathPara>
                </a14:m>
                <a:endParaRPr lang="en-US" sz="3600" b="1" i="1" dirty="0">
                  <a:latin typeface="Cambria Math" panose="02040503050406030204" pitchFamily="18" charset="0"/>
                  <a:ea typeface="Times New Roman" panose="02020603050405020304" pitchFamily="18" charset="0"/>
                  <a:cs typeface="Times New Roman" panose="02020603050405020304" pitchFamily="18" charset="0"/>
                </a:endParaRPr>
              </a:p>
              <a:p>
                <a:pPr>
                  <a:lnSpc>
                    <a:spcPct val="107000"/>
                  </a:lnSpc>
                  <a:spcBef>
                    <a:spcPts val="0"/>
                  </a:spcBef>
                  <a:spcAft>
                    <a:spcPts val="800"/>
                  </a:spcAft>
                  <a:buNone/>
                </a:pPr>
                <a14:m>
                  <m:oMathPara xmlns:m="http://schemas.openxmlformats.org/officeDocument/2006/math">
                    <m:oMathParaPr>
                      <m:jc m:val="left"/>
                    </m:oMathParaPr>
                    <m:oMath xmlns:m="http://schemas.openxmlformats.org/officeDocument/2006/math">
                      <m:nary>
                        <m:naryPr>
                          <m:limLoc m:val="subSup"/>
                          <m:ctrlPr>
                            <a:rPr lang="en-US" b="1" i="1">
                              <a:latin typeface="Cambria Math" panose="02040503050406030204" pitchFamily="18" charset="0"/>
                              <a:ea typeface="Times New Roman" panose="02020603050405020304" pitchFamily="18" charset="0"/>
                              <a:cs typeface="Times New Roman" panose="02020603050405020304" pitchFamily="18" charset="0"/>
                            </a:rPr>
                          </m:ctrlPr>
                        </m:naryPr>
                        <m:sub>
                          <m:r>
                            <a:rPr lang="en-US" b="1" i="1">
                              <a:effectLst/>
                              <a:latin typeface="Cambria Math" panose="02040503050406030204" pitchFamily="18" charset="0"/>
                              <a:ea typeface="Times New Roman" panose="02020603050405020304" pitchFamily="18" charset="0"/>
                              <a:cs typeface="Times New Roman" panose="02020603050405020304" pitchFamily="18" charset="0"/>
                            </a:rPr>
                            <m:t>𝒗</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𝒗</m:t>
                          </m:r>
                          <m:r>
                            <m:rPr>
                              <m:nor/>
                            </m:rPr>
                            <a:rPr lang="en-US" b="1" baseline="-25000">
                              <a:effectLst/>
                              <a:latin typeface="Cambria Math" panose="02040503050406030204" pitchFamily="18" charset="0"/>
                              <a:ea typeface="Calibri" panose="020F0502020204030204" pitchFamily="34" charset="0"/>
                              <a:cs typeface="Times New Roman" panose="02020603050405020304" pitchFamily="18" charset="0"/>
                            </a:rPr>
                            <m:t>o</m:t>
                          </m:r>
                        </m:sub>
                        <m:sup>
                          <m:r>
                            <a:rPr lang="en-US" b="1" i="1">
                              <a:effectLst/>
                              <a:latin typeface="Cambria Math" panose="02040503050406030204" pitchFamily="18" charset="0"/>
                              <a:ea typeface="Times New Roman" panose="02020603050405020304" pitchFamily="18" charset="0"/>
                              <a:cs typeface="Times New Roman" panose="02020603050405020304" pitchFamily="18" charset="0"/>
                            </a:rPr>
                            <m:t>𝒗</m:t>
                          </m:r>
                        </m:sup>
                        <m:e>
                          <m:r>
                            <a:rPr lang="en-US" b="1" i="1">
                              <a:effectLst/>
                              <a:latin typeface="Cambria Math" panose="02040503050406030204" pitchFamily="18" charset="0"/>
                              <a:ea typeface="Times New Roman" panose="02020603050405020304" pitchFamily="18" charset="0"/>
                              <a:cs typeface="Times New Roman" panose="02020603050405020304" pitchFamily="18" charset="0"/>
                            </a:rPr>
                            <m:t>𝒅𝒗</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 =</m:t>
                          </m:r>
                          <m:nary>
                            <m:naryPr>
                              <m:limLoc m:val="subSup"/>
                              <m:ctrlPr>
                                <a:rPr lang="en-US" b="1"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b="1" i="1">
                                  <a:effectLst/>
                                  <a:latin typeface="Cambria Math" panose="02040503050406030204" pitchFamily="18" charset="0"/>
                                  <a:ea typeface="Times New Roman" panose="02020603050405020304" pitchFamily="18" charset="0"/>
                                  <a:cs typeface="Times New Roman" panose="02020603050405020304" pitchFamily="18" charset="0"/>
                                </a:rPr>
                                <m:t>𝒕</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en-US" b="1" i="1">
                                  <a:effectLst/>
                                  <a:latin typeface="Cambria Math" panose="02040503050406030204" pitchFamily="18" charset="0"/>
                                  <a:ea typeface="Times New Roman" panose="02020603050405020304" pitchFamily="18" charset="0"/>
                                  <a:cs typeface="Times New Roman" panose="02020603050405020304" pitchFamily="18" charset="0"/>
                                </a:rPr>
                                <m:t>𝒕</m:t>
                              </m:r>
                            </m:sup>
                            <m:e>
                              <m:r>
                                <a:rPr lang="en-US" b="1" i="1">
                                  <a:effectLst/>
                                  <a:latin typeface="Cambria Math" panose="02040503050406030204" pitchFamily="18" charset="0"/>
                                  <a:ea typeface="Times New Roman" panose="02020603050405020304" pitchFamily="18" charset="0"/>
                                  <a:cs typeface="Times New Roman" panose="02020603050405020304" pitchFamily="18" charset="0"/>
                                </a:rPr>
                                <m:t>𝒂𝒅𝒕</m:t>
                              </m:r>
                            </m:e>
                          </m:nary>
                        </m:e>
                      </m:nary>
                    </m:oMath>
                  </m:oMathPara>
                </a14:m>
                <a:endParaRPr lang="en-US" b="1" dirty="0">
                  <a:effectLst/>
                  <a:latin typeface="Calibri" panose="020F0502020204030204" pitchFamily="34" charset="0"/>
                  <a:ea typeface="Calibri" panose="020F0502020204030204" pitchFamily="34" charset="0"/>
                  <a:cs typeface="Times New Roman" panose="02020603050405020304" pitchFamily="18" charset="0"/>
                </a:endParaRPr>
              </a:p>
              <a:p>
                <a:pPr>
                  <a:spcBef>
                    <a:spcPct val="50000"/>
                  </a:spcBef>
                  <a:buNone/>
                </a:pPr>
                <a:r>
                  <a:rPr lang="en-US" altLang="en-US" sz="2400" b="1" dirty="0"/>
                  <a:t>For constant acceleration</a:t>
                </a:r>
                <a:r>
                  <a:rPr lang="en-US" altLang="en-US" sz="2800" b="1" dirty="0"/>
                  <a:t>,</a:t>
                </a:r>
              </a:p>
              <a:p>
                <a:pPr>
                  <a:spcBef>
                    <a:spcPct val="50000"/>
                  </a:spcBef>
                  <a:buNone/>
                </a:pPr>
                <a14:m>
                  <m:oMath xmlns:m="http://schemas.openxmlformats.org/officeDocument/2006/math">
                    <m:r>
                      <a:rPr lang="en-US" sz="3600" b="1" i="1">
                        <a:latin typeface="Cambria Math" panose="02040503050406030204" pitchFamily="18" charset="0"/>
                      </a:rPr>
                      <m:t>𝒗</m:t>
                    </m:r>
                    <m:r>
                      <a:rPr lang="en-US" sz="3600" b="1" i="1">
                        <a:latin typeface="Cambria Math" panose="02040503050406030204" pitchFamily="18" charset="0"/>
                      </a:rPr>
                      <m:t> </m:t>
                    </m:r>
                  </m:oMath>
                </a14:m>
                <a:r>
                  <a:rPr lang="en-US" sz="3600" b="1" dirty="0"/>
                  <a:t>-  </a:t>
                </a:r>
                <a14:m>
                  <m:oMath xmlns:m="http://schemas.openxmlformats.org/officeDocument/2006/math">
                    <m:r>
                      <a:rPr lang="en-US" sz="3600" b="1" i="1">
                        <a:latin typeface="Cambria Math" panose="02040503050406030204" pitchFamily="18" charset="0"/>
                      </a:rPr>
                      <m:t>𝒗</m:t>
                    </m:r>
                  </m:oMath>
                </a14:m>
                <a:r>
                  <a:rPr lang="en-US" sz="3600" b="1" baseline="-25000" dirty="0"/>
                  <a:t>0</a:t>
                </a:r>
                <a:r>
                  <a:rPr lang="en-US" sz="3600" b="1" dirty="0"/>
                  <a:t>  = </a:t>
                </a:r>
                <a14:m>
                  <m:oMath xmlns:m="http://schemas.openxmlformats.org/officeDocument/2006/math">
                    <m:r>
                      <a:rPr lang="en-US" sz="3600" b="1" i="1">
                        <a:latin typeface="Cambria Math" panose="02040503050406030204" pitchFamily="18" charset="0"/>
                      </a:rPr>
                      <m:t>𝒂𝒕</m:t>
                    </m:r>
                  </m:oMath>
                </a14:m>
                <a:endParaRPr lang="en-US" sz="3600" dirty="0"/>
              </a:p>
              <a:p>
                <a:pPr>
                  <a:spcBef>
                    <a:spcPct val="50000"/>
                  </a:spcBef>
                  <a:buNone/>
                </a:pPr>
                <a:r>
                  <a:rPr lang="en-US" sz="2400" b="1" dirty="0">
                    <a:solidFill>
                      <a:srgbClr val="3333FF"/>
                    </a:solidFill>
                    <a:hlinkClick r:id="rId3">
                      <a:extLst>
                        <a:ext uri="{A12FA001-AC4F-418D-AE19-62706E023703}">
                          <ahyp:hlinkClr xmlns:ahyp="http://schemas.microsoft.com/office/drawing/2018/hyperlinkcolor" val="tx"/>
                        </a:ext>
                      </a:extLst>
                    </a:hlinkClick>
                  </a:rPr>
                  <a:t>Nonuniform Acceleration Example using Calculus Video</a:t>
                </a:r>
                <a:endParaRPr lang="en-US" sz="2400" b="1" dirty="0">
                  <a:solidFill>
                    <a:srgbClr val="3333FF"/>
                  </a:solidFill>
                </a:endParaRPr>
              </a:p>
            </p:txBody>
          </p:sp>
        </mc:Choice>
        <mc:Fallback xmlns="">
          <p:sp>
            <p:nvSpPr>
              <p:cNvPr id="113669" name="Text Box 7"/>
              <p:cNvSpPr txBox="1">
                <a:spLocks noRot="1" noChangeAspect="1" noMove="1" noResize="1" noEditPoints="1" noAdjustHandles="1" noChangeArrowheads="1" noChangeShapeType="1" noTextEdit="1"/>
              </p:cNvSpPr>
              <p:nvPr/>
            </p:nvSpPr>
            <p:spPr bwMode="auto">
              <a:xfrm>
                <a:off x="279400" y="1074835"/>
                <a:ext cx="8585200" cy="5414816"/>
              </a:xfrm>
              <a:prstGeom prst="rect">
                <a:avLst/>
              </a:prstGeom>
              <a:blipFill>
                <a:blip r:embed="rId4"/>
                <a:stretch>
                  <a:fillRect l="-1136" t="-9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D23FB98C-F5AB-EBC8-544E-FF78FCEDB9B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675928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96" y="-50191"/>
            <a:ext cx="8318500" cy="1046481"/>
          </a:xfrm>
        </p:spPr>
        <p:txBody>
          <a:bodyPr/>
          <a:lstStyle/>
          <a:p>
            <a:pPr algn="ctr"/>
            <a:r>
              <a:rPr lang="en-US" altLang="en-US" sz="2800" b="1" dirty="0">
                <a:solidFill>
                  <a:schemeClr val="tx1"/>
                </a:solidFill>
              </a:rPr>
              <a:t>Variable Acceleration; Integral Calculus-2</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166318" y="1253677"/>
                <a:ext cx="8840486" cy="5143396"/>
              </a:xfrm>
              <a:prstGeom prst="rect">
                <a:avLst/>
              </a:prstGeom>
              <a:noFill/>
            </p:spPr>
            <p:txBody>
              <a:bodyPr wrap="square" rtlCol="0">
                <a:spAutoFit/>
              </a:bodyPr>
              <a:lstStyle/>
              <a:p>
                <a14:m>
                  <m:oMath xmlns:m="http://schemas.openxmlformats.org/officeDocument/2006/math">
                    <m:r>
                      <a:rPr lang="en-US" sz="3200" b="1" i="1" smtClean="0">
                        <a:latin typeface="Cambria Math" panose="02040503050406030204" pitchFamily="18" charset="0"/>
                        <a:ea typeface="Cambria Math" panose="02040503050406030204" pitchFamily="18" charset="0"/>
                      </a:rPr>
                      <m:t>𝒗</m:t>
                    </m:r>
                    <m:r>
                      <a:rPr lang="en-US" sz="3200" b="1" i="1" smtClean="0">
                        <a:latin typeface="Cambria Math" panose="02040503050406030204" pitchFamily="18" charset="0"/>
                        <a:ea typeface="Cambria Math" panose="02040503050406030204" pitchFamily="18" charset="0"/>
                      </a:rPr>
                      <m:t>=  </m:t>
                    </m:r>
                  </m:oMath>
                </a14:m>
                <a:r>
                  <a:rPr lang="en-US" sz="3200" b="1" dirty="0">
                    <a:latin typeface="Cambria Math" panose="02040503050406030204" pitchFamily="18" charset="0"/>
                    <a:ea typeface="Cambria Math" panose="02040503050406030204" pitchFamily="18" charset="0"/>
                  </a:rPr>
                  <a:t> </a:t>
                </a:r>
                <a14:m>
                  <m:oMath xmlns:m="http://schemas.openxmlformats.org/officeDocument/2006/math">
                    <m:f>
                      <m:fPr>
                        <m:ctrlPr>
                          <a:rPr lang="en-US" sz="2800" b="1" i="1">
                            <a:latin typeface="Cambria Math" panose="02040503050406030204" pitchFamily="18" charset="0"/>
                            <a:ea typeface="Cambria Math" panose="02040503050406030204" pitchFamily="18" charset="0"/>
                          </a:rPr>
                        </m:ctrlPr>
                      </m:fPr>
                      <m:num>
                        <m:r>
                          <a:rPr lang="en-US" sz="2800" b="1" i="1">
                            <a:latin typeface="Cambria Math" panose="02040503050406030204" pitchFamily="18" charset="0"/>
                            <a:ea typeface="Cambria Math" panose="02040503050406030204" pitchFamily="18" charset="0"/>
                          </a:rPr>
                          <m:t>𝒅𝒙</m:t>
                        </m:r>
                      </m:num>
                      <m:den>
                        <m:r>
                          <a:rPr lang="en-US" sz="2800" b="1" i="1">
                            <a:latin typeface="Cambria Math" panose="02040503050406030204" pitchFamily="18" charset="0"/>
                            <a:ea typeface="Cambria Math" panose="02040503050406030204" pitchFamily="18" charset="0"/>
                          </a:rPr>
                          <m:t>𝒅𝒕</m:t>
                        </m:r>
                      </m:den>
                    </m:f>
                    <m:r>
                      <a:rPr lang="en-US" sz="2800" b="1"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rPr>
                      <m:t>→</m:t>
                    </m:r>
                    <m:r>
                      <a:rPr lang="en-US" sz="2800" b="1" i="1" smtClean="0">
                        <a:latin typeface="Cambria Math" panose="02040503050406030204" pitchFamily="18" charset="0"/>
                      </a:rPr>
                      <m:t>𝒅𝒙</m:t>
                    </m:r>
                    <m:r>
                      <a:rPr lang="en-US" sz="2800" b="1" i="1" smtClean="0">
                        <a:latin typeface="Cambria Math" panose="02040503050406030204" pitchFamily="18" charset="0"/>
                      </a:rPr>
                      <m:t>= </m:t>
                    </m:r>
                    <m:r>
                      <a:rPr lang="en-US" sz="2800" b="1" i="1" smtClean="0">
                        <a:latin typeface="Cambria Math" panose="02040503050406030204" pitchFamily="18" charset="0"/>
                      </a:rPr>
                      <m:t>𝒗𝒅𝒕</m:t>
                    </m:r>
                  </m:oMath>
                </a14:m>
                <a:r>
                  <a:rPr lang="en-US" sz="3200" dirty="0"/>
                  <a:t> =</a:t>
                </a:r>
                <a14:m>
                  <m:oMath xmlns:m="http://schemas.openxmlformats.org/officeDocument/2006/math">
                    <m:r>
                      <a:rPr lang="en-US" sz="3200" b="0" i="0" smtClean="0">
                        <a:latin typeface="Cambria Math" panose="02040503050406030204" pitchFamily="18" charset="0"/>
                      </a:rPr>
                      <m:t>(</m:t>
                    </m:r>
                    <m:r>
                      <a:rPr lang="en-US" sz="3200" b="1" i="1">
                        <a:latin typeface="Cambria Math" panose="02040503050406030204" pitchFamily="18" charset="0"/>
                      </a:rPr>
                      <m:t>𝒗</m:t>
                    </m:r>
                  </m:oMath>
                </a14:m>
                <a:r>
                  <a:rPr lang="en-US" sz="3200" b="1" baseline="-25000" dirty="0"/>
                  <a:t>0</a:t>
                </a:r>
                <a:r>
                  <a:rPr lang="en-US" sz="3200" b="1" dirty="0"/>
                  <a:t>  + </a:t>
                </a:r>
                <a14:m>
                  <m:oMath xmlns:m="http://schemas.openxmlformats.org/officeDocument/2006/math">
                    <m:r>
                      <a:rPr lang="en-US" sz="3200" b="1" i="1">
                        <a:latin typeface="Cambria Math" panose="02040503050406030204" pitchFamily="18" charset="0"/>
                      </a:rPr>
                      <m:t>𝒂𝒕</m:t>
                    </m:r>
                    <m:r>
                      <a:rPr lang="en-US" sz="3200" b="1" i="1" smtClean="0">
                        <a:latin typeface="Cambria Math" panose="02040503050406030204" pitchFamily="18" charset="0"/>
                      </a:rPr>
                      <m:t>)</m:t>
                    </m:r>
                    <m:r>
                      <a:rPr lang="en-US" sz="3200" b="1" i="1" smtClean="0">
                        <a:latin typeface="Cambria Math" panose="02040503050406030204" pitchFamily="18" charset="0"/>
                      </a:rPr>
                      <m:t>𝒅𝒕</m:t>
                    </m:r>
                  </m:oMath>
                </a14:m>
                <a:r>
                  <a:rPr lang="en-US" sz="3200" b="1" dirty="0"/>
                  <a:t> </a:t>
                </a:r>
                <a14:m>
                  <m:oMath xmlns:m="http://schemas.openxmlformats.org/officeDocument/2006/math">
                    <m:r>
                      <a:rPr lang="en-US" sz="3200" b="1" i="0" smtClean="0">
                        <a:latin typeface="Cambria Math" panose="02040503050406030204" pitchFamily="18" charset="0"/>
                      </a:rPr>
                      <m:t>    </m:t>
                    </m:r>
                    <m:r>
                      <a:rPr lang="en-US" sz="3200" i="1">
                        <a:latin typeface="Cambria Math" panose="02040503050406030204" pitchFamily="18" charset="0"/>
                      </a:rPr>
                      <m:t>→</m:t>
                    </m:r>
                  </m:oMath>
                </a14:m>
                <a:r>
                  <a:rPr lang="en-US" sz="3200" b="1" dirty="0">
                    <a:latin typeface="Cambria Math" panose="02040503050406030204" pitchFamily="18" charset="0"/>
                    <a:ea typeface="Cambria Math" panose="02040503050406030204" pitchFamily="18" charset="0"/>
                  </a:rPr>
                  <a:t> </a:t>
                </a:r>
                <a:endParaRPr lang="en-US" sz="3200" b="1" dirty="0"/>
              </a:p>
              <a:p>
                <a:endParaRPr lang="en-US" sz="3200" b="1" dirty="0"/>
              </a:p>
              <a:p>
                <a:pPr/>
                <a14:m>
                  <m:oMathPara xmlns:m="http://schemas.openxmlformats.org/officeDocument/2006/math">
                    <m:oMathParaPr>
                      <m:jc m:val="left"/>
                    </m:oMathParaPr>
                    <m:oMath xmlns:m="http://schemas.openxmlformats.org/officeDocument/2006/math">
                      <m:nary>
                        <m:naryPr>
                          <m:limLoc m:val="subSup"/>
                          <m:ctrlPr>
                            <a:rPr lang="en-US" sz="3200" b="1" i="1">
                              <a:latin typeface="Cambria Math" panose="02040503050406030204" pitchFamily="18" charset="0"/>
                            </a:rPr>
                          </m:ctrlPr>
                        </m:naryPr>
                        <m:sub>
                          <m:r>
                            <a:rPr lang="en-US" sz="3200" b="1" i="1">
                              <a:latin typeface="Cambria Math" panose="02040503050406030204" pitchFamily="18" charset="0"/>
                            </a:rPr>
                            <m:t>𝒙</m:t>
                          </m:r>
                          <m:r>
                            <a:rPr lang="en-US" sz="3200" b="1" i="1">
                              <a:latin typeface="Cambria Math" panose="02040503050406030204" pitchFamily="18" charset="0"/>
                            </a:rPr>
                            <m:t>=</m:t>
                          </m:r>
                          <m:r>
                            <a:rPr lang="en-US" sz="3200" b="1" i="1">
                              <a:latin typeface="Cambria Math" panose="02040503050406030204" pitchFamily="18" charset="0"/>
                            </a:rPr>
                            <m:t>𝒙</m:t>
                          </m:r>
                          <m:r>
                            <m:rPr>
                              <m:nor/>
                            </m:rPr>
                            <a:rPr lang="en-US" sz="3200" b="1" baseline="-25000"/>
                            <m:t>o</m:t>
                          </m:r>
                        </m:sub>
                        <m:sup>
                          <m:r>
                            <a:rPr lang="en-US" sz="3200" b="1" i="1">
                              <a:latin typeface="Cambria Math" panose="02040503050406030204" pitchFamily="18" charset="0"/>
                            </a:rPr>
                            <m:t>𝒙</m:t>
                          </m:r>
                        </m:sup>
                        <m:e>
                          <m:r>
                            <a:rPr lang="en-US" sz="3200" b="1" i="1">
                              <a:latin typeface="Cambria Math" panose="02040503050406030204" pitchFamily="18" charset="0"/>
                            </a:rPr>
                            <m:t>𝒅𝒙</m:t>
                          </m:r>
                          <m:r>
                            <a:rPr lang="en-US" sz="3200" b="1" i="1">
                              <a:latin typeface="Cambria Math" panose="02040503050406030204" pitchFamily="18" charset="0"/>
                            </a:rPr>
                            <m:t> =</m:t>
                          </m:r>
                          <m:nary>
                            <m:naryPr>
                              <m:limLoc m:val="subSup"/>
                              <m:ctrlPr>
                                <a:rPr lang="en-US" sz="3200" b="1" i="1">
                                  <a:latin typeface="Cambria Math" panose="02040503050406030204" pitchFamily="18" charset="0"/>
                                </a:rPr>
                              </m:ctrlPr>
                            </m:naryPr>
                            <m:sub>
                              <m:r>
                                <a:rPr lang="en-US" sz="3200" b="1" i="1">
                                  <a:latin typeface="Cambria Math" panose="02040503050406030204" pitchFamily="18" charset="0"/>
                                </a:rPr>
                                <m:t>𝒕</m:t>
                              </m:r>
                              <m:r>
                                <a:rPr lang="en-US" sz="3200" b="1" i="1">
                                  <a:latin typeface="Cambria Math" panose="02040503050406030204" pitchFamily="18" charset="0"/>
                                </a:rPr>
                                <m:t>=</m:t>
                              </m:r>
                              <m:r>
                                <a:rPr lang="en-US" sz="3200" b="1" i="1">
                                  <a:latin typeface="Cambria Math" panose="02040503050406030204" pitchFamily="18" charset="0"/>
                                </a:rPr>
                                <m:t>𝟎</m:t>
                              </m:r>
                            </m:sub>
                            <m:sup>
                              <m:r>
                                <a:rPr lang="en-US" sz="3200" b="1" i="1">
                                  <a:latin typeface="Cambria Math" panose="02040503050406030204" pitchFamily="18" charset="0"/>
                                </a:rPr>
                                <m:t>𝒕</m:t>
                              </m:r>
                            </m:sup>
                            <m:e>
                              <m:r>
                                <a:rPr lang="en-US" sz="3200" b="1" i="1">
                                  <a:latin typeface="Cambria Math" panose="02040503050406030204" pitchFamily="18" charset="0"/>
                                </a:rPr>
                                <m:t>(</m:t>
                              </m:r>
                              <m:r>
                                <a:rPr lang="en-US" sz="3200" b="1" i="1">
                                  <a:latin typeface="Cambria Math" panose="02040503050406030204" pitchFamily="18" charset="0"/>
                                </a:rPr>
                                <m:t>𝒗</m:t>
                              </m:r>
                              <m:r>
                                <m:rPr>
                                  <m:nor/>
                                </m:rPr>
                                <a:rPr lang="en-US" sz="3200" b="1" baseline="-25000" dirty="0"/>
                                <m:t>0</m:t>
                              </m:r>
                              <m:r>
                                <a:rPr lang="en-US" sz="3200" b="1" i="1">
                                  <a:latin typeface="Cambria Math" panose="02040503050406030204" pitchFamily="18" charset="0"/>
                                </a:rPr>
                                <m:t>+</m:t>
                              </m:r>
                              <m:r>
                                <a:rPr lang="en-US" sz="3200" b="1">
                                  <a:latin typeface="Cambria Math" panose="02040503050406030204" pitchFamily="18" charset="0"/>
                                </a:rPr>
                                <m:t> </m:t>
                              </m:r>
                              <m:r>
                                <a:rPr lang="en-US" sz="3200" b="1" i="1">
                                  <a:latin typeface="Cambria Math" panose="02040503050406030204" pitchFamily="18" charset="0"/>
                                </a:rPr>
                                <m:t>𝒂𝒕</m:t>
                              </m:r>
                              <m:r>
                                <a:rPr lang="en-US" sz="3200" b="1" i="1">
                                  <a:latin typeface="Cambria Math" panose="02040503050406030204" pitchFamily="18" charset="0"/>
                                </a:rPr>
                                <m:t>)</m:t>
                              </m:r>
                              <m:r>
                                <a:rPr lang="en-US" sz="3200" b="1" i="1">
                                  <a:latin typeface="Cambria Math" panose="02040503050406030204" pitchFamily="18" charset="0"/>
                                </a:rPr>
                                <m:t>𝒅𝒕</m:t>
                              </m:r>
                            </m:e>
                          </m:nary>
                        </m:e>
                      </m:nary>
                    </m:oMath>
                  </m:oMathPara>
                </a14:m>
                <a:endParaRPr lang="en-US" sz="3200" dirty="0"/>
              </a:p>
              <a:p>
                <a:endParaRPr lang="en-US" altLang="en-US" sz="3200" b="1" dirty="0"/>
              </a:p>
              <a:p>
                <a:r>
                  <a:rPr lang="en-US" altLang="en-US" sz="3200" b="1" dirty="0"/>
                  <a:t>For constant acceleration</a:t>
                </a:r>
                <a:r>
                  <a:rPr lang="en-US" altLang="en-US" sz="3200" dirty="0">
                    <a:solidFill>
                      <a:schemeClr val="accent2"/>
                    </a:solidFill>
                  </a:rPr>
                  <a:t>,</a:t>
                </a:r>
              </a:p>
              <a:p>
                <a:pPr/>
                <a14:m>
                  <m:oMathPara xmlns:m="http://schemas.openxmlformats.org/officeDocument/2006/math">
                    <m:oMathParaPr>
                      <m:jc m:val="left"/>
                    </m:oMathParaPr>
                    <m:oMath xmlns:m="http://schemas.openxmlformats.org/officeDocument/2006/math">
                      <m:r>
                        <a:rPr lang="en-US" sz="3200" b="1" i="1" smtClean="0">
                          <a:latin typeface="Cambria Math" panose="02040503050406030204" pitchFamily="18" charset="0"/>
                        </a:rPr>
                        <m:t> </m:t>
                      </m:r>
                      <m:r>
                        <m:rPr>
                          <m:nor/>
                        </m:rPr>
                        <a:rPr lang="en-US" sz="3200" b="1" smtClean="0">
                          <a:latin typeface="Cambria Math" panose="02040503050406030204" pitchFamily="18" charset="0"/>
                          <a:ea typeface="Cambria Math" panose="02040503050406030204" pitchFamily="18" charset="0"/>
                        </a:rPr>
                        <m:t>x</m:t>
                      </m:r>
                      <m:r>
                        <a:rPr lang="en-US" sz="3200" b="1" i="1">
                          <a:latin typeface="Cambria Math" panose="02040503050406030204" pitchFamily="18" charset="0"/>
                          <a:ea typeface="Cambria Math" panose="02040503050406030204" pitchFamily="18" charset="0"/>
                        </a:rPr>
                        <m:t>=</m:t>
                      </m:r>
                      <m:sSub>
                        <m:sSubPr>
                          <m:ctrlPr>
                            <a:rPr lang="en-US" sz="3200" b="1" i="1">
                              <a:latin typeface="Cambria Math" panose="02040503050406030204" pitchFamily="18" charset="0"/>
                              <a:ea typeface="Cambria Math" panose="02040503050406030204" pitchFamily="18" charset="0"/>
                            </a:rPr>
                          </m:ctrlPr>
                        </m:sSubPr>
                        <m:e>
                          <m:r>
                            <m:rPr>
                              <m:nor/>
                            </m:rPr>
                            <a:rPr lang="en-US" sz="3200" b="1">
                              <a:latin typeface="Cambria Math" panose="02040503050406030204" pitchFamily="18" charset="0"/>
                              <a:ea typeface="Cambria Math" panose="02040503050406030204" pitchFamily="18" charset="0"/>
                            </a:rPr>
                            <m:t>x</m:t>
                          </m:r>
                        </m:e>
                        <m:sub>
                          <m:r>
                            <m:rPr>
                              <m:nor/>
                            </m:rPr>
                            <a:rPr lang="en-US" sz="3200" b="1" baseline="-25000">
                              <a:latin typeface="Cambria Math" panose="02040503050406030204" pitchFamily="18" charset="0"/>
                              <a:ea typeface="Cambria Math" panose="02040503050406030204" pitchFamily="18" charset="0"/>
                            </a:rPr>
                            <m:t>0</m:t>
                          </m:r>
                        </m:sub>
                      </m:sSub>
                      <m:r>
                        <a:rPr lang="en-US" sz="3200" b="1" i="1">
                          <a:latin typeface="Cambria Math" panose="02040503050406030204" pitchFamily="18" charset="0"/>
                          <a:ea typeface="Cambria Math" panose="02040503050406030204" pitchFamily="18" charset="0"/>
                        </a:rPr>
                        <m:t>+</m:t>
                      </m:r>
                      <m:r>
                        <a:rPr lang="en-US" sz="3200" b="1" i="1">
                          <a:latin typeface="Cambria Math" panose="02040503050406030204" pitchFamily="18" charset="0"/>
                        </a:rPr>
                        <m:t>𝒗</m:t>
                      </m:r>
                      <m:r>
                        <m:rPr>
                          <m:nor/>
                        </m:rPr>
                        <a:rPr lang="en-US" sz="3200" b="1" baseline="-25000" dirty="0"/>
                        <m:t>0</m:t>
                      </m:r>
                      <m:r>
                        <a:rPr lang="en-US" sz="3200" b="1" i="1">
                          <a:latin typeface="Cambria Math" panose="02040503050406030204" pitchFamily="18" charset="0"/>
                          <a:ea typeface="Cambria Math" panose="02040503050406030204" pitchFamily="18" charset="0"/>
                        </a:rPr>
                        <m:t>𝒕</m:t>
                      </m:r>
                      <m:r>
                        <a:rPr lang="en-US" sz="3200" b="1" i="1">
                          <a:latin typeface="Cambria Math" panose="02040503050406030204" pitchFamily="18" charset="0"/>
                          <a:ea typeface="Cambria Math" panose="02040503050406030204" pitchFamily="18" charset="0"/>
                        </a:rPr>
                        <m:t>+ </m:t>
                      </m:r>
                      <m:f>
                        <m:fPr>
                          <m:ctrlPr>
                            <a:rPr lang="en-US" sz="3200" b="1" i="1">
                              <a:latin typeface="Cambria Math" panose="02040503050406030204" pitchFamily="18" charset="0"/>
                              <a:ea typeface="Cambria Math" panose="02040503050406030204" pitchFamily="18" charset="0"/>
                            </a:rPr>
                          </m:ctrlPr>
                        </m:fPr>
                        <m:num>
                          <m:r>
                            <a:rPr lang="en-US" sz="3200" b="1" i="1">
                              <a:latin typeface="Cambria Math" panose="02040503050406030204" pitchFamily="18" charset="0"/>
                              <a:ea typeface="Cambria Math" panose="02040503050406030204" pitchFamily="18" charset="0"/>
                            </a:rPr>
                            <m:t>𝟏</m:t>
                          </m:r>
                        </m:num>
                        <m:den>
                          <m:r>
                            <a:rPr lang="en-US" sz="3200" b="1" i="1">
                              <a:latin typeface="Cambria Math" panose="02040503050406030204" pitchFamily="18" charset="0"/>
                              <a:ea typeface="Cambria Math" panose="02040503050406030204" pitchFamily="18" charset="0"/>
                            </a:rPr>
                            <m:t>𝟐</m:t>
                          </m:r>
                        </m:den>
                      </m:f>
                      <m:r>
                        <m:rPr>
                          <m:nor/>
                        </m:rPr>
                        <a:rPr lang="en-US" sz="3200" b="1">
                          <a:latin typeface="Cambria Math" panose="02040503050406030204" pitchFamily="18" charset="0"/>
                          <a:ea typeface="Cambria Math" panose="02040503050406030204" pitchFamily="18" charset="0"/>
                        </a:rPr>
                        <m:t>a</m:t>
                      </m:r>
                      <m:sSup>
                        <m:sSupPr>
                          <m:ctrlPr>
                            <a:rPr lang="en-US" sz="3200" b="1" i="1">
                              <a:latin typeface="Cambria Math" panose="02040503050406030204" pitchFamily="18" charset="0"/>
                              <a:ea typeface="Cambria Math" panose="02040503050406030204" pitchFamily="18" charset="0"/>
                            </a:rPr>
                          </m:ctrlPr>
                        </m:sSupPr>
                        <m:e>
                          <m:r>
                            <a:rPr lang="en-US" sz="3200" b="1" i="1">
                              <a:latin typeface="Cambria Math" panose="02040503050406030204" pitchFamily="18" charset="0"/>
                              <a:ea typeface="Cambria Math" panose="02040503050406030204" pitchFamily="18" charset="0"/>
                            </a:rPr>
                            <m:t>𝒕</m:t>
                          </m:r>
                        </m:e>
                        <m:sup>
                          <m:r>
                            <a:rPr lang="en-US" sz="3200" b="1" i="1">
                              <a:latin typeface="Cambria Math" panose="02040503050406030204" pitchFamily="18" charset="0"/>
                              <a:ea typeface="Cambria Math" panose="02040503050406030204" pitchFamily="18" charset="0"/>
                            </a:rPr>
                            <m:t>𝟐</m:t>
                          </m:r>
                        </m:sup>
                      </m:sSup>
                    </m:oMath>
                  </m:oMathPara>
                </a14:m>
                <a:endParaRPr lang="en-US" sz="3200" dirty="0"/>
              </a:p>
              <a:p>
                <a:r>
                  <a:rPr lang="en-US" sz="3200" dirty="0">
                    <a:hlinkClick r:id="rId3"/>
                  </a:rPr>
                  <a:t> </a:t>
                </a:r>
                <a:r>
                  <a:rPr lang="en-US" sz="2800" b="1" dirty="0">
                    <a:hlinkClick r:id="rId3"/>
                  </a:rPr>
                  <a:t>Derivation of Kinematics Equations Using Calculus Video</a:t>
                </a:r>
                <a:endParaRPr lang="en-US" sz="2800" b="1" dirty="0"/>
              </a:p>
            </p:txBody>
          </p:sp>
        </mc:Choice>
        <mc:Fallback xmlns="">
          <p:sp>
            <p:nvSpPr>
              <p:cNvPr id="3" name="TextBox 2"/>
              <p:cNvSpPr txBox="1">
                <a:spLocks noRot="1" noChangeAspect="1" noMove="1" noResize="1" noEditPoints="1" noAdjustHandles="1" noChangeArrowheads="1" noChangeShapeType="1" noTextEdit="1"/>
              </p:cNvSpPr>
              <p:nvPr/>
            </p:nvSpPr>
            <p:spPr>
              <a:xfrm>
                <a:off x="166318" y="1253677"/>
                <a:ext cx="8840486" cy="5143396"/>
              </a:xfrm>
              <a:prstGeom prst="rect">
                <a:avLst/>
              </a:prstGeom>
              <a:blipFill>
                <a:blip r:embed="rId4"/>
                <a:stretch>
                  <a:fillRect l="-1724" t="-712" b="-2372"/>
                </a:stretch>
              </a:blipFill>
            </p:spPr>
            <p:txBody>
              <a:bodyPr/>
              <a:lstStyle/>
              <a:p>
                <a:r>
                  <a:rPr lang="en-US">
                    <a:noFill/>
                  </a:rPr>
                  <a:t> </a:t>
                </a:r>
              </a:p>
            </p:txBody>
          </p:sp>
        </mc:Fallback>
      </mc:AlternateContent>
      <p:pic>
        <p:nvPicPr>
          <p:cNvPr id="4" name="Picture 3" descr="Raji K Physics Logo">
            <a:extLst>
              <a:ext uri="{FF2B5EF4-FFF2-40B4-BE49-F238E27FC236}">
                <a16:creationId xmlns:a16="http://schemas.microsoft.com/office/drawing/2014/main" id="{2BF828F1-D2F0-678F-C3E7-36CBBFB65BF1}"/>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735159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CE8B3-E207-4476-B0DF-627B0510FF92}"/>
              </a:ext>
            </a:extLst>
          </p:cNvPr>
          <p:cNvSpPr>
            <a:spLocks noGrp="1"/>
          </p:cNvSpPr>
          <p:nvPr>
            <p:ph type="title"/>
          </p:nvPr>
        </p:nvSpPr>
        <p:spPr>
          <a:xfrm>
            <a:off x="276894" y="70833"/>
            <a:ext cx="8429223" cy="733437"/>
          </a:xfrm>
        </p:spPr>
        <p:txBody>
          <a:bodyPr>
            <a:noAutofit/>
          </a:bodyPr>
          <a:lstStyle/>
          <a:p>
            <a:r>
              <a:rPr lang="en-US" sz="2800" b="1" dirty="0">
                <a:solidFill>
                  <a:schemeClr val="tx1"/>
                </a:solidFill>
              </a:rPr>
              <a:t>Example 3.17  </a:t>
            </a:r>
            <a:r>
              <a:rPr lang="en-US" sz="2800" dirty="0">
                <a:solidFill>
                  <a:schemeClr val="tx1"/>
                </a:solidFill>
              </a:rPr>
              <a:t>Motion of a Motorboat</a:t>
            </a:r>
          </a:p>
        </p:txBody>
      </p:sp>
      <p:sp>
        <p:nvSpPr>
          <p:cNvPr id="4" name="Text Placeholder 3">
            <a:extLst>
              <a:ext uri="{FF2B5EF4-FFF2-40B4-BE49-F238E27FC236}">
                <a16:creationId xmlns:a16="http://schemas.microsoft.com/office/drawing/2014/main" id="{531C80DB-6658-462D-8CE4-2C1186E73D7E}"/>
              </a:ext>
            </a:extLst>
          </p:cNvPr>
          <p:cNvSpPr>
            <a:spLocks noGrp="1"/>
          </p:cNvSpPr>
          <p:nvPr>
            <p:ph type="body" sz="quarter" idx="14"/>
          </p:nvPr>
        </p:nvSpPr>
        <p:spPr>
          <a:xfrm>
            <a:off x="276894" y="993198"/>
            <a:ext cx="8062912" cy="5488882"/>
          </a:xfrm>
        </p:spPr>
        <p:txBody>
          <a:bodyPr>
            <a:noAutofit/>
          </a:bodyPr>
          <a:lstStyle/>
          <a:p>
            <a:r>
              <a:rPr lang="en-US" sz="2400" b="1" dirty="0"/>
              <a:t>A motorboat is traveling at a constant velocity of 5.0 m/s when it starts to accelerate opposite to the motion to arrive at the dock. Its acceleration is a(t)=−14t m/s</a:t>
            </a:r>
            <a:r>
              <a:rPr lang="en-US" sz="2400" b="1" baseline="30000" dirty="0"/>
              <a:t>3</a:t>
            </a:r>
            <a:r>
              <a:rPr lang="en-US" sz="2400" b="1" dirty="0"/>
              <a:t>. </a:t>
            </a:r>
          </a:p>
          <a:p>
            <a:pPr marL="457200" indent="-457200">
              <a:buClrTx/>
              <a:buFont typeface="+mj-lt"/>
              <a:buAutoNum type="alphaLcParenR"/>
            </a:pPr>
            <a:r>
              <a:rPr lang="en-US" sz="2400" b="1" dirty="0"/>
              <a:t>What is the velocity function of the motorboat? </a:t>
            </a:r>
          </a:p>
          <a:p>
            <a:pPr marL="457200" indent="-457200">
              <a:buClrTx/>
              <a:buFont typeface="+mj-lt"/>
              <a:buAutoNum type="alphaLcParenR"/>
            </a:pPr>
            <a:r>
              <a:rPr lang="en-US" sz="2400" b="1" dirty="0"/>
              <a:t>At what time does the velocity reach zero?</a:t>
            </a:r>
          </a:p>
          <a:p>
            <a:pPr marL="457200" indent="-457200">
              <a:buClrTx/>
              <a:buFont typeface="+mj-lt"/>
              <a:buAutoNum type="alphaLcParenR"/>
            </a:pPr>
            <a:r>
              <a:rPr lang="en-US" sz="2400" b="1" dirty="0"/>
              <a:t>What is the position function of the motorboat?</a:t>
            </a:r>
          </a:p>
          <a:p>
            <a:pPr>
              <a:buClrTx/>
            </a:pPr>
            <a:endParaRPr lang="en-US" sz="2400" b="1" dirty="0"/>
          </a:p>
          <a:p>
            <a:r>
              <a:rPr lang="en-US" sz="2400" b="1" dirty="0">
                <a:hlinkClick r:id="rId2"/>
              </a:rPr>
              <a:t>Click Here for Solution</a:t>
            </a:r>
            <a:endParaRPr lang="en-US" sz="2400" b="1" dirty="0"/>
          </a:p>
        </p:txBody>
      </p:sp>
      <p:pic>
        <p:nvPicPr>
          <p:cNvPr id="5" name="Picture 4" descr="OpenStax logo">
            <a:extLst>
              <a:ext uri="{FF2B5EF4-FFF2-40B4-BE49-F238E27FC236}">
                <a16:creationId xmlns:a16="http://schemas.microsoft.com/office/drawing/2014/main" id="{DE7E3308-D804-284B-0BE6-2431D6D0249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94177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F4E-5CFE-412C-B91F-F3563AFFE66E}"/>
              </a:ext>
            </a:extLst>
          </p:cNvPr>
          <p:cNvSpPr>
            <a:spLocks noGrp="1"/>
          </p:cNvSpPr>
          <p:nvPr>
            <p:ph type="title"/>
          </p:nvPr>
        </p:nvSpPr>
        <p:spPr/>
        <p:txBody>
          <a:bodyPr>
            <a:normAutofit/>
          </a:bodyPr>
          <a:lstStyle/>
          <a:p>
            <a:pPr algn="ctr"/>
            <a:r>
              <a:rPr lang="en-US" sz="2800" dirty="0">
                <a:solidFill>
                  <a:schemeClr val="tx1"/>
                </a:solidFill>
              </a:rPr>
              <a:t>Chapter 3 Review</a:t>
            </a:r>
          </a:p>
        </p:txBody>
      </p:sp>
      <p:sp>
        <p:nvSpPr>
          <p:cNvPr id="4" name="Text Placeholder 3">
            <a:extLst>
              <a:ext uri="{FF2B5EF4-FFF2-40B4-BE49-F238E27FC236}">
                <a16:creationId xmlns:a16="http://schemas.microsoft.com/office/drawing/2014/main" id="{8ACF2BEB-4CD7-4206-AF5F-C4652726325D}"/>
              </a:ext>
            </a:extLst>
          </p:cNvPr>
          <p:cNvSpPr>
            <a:spLocks noGrp="1"/>
          </p:cNvSpPr>
          <p:nvPr>
            <p:ph type="body" sz="quarter" idx="14"/>
          </p:nvPr>
        </p:nvSpPr>
        <p:spPr>
          <a:xfrm>
            <a:off x="457200" y="1277296"/>
            <a:ext cx="8062912" cy="3370904"/>
          </a:xfrm>
        </p:spPr>
        <p:txBody>
          <a:bodyPr>
            <a:normAutofit/>
          </a:bodyPr>
          <a:lstStyle/>
          <a:p>
            <a:r>
              <a:rPr lang="en-US" sz="3000" b="1" dirty="0"/>
              <a:t> </a:t>
            </a:r>
            <a:r>
              <a:rPr lang="en-US" sz="2800" dirty="0"/>
              <a:t> </a:t>
            </a:r>
          </a:p>
          <a:p>
            <a:r>
              <a:rPr lang="en-US" sz="2400" dirty="0"/>
              <a:t> </a:t>
            </a: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r>
              <a:rPr lang="en-US" sz="2800" b="1" dirty="0">
                <a:solidFill>
                  <a:srgbClr val="3333FF"/>
                </a:solidFill>
              </a:rPr>
              <a:t> </a:t>
            </a:r>
            <a:r>
              <a:rPr kumimoji="0" lang="en-US" altLang="en-US" sz="2800" b="1" i="0" u="none" strike="noStrike" cap="none" normalizeH="0" baseline="0" dirty="0">
                <a:ln>
                  <a:noFill/>
                </a:ln>
                <a:solidFill>
                  <a:schemeClr val="tx1"/>
                </a:solidFill>
                <a:effectLst/>
                <a:latin typeface="Arial" panose="020B0604020202020204" pitchFamily="34" charset="0"/>
                <a:hlinkClick r:id="rId2"/>
              </a:rPr>
              <a:t>Key Terms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3"/>
              </a:rPr>
              <a:t>Key Equations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4"/>
              </a:rPr>
              <a:t>Summary</a:t>
            </a:r>
            <a:r>
              <a:rPr kumimoji="0" lang="en-US" altLang="en-US" sz="2800" b="1" i="0" u="none" strike="noStrike" cap="none" normalizeH="0" baseline="0" dirty="0">
                <a:ln>
                  <a:noFill/>
                </a:ln>
                <a:solidFill>
                  <a:schemeClr val="tx1"/>
                </a:solidFill>
                <a:effectLst/>
                <a:latin typeface="Arial" panose="020B0604020202020204" pitchFamily="34" charset="0"/>
              </a:rPr>
              <a:t> </a:t>
            </a:r>
          </a:p>
          <a:p>
            <a:pPr>
              <a:buClrTx/>
              <a:buFont typeface="+mj-lt"/>
              <a:buAutoNum type="arabicPeriod"/>
            </a:pPr>
            <a:endParaRPr lang="en-US" sz="2800" b="1" dirty="0">
              <a:solidFill>
                <a:srgbClr val="3333FF"/>
              </a:solidFill>
            </a:endParaRPr>
          </a:p>
          <a:p>
            <a:endParaRPr lang="en-US" sz="3000" b="1" dirty="0"/>
          </a:p>
          <a:p>
            <a:endParaRPr lang="en-US" dirty="0"/>
          </a:p>
        </p:txBody>
      </p:sp>
      <p:pic>
        <p:nvPicPr>
          <p:cNvPr id="3" name="Picture 2" descr="Raji K Physics Logo">
            <a:extLst>
              <a:ext uri="{FF2B5EF4-FFF2-40B4-BE49-F238E27FC236}">
                <a16:creationId xmlns:a16="http://schemas.microsoft.com/office/drawing/2014/main" id="{7B7CDCE6-917E-46F6-071C-6098B991B5EE}"/>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759395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1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fa5be20-dc39-4186-a780-7e1bcec99d18}" enabled="1" method="Standard" siteId="{c5063431-d7f2-48db-ac62-eaeaa2e0bffc}" removed="0"/>
</clbl:labelList>
</file>

<file path=docProps/app.xml><?xml version="1.0" encoding="utf-8"?>
<Properties xmlns="http://schemas.openxmlformats.org/officeDocument/2006/extended-properties" xmlns:vt="http://schemas.openxmlformats.org/officeDocument/2006/docPropsVTypes">
  <Template/>
  <TotalTime>4551</TotalTime>
  <Words>3661</Words>
  <Application>Microsoft Office PowerPoint</Application>
  <PresentationFormat>On-screen Show (4:3)</PresentationFormat>
  <Paragraphs>292</Paragraphs>
  <Slides>41</Slides>
  <Notes>17</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41</vt:i4>
      </vt:variant>
    </vt:vector>
  </HeadingPairs>
  <TitlesOfParts>
    <vt:vector size="52" baseType="lpstr">
      <vt:lpstr>Arial</vt:lpstr>
      <vt:lpstr>Arial Black</vt:lpstr>
      <vt:lpstr>Calibri</vt:lpstr>
      <vt:lpstr>Cambria Math</vt:lpstr>
      <vt:lpstr>Canva Sans</vt:lpstr>
      <vt:lpstr>MathJax_Main</vt:lpstr>
      <vt:lpstr>MathJax_Math</vt:lpstr>
      <vt:lpstr>Times New Roman</vt:lpstr>
      <vt:lpstr>Wingdings</vt:lpstr>
      <vt:lpstr>Essential</vt:lpstr>
      <vt:lpstr>1_Essential</vt:lpstr>
      <vt:lpstr>UNIVERSITY PHYSICS I LECTURE SLIDES  CHAPTER 3. MOTION ALONG A STRAIGHT LINE</vt:lpstr>
      <vt:lpstr>CHAPTER 3. MOTION ALONG A STRAIGHT LINE</vt:lpstr>
      <vt:lpstr>KINEMATICS</vt:lpstr>
      <vt:lpstr> motion of an Object</vt:lpstr>
      <vt:lpstr>Position</vt:lpstr>
      <vt:lpstr> DISPLACEMENT</vt:lpstr>
      <vt:lpstr>Distance and Displacement</vt:lpstr>
      <vt:lpstr> Check Your Understanding 3.1</vt:lpstr>
      <vt:lpstr>Concept QUESTIONS</vt:lpstr>
      <vt:lpstr>Average SPEED, Velocity</vt:lpstr>
      <vt:lpstr>Average speed and average velocity</vt:lpstr>
      <vt:lpstr>  Example PROBLEM 3.1</vt:lpstr>
      <vt:lpstr>Instantaneous Velocity</vt:lpstr>
      <vt:lpstr>   velocity from x-t graph</vt:lpstr>
      <vt:lpstr>x-t and v–t graphs</vt:lpstr>
      <vt:lpstr> Example 3.3, 3.4  Instantaneous Versus Average  </vt:lpstr>
      <vt:lpstr>Average Acceleration</vt:lpstr>
      <vt:lpstr>Instantaneous Acceleration</vt:lpstr>
      <vt:lpstr> velocity versus time, instantaneous acceleration Graphs</vt:lpstr>
      <vt:lpstr> velocity-versus-time graph </vt:lpstr>
      <vt:lpstr>EXAMPLE PROBLEMS</vt:lpstr>
      <vt:lpstr>Example 3.6 Instantaneous Acceleration</vt:lpstr>
      <vt:lpstr>Kinematic Equations</vt:lpstr>
      <vt:lpstr>  Kinematic Equations 1 and 2</vt:lpstr>
      <vt:lpstr>CONSTANT ACCELERATION-EQUATIONS</vt:lpstr>
      <vt:lpstr>Problem Solving STRATEGIES</vt:lpstr>
      <vt:lpstr>Solving Problems</vt:lpstr>
      <vt:lpstr>Uniform Acceleration Example Problems</vt:lpstr>
      <vt:lpstr>PROBLEMS USING KINEMATICS EQUATIONS</vt:lpstr>
      <vt:lpstr>Objects under FREE FALL MOTION</vt:lpstr>
      <vt:lpstr>Acceleration due to gravity</vt:lpstr>
      <vt:lpstr>FREE FALL MOTION</vt:lpstr>
      <vt:lpstr>Kinematic Equations for Objects in Free Fall </vt:lpstr>
      <vt:lpstr>Problem-Solving Strategy : Free Fall </vt:lpstr>
      <vt:lpstr>  Free Fall of a Ball</vt:lpstr>
      <vt:lpstr> Calculating Position and Velocity of a Falling Object: A Rock Thrown Upward</vt:lpstr>
      <vt:lpstr>Kinematic Equations from Integral Calculus</vt:lpstr>
      <vt:lpstr>Variable Acceleration; Integral Calculus</vt:lpstr>
      <vt:lpstr>Variable Acceleration; Integral Calculus-2</vt:lpstr>
      <vt:lpstr>Example 3.17  Motion of a Motorboat</vt:lpstr>
      <vt:lpstr>Chapter 3 Review</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Dr. Raji Kannampuzha</dc:creator>
  <cp:lastModifiedBy>Dr.Raji</cp:lastModifiedBy>
  <cp:revision>188</cp:revision>
  <cp:lastPrinted>2016-10-04T00:55:10Z</cp:lastPrinted>
  <dcterms:created xsi:type="dcterms:W3CDTF">2012-06-04T02:13:36Z</dcterms:created>
  <dcterms:modified xsi:type="dcterms:W3CDTF">2025-10-24T04:44:04Z</dcterms:modified>
</cp:coreProperties>
</file>