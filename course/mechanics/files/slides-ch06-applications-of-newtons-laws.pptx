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1" r:id="rId1"/>
    <p:sldMasterId id="2147483928" r:id="rId2"/>
    <p:sldMasterId id="2147483942" r:id="rId3"/>
    <p:sldMasterId id="2147483981" r:id="rId4"/>
    <p:sldMasterId id="2147483988" r:id="rId5"/>
    <p:sldMasterId id="2147484008" r:id="rId6"/>
  </p:sldMasterIdLst>
  <p:notesMasterIdLst>
    <p:notesMasterId r:id="rId37"/>
  </p:notesMasterIdLst>
  <p:handoutMasterIdLst>
    <p:handoutMasterId r:id="rId38"/>
  </p:handoutMasterIdLst>
  <p:sldIdLst>
    <p:sldId id="365" r:id="rId7"/>
    <p:sldId id="411" r:id="rId8"/>
    <p:sldId id="425" r:id="rId9"/>
    <p:sldId id="428" r:id="rId10"/>
    <p:sldId id="317" r:id="rId11"/>
    <p:sldId id="431" r:id="rId12"/>
    <p:sldId id="429" r:id="rId13"/>
    <p:sldId id="430" r:id="rId14"/>
    <p:sldId id="377" r:id="rId15"/>
    <p:sldId id="286" r:id="rId16"/>
    <p:sldId id="378" r:id="rId17"/>
    <p:sldId id="379" r:id="rId18"/>
    <p:sldId id="380" r:id="rId19"/>
    <p:sldId id="383" r:id="rId20"/>
    <p:sldId id="432" r:id="rId21"/>
    <p:sldId id="382" r:id="rId22"/>
    <p:sldId id="433" r:id="rId23"/>
    <p:sldId id="385" r:id="rId24"/>
    <p:sldId id="387" r:id="rId25"/>
    <p:sldId id="388" r:id="rId26"/>
    <p:sldId id="389" r:id="rId27"/>
    <p:sldId id="336" r:id="rId28"/>
    <p:sldId id="434" r:id="rId29"/>
    <p:sldId id="392" r:id="rId30"/>
    <p:sldId id="393" r:id="rId31"/>
    <p:sldId id="394" r:id="rId32"/>
    <p:sldId id="306" r:id="rId33"/>
    <p:sldId id="399" r:id="rId34"/>
    <p:sldId id="400" r:id="rId35"/>
    <p:sldId id="435"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257DFF"/>
    <a:srgbClr val="6CB255"/>
    <a:srgbClr val="E5D419"/>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258457-ACE4-E25F-F0F9-3441754443CC}" v="2" dt="2025-10-14T23:02:32.565"/>
    <p1510:client id="{AD0ED6C9-9CA8-732E-8A84-F29DB52ED633}" v="43" dt="2025-10-14T21:56:52.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68" autoAdjust="0"/>
    <p:restoredTop sz="86456" autoAdjust="0"/>
  </p:normalViewPr>
  <p:slideViewPr>
    <p:cSldViewPr snapToGrid="0" snapToObjects="1">
      <p:cViewPr varScale="1">
        <p:scale>
          <a:sx n="89" d="100"/>
          <a:sy n="89" d="100"/>
        </p:scale>
        <p:origin x="139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sree Kannampuzha" userId="S::rkannampuzha@collin.edu::94045377-cf84-4a1c-b9ee-8be93f9e6e89" providerId="AD" clId="Web-{AD0ED6C9-9CA8-732E-8A84-F29DB52ED633}"/>
    <pc:docChg chg="modSld">
      <pc:chgData name="Rajasree Kannampuzha" userId="S::rkannampuzha@collin.edu::94045377-cf84-4a1c-b9ee-8be93f9e6e89" providerId="AD" clId="Web-{AD0ED6C9-9CA8-732E-8A84-F29DB52ED633}" dt="2025-10-14T21:56:52.922" v="23" actId="20577"/>
      <pc:docMkLst>
        <pc:docMk/>
      </pc:docMkLst>
      <pc:sldChg chg="modSp">
        <pc:chgData name="Rajasree Kannampuzha" userId="S::rkannampuzha@collin.edu::94045377-cf84-4a1c-b9ee-8be93f9e6e89" providerId="AD" clId="Web-{AD0ED6C9-9CA8-732E-8A84-F29DB52ED633}" dt="2025-10-14T21:56:52.922" v="23" actId="20577"/>
        <pc:sldMkLst>
          <pc:docMk/>
          <pc:sldMk cId="201616528" sldId="365"/>
        </pc:sldMkLst>
        <pc:spChg chg="mod">
          <ac:chgData name="Rajasree Kannampuzha" userId="S::rkannampuzha@collin.edu::94045377-cf84-4a1c-b9ee-8be93f9e6e89" providerId="AD" clId="Web-{AD0ED6C9-9CA8-732E-8A84-F29DB52ED633}" dt="2025-10-14T21:42:41.863" v="11" actId="14100"/>
          <ac:spMkLst>
            <pc:docMk/>
            <pc:sldMk cId="201616528" sldId="365"/>
            <ac:spMk id="4" creationId="{69AF53B8-AEA0-124B-F7E7-DB21550AB102}"/>
          </ac:spMkLst>
        </pc:spChg>
        <pc:spChg chg="mod">
          <ac:chgData name="Rajasree Kannampuzha" userId="S::rkannampuzha@collin.edu::94045377-cf84-4a1c-b9ee-8be93f9e6e89" providerId="AD" clId="Web-{AD0ED6C9-9CA8-732E-8A84-F29DB52ED633}" dt="2025-10-14T21:56:52.922" v="23" actId="20577"/>
          <ac:spMkLst>
            <pc:docMk/>
            <pc:sldMk cId="201616528" sldId="365"/>
            <ac:spMk id="9" creationId="{0A064A47-CEA7-59B0-0459-E9AEF9D147EC}"/>
          </ac:spMkLst>
        </pc:spChg>
      </pc:sldChg>
    </pc:docChg>
  </pc:docChgLst>
  <pc:docChgLst>
    <pc:chgData name="Rajasree Kannampuzha" userId="S::rkannampuzha@collin.edu::94045377-cf84-4a1c-b9ee-8be93f9e6e89" providerId="AD" clId="Web-{3B258457-ACE4-E25F-F0F9-3441754443CC}"/>
    <pc:docChg chg="modSld">
      <pc:chgData name="Rajasree Kannampuzha" userId="S::rkannampuzha@collin.edu::94045377-cf84-4a1c-b9ee-8be93f9e6e89" providerId="AD" clId="Web-{3B258457-ACE4-E25F-F0F9-3441754443CC}" dt="2025-10-14T23:02:32.565" v="0" actId="20577"/>
      <pc:docMkLst>
        <pc:docMk/>
      </pc:docMkLst>
      <pc:sldChg chg="modSp">
        <pc:chgData name="Rajasree Kannampuzha" userId="S::rkannampuzha@collin.edu::94045377-cf84-4a1c-b9ee-8be93f9e6e89" providerId="AD" clId="Web-{3B258457-ACE4-E25F-F0F9-3441754443CC}" dt="2025-10-14T23:02:32.565" v="0" actId="20577"/>
        <pc:sldMkLst>
          <pc:docMk/>
          <pc:sldMk cId="201616528" sldId="365"/>
        </pc:sldMkLst>
        <pc:spChg chg="mod">
          <ac:chgData name="Rajasree Kannampuzha" userId="S::rkannampuzha@collin.edu::94045377-cf84-4a1c-b9ee-8be93f9e6e89" providerId="AD" clId="Web-{3B258457-ACE4-E25F-F0F9-3441754443CC}" dt="2025-10-14T23:02:32.565" v="0" actId="20577"/>
          <ac:spMkLst>
            <pc:docMk/>
            <pc:sldMk cId="201616528" sldId="365"/>
            <ac:spMk id="4" creationId="{69AF53B8-AEA0-124B-F7E7-DB21550AB10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10/23/2025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1094BF-2DB4-4938-868A-B336FD0148DD}" type="datetimeFigureOut">
              <a:rPr lang="en-US" smtClean="0"/>
              <a:t>10/23/2025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406B1F-EA70-4684-95F9-5AA175060A0C}" type="slidenum">
              <a:rPr lang="en-US" smtClean="0"/>
              <a:t>‹#›</a:t>
            </a:fld>
            <a:endParaRPr lang="en-US"/>
          </a:p>
        </p:txBody>
      </p:sp>
    </p:spTree>
    <p:extLst>
      <p:ext uri="{BB962C8B-B14F-4D97-AF65-F5344CB8AC3E}">
        <p14:creationId xmlns:p14="http://schemas.microsoft.com/office/powerpoint/2010/main" val="707998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openstax.org/books/university-physics-volume-1/pages/6-1-solving-problems-with-newtons-laws#fs-id1165037057133"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pt-BR" sz="2000" b="1" i="0" u="none" strike="noStrike" dirty="0">
                <a:solidFill>
                  <a:srgbClr val="027EB5"/>
                </a:solidFill>
                <a:effectLst/>
                <a:latin typeface="Neue Helvetica W01"/>
                <a:hlinkClick r:id="rId3"/>
              </a:rPr>
              <a:t>6.2</a:t>
            </a:r>
            <a:r>
              <a:rPr lang="pt-BR" sz="2000" b="0" i="0" dirty="0">
                <a:solidFill>
                  <a:srgbClr val="000000"/>
                </a:solidFill>
                <a:effectLst/>
                <a:latin typeface="Neue Helvetica W01"/>
              </a:rPr>
              <a:t> </a:t>
            </a:r>
            <a:r>
              <a:rPr lang="pt-BR" sz="2000" b="0" i="0" u="none" strike="noStrike" dirty="0">
                <a:solidFill>
                  <a:srgbClr val="424242"/>
                </a:solidFill>
                <a:effectLst/>
                <a:latin typeface="MathJax_Math-italic"/>
              </a:rPr>
              <a:t>a</a:t>
            </a:r>
            <a:r>
              <a:rPr lang="pt-BR" sz="2000" b="0" i="0" u="none" strike="noStrike" dirty="0">
                <a:solidFill>
                  <a:srgbClr val="424242"/>
                </a:solidFill>
                <a:effectLst/>
                <a:latin typeface="MathJax_Main"/>
              </a:rPr>
              <a:t>=3.68m/s2,</a:t>
            </a:r>
            <a:r>
              <a:rPr lang="pt-BR" sz="2000" b="0" i="0" u="none" strike="noStrike" dirty="0">
                <a:solidFill>
                  <a:srgbClr val="424242"/>
                </a:solidFill>
                <a:effectLst/>
                <a:latin typeface="Neue Helvetica W01"/>
              </a:rPr>
              <a:t>  </a:t>
            </a:r>
            <a:r>
              <a:rPr lang="pt-BR" sz="2000" b="0" i="0" u="none" strike="noStrike" dirty="0">
                <a:solidFill>
                  <a:srgbClr val="424242"/>
                </a:solidFill>
                <a:effectLst/>
                <a:latin typeface="MathJax_Math-italic"/>
              </a:rPr>
              <a:t>T</a:t>
            </a:r>
            <a:r>
              <a:rPr lang="pt-BR" sz="2000" b="0" i="0" u="none" strike="noStrike" dirty="0">
                <a:solidFill>
                  <a:srgbClr val="424242"/>
                </a:solidFill>
                <a:effectLst/>
                <a:latin typeface="MathJax_Main"/>
              </a:rPr>
              <a:t>=18.4N</a:t>
            </a:r>
            <a:endParaRPr lang="pt-BR" sz="2000" b="0" i="0" dirty="0">
              <a:solidFill>
                <a:srgbClr val="424242"/>
              </a:solidFill>
              <a:effectLst/>
              <a:latin typeface="Neue Helvetica W01"/>
            </a:endParaRPr>
          </a:p>
          <a:p>
            <a:br>
              <a:rPr lang="pt-BR" dirty="0"/>
            </a:br>
            <a:endParaRPr lang="en-US" dirty="0"/>
          </a:p>
        </p:txBody>
      </p:sp>
      <p:sp>
        <p:nvSpPr>
          <p:cNvPr id="4" name="Slide Number Placeholder 3"/>
          <p:cNvSpPr>
            <a:spLocks noGrp="1"/>
          </p:cNvSpPr>
          <p:nvPr>
            <p:ph type="sldNum" sz="quarter" idx="5"/>
          </p:nvPr>
        </p:nvSpPr>
        <p:spPr/>
        <p:txBody>
          <a:bodyPr/>
          <a:lstStyle/>
          <a:p>
            <a:fld id="{51406B1F-EA70-4684-95F9-5AA175060A0C}" type="slidenum">
              <a:rPr lang="en-US" smtClean="0"/>
              <a:t>5</a:t>
            </a:fld>
            <a:endParaRPr lang="en-US"/>
          </a:p>
        </p:txBody>
      </p:sp>
    </p:spTree>
    <p:extLst>
      <p:ext uri="{BB962C8B-B14F-4D97-AF65-F5344CB8AC3E}">
        <p14:creationId xmlns:p14="http://schemas.microsoft.com/office/powerpoint/2010/main" val="2700059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C2C619C-5A26-4625-B4F8-AEB47E13AF05}"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763905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B495412-69F8-4244-8191-820F78B7E056}"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1717882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13A4E1-1361-4A30-9520-1592B4616E4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259816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8DD8302-494F-452F-87DC-B5ABA8D4970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598950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13A4E1-1361-4A30-9520-1592B4616E4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628402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480E593-0203-4934-B266-038CE69BBA49}"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9848343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BAD39C2-092A-4912-B047-618A131621C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p:spPr>
        <p:txBody>
          <a:bodyPr/>
          <a:lstStyle/>
          <a:p>
            <a:r>
              <a:rPr lang="en-US" dirty="0"/>
              <a:t> </a:t>
            </a:r>
          </a:p>
          <a:p>
            <a:endParaRPr lang="en-US" dirty="0"/>
          </a:p>
        </p:txBody>
      </p:sp>
    </p:spTree>
    <p:extLst>
      <p:ext uri="{BB962C8B-B14F-4D97-AF65-F5344CB8AC3E}">
        <p14:creationId xmlns:p14="http://schemas.microsoft.com/office/powerpoint/2010/main" val="994313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a:noFill/>
          <a:ln/>
        </p:spPr>
        <p:txBody>
          <a:bodyPr/>
          <a:lstStyle/>
          <a:p>
            <a:r>
              <a:rPr lang="en-US">
                <a:ea typeface="Batang" pitchFamily="18" charset="-127"/>
              </a:rPr>
              <a:t>D.   all of the above.</a:t>
            </a:r>
          </a:p>
          <a:p>
            <a:endParaRPr lang="en-US"/>
          </a:p>
        </p:txBody>
      </p:sp>
    </p:spTree>
    <p:extLst>
      <p:ext uri="{BB962C8B-B14F-4D97-AF65-F5344CB8AC3E}">
        <p14:creationId xmlns:p14="http://schemas.microsoft.com/office/powerpoint/2010/main" val="1772563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spect="1" noChangeArrowheads="1" noTextEdit="1"/>
          </p:cNvSpPr>
          <p:nvPr>
            <p:ph type="sldImg"/>
          </p:nvPr>
        </p:nvSpPr>
        <p:spPr>
          <a:ln/>
        </p:spPr>
      </p:sp>
      <p:sp>
        <p:nvSpPr>
          <p:cNvPr id="145411" name="Rectangle 3"/>
          <p:cNvSpPr>
            <a:spLocks noGrp="1" noChangeArrowheads="1"/>
          </p:cNvSpPr>
          <p:nvPr>
            <p:ph type="body" idx="1"/>
          </p:nvPr>
        </p:nvSpPr>
        <p:spPr>
          <a:noFill/>
          <a:ln/>
        </p:spPr>
        <p:txBody>
          <a:bodyPr/>
          <a:lstStyle/>
          <a:p>
            <a:r>
              <a:rPr lang="en-US">
                <a:ea typeface="Batang" pitchFamily="18" charset="-127"/>
              </a:rPr>
              <a:t>D.   all of the above.</a:t>
            </a:r>
          </a:p>
          <a:p>
            <a:endParaRPr lang="en-US"/>
          </a:p>
        </p:txBody>
      </p:sp>
    </p:spTree>
    <p:extLst>
      <p:ext uri="{BB962C8B-B14F-4D97-AF65-F5344CB8AC3E}">
        <p14:creationId xmlns:p14="http://schemas.microsoft.com/office/powerpoint/2010/main" val="13623591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a:noFill/>
          <a:ln/>
        </p:spPr>
        <p:txBody>
          <a:bodyPr/>
          <a:lstStyle/>
          <a:p>
            <a:r>
              <a:rPr lang="en-US">
                <a:ea typeface="Batang" pitchFamily="18" charset="-127"/>
              </a:rPr>
              <a:t>C.   equal and opposite to Sanjay’s push.</a:t>
            </a:r>
          </a:p>
          <a:p>
            <a:endParaRPr lang="en-US"/>
          </a:p>
        </p:txBody>
      </p:sp>
    </p:spTree>
    <p:extLst>
      <p:ext uri="{BB962C8B-B14F-4D97-AF65-F5344CB8AC3E}">
        <p14:creationId xmlns:p14="http://schemas.microsoft.com/office/powerpoint/2010/main" val="19186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F5EBF2AE-8C4C-DB0C-C160-E08462D9CBC8}"/>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A0235523-7ADD-B096-0991-0AC5F003CD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ea typeface="Batang" panose="02030600000101010101" pitchFamily="18" charset="-127"/>
                <a:cs typeface="Batang" panose="02030600000101010101" pitchFamily="18" charset="-127"/>
              </a:rPr>
              <a:t>C.   equal and opposite to Sanjay’s push.</a:t>
            </a:r>
          </a:p>
          <a:p>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13A4E1-1361-4A30-9520-1592B4616E4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2172022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13A4E1-1361-4A30-9520-1592B4616E4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565392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13A4E1-1361-4A30-9520-1592B4616E4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233360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D14704A-E3B1-4E96-AD36-55A3749FDA65}" type="slidenum">
              <a:rPr kumimoji="0" lang="en-US" sz="12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p:spPr>
        <p:txBody>
          <a:bodyPr/>
          <a:lstStyle/>
          <a:p>
            <a:pPr eaLnBrk="1" hangingPunct="1"/>
            <a:endParaRPr lang="en-US">
              <a:latin typeface="Times New Roman" pitchFamily="18" charset="0"/>
            </a:endParaRPr>
          </a:p>
        </p:txBody>
      </p:sp>
    </p:spTree>
    <p:extLst>
      <p:ext uri="{BB962C8B-B14F-4D97-AF65-F5344CB8AC3E}">
        <p14:creationId xmlns:p14="http://schemas.microsoft.com/office/powerpoint/2010/main" val="1150366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13A4E1-1361-4A30-9520-1592B4616E40}"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200574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758306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solidFill>
                  <a:prstClr val="black"/>
                </a:solidFill>
              </a:rPr>
              <a:pPr>
                <a:defRPr/>
              </a:pPr>
              <a:t>October 23, 2025</a:t>
            </a:fld>
            <a:endParaRPr lang="en-US">
              <a:solidFill>
                <a:prstClr val="black"/>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1274039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1"/>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660419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defRPr/>
            </a:pPr>
            <a:r>
              <a:rPr lang="en-US" sz="3500" dirty="0"/>
              <a:t>College Physics</a:t>
            </a:r>
          </a:p>
          <a:p>
            <a:pPr algn="ctr">
              <a:defRPr/>
            </a:pPr>
            <a:endParaRPr lang="en-US" sz="1800" cap="none" dirty="0">
              <a:solidFill>
                <a:srgbClr val="9BBB59">
                  <a:lumMod val="20000"/>
                  <a:lumOff val="80000"/>
                </a:srgbClr>
              </a:solidFill>
              <a:latin typeface="Arial"/>
            </a:endParaRPr>
          </a:p>
          <a:p>
            <a:pPr algn="ctr">
              <a:defRPr/>
            </a:pPr>
            <a:r>
              <a:rPr lang="en-US" sz="2000" b="1" cap="none" dirty="0">
                <a:solidFill>
                  <a:srgbClr val="212F62"/>
                </a:solidFill>
                <a:latin typeface="Arial"/>
              </a:rPr>
              <a:t>Chapter # Chapter Title</a:t>
            </a:r>
          </a:p>
          <a:p>
            <a:pPr algn="ctr">
              <a:defRPr/>
            </a:pPr>
            <a:r>
              <a:rPr lang="en-US" sz="1600" cap="none" dirty="0">
                <a:solidFill>
                  <a:prstClr val="black"/>
                </a:solidFill>
                <a:latin typeface="Arial"/>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2977236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B46E12A8-FCF3-4B75-B501-AABBD79EE37F}" type="slidenum">
              <a:rPr lang="en-US"/>
              <a:pPr>
                <a:defRPr/>
              </a:pPr>
              <a:t>‹#›</a:t>
            </a:fld>
            <a:endParaRPr lang="en-US"/>
          </a:p>
        </p:txBody>
      </p:sp>
    </p:spTree>
    <p:extLst>
      <p:ext uri="{BB962C8B-B14F-4D97-AF65-F5344CB8AC3E}">
        <p14:creationId xmlns:p14="http://schemas.microsoft.com/office/powerpoint/2010/main" val="263456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08663F8-B91E-468D-8FBD-D85EBFC765C1}" type="slidenum">
              <a:rPr lang="en-US"/>
              <a:pPr>
                <a:defRPr/>
              </a:pPr>
              <a:t>‹#›</a:t>
            </a:fld>
            <a:endParaRPr lang="en-US"/>
          </a:p>
        </p:txBody>
      </p:sp>
    </p:spTree>
    <p:extLst>
      <p:ext uri="{BB962C8B-B14F-4D97-AF65-F5344CB8AC3E}">
        <p14:creationId xmlns:p14="http://schemas.microsoft.com/office/powerpoint/2010/main" val="4252443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a:defRPr/>
            </a:pPr>
            <a:fld id="{2AF5D7D9-81E5-4EEC-85C7-A3D8780B97A4}"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7"/>
          </p:nvPr>
        </p:nvSpPr>
        <p:spPr/>
        <p:txBody>
          <a:bodyPr/>
          <a:lstStyle>
            <a:lvl1pPr>
              <a:defRPr/>
            </a:lvl1pPr>
          </a:lstStyle>
          <a:p>
            <a:pPr>
              <a:defRPr/>
            </a:pPr>
            <a:fld id="{76124547-4185-4266-B4E4-2581C1A87319}" type="slidenum">
              <a:rPr lang="en-US"/>
              <a:pPr>
                <a:defRPr/>
              </a:pPr>
              <a:t>‹#›</a:t>
            </a:fld>
            <a:endParaRPr lang="en-US"/>
          </a:p>
        </p:txBody>
      </p:sp>
    </p:spTree>
    <p:extLst>
      <p:ext uri="{BB962C8B-B14F-4D97-AF65-F5344CB8AC3E}">
        <p14:creationId xmlns:p14="http://schemas.microsoft.com/office/powerpoint/2010/main" val="1325128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a:defRPr/>
            </a:pPr>
            <a:fld id="{A1DBDB5D-5956-4717-B2E0-D781475071B8}" type="datetime4">
              <a:rPr lang="en-US">
                <a:solidFill>
                  <a:prstClr val="black"/>
                </a:solidFill>
              </a:rPr>
              <a:pPr>
                <a:defRPr/>
              </a:pPr>
              <a:t>October 23, 2025</a:t>
            </a:fld>
            <a:endParaRPr lang="en-US">
              <a:solidFill>
                <a:prstClr val="black"/>
              </a:solidFill>
            </a:endParaRPr>
          </a:p>
        </p:txBody>
      </p:sp>
      <p:sp>
        <p:nvSpPr>
          <p:cNvPr id="6" name="Footer Placeholder 4"/>
          <p:cNvSpPr>
            <a:spLocks noGrp="1"/>
          </p:cNvSpPr>
          <p:nvPr>
            <p:ph type="ftr" sz="quarter" idx="16"/>
          </p:nvPr>
        </p:nvSpPr>
        <p:spPr/>
        <p:txBody>
          <a:bodyPr/>
          <a:lstStyle>
            <a:lvl1pPr>
              <a:defRPr/>
            </a:lvl1pPr>
          </a:lstStyle>
          <a:p>
            <a:pPr>
              <a:defRPr/>
            </a:pPr>
            <a:endParaRPr lang="en-US">
              <a:solidFill>
                <a:prstClr val="black"/>
              </a:solidFill>
            </a:endParaRPr>
          </a:p>
        </p:txBody>
      </p:sp>
      <p:sp>
        <p:nvSpPr>
          <p:cNvPr id="10" name="Slide Number Placeholder 5"/>
          <p:cNvSpPr>
            <a:spLocks noGrp="1"/>
          </p:cNvSpPr>
          <p:nvPr>
            <p:ph type="sldNum" sz="quarter" idx="17"/>
          </p:nvPr>
        </p:nvSpPr>
        <p:spPr/>
        <p:txBody>
          <a:bodyPr/>
          <a:lstStyle>
            <a:lvl1pPr>
              <a:defRPr/>
            </a:lvl1pPr>
          </a:lstStyle>
          <a:p>
            <a:pPr>
              <a:defRPr/>
            </a:pPr>
            <a:fld id="{2C3785B0-FE98-4A5B-9A50-1292CD97EBC4}" type="slidenum">
              <a:rPr lang="en-US"/>
              <a:pPr>
                <a:defRPr/>
              </a:pPr>
              <a:t>‹#›</a:t>
            </a:fld>
            <a:endParaRPr lang="en-US"/>
          </a:p>
        </p:txBody>
      </p:sp>
    </p:spTree>
    <p:extLst>
      <p:ext uri="{BB962C8B-B14F-4D97-AF65-F5344CB8AC3E}">
        <p14:creationId xmlns:p14="http://schemas.microsoft.com/office/powerpoint/2010/main" val="3957612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a:defRPr/>
            </a:pPr>
            <a:fld id="{A5939DFD-AF57-4C83-8053-60D32C84DF7C}" type="datetime4">
              <a:rPr lang="en-US">
                <a:solidFill>
                  <a:prstClr val="black"/>
                </a:solidFill>
              </a:rPr>
              <a:pPr>
                <a:defRPr/>
              </a:pPr>
              <a:t>October 23, 2025</a:t>
            </a:fld>
            <a:endParaRPr lang="en-US">
              <a:solidFill>
                <a:prstClr val="black"/>
              </a:solidFill>
            </a:endParaRPr>
          </a:p>
        </p:txBody>
      </p:sp>
      <p:sp>
        <p:nvSpPr>
          <p:cNvPr id="6" name="Footer Placeholder 5"/>
          <p:cNvSpPr>
            <a:spLocks noGrp="1"/>
          </p:cNvSpPr>
          <p:nvPr>
            <p:ph type="ftr" sz="quarter" idx="11"/>
          </p:nvPr>
        </p:nvSpPr>
        <p:spPr/>
        <p:txBody>
          <a:bodyPr/>
          <a:lstStyle>
            <a:lvl1pPr>
              <a:defRPr/>
            </a:lvl1pPr>
          </a:lstStyle>
          <a:p>
            <a:pPr>
              <a:defRPr/>
            </a:pPr>
            <a:endParaRPr lang="en-US">
              <a:solidFill>
                <a:prstClr val="black"/>
              </a:solidFill>
            </a:endParaRPr>
          </a:p>
        </p:txBody>
      </p:sp>
      <p:sp>
        <p:nvSpPr>
          <p:cNvPr id="7" name="Slide Number Placeholder 6"/>
          <p:cNvSpPr>
            <a:spLocks noGrp="1"/>
          </p:cNvSpPr>
          <p:nvPr>
            <p:ph type="sldNum" sz="quarter" idx="12"/>
          </p:nvPr>
        </p:nvSpPr>
        <p:spPr/>
        <p:txBody>
          <a:bodyPr/>
          <a:lstStyle>
            <a:lvl1pPr>
              <a:defRPr/>
            </a:lvl1pPr>
          </a:lstStyle>
          <a:p>
            <a:pPr>
              <a:defRPr/>
            </a:pPr>
            <a:fld id="{6158F162-EC8D-4B5B-975F-B8B0EEBB18C6}" type="slidenum">
              <a:rPr lang="en-US"/>
              <a:pPr>
                <a:defRPr/>
              </a:pPr>
              <a:t>‹#›</a:t>
            </a:fld>
            <a:endParaRPr lang="en-US"/>
          </a:p>
        </p:txBody>
      </p:sp>
    </p:spTree>
    <p:extLst>
      <p:ext uri="{BB962C8B-B14F-4D97-AF65-F5344CB8AC3E}">
        <p14:creationId xmlns:p14="http://schemas.microsoft.com/office/powerpoint/2010/main" val="1875358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defRPr/>
            </a:pPr>
            <a:r>
              <a:rPr lang="en-US" sz="3500" dirty="0"/>
              <a:t>College Physics</a:t>
            </a:r>
          </a:p>
          <a:p>
            <a:pPr algn="ctr">
              <a:defRPr/>
            </a:pPr>
            <a:endParaRPr lang="en-US" sz="1800" cap="none" dirty="0">
              <a:solidFill>
                <a:srgbClr val="9BBB59">
                  <a:lumMod val="20000"/>
                  <a:lumOff val="80000"/>
                </a:srgbClr>
              </a:solidFill>
              <a:latin typeface="Arial"/>
            </a:endParaRPr>
          </a:p>
          <a:p>
            <a:pPr algn="ctr">
              <a:defRPr/>
            </a:pPr>
            <a:r>
              <a:rPr lang="en-US" sz="2000" b="1" cap="none" dirty="0">
                <a:solidFill>
                  <a:srgbClr val="212F62"/>
                </a:solidFill>
                <a:latin typeface="Arial"/>
              </a:rPr>
              <a:t>Chapter # Chapter Title</a:t>
            </a:r>
          </a:p>
          <a:p>
            <a:pPr algn="ctr">
              <a:defRPr/>
            </a:pPr>
            <a:r>
              <a:rPr lang="en-US" sz="1600" cap="none" dirty="0">
                <a:solidFill>
                  <a:prstClr val="black"/>
                </a:solidFill>
                <a:latin typeface="Arial"/>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a:defRPr/>
            </a:pPr>
            <a:fld id="{E6933B52-B7B0-4435-A810-D5A8ECCD14B8}"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solidFill>
            </a:endParaRPr>
          </a:p>
        </p:txBody>
      </p:sp>
    </p:spTree>
    <p:extLst>
      <p:ext uri="{BB962C8B-B14F-4D97-AF65-F5344CB8AC3E}">
        <p14:creationId xmlns:p14="http://schemas.microsoft.com/office/powerpoint/2010/main" val="747973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prstClr val="black"/>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prstClr val="black"/>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B46E12A8-FCF3-4B75-B501-AABBD79EE37F}" type="slidenum">
              <a:rPr lang="en-US"/>
              <a:pPr>
                <a:defRPr/>
              </a:pPr>
              <a:t>‹#›</a:t>
            </a:fld>
            <a:endParaRPr lang="en-US"/>
          </a:p>
        </p:txBody>
      </p:sp>
    </p:spTree>
    <p:extLst>
      <p:ext uri="{BB962C8B-B14F-4D97-AF65-F5344CB8AC3E}">
        <p14:creationId xmlns:p14="http://schemas.microsoft.com/office/powerpoint/2010/main" val="4153055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969AF5A-AB79-F9A7-DB62-C20A84FB236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FF9BDC4-6C99-A426-1B05-6F76BF012F29}"/>
              </a:ext>
            </a:extLst>
          </p:cNvPr>
          <p:cNvSpPr>
            <a:spLocks noGrp="1" noChangeArrowheads="1"/>
          </p:cNvSpPr>
          <p:nvPr>
            <p:ph type="sldNum" sz="quarter" idx="11"/>
          </p:nvPr>
        </p:nvSpPr>
        <p:spPr>
          <a:ln/>
        </p:spPr>
        <p:txBody>
          <a:bodyPr/>
          <a:lstStyle>
            <a:lvl1pPr>
              <a:defRPr/>
            </a:lvl1pPr>
          </a:lstStyle>
          <a:p>
            <a:fld id="{2C02C7C8-2395-4298-87A8-3FE84A3C626D}" type="slidenum">
              <a:rPr lang="en-US" altLang="en-US"/>
              <a:pPr/>
              <a:t>‹#›</a:t>
            </a:fld>
            <a:endParaRPr lang="en-US" altLang="en-US"/>
          </a:p>
        </p:txBody>
      </p:sp>
    </p:spTree>
    <p:extLst>
      <p:ext uri="{BB962C8B-B14F-4D97-AF65-F5344CB8AC3E}">
        <p14:creationId xmlns:p14="http://schemas.microsoft.com/office/powerpoint/2010/main" val="2541523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AF5D7D9-81E5-4EEC-85C7-A3D8780B97A4}"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6124547-4185-4266-B4E4-2581C1A87319}"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795663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DBDB5D-5956-4717-B2E0-D781475071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4"/>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0" name="Slide Number Placeholder 5"/>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C3785B0-FE98-4A5B-9A50-1292CD97EBC4}"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639886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5939DFD-AF57-4C83-8053-60D32C84DF7C}"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158F162-EC8D-4B5B-975F-B8B0EEBB18C6}"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500706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500" b="0" i="0" u="none" strike="noStrike" kern="1200" cap="all" spc="-60" normalizeH="0" baseline="0" noProof="0" dirty="0">
                <a:ln>
                  <a:noFill/>
                </a:ln>
                <a:solidFill>
                  <a:srgbClr val="6CB255"/>
                </a:solidFill>
                <a:effectLst/>
                <a:uLnTx/>
                <a:uFillTx/>
                <a:latin typeface="Arial Black"/>
                <a:ea typeface="+mj-ea"/>
                <a:cs typeface="+mj-cs"/>
              </a:rPr>
              <a:t>College Physics</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800" b="0" i="0" u="none" strike="noStrike" kern="1200" cap="none" spc="-60" normalizeH="0" baseline="0" noProof="0" dirty="0">
              <a:ln>
                <a:noFill/>
              </a:ln>
              <a:solidFill>
                <a:srgbClr val="9BBB59">
                  <a:lumMod val="20000"/>
                  <a:lumOff val="80000"/>
                </a:srgbClr>
              </a:solidFill>
              <a:effectLst/>
              <a:uLnTx/>
              <a:uFillTx/>
              <a:latin typeface="Arial"/>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60" normalizeH="0" baseline="0" noProof="0" dirty="0">
                <a:ln>
                  <a:noFill/>
                </a:ln>
                <a:solidFill>
                  <a:srgbClr val="212F62"/>
                </a:solidFill>
                <a:effectLst/>
                <a:uLnTx/>
                <a:uFillTx/>
                <a:latin typeface="Arial"/>
                <a:ea typeface="+mj-ea"/>
                <a:cs typeface="+mj-cs"/>
              </a:rPr>
              <a:t>Chapter # Chapter Title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60" normalizeH="0" baseline="0" noProof="0" dirty="0">
                <a:ln>
                  <a:noFill/>
                </a:ln>
                <a:solidFill>
                  <a:prstClr val="black"/>
                </a:solidFill>
                <a:effectLst/>
                <a:uLnTx/>
                <a:uFillTx/>
                <a:latin typeface="Arial"/>
                <a:ea typeface="+mj-ea"/>
                <a:cs typeface="+mj-cs"/>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6933B52-B7B0-4435-A810-D5A8ECCD14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2038179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6E12A8-FCF3-4B75-B501-AABBD79EE37F}"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8996915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08663F8-B91E-468D-8FBD-D85EBFC765C1}"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1901565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9" name="Picture Placeholder 8"/>
          <p:cNvSpPr>
            <a:spLocks noGrp="1"/>
          </p:cNvSpPr>
          <p:nvPr>
            <p:ph type="pic" sz="quarter" idx="13"/>
          </p:nvPr>
        </p:nvSpPr>
        <p:spPr>
          <a:xfrm>
            <a:off x="457199" y="1107618"/>
            <a:ext cx="4031619" cy="4607689"/>
          </a:xfrm>
        </p:spPr>
        <p:txBody>
          <a:bodyPr rtlCol="0">
            <a:normAutofit/>
          </a:bodyPr>
          <a:lstStyle/>
          <a:p>
            <a:pPr lvl="0"/>
            <a:endParaRPr lang="en-US" noProof="0"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AF5D7D9-81E5-4EEC-85C7-A3D8780B97A4}"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6124547-4185-4266-B4E4-2581C1A87319}"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9111507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1DBDB5D-5956-4717-B2E0-D781475071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4"/>
          <p:cNvSpPr>
            <a:spLocks noGrp="1"/>
          </p:cNvSpPr>
          <p:nvPr>
            <p:ph type="ftr" sz="quarter" idx="16"/>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10" name="Slide Number Placeholder 5"/>
          <p:cNvSpPr>
            <a:spLocks noGrp="1"/>
          </p:cNvSpPr>
          <p:nvPr>
            <p:ph type="sldNum" sz="quarter" idx="17"/>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C3785B0-FE98-4A5B-9A50-1292CD97EBC4}"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47772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5939DFD-AF57-4C83-8053-60D32C84DF7C}"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158F162-EC8D-4B5B-975F-B8B0EEBB18C6}"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6612430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txBox="1">
            <a:spLocks/>
          </p:cNvSpPr>
          <p:nvPr userDrawn="1"/>
        </p:nvSpPr>
        <p:spPr>
          <a:xfrm>
            <a:off x="0" y="788988"/>
            <a:ext cx="9144000" cy="709612"/>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500" b="0" i="0" u="none" strike="noStrike" kern="1200" cap="all" spc="-60" normalizeH="0" baseline="0" noProof="0" dirty="0">
                <a:ln>
                  <a:noFill/>
                </a:ln>
                <a:solidFill>
                  <a:srgbClr val="6CB255"/>
                </a:solidFill>
                <a:effectLst/>
                <a:uLnTx/>
                <a:uFillTx/>
                <a:latin typeface="Arial Black"/>
                <a:ea typeface="+mj-ea"/>
                <a:cs typeface="+mj-cs"/>
              </a:rPr>
              <a:t>College Physics</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800" b="0" i="0" u="none" strike="noStrike" kern="1200" cap="none" spc="-60" normalizeH="0" baseline="0" noProof="0" dirty="0">
              <a:ln>
                <a:noFill/>
              </a:ln>
              <a:solidFill>
                <a:srgbClr val="9BBB59">
                  <a:lumMod val="20000"/>
                  <a:lumOff val="80000"/>
                </a:srgbClr>
              </a:solidFill>
              <a:effectLst/>
              <a:uLnTx/>
              <a:uFillTx/>
              <a:latin typeface="Arial"/>
              <a:ea typeface="+mj-ea"/>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60" normalizeH="0" baseline="0" noProof="0" dirty="0">
                <a:ln>
                  <a:noFill/>
                </a:ln>
                <a:solidFill>
                  <a:srgbClr val="212F62"/>
                </a:solidFill>
                <a:effectLst/>
                <a:uLnTx/>
                <a:uFillTx/>
                <a:latin typeface="Arial"/>
                <a:ea typeface="+mj-ea"/>
                <a:cs typeface="+mj-cs"/>
              </a:rPr>
              <a:t>Chapter # Chapter Title</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600" b="0" i="0" u="none" strike="noStrike" kern="1200" cap="none" spc="-60" normalizeH="0" baseline="0" noProof="0" dirty="0">
                <a:ln>
                  <a:noFill/>
                </a:ln>
                <a:solidFill>
                  <a:prstClr val="black"/>
                </a:solidFill>
                <a:effectLst/>
                <a:uLnTx/>
                <a:uFillTx/>
                <a:latin typeface="Arial"/>
                <a:ea typeface="+mj-ea"/>
                <a:cs typeface="+mj-cs"/>
              </a:rPr>
              <a:t>PowerPoint Image Slideshow</a:t>
            </a:r>
          </a:p>
        </p:txBody>
      </p:sp>
      <p:pic>
        <p:nvPicPr>
          <p:cNvPr id="3" name="Picture 8" descr="medium_covers_Page_2.png"/>
          <p:cNvPicPr>
            <a:picLocks noChangeAspect="1"/>
          </p:cNvPicPr>
          <p:nvPr userDrawn="1"/>
        </p:nvPicPr>
        <p:blipFill>
          <a:blip r:embed="rId2" cstate="print"/>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
        <p:nvSpPr>
          <p:cNvPr id="4" name="Date Placeholder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6933B52-B7B0-4435-A810-D5A8ECCD14B8}"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7728367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46E12A8-FCF3-4B75-B501-AABBD79EE37F}"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5385941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08663F8-B91E-468D-8FBD-D85EBFC765C1}"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821867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D1FBA18-9BE6-4E05-AD9D-89DAEF316E0D}"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759921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08663F8-B91E-468D-8FBD-D85EBFC765C1}"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1926950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0F765A0-FBEE-4B88-A23D-F9C601624C8B}"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027426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435B055-B6DC-4801-A287-E727C8D42215}"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5683792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9"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0770F21-1D21-4785-924C-0106001623B6}"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390479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9E18A66-B3D3-4C39-84EB-F7FBAF696067}"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3375092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F37A3BA-7E75-4FAA-AF96-6082FD435F97}"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8804873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3C3F57-798F-49E2-BC0A-AEE0F9D27DE9}"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137035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7"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DC1945B8-FC78-4B37-819D-8F3285B7594B}"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3808098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6BED4AD-007C-44AB-8F59-212729810D2F}"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2439938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Rectangle 6"/>
          <p:cNvSpPr>
            <a:spLocks noGrp="1" noChangeArrowheads="1"/>
          </p:cNvSpPr>
          <p:nvPr>
            <p:ph type="sldNum" sz="quarter" idx="12"/>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3F9DD21-5AB9-4C8A-9E34-2FA3673BE615}"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2877411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1DBDB5D-5956-4717-B2E0-D781475071B8}" type="datetime4">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October 23, 2025</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Footer Placeholder 4"/>
          <p:cNvSpPr>
            <a:spLocks noGrp="1"/>
          </p:cNvSpPr>
          <p:nvPr>
            <p:ph type="ftr" sz="quarter" idx="16"/>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 name="Slide Number Placeholder 5"/>
          <p:cNvSpPr>
            <a:spLocks noGrp="1"/>
          </p:cNvSpPr>
          <p:nvPr>
            <p:ph type="sldNum" sz="quarter" idx="17"/>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C3785B0-FE98-4A5B-9A50-1292CD97EBC4}"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9590800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rtlCol="0">
            <a:normAutofit/>
          </a:bodyPr>
          <a:lstStyle/>
          <a:p>
            <a:pPr lvl="0"/>
            <a:endParaRPr lang="en-US" noProof="0"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5"/>
          </p:nvPr>
        </p:nvSpPr>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A1DBDB5D-5956-4717-B2E0-D781475071B8}" type="datetime4">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October 23, 2025</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6" name="Footer Placeholder 4"/>
          <p:cNvSpPr>
            <a:spLocks noGrp="1"/>
          </p:cNvSpPr>
          <p:nvPr>
            <p:ph type="ftr" sz="quarter" idx="16"/>
          </p:nvPr>
        </p:nvSpPr>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 name="Slide Number Placeholder 5"/>
          <p:cNvSpPr>
            <a:spLocks noGrp="1"/>
          </p:cNvSpPr>
          <p:nvPr>
            <p:ph type="sldNum" sz="quarter" idx="17"/>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2C3785B0-FE98-4A5B-9A50-1292CD97EBC4}"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40163249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79B19C71-EC74-44AF-B27E-FC7DC3C3A61D}"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377454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333F43-3E86-47E4-BFBB-2476D384E1C6}" type="datetime4">
              <a:rPr lang="en-US" smtClean="0"/>
              <a:pPr/>
              <a:t>October 23, 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34052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October 23, 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extLst>
      <p:ext uri="{BB962C8B-B14F-4D97-AF65-F5344CB8AC3E}">
        <p14:creationId xmlns:p14="http://schemas.microsoft.com/office/powerpoint/2010/main" val="39576638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1DEABC-D766-4322-8E78-B830FAE35C72}" type="datetime4">
              <a:rPr lang="en-US" smtClean="0"/>
              <a:pPr/>
              <a:t>October 23,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extLst>
      <p:ext uri="{BB962C8B-B14F-4D97-AF65-F5344CB8AC3E}">
        <p14:creationId xmlns:p14="http://schemas.microsoft.com/office/powerpoint/2010/main" val="29697037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615B995E-4FD6-44E8-AE7F-341D97663925}" type="slidenum">
              <a:rPr lang="en-US" altLang="en-US"/>
              <a:pPr/>
              <a:t>‹#›</a:t>
            </a:fld>
            <a:endParaRPr lang="en-US" altLang="en-US"/>
          </a:p>
        </p:txBody>
      </p:sp>
    </p:spTree>
    <p:extLst>
      <p:ext uri="{BB962C8B-B14F-4D97-AF65-F5344CB8AC3E}">
        <p14:creationId xmlns:p14="http://schemas.microsoft.com/office/powerpoint/2010/main" val="179100166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4B248E2D-D177-4A21-837D-D1B410CDAD67}" type="slidenum">
              <a:rPr lang="en-US" altLang="en-US"/>
              <a:pPr/>
              <a:t>‹#›</a:t>
            </a:fld>
            <a:endParaRPr lang="en-US" altLang="en-US"/>
          </a:p>
        </p:txBody>
      </p:sp>
    </p:spTree>
    <p:extLst>
      <p:ext uri="{BB962C8B-B14F-4D97-AF65-F5344CB8AC3E}">
        <p14:creationId xmlns:p14="http://schemas.microsoft.com/office/powerpoint/2010/main" val="395871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21.xml"/><Relationship Id="rId7"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40.xml"/><Relationship Id="rId7" Type="http://schemas.openxmlformats.org/officeDocument/2006/relationships/theme" Target="../theme/theme6.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solidFill>
                <a:prstClr val="black"/>
              </a:solidFill>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1612815411"/>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a:defRPr/>
            </a:pPr>
            <a:fld id="{7D8C27C6-00DF-4890-8154-3F9BE9A134E3}" type="datetime4">
              <a:rPr lang="en-US">
                <a:solidFill>
                  <a:prstClr val="black"/>
                </a:solidFill>
              </a:rPr>
              <a:pPr>
                <a:defRPr/>
              </a:pPr>
              <a:t>October 23, 2025</a:t>
            </a:fld>
            <a:endParaRPr lang="en-US" dirty="0">
              <a:solidFill>
                <a:prstClr val="black"/>
              </a:solidFill>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a:defRPr/>
            </a:pPr>
            <a:endParaRPr lang="en-US">
              <a:solidFill>
                <a:prstClr val="black"/>
              </a:solidFill>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a:defRPr/>
            </a:pPr>
            <a:fld id="{C56169A9-3380-4EA0-9DA0-2D35F2C8DA18}" type="slidenum">
              <a:rPr lang="en-US"/>
              <a:pPr>
                <a:defRPr/>
              </a:pPr>
              <a:t>‹#›</a:t>
            </a:fld>
            <a:endParaRPr lang="en-US" dirty="0"/>
          </a:p>
        </p:txBody>
      </p:sp>
    </p:spTree>
    <p:extLst>
      <p:ext uri="{BB962C8B-B14F-4D97-AF65-F5344CB8AC3E}">
        <p14:creationId xmlns:p14="http://schemas.microsoft.com/office/powerpoint/2010/main" val="3764208966"/>
      </p:ext>
    </p:extLst>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4007"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D8C27C6-00DF-4890-8154-3F9BE9A134E3}"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6169A9-3380-4EA0-9DA0-2D35F2C8DA18}"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591263889"/>
      </p:ext>
    </p:extLst>
  </p:cSld>
  <p:clrMap bg1="lt1" tx1="dk1" bg2="lt2" tx2="dk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8"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7" name="Text Placeholder 2"/>
          <p:cNvSpPr>
            <a:spLocks noGrp="1"/>
          </p:cNvSpPr>
          <p:nvPr>
            <p:ph type="body" idx="1"/>
          </p:nvPr>
        </p:nvSpPr>
        <p:spPr bwMode="auto">
          <a:xfrm>
            <a:off x="457200" y="1752600"/>
            <a:ext cx="7620000" cy="437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172200"/>
            <a:ext cx="3429000" cy="304800"/>
          </a:xfrm>
          <a:prstGeom prst="rect">
            <a:avLst/>
          </a:prstGeom>
        </p:spPr>
        <p:txBody>
          <a:bodyPr vert="horz" lIns="91440" tIns="45720" rIns="91440" bIns="0" rtlCol="0" anchor="b"/>
          <a:lstStyle>
            <a:lvl1pPr algn="l" fontAlgn="auto">
              <a:spcBef>
                <a:spcPts val="0"/>
              </a:spcBef>
              <a:spcAft>
                <a:spcPts val="0"/>
              </a:spcAft>
              <a:defRPr sz="1000" smtClean="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D8C27C6-00DF-4890-8154-3F9BE9A134E3}" type="datetime4">
              <a:rPr kumimoji="0" lang="en-US" sz="1000" b="0" i="0" u="none" strike="noStrike" kern="1200" cap="none" spc="0" normalizeH="0" baseline="0" noProof="0">
                <a:ln>
                  <a:noFill/>
                </a:ln>
                <a:solidFill>
                  <a:prstClr val="black"/>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October 23, 2025</a:t>
            </a:fld>
            <a:endParaRPr kumimoji="0" lang="en-US" sz="1000" b="0" i="0" u="none" strike="noStrike" kern="1200" cap="none" spc="0" normalizeH="0" baseline="0" noProof="0" dirty="0">
              <a:ln>
                <a:noFill/>
              </a:ln>
              <a:solidFill>
                <a:prstClr val="black"/>
              </a:solidFill>
              <a:effectLst/>
              <a:uLnTx/>
              <a:uFillTx/>
              <a:latin typeface="Arial"/>
              <a:ea typeface="+mn-ea"/>
              <a:cs typeface="+mn-cs"/>
            </a:endParaRPr>
          </a:p>
        </p:txBody>
      </p:sp>
      <p:sp>
        <p:nvSpPr>
          <p:cNvPr id="5" name="Footer Placeholder 4"/>
          <p:cNvSpPr>
            <a:spLocks noGrp="1"/>
          </p:cNvSpPr>
          <p:nvPr>
            <p:ph type="ftr" sz="quarter" idx="3"/>
          </p:nvPr>
        </p:nvSpPr>
        <p:spPr>
          <a:xfrm>
            <a:off x="457200" y="6492875"/>
            <a:ext cx="3429000" cy="284163"/>
          </a:xfrm>
          <a:prstGeom prst="rect">
            <a:avLst/>
          </a:prstGeom>
        </p:spPr>
        <p:txBody>
          <a:bodyPr vert="horz" lIns="91440" tIns="45720" rIns="91440" bIns="45720" rtlCol="0" anchor="t"/>
          <a:lstStyle>
            <a:lvl1pPr algn="l" fontAlgn="auto">
              <a:spcBef>
                <a:spcPts val="0"/>
              </a:spcBef>
              <a:spcAft>
                <a:spcPts val="0"/>
              </a:spcAft>
              <a:defRPr sz="1000" dirty="0">
                <a:solidFill>
                  <a:schemeClr val="tx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a:ea typeface="+mn-ea"/>
              <a:cs typeface="+mn-cs"/>
            </a:endParaRPr>
          </a:p>
        </p:txBody>
      </p:sp>
      <p:sp>
        <p:nvSpPr>
          <p:cNvPr id="6" name="Slide Number Placeholder 5"/>
          <p:cNvSpPr>
            <a:spLocks noGrp="1"/>
          </p:cNvSpPr>
          <p:nvPr>
            <p:ph type="sldNum" sz="quarter" idx="4"/>
          </p:nvPr>
        </p:nvSpPr>
        <p:spPr>
          <a:xfrm rot="16200000">
            <a:off x="8044657" y="683419"/>
            <a:ext cx="1316037" cy="365125"/>
          </a:xfrm>
          <a:prstGeom prst="rect">
            <a:avLst/>
          </a:prstGeom>
        </p:spPr>
        <p:txBody>
          <a:bodyPr vert="horz" lIns="91440" tIns="45720" rIns="91440" bIns="45720" rtlCol="0" anchor="ctr"/>
          <a:lstStyle>
            <a:lvl1pPr algn="r" fontAlgn="auto">
              <a:spcBef>
                <a:spcPts val="0"/>
              </a:spcBef>
              <a:spcAft>
                <a:spcPts val="0"/>
              </a:spcAft>
              <a:defRPr sz="2400" b="1" smtClean="0">
                <a:solidFill>
                  <a:srgbClr val="FFFFFF"/>
                </a:solidFill>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56169A9-3380-4EA0-9DA0-2D35F2C8DA18}" type="slidenum">
              <a:rPr kumimoji="0" lang="en-US" sz="2400" b="1" i="0" u="none" strike="noStrike" kern="1200" cap="none" spc="0" normalizeH="0" baseline="0" noProof="0">
                <a:ln>
                  <a:noFill/>
                </a:ln>
                <a:solidFill>
                  <a:srgbClr val="FFFFFF"/>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dirty="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3809844560"/>
      </p:ext>
    </p:extLst>
  </p:cSld>
  <p:clrMap bg1="lt1" tx1="dk1" bg2="lt2" tx2="dk2" accent1="accent1" accent2="accent2" accent3="accent3" accent4="accent4" accent5="accent5" accent6="accent6" hlink="hlink" folHlink="folHlink"/>
  <p:sldLayoutIdLst>
    <p:sldLayoutId id="2147483982" r:id="rId1"/>
    <p:sldLayoutId id="2147483983" r:id="rId2"/>
    <p:sldLayoutId id="2147483984" r:id="rId3"/>
    <p:sldLayoutId id="2147483985" r:id="rId4"/>
    <p:sldLayoutId id="2147483986" r:id="rId5"/>
    <p:sldLayoutId id="2147483987" r:id="rId6"/>
  </p:sldLayoutIdLst>
  <p:hf sldNum="0" hdr="0" ftr="0" dt="0"/>
  <p:txStyles>
    <p:titleStyle>
      <a:lvl1pPr algn="l" rtl="0" fontAlgn="base">
        <a:spcBef>
          <a:spcPct val="0"/>
        </a:spcBef>
        <a:spcAft>
          <a:spcPct val="0"/>
        </a:spcAft>
        <a:defRPr sz="2400" kern="1200" cap="all" spc="-60">
          <a:solidFill>
            <a:srgbClr val="6CB255"/>
          </a:solidFill>
          <a:latin typeface="+mj-lt"/>
          <a:ea typeface="+mj-ea"/>
          <a:cs typeface="+mj-cs"/>
        </a:defRPr>
      </a:lvl1pPr>
      <a:lvl2pPr algn="l" rtl="0" fontAlgn="base">
        <a:spcBef>
          <a:spcPct val="0"/>
        </a:spcBef>
        <a:spcAft>
          <a:spcPct val="0"/>
        </a:spcAft>
        <a:defRPr sz="2400">
          <a:solidFill>
            <a:srgbClr val="6CB255"/>
          </a:solidFill>
          <a:latin typeface="Arial Black" pitchFamily="34" charset="0"/>
        </a:defRPr>
      </a:lvl2pPr>
      <a:lvl3pPr algn="l" rtl="0" fontAlgn="base">
        <a:spcBef>
          <a:spcPct val="0"/>
        </a:spcBef>
        <a:spcAft>
          <a:spcPct val="0"/>
        </a:spcAft>
        <a:defRPr sz="2400">
          <a:solidFill>
            <a:srgbClr val="6CB255"/>
          </a:solidFill>
          <a:latin typeface="Arial Black" pitchFamily="34" charset="0"/>
        </a:defRPr>
      </a:lvl3pPr>
      <a:lvl4pPr algn="l" rtl="0" fontAlgn="base">
        <a:spcBef>
          <a:spcPct val="0"/>
        </a:spcBef>
        <a:spcAft>
          <a:spcPct val="0"/>
        </a:spcAft>
        <a:defRPr sz="2400">
          <a:solidFill>
            <a:srgbClr val="6CB255"/>
          </a:solidFill>
          <a:latin typeface="Arial Black" pitchFamily="34" charset="0"/>
        </a:defRPr>
      </a:lvl4pPr>
      <a:lvl5pPr algn="l" rtl="0" fontAlgn="base">
        <a:spcBef>
          <a:spcPct val="0"/>
        </a:spcBef>
        <a:spcAft>
          <a:spcPct val="0"/>
        </a:spcAft>
        <a:defRPr sz="2400">
          <a:solidFill>
            <a:srgbClr val="6CB255"/>
          </a:solidFill>
          <a:latin typeface="Arial Black" pitchFamily="34" charset="0"/>
        </a:defRPr>
      </a:lvl5pPr>
      <a:lvl6pPr marL="457200" algn="l" rtl="0" fontAlgn="base">
        <a:spcBef>
          <a:spcPct val="0"/>
        </a:spcBef>
        <a:spcAft>
          <a:spcPct val="0"/>
        </a:spcAft>
        <a:defRPr sz="2400">
          <a:solidFill>
            <a:srgbClr val="6CB255"/>
          </a:solidFill>
          <a:latin typeface="Arial Black" pitchFamily="34" charset="0"/>
        </a:defRPr>
      </a:lvl6pPr>
      <a:lvl7pPr marL="914400" algn="l" rtl="0" fontAlgn="base">
        <a:spcBef>
          <a:spcPct val="0"/>
        </a:spcBef>
        <a:spcAft>
          <a:spcPct val="0"/>
        </a:spcAft>
        <a:defRPr sz="2400">
          <a:solidFill>
            <a:srgbClr val="6CB255"/>
          </a:solidFill>
          <a:latin typeface="Arial Black" pitchFamily="34" charset="0"/>
        </a:defRPr>
      </a:lvl7pPr>
      <a:lvl8pPr marL="1371600" algn="l" rtl="0" fontAlgn="base">
        <a:spcBef>
          <a:spcPct val="0"/>
        </a:spcBef>
        <a:spcAft>
          <a:spcPct val="0"/>
        </a:spcAft>
        <a:defRPr sz="2400">
          <a:solidFill>
            <a:srgbClr val="6CB255"/>
          </a:solidFill>
          <a:latin typeface="Arial Black" pitchFamily="34" charset="0"/>
        </a:defRPr>
      </a:lvl8pPr>
      <a:lvl9pPr marL="1828800" algn="l" rtl="0" fontAlgn="base">
        <a:spcBef>
          <a:spcPct val="0"/>
        </a:spcBef>
        <a:spcAft>
          <a:spcPct val="0"/>
        </a:spcAft>
        <a:defRPr sz="2400">
          <a:solidFill>
            <a:srgbClr val="6CB255"/>
          </a:solidFill>
          <a:latin typeface="Arial Black" pitchFamily="34" charset="0"/>
        </a:defRPr>
      </a:lvl9pPr>
    </p:titleStyle>
    <p:bodyStyle>
      <a:lvl1pPr algn="l" rtl="0" fontAlgn="base">
        <a:spcBef>
          <a:spcPct val="20000"/>
        </a:spcBef>
        <a:spcAft>
          <a:spcPts val="600"/>
        </a:spcAft>
        <a:buClr>
          <a:srgbClr val="6CB255"/>
        </a:buClr>
        <a:buFont typeface="Arial" charset="0"/>
        <a:defRPr sz="2000" kern="1200">
          <a:solidFill>
            <a:schemeClr val="tx1"/>
          </a:solidFill>
          <a:latin typeface="+mn-lt"/>
          <a:ea typeface="+mn-ea"/>
          <a:cs typeface="+mn-cs"/>
        </a:defRPr>
      </a:lvl1pPr>
      <a:lvl2pPr marL="457200" indent="-182563" algn="l" rtl="0" fontAlgn="base">
        <a:spcBef>
          <a:spcPct val="20000"/>
        </a:spcBef>
        <a:spcAft>
          <a:spcPct val="0"/>
        </a:spcAft>
        <a:buClr>
          <a:srgbClr val="6CB255"/>
        </a:buClr>
        <a:buFont typeface="Arial" charset="0"/>
        <a:buChar char="•"/>
        <a:defRPr sz="2000" kern="1200">
          <a:solidFill>
            <a:srgbClr val="000000"/>
          </a:solidFill>
          <a:latin typeface="+mn-lt"/>
          <a:ea typeface="+mn-ea"/>
          <a:cs typeface="+mn-cs"/>
        </a:defRPr>
      </a:lvl2pPr>
      <a:lvl3pPr marL="11430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3pPr>
      <a:lvl4pPr marL="16002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4pPr>
      <a:lvl5pPr marL="2057400" indent="-228600" algn="l" rtl="0" fontAlgn="base">
        <a:spcBef>
          <a:spcPct val="20000"/>
        </a:spcBef>
        <a:spcAft>
          <a:spcPct val="0"/>
        </a:spcAft>
        <a:buClr>
          <a:srgbClr val="6CB255"/>
        </a:buClr>
        <a:buFont typeface="Arial" charset="0"/>
        <a:buChar char="•"/>
        <a:defRPr kern="120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359F6FD-B147-4C85-964C-ED816F3E5488}" type="slidenum">
              <a:rPr kumimoji="0" lang="en-US" sz="1400" b="0" i="0" u="none" strike="noStrike" kern="1200" cap="none" spc="0" normalizeH="0" baseline="0" noProof="0">
                <a:ln>
                  <a:noFill/>
                </a:ln>
                <a:solidFill>
                  <a:srgbClr val="000000"/>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sz="1400" b="0"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1277045000"/>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6" r:id="rId13"/>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dpi="0" rotWithShape="1">
          <a:blip r:embed="rId8"/>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17D0EFEE-2756-4A20-BF2A-63F0A94F99AC}" type="datetime4">
              <a:rPr lang="en-US" smtClean="0"/>
              <a:pPr/>
              <a:t>October 23, 2025</a:t>
            </a:fld>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2705077352"/>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openstax.org/books/university-physics-volume-1/pages/6-2-friction#0" TargetMode="External"/><Relationship Id="rId2" Type="http://schemas.openxmlformats.org/officeDocument/2006/relationships/hyperlink" Target="https://openstax.org/books/university-physics-volume-1/pages/6-1-solving-problems-with-newtons-laws#0" TargetMode="Externa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hyperlink" Target="https://openstax.org/books/university-physics-volume-1/pages/6-4-drag-force-and-terminal-speed#0"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youtu.be/Y6Xxm4sJtH4" TargetMode="External"/><Relationship Id="rId2" Type="http://schemas.openxmlformats.org/officeDocument/2006/relationships/image" Target="../media/image5.png"/><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8.jpeg"/><Relationship Id="rId4" Type="http://schemas.openxmlformats.org/officeDocument/2006/relationships/hyperlink" Target="https://youtu.be/UjNY6f3ZZTw"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hyperlink" Target="https://openstax.org/books/university-physics-volume-1/pages/6-1-solving-problems-with-newtons-laws" TargetMode="Externa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hyperlink" Target="https://youtu.be/rLiixjH8D7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openstax.org/books/university-physics-volume-1/pages/6-1-solving-problems-with-newtons-laws#CNX_UPhysics_06_01_Atwood" TargetMode="External"/><Relationship Id="rId2" Type="http://schemas.openxmlformats.org/officeDocument/2006/relationships/image" Target="../media/image12.jpeg"/><Relationship Id="rId1" Type="http://schemas.openxmlformats.org/officeDocument/2006/relationships/slideLayout" Target="../slideLayouts/slideLayout14.xml"/><Relationship Id="rId5" Type="http://schemas.openxmlformats.org/officeDocument/2006/relationships/image" Target="../media/image8.jpeg"/><Relationship Id="rId4" Type="http://schemas.openxmlformats.org/officeDocument/2006/relationships/hyperlink" Target="https://youtu.be/_5_GKsAQZuQ"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openstax.org/books/university-physics-volume-1/pages/6-1-solving-problems-with-newtons-laws" TargetMode="External"/><Relationship Id="rId2" Type="http://schemas.openxmlformats.org/officeDocument/2006/relationships/notesSlide" Target="../notesSlides/notesSlide3.xml"/><Relationship Id="rId1" Type="http://schemas.openxmlformats.org/officeDocument/2006/relationships/slideLayout" Target="../slideLayouts/slideLayout20.xml"/><Relationship Id="rId6" Type="http://schemas.openxmlformats.org/officeDocument/2006/relationships/image" Target="../media/image8.jpeg"/><Relationship Id="rId5" Type="http://schemas.openxmlformats.org/officeDocument/2006/relationships/hyperlink" Target="https://youtu.be/0SRFFn3fXvk" TargetMode="Externa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hyperlink" Target="https://youtu.be/gqSN6pS4-Mc"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jpeg"/><Relationship Id="rId1" Type="http://schemas.openxmlformats.org/officeDocument/2006/relationships/slideLayout" Target="../slideLayouts/slideLayout8.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J0PVm4XTGeY" TargetMode="External"/><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hyperlink" Target="https://openstax.org/books/university-physics-volume-1/pages/6-2-friction#CNX_UPhysics_06_02_PushedBox" TargetMode="External"/><Relationship Id="rId2" Type="http://schemas.openxmlformats.org/officeDocument/2006/relationships/image" Target="../media/image16.jpeg"/><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s://openstax.org/books/university-physics-volume-1/pages/6-2-friction" TargetMode="External"/><Relationship Id="rId7" Type="http://schemas.openxmlformats.org/officeDocument/2006/relationships/hyperlink" Target="https://youtu.be/S5-lHp_Ge80" TargetMode="Externa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hyperlink" Target="https://youtu.be/EpSCWMzIBx8" TargetMode="External"/><Relationship Id="rId5" Type="http://schemas.openxmlformats.org/officeDocument/2006/relationships/hyperlink" Target="https://youtu.be/mwb2FsyK50s" TargetMode="External"/><Relationship Id="rId4" Type="http://schemas.openxmlformats.org/officeDocument/2006/relationships/hyperlink" Target="https://youtu.be/a2MbymlvJnY"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11.xml"/><Relationship Id="rId4" Type="http://schemas.openxmlformats.org/officeDocument/2006/relationships/image" Target="../media/image8.jpeg"/></Relationships>
</file>

<file path=ppt/slides/_rels/slide26.xml.rels><?xml version="1.0" encoding="UTF-8" standalone="yes"?>
<Relationships xmlns="http://schemas.openxmlformats.org/package/2006/relationships"><Relationship Id="rId3" Type="http://schemas.openxmlformats.org/officeDocument/2006/relationships/hyperlink" Target="https://youtu.be/nn_sKXUFnkY" TargetMode="External"/><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8.jpeg"/></Relationships>
</file>

<file path=ppt/slides/_rels/slide27.xml.rels><?xml version="1.0" encoding="UTF-8" standalone="yes"?>
<Relationships xmlns="http://schemas.openxmlformats.org/package/2006/relationships"><Relationship Id="rId3" Type="http://schemas.openxmlformats.org/officeDocument/2006/relationships/hyperlink" Target="https://youtu.be/kbZGcfF9UfA" TargetMode="External"/><Relationship Id="rId2" Type="http://schemas.openxmlformats.org/officeDocument/2006/relationships/image" Target="../media/image18.jp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28.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8.jpeg"/><Relationship Id="rId4" Type="http://schemas.openxmlformats.org/officeDocument/2006/relationships/image" Target="../media/image20.jpeg"/></Relationships>
</file>

<file path=ppt/slides/_rels/slide30.xml.rels><?xml version="1.0" encoding="UTF-8" standalone="yes"?>
<Relationships xmlns="http://schemas.openxmlformats.org/package/2006/relationships"><Relationship Id="rId3" Type="http://schemas.openxmlformats.org/officeDocument/2006/relationships/hyperlink" Target="https://openstax.org/books/university-physics-volume-1/pages/6-key-equations" TargetMode="External"/><Relationship Id="rId2" Type="http://schemas.openxmlformats.org/officeDocument/2006/relationships/hyperlink" Target="https://openstax.org/books/university-physics-volume-1/pages/6-key-terms" TargetMode="External"/><Relationship Id="rId1" Type="http://schemas.openxmlformats.org/officeDocument/2006/relationships/slideLayout" Target="../slideLayouts/slideLayout39.xml"/><Relationship Id="rId5" Type="http://schemas.openxmlformats.org/officeDocument/2006/relationships/image" Target="../media/image4.png"/><Relationship Id="rId4" Type="http://schemas.openxmlformats.org/officeDocument/2006/relationships/hyperlink" Target="https://openstax.org/books/university-physics-volume-1/pages/6-summar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63384-4A7E-3033-2AB7-CD8EC3C2ED67}"/>
            </a:ext>
          </a:extLst>
        </p:cNvPr>
        <p:cNvGrpSpPr/>
        <p:nvPr/>
      </p:nvGrpSpPr>
      <p:grpSpPr>
        <a:xfrm>
          <a:off x="0" y="0"/>
          <a:ext cx="0" cy="0"/>
          <a:chOff x="0" y="0"/>
          <a:chExt cx="0" cy="0"/>
        </a:xfrm>
      </p:grpSpPr>
      <p:sp>
        <p:nvSpPr>
          <p:cNvPr id="4" name="TextBox 7">
            <a:extLst>
              <a:ext uri="{FF2B5EF4-FFF2-40B4-BE49-F238E27FC236}">
                <a16:creationId xmlns:a16="http://schemas.microsoft.com/office/drawing/2014/main" id="{69AF53B8-AEA0-124B-F7E7-DB21550AB102}"/>
              </a:ext>
            </a:extLst>
          </p:cNvPr>
          <p:cNvSpPr txBox="1">
            <a:spLocks noGrp="1"/>
          </p:cNvSpPr>
          <p:nvPr>
            <p:ph type="title"/>
          </p:nvPr>
        </p:nvSpPr>
        <p:spPr>
          <a:xfrm>
            <a:off x="119575" y="152400"/>
            <a:ext cx="8998632" cy="199900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ts val="5390"/>
              </a:lnSpc>
              <a:defRPr/>
            </a:pPr>
            <a:r>
              <a:rPr lang="en-US" sz="2800" b="1" spc="0">
                <a:solidFill>
                  <a:srgbClr val="000000"/>
                </a:solidFill>
                <a:ea typeface="Glacial Indifference Bold"/>
                <a:cs typeface="Glacial Indifference Bold"/>
                <a:sym typeface="Glacial Indifference Bold"/>
              </a:rPr>
              <a:t>UNIVERSITY PHYSICS </a:t>
            </a:r>
            <a:r>
              <a:rPr kumimoji="0" lang="en-US" sz="2800" b="1" i="0" u="none" strike="noStrike" kern="1200" spc="0" normalizeH="0" baseline="0" noProof="0">
                <a:ln>
                  <a:noFill/>
                </a:ln>
                <a:solidFill>
                  <a:srgbClr val="000000"/>
                </a:solidFill>
                <a:effectLst/>
                <a:uLnTx/>
                <a:uFillTx/>
                <a:latin typeface="+mj-lt"/>
                <a:ea typeface="Glacial Indifference Bold"/>
                <a:cs typeface="Glacial Indifference Bold"/>
                <a:sym typeface="Glacial Indifference Bold"/>
              </a:rPr>
              <a:t>I</a:t>
            </a:r>
            <a:r>
              <a:rPr lang="en-US" sz="2800" b="1" spc="0">
                <a:solidFill>
                  <a:srgbClr val="000000"/>
                </a:solidFill>
                <a:ea typeface="Glacial Indifference Bold"/>
                <a:cs typeface="Glacial Indifference Bold"/>
                <a:sym typeface="Glacial Indifference Bold"/>
              </a:rPr>
              <a:t> </a:t>
            </a:r>
            <a:r>
              <a:rPr kumimoji="0" lang="en-US" sz="2800" b="1" i="0" u="none" strike="noStrike" kern="1200" spc="0" normalizeH="0" baseline="0" noProof="0">
                <a:ln>
                  <a:noFill/>
                </a:ln>
                <a:solidFill>
                  <a:srgbClr val="000000"/>
                </a:solidFill>
                <a:effectLst/>
                <a:uLnTx/>
                <a:uFillTx/>
                <a:latin typeface="+mj-lt"/>
                <a:ea typeface="Glacial Indifference Bold"/>
                <a:cs typeface="Glacial Indifference Bold"/>
                <a:sym typeface="Glacial Indifference Bold"/>
              </a:rPr>
              <a:t>Lecture Slides</a:t>
            </a:r>
            <a:r>
              <a:rPr lang="en-US" sz="2800" b="1" spc="0">
                <a:solidFill>
                  <a:srgbClr val="000000"/>
                </a:solidFill>
                <a:ea typeface="Glacial Indifference Bold"/>
                <a:cs typeface="Glacial Indifference Bold"/>
                <a:sym typeface="Glacial Indifference Bold"/>
              </a:rPr>
              <a:t> </a:t>
            </a:r>
            <a:br>
              <a:rPr lang="en-US" sz="2800" b="1" spc="0" dirty="0">
                <a:solidFill>
                  <a:srgbClr val="000000"/>
                </a:solidFill>
                <a:ea typeface="Glacial Indifference Bold"/>
                <a:cs typeface="Glacial Indifference Bold"/>
                <a:sym typeface="Glacial Indifference Bold"/>
              </a:rPr>
            </a:br>
            <a:r>
              <a:rPr lang="en-US" sz="2800" spc="0" dirty="0">
                <a:solidFill>
                  <a:schemeClr val="tx1"/>
                </a:solidFill>
                <a:ea typeface="Glacial Indifference Bold"/>
                <a:cs typeface="Glacial Indifference Bold"/>
                <a:sym typeface="Glacial Indifference Bold"/>
              </a:rPr>
              <a:t>CHAPTER 6 Applications of Newton's Laws</a:t>
            </a:r>
            <a:r>
              <a:rPr lang="en-US" sz="2800" b="1" spc="0" dirty="0">
                <a:solidFill>
                  <a:srgbClr val="000000"/>
                </a:solidFill>
                <a:ea typeface="Glacial Indifference Bold"/>
                <a:cs typeface="Glacial Indifference Bold"/>
                <a:sym typeface="Glacial Indifference Bold"/>
              </a:rPr>
              <a:t> </a:t>
            </a:r>
            <a:endParaRPr lang="en-US">
              <a:solidFill>
                <a:schemeClr val="tx1"/>
              </a:solidFill>
            </a:endParaRPr>
          </a:p>
        </p:txBody>
      </p:sp>
      <p:sp>
        <p:nvSpPr>
          <p:cNvPr id="9" name="Content Placeholder 8">
            <a:extLst>
              <a:ext uri="{FF2B5EF4-FFF2-40B4-BE49-F238E27FC236}">
                <a16:creationId xmlns:a16="http://schemas.microsoft.com/office/drawing/2014/main" id="{0A064A47-CEA7-59B0-0459-E9AEF9D147EC}"/>
              </a:ext>
            </a:extLst>
          </p:cNvPr>
          <p:cNvSpPr txBox="1">
            <a:spLocks noGrp="1"/>
          </p:cNvSpPr>
          <p:nvPr>
            <p:ph idx="1"/>
          </p:nvPr>
        </p:nvSpPr>
        <p:spPr>
          <a:xfrm>
            <a:off x="392723" y="2278554"/>
            <a:ext cx="8229600" cy="4220386"/>
          </a:xfrm>
          <a:prstGeom prst="rect">
            <a:avLst/>
          </a:prstGeom>
          <a:ln>
            <a:noFill/>
            <a:headEnd type="none" w="med" len="med"/>
            <a:tailEnd type="none" w="med" len="med"/>
          </a:ln>
          <a:effectLst>
            <a:outerShdw blurRad="50800" dist="38100" dir="5400000" algn="t"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lnRef>
          <a:fillRef idx="1">
            <a:schemeClr val="lt1"/>
          </a:fillRef>
          <a:effectRef idx="0">
            <a:schemeClr val="accent3"/>
          </a:effectRef>
          <a:fontRef idx="minor">
            <a:schemeClr val="dk1"/>
          </a:fontRef>
        </p:style>
        <p:txBody>
          <a:bodyPr wrap="square" lIns="0" tIns="0" rIns="0" bIns="0" rtlCol="0" anchor="t">
            <a:spAutoFit/>
          </a:bodyPr>
          <a:lstStyle/>
          <a:p>
            <a:r>
              <a:rPr lang="en-US" b="1" dirty="0"/>
              <a:t>  </a:t>
            </a:r>
          </a:p>
          <a:p>
            <a:r>
              <a:rPr lang="en-US" b="1" dirty="0"/>
              <a:t> Author: Dr. Raji Kannampuzha</a:t>
            </a:r>
          </a:p>
          <a:p>
            <a:endParaRPr lang="en-US" b="1" dirty="0"/>
          </a:p>
          <a:p>
            <a:r>
              <a:rPr lang="en-US" b="1" dirty="0">
                <a:ea typeface="Canva Sans"/>
                <a:cs typeface="Canva Sans"/>
                <a:sym typeface="Canva Sans"/>
              </a:rPr>
              <a:t> This work, "University Physics I Lecture Slides, </a:t>
            </a:r>
            <a:r>
              <a:rPr lang="en-US" b="1" dirty="0">
                <a:ea typeface="+mn-lt"/>
                <a:cs typeface="+mn-lt"/>
                <a:sym typeface="Canva Sans"/>
              </a:rPr>
              <a:t>Chapter 6 Applications Of Newton's Laws</a:t>
            </a:r>
            <a:r>
              <a:rPr lang="en-US" b="1">
                <a:ea typeface="Canva Sans"/>
                <a:cs typeface="Canva Sans"/>
                <a:sym typeface="Canva Sans"/>
              </a:rPr>
              <a:t>" is adapted from </a:t>
            </a:r>
            <a:r>
              <a:rPr lang="en-US" b="1" u="sng">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u="sng">
                <a:solidFill>
                  <a:srgbClr val="3333FF"/>
                </a:solidFill>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University </a:t>
            </a:r>
            <a:r>
              <a:rPr lang="en-US" b="1" u="sng" dirty="0">
                <a:solidFill>
                  <a:srgbClr val="3333FF"/>
                </a:solidFill>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Physics Volume 1</a:t>
            </a:r>
            <a:r>
              <a:rPr lang="en-US" b="1" u="sng" dirty="0">
                <a:ea typeface="Canva Sans"/>
                <a:cs typeface="Canva Sans"/>
                <a:sym typeface="Canva Sans"/>
                <a:hlinkClick r:id="rId2" tooltip="https://openstax.org/details/books/university-physics-volume-1">
                  <a:extLst>
                    <a:ext uri="{A12FA001-AC4F-418D-AE19-62706E023703}">
                      <ahyp:hlinkClr xmlns:ahyp="http://schemas.microsoft.com/office/drawing/2018/hyperlinkcolor" val="tx"/>
                    </a:ext>
                  </a:extLst>
                </a:hlinkClick>
              </a:rPr>
              <a:t>"</a:t>
            </a:r>
            <a:r>
              <a:rPr lang="en-US" b="1" dirty="0">
                <a:ea typeface="Canva Sans"/>
                <a:cs typeface="Canva Sans"/>
                <a:sym typeface="Canva Sans"/>
              </a:rPr>
              <a:t>  by William Moebs, Samuel J. Ling, Jeff   Sanny, et al., used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endParaRPr lang="en-US"/>
          </a:p>
          <a:p>
            <a:pPr>
              <a:lnSpc>
                <a:spcPts val="1750"/>
              </a:lnSpc>
            </a:pPr>
            <a:endParaRPr lang="en-US" b="1" dirty="0">
              <a:latin typeface="+mn-lt"/>
              <a:ea typeface="Canva Sans"/>
              <a:cs typeface="Canva Sans"/>
              <a:sym typeface="Canva Sans"/>
            </a:endParaRPr>
          </a:p>
          <a:p>
            <a:r>
              <a:rPr lang="en-US" b="1" dirty="0">
                <a:latin typeface="+mn-lt"/>
                <a:ea typeface="Canva Sans"/>
                <a:cs typeface="Canva Sans"/>
                <a:sym typeface="Canva Sans"/>
              </a:rPr>
              <a:t>"University Physics I Lecture Slides" is licensed under </a:t>
            </a:r>
            <a:r>
              <a:rPr lang="en-US" b="1" u="sng" dirty="0">
                <a:solidFill>
                  <a:srgbClr val="3333FF"/>
                </a:solidFill>
                <a:ea typeface="Canva Sans"/>
                <a:cs typeface="Canva Sans"/>
                <a:sym typeface="Canva Sans"/>
                <a:hlinkClick r:id="rId3" tooltip="https://creativecommons.org/licenses/by/4.0/">
                  <a:extLst>
                    <a:ext uri="{A12FA001-AC4F-418D-AE19-62706E023703}">
                      <ahyp:hlinkClr xmlns:ahyp="http://schemas.microsoft.com/office/drawing/2018/hyperlinkcolor" val="tx"/>
                    </a:ext>
                  </a:extLst>
                </a:hlinkClick>
              </a:rPr>
              <a:t>CC BY 4.0</a:t>
            </a:r>
            <a:r>
              <a:rPr lang="en-US" b="1" dirty="0">
                <a:ea typeface="Canva Sans"/>
                <a:cs typeface="Canva Sans"/>
                <a:sym typeface="Canva Sans"/>
              </a:rPr>
              <a:t> </a:t>
            </a:r>
            <a:r>
              <a:rPr lang="en-US" b="1" dirty="0">
                <a:latin typeface="+mn-lt"/>
                <a:ea typeface="Canva Sans"/>
                <a:cs typeface="Canva Sans"/>
                <a:sym typeface="Canva Sans"/>
              </a:rPr>
              <a:t>by Raji Kannampuzha</a:t>
            </a:r>
          </a:p>
          <a:p>
            <a:pPr>
              <a:lnSpc>
                <a:spcPts val="2380"/>
              </a:lnSpc>
            </a:pPr>
            <a:endParaRPr lang="en-US" sz="1250" dirty="0">
              <a:solidFill>
                <a:srgbClr val="623A2A"/>
              </a:solidFill>
              <a:latin typeface="Canva Sans"/>
              <a:ea typeface="Canva Sans"/>
              <a:cs typeface="Canva Sans"/>
              <a:sym typeface="Canva Sans"/>
            </a:endParaRPr>
          </a:p>
        </p:txBody>
      </p:sp>
      <p:pic>
        <p:nvPicPr>
          <p:cNvPr id="10" name="Picture 9" descr="Raji K Physics Logo">
            <a:extLst>
              <a:ext uri="{FF2B5EF4-FFF2-40B4-BE49-F238E27FC236}">
                <a16:creationId xmlns:a16="http://schemas.microsoft.com/office/drawing/2014/main" id="{328515F0-B276-8FE4-D89F-5A561458C7E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0161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28F0F-D780-40C2-81A1-0E628E89726D}"/>
              </a:ext>
            </a:extLst>
          </p:cNvPr>
          <p:cNvSpPr>
            <a:spLocks noGrp="1"/>
          </p:cNvSpPr>
          <p:nvPr>
            <p:ph type="title" idx="4294967295"/>
          </p:nvPr>
        </p:nvSpPr>
        <p:spPr>
          <a:xfrm>
            <a:off x="136879" y="458812"/>
            <a:ext cx="8784098" cy="1080311"/>
          </a:xfrm>
        </p:spPr>
        <p:txBody>
          <a:bodyPr>
            <a:noAutofit/>
          </a:bodyPr>
          <a:lstStyle/>
          <a:p>
            <a:pPr algn="ctr"/>
            <a:r>
              <a:rPr kumimoji="0" lang="en-US" sz="2800" i="0" strike="noStrike" kern="1200" cap="none" spc="0" normalizeH="0" baseline="0" noProof="0" dirty="0">
                <a:ln>
                  <a:noFill/>
                </a:ln>
                <a:solidFill>
                  <a:schemeClr val="tx1"/>
                </a:solidFill>
                <a:effectLst/>
                <a:uLnTx/>
                <a:uFillTx/>
                <a:latin typeface="Arial Black" panose="020B0A04020102020204" pitchFamily="34" charset="0"/>
                <a:ea typeface="+mn-ea"/>
                <a:cs typeface="+mn-cs"/>
              </a:rPr>
              <a:t>CHAPTER 6 </a:t>
            </a:r>
            <a:r>
              <a:rPr lang="en-US" sz="2800" dirty="0">
                <a:solidFill>
                  <a:schemeClr val="tx1"/>
                </a:solidFill>
              </a:rPr>
              <a:t>Applications of Newton's Laws</a:t>
            </a:r>
            <a:endParaRPr lang="en-US" sz="2800" dirty="0">
              <a:solidFill>
                <a:schemeClr val="tx1"/>
              </a:solidFill>
              <a:latin typeface="Arial Black" panose="020B0A04020102020204" pitchFamily="34" charset="0"/>
            </a:endParaRPr>
          </a:p>
        </p:txBody>
      </p:sp>
      <p:sp>
        <p:nvSpPr>
          <p:cNvPr id="3" name="TextBox 2">
            <a:extLst>
              <a:ext uri="{FF2B5EF4-FFF2-40B4-BE49-F238E27FC236}">
                <a16:creationId xmlns:a16="http://schemas.microsoft.com/office/drawing/2014/main" id="{0EC287A1-1825-48F4-B209-6AC6179CF1A8}"/>
              </a:ext>
            </a:extLst>
          </p:cNvPr>
          <p:cNvSpPr txBox="1"/>
          <p:nvPr/>
        </p:nvSpPr>
        <p:spPr>
          <a:xfrm>
            <a:off x="1123010" y="1628507"/>
            <a:ext cx="7119699" cy="3600986"/>
          </a:xfrm>
          <a:prstGeom prst="rect">
            <a:avLst/>
          </a:prstGeom>
          <a:noFill/>
        </p:spPr>
        <p:txBody>
          <a:bodyPr wrap="square" rtlCol="0">
            <a:spAutoFit/>
          </a:bodyPr>
          <a:lstStyle/>
          <a:p>
            <a:r>
              <a:rPr lang="en-US" b="1" dirty="0"/>
              <a:t> </a:t>
            </a:r>
            <a:endParaRPr lang="en-US" sz="2400" b="1" dirty="0"/>
          </a:p>
          <a:p>
            <a:endParaRPr lang="en-US" sz="2400" b="1" dirty="0"/>
          </a:p>
          <a:p>
            <a:r>
              <a:rPr lang="en-US" sz="2400" b="1" dirty="0"/>
              <a:t>Chapter 6 Outline</a:t>
            </a:r>
          </a:p>
          <a:p>
            <a:endParaRPr lang="en-US" sz="2400" b="1" dirty="0"/>
          </a:p>
          <a:p>
            <a:r>
              <a:rPr lang="en-US" sz="2400" b="1" dirty="0">
                <a:hlinkClick r:id="rId2"/>
              </a:rPr>
              <a:t>6.1 Solving Problems with Newton’s Laws</a:t>
            </a:r>
            <a:endParaRPr lang="en-US" sz="2400" b="1" dirty="0"/>
          </a:p>
          <a:p>
            <a:endParaRPr lang="en-US" sz="2400" b="1" dirty="0">
              <a:hlinkClick r:id="rId3"/>
            </a:endParaRPr>
          </a:p>
          <a:p>
            <a:r>
              <a:rPr lang="en-US" sz="2400" b="1" dirty="0">
                <a:hlinkClick r:id="rId3"/>
              </a:rPr>
              <a:t>6.2 Friction</a:t>
            </a:r>
            <a:endParaRPr lang="en-US" sz="2400" b="1" dirty="0"/>
          </a:p>
          <a:p>
            <a:r>
              <a:rPr lang="en-US" sz="2400" b="1" dirty="0"/>
              <a:t> </a:t>
            </a:r>
          </a:p>
          <a:p>
            <a:r>
              <a:rPr lang="en-US" sz="2400" b="1" dirty="0">
                <a:hlinkClick r:id="rId4"/>
              </a:rPr>
              <a:t>6.4 Drag Force and Terminal Speed</a:t>
            </a:r>
            <a:endParaRPr lang="en-US" sz="2400" b="1" dirty="0"/>
          </a:p>
          <a:p>
            <a:endParaRPr lang="en-US" dirty="0"/>
          </a:p>
        </p:txBody>
      </p:sp>
      <p:pic>
        <p:nvPicPr>
          <p:cNvPr id="4" name="Picture 3" descr="Raji K Physics Logo">
            <a:extLst>
              <a:ext uri="{FF2B5EF4-FFF2-40B4-BE49-F238E27FC236}">
                <a16:creationId xmlns:a16="http://schemas.microsoft.com/office/drawing/2014/main" id="{A6ACB76F-49B7-7B06-19EB-8253E723EFB9}"/>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6262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3">
            <a:extLst>
              <a:ext uri="{FF2B5EF4-FFF2-40B4-BE49-F238E27FC236}">
                <a16:creationId xmlns:a16="http://schemas.microsoft.com/office/drawing/2014/main" id="{8279E7E7-F7BE-F6AA-A76B-F627731CB5C5}"/>
              </a:ext>
            </a:extLst>
          </p:cNvPr>
          <p:cNvSpPr>
            <a:spLocks noGrp="1"/>
          </p:cNvSpPr>
          <p:nvPr>
            <p:ph type="title"/>
          </p:nvPr>
        </p:nvSpPr>
        <p:spPr>
          <a:xfrm>
            <a:off x="457200" y="241326"/>
            <a:ext cx="8062912" cy="659535"/>
          </a:xfrm>
        </p:spPr>
        <p:txBody>
          <a:bodyPr>
            <a:normAutofit/>
          </a:bodyPr>
          <a:lstStyle/>
          <a:p>
            <a:pPr algn="ctr"/>
            <a:r>
              <a:rPr lang="en-US" sz="2800" dirty="0">
                <a:solidFill>
                  <a:schemeClr val="tx1"/>
                </a:solidFill>
              </a:rPr>
              <a:t>Connected masses problem</a:t>
            </a:r>
          </a:p>
        </p:txBody>
      </p:sp>
      <p:pic>
        <p:nvPicPr>
          <p:cNvPr id="5" name="Picture 4" descr="Connected masses.">
            <a:extLst>
              <a:ext uri="{FF2B5EF4-FFF2-40B4-BE49-F238E27FC236}">
                <a16:creationId xmlns:a16="http://schemas.microsoft.com/office/drawing/2014/main" id="{EAB8F27B-C702-E719-C3B3-6F71AD401D7D}"/>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1860" r="3588"/>
          <a:stretch/>
        </p:blipFill>
        <p:spPr>
          <a:xfrm>
            <a:off x="1317355" y="1100110"/>
            <a:ext cx="6476066" cy="2479997"/>
          </a:xfrm>
          <a:prstGeom prst="rect">
            <a:avLst/>
          </a:prstGeom>
        </p:spPr>
      </p:pic>
      <p:sp>
        <p:nvSpPr>
          <p:cNvPr id="15" name="Text Placeholder 2">
            <a:extLst>
              <a:ext uri="{FF2B5EF4-FFF2-40B4-BE49-F238E27FC236}">
                <a16:creationId xmlns:a16="http://schemas.microsoft.com/office/drawing/2014/main" id="{EB7EC0D0-384D-5C96-353D-9A8A052423F9}"/>
              </a:ext>
            </a:extLst>
          </p:cNvPr>
          <p:cNvSpPr>
            <a:spLocks noGrp="1"/>
          </p:cNvSpPr>
          <p:nvPr>
            <p:ph type="body" sz="half" idx="2"/>
          </p:nvPr>
        </p:nvSpPr>
        <p:spPr>
          <a:xfrm>
            <a:off x="162864" y="4139800"/>
            <a:ext cx="8646600" cy="2305605"/>
          </a:xfrm>
        </p:spPr>
        <p:txBody>
          <a:bodyPr>
            <a:normAutofit fontScale="77500" lnSpcReduction="20000"/>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Arial" charset="0"/>
                <a:ea typeface="+mn-ea"/>
                <a:cs typeface="+mn-cs"/>
              </a:rPr>
              <a:t>The boxes have masses of  M</a:t>
            </a:r>
            <a:r>
              <a:rPr kumimoji="0" lang="en-US" sz="3000" b="1" i="0" u="none" strike="noStrike" kern="1200" cap="none" spc="0" normalizeH="0" baseline="-25000" noProof="0" dirty="0">
                <a:ln>
                  <a:noFill/>
                </a:ln>
                <a:solidFill>
                  <a:prstClr val="black"/>
                </a:solidFill>
                <a:effectLst/>
                <a:uLnTx/>
                <a:uFillTx/>
                <a:latin typeface="Arial" charset="0"/>
                <a:ea typeface="+mn-ea"/>
                <a:cs typeface="+mn-cs"/>
              </a:rPr>
              <a:t>2 </a:t>
            </a:r>
            <a:r>
              <a:rPr kumimoji="0" lang="en-US" sz="3000" b="1" i="0" u="none" strike="noStrike" kern="1200" cap="none" spc="0" normalizeH="0" baseline="0" noProof="0" dirty="0">
                <a:ln>
                  <a:noFill/>
                </a:ln>
                <a:solidFill>
                  <a:prstClr val="black"/>
                </a:solidFill>
                <a:effectLst/>
                <a:uLnTx/>
                <a:uFillTx/>
                <a:latin typeface="Arial" charset="0"/>
                <a:ea typeface="+mn-ea"/>
                <a:cs typeface="+mn-cs"/>
              </a:rPr>
              <a:t>12.0 kg and M</a:t>
            </a:r>
            <a:r>
              <a:rPr kumimoji="0" lang="en-US" sz="3000" b="1" i="0" u="none" strike="noStrike" kern="1200" cap="none" spc="0" normalizeH="0" baseline="-25000" noProof="0" dirty="0">
                <a:ln>
                  <a:noFill/>
                </a:ln>
                <a:solidFill>
                  <a:prstClr val="black"/>
                </a:solidFill>
                <a:effectLst/>
                <a:uLnTx/>
                <a:uFillTx/>
                <a:latin typeface="Arial" charset="0"/>
                <a:ea typeface="+mn-ea"/>
                <a:cs typeface="+mn-cs"/>
              </a:rPr>
              <a:t>1 </a:t>
            </a:r>
            <a:r>
              <a:rPr kumimoji="0" lang="en-US" sz="3000" b="1" i="0" u="none" strike="noStrike" kern="1200" cap="none" spc="0" normalizeH="0" baseline="0" noProof="0" dirty="0">
                <a:ln>
                  <a:noFill/>
                </a:ln>
                <a:solidFill>
                  <a:prstClr val="black"/>
                </a:solidFill>
                <a:effectLst/>
                <a:uLnTx/>
                <a:uFillTx/>
                <a:latin typeface="Arial" charset="0"/>
                <a:ea typeface="+mn-ea"/>
                <a:cs typeface="+mn-cs"/>
              </a:rPr>
              <a:t>10.0 kg. A horizontal force of 40.0 N is applied to the 10.0-kg box. Find (a) the acceleration of each box, and (b) the tension in the cord connecting the boxes. (see next slide for solution)</a:t>
            </a:r>
            <a:endParaRPr lang="en-US" sz="3000" b="1" dirty="0">
              <a:solidFill>
                <a:prstClr val="black"/>
              </a:solidFill>
              <a:latin typeface="Arial" charset="0"/>
            </a:endParaRPr>
          </a:p>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Arial" charset="0"/>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1" u="none" strike="noStrike" kern="1200" cap="none" spc="0" normalizeH="0" baseline="0" noProof="0" dirty="0">
                <a:ln>
                  <a:noFill/>
                </a:ln>
                <a:effectLst/>
                <a:uLnTx/>
                <a:uFillTx/>
                <a:latin typeface="Arial" charset="0"/>
                <a:ea typeface="+mn-ea"/>
                <a:cs typeface="+mn-cs"/>
              </a:rPr>
              <a:t> </a:t>
            </a:r>
            <a:endParaRPr kumimoji="0" lang="en-US" sz="1600" b="1" i="0" u="none" strike="noStrike" kern="1200" cap="none" spc="0" normalizeH="0" baseline="0" noProof="0" dirty="0">
              <a:ln>
                <a:noFill/>
              </a:ln>
              <a:effectLst/>
              <a:uLnTx/>
              <a:uFillTx/>
              <a:latin typeface="Arial" charset="0"/>
              <a:ea typeface="+mn-ea"/>
              <a:cs typeface="+mn-cs"/>
            </a:endParaRP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1" i="0" u="none" strike="noStrike" kern="1200" cap="none" spc="0" normalizeH="0" baseline="0" noProof="0" dirty="0">
                <a:ln>
                  <a:noFill/>
                </a:ln>
                <a:solidFill>
                  <a:srgbClr val="0000FF"/>
                </a:solidFill>
                <a:effectLst/>
                <a:uLnTx/>
                <a:uFillTx/>
                <a:latin typeface="Arial" charset="0"/>
                <a:ea typeface="+mn-ea"/>
                <a:cs typeface="+mn-cs"/>
                <a:hlinkClick r:id="rId3">
                  <a:extLst>
                    <a:ext uri="{A12FA001-AC4F-418D-AE19-62706E023703}">
                      <ahyp:hlinkClr xmlns:ahyp="http://schemas.microsoft.com/office/drawing/2018/hyperlinkcolor" val="tx"/>
                    </a:ext>
                  </a:extLst>
                </a:hlinkClick>
              </a:rPr>
              <a:t> </a:t>
            </a:r>
            <a:r>
              <a:rPr kumimoji="0" lang="en-US" sz="2600" b="1" i="0" u="none" strike="noStrike" kern="1200" cap="none" spc="0" normalizeH="0" baseline="0" noProof="0" dirty="0">
                <a:ln>
                  <a:noFill/>
                </a:ln>
                <a:solidFill>
                  <a:srgbClr val="0000FF"/>
                </a:solidFill>
                <a:effectLst/>
                <a:uLnTx/>
                <a:uFillTx/>
                <a:latin typeface="Arial" charset="0"/>
                <a:ea typeface="+mn-ea"/>
                <a:cs typeface="+mn-cs"/>
                <a:hlinkClick r:id="rId3">
                  <a:extLst>
                    <a:ext uri="{A12FA001-AC4F-418D-AE19-62706E023703}">
                      <ahyp:hlinkClr xmlns:ahyp="http://schemas.microsoft.com/office/drawing/2018/hyperlinkcolor" val="tx"/>
                    </a:ext>
                  </a:extLst>
                </a:hlinkClick>
              </a:rPr>
              <a:t>Tension in Cord Video</a:t>
            </a:r>
            <a:endParaRPr kumimoji="0" lang="en-US" sz="2600" b="1" i="0" u="none" strike="noStrike" kern="1200" cap="none" spc="0" normalizeH="0" baseline="0" noProof="0" dirty="0">
              <a:ln>
                <a:noFill/>
              </a:ln>
              <a:solidFill>
                <a:srgbClr val="0000FF"/>
              </a:solidFill>
              <a:effectLst/>
              <a:uLnTx/>
              <a:uFillTx/>
              <a:latin typeface="Arial" charset="0"/>
              <a:ea typeface="+mn-ea"/>
              <a:cs typeface="+mn-cs"/>
            </a:endParaRPr>
          </a:p>
          <a:p>
            <a:endParaRPr lang="en-US" dirty="0"/>
          </a:p>
        </p:txBody>
      </p:sp>
      <p:pic>
        <p:nvPicPr>
          <p:cNvPr id="3" name="Picture 2" descr="Raji K Physics Logo">
            <a:extLst>
              <a:ext uri="{FF2B5EF4-FFF2-40B4-BE49-F238E27FC236}">
                <a16:creationId xmlns:a16="http://schemas.microsoft.com/office/drawing/2014/main" id="{9C68F9B4-2F2F-4725-4647-B6BE9D8A7D5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885539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1A05C-1B35-8DFA-20A0-2F55F19D4162}"/>
              </a:ext>
            </a:extLst>
          </p:cNvPr>
          <p:cNvSpPr>
            <a:spLocks noGrp="1"/>
          </p:cNvSpPr>
          <p:nvPr>
            <p:ph type="title"/>
          </p:nvPr>
        </p:nvSpPr>
        <p:spPr>
          <a:xfrm>
            <a:off x="217390" y="20444"/>
            <a:ext cx="8855985" cy="678122"/>
          </a:xfrm>
        </p:spPr>
        <p:txBody>
          <a:bodyPr anchor="b">
            <a:noAutofit/>
          </a:bodyPr>
          <a:lstStyle/>
          <a:p>
            <a:r>
              <a:rPr lang="en-US" sz="2800" dirty="0">
                <a:solidFill>
                  <a:schemeClr val="tx1"/>
                </a:solidFill>
              </a:rPr>
              <a:t>Connected masses problem - solution</a:t>
            </a:r>
          </a:p>
        </p:txBody>
      </p:sp>
      <p:pic>
        <p:nvPicPr>
          <p:cNvPr id="7" name="Picture 6" descr="Connected masses Free body diagram. ">
            <a:extLst>
              <a:ext uri="{FF2B5EF4-FFF2-40B4-BE49-F238E27FC236}">
                <a16:creationId xmlns:a16="http://schemas.microsoft.com/office/drawing/2014/main" id="{572992E7-AFDB-16DB-06BB-296895982600}"/>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95454" y="780485"/>
            <a:ext cx="6904435" cy="2951456"/>
          </a:xfrm>
          <a:prstGeom prst="rect">
            <a:avLst/>
          </a:prstGeom>
        </p:spPr>
      </p:pic>
      <p:sp>
        <p:nvSpPr>
          <p:cNvPr id="10" name="Text Placeholder 2">
            <a:extLst>
              <a:ext uri="{FF2B5EF4-FFF2-40B4-BE49-F238E27FC236}">
                <a16:creationId xmlns:a16="http://schemas.microsoft.com/office/drawing/2014/main" id="{A5941AB1-5672-23AE-E6E2-ACD9934A57D4}"/>
              </a:ext>
            </a:extLst>
          </p:cNvPr>
          <p:cNvSpPr>
            <a:spLocks noGrp="1"/>
          </p:cNvSpPr>
          <p:nvPr>
            <p:ph type="body" sz="half" idx="2"/>
          </p:nvPr>
        </p:nvSpPr>
        <p:spPr>
          <a:xfrm>
            <a:off x="73383" y="3986563"/>
            <a:ext cx="8997234" cy="2562920"/>
          </a:xfrm>
        </p:spPr>
        <p:txBody>
          <a:bodyPr>
            <a:noAutofit/>
          </a:bodyPr>
          <a:lstStyle/>
          <a:p>
            <a:r>
              <a:rPr kumimoji="0" lang="en-US" sz="2000" b="1" u="none" strike="noStrike" kern="1200" cap="none" spc="0" normalizeH="0" baseline="0" noProof="0" dirty="0">
                <a:ln>
                  <a:noFill/>
                </a:ln>
                <a:effectLst/>
                <a:uLnTx/>
                <a:uFillTx/>
                <a:latin typeface="Arial" charset="0"/>
                <a:ea typeface="+mn-ea"/>
                <a:cs typeface="+mn-cs"/>
              </a:rPr>
              <a:t>Newton’s second law </a:t>
            </a:r>
            <a:r>
              <a:rPr kumimoji="0" lang="en-US" sz="2000" b="1" i="0" u="none" strike="noStrike" kern="1200" cap="none" spc="0" normalizeH="0" baseline="0" noProof="0" dirty="0">
                <a:ln>
                  <a:noFill/>
                </a:ln>
                <a:effectLst/>
                <a:uLnTx/>
                <a:uFillTx/>
                <a:latin typeface="Arial" charset="0"/>
                <a:ea typeface="+mn-ea"/>
                <a:cs typeface="+mn-cs"/>
              </a:rPr>
              <a:t>may be applied to a </a:t>
            </a:r>
            <a:r>
              <a:rPr kumimoji="0" lang="en-US" sz="2000" b="1" u="none" strike="noStrike" kern="1200" cap="none" spc="0" normalizeH="0" baseline="0" noProof="0" dirty="0">
                <a:ln>
                  <a:noFill/>
                </a:ln>
                <a:effectLst/>
                <a:uLnTx/>
                <a:uFillTx/>
                <a:latin typeface="Arial" charset="0"/>
                <a:ea typeface="+mn-ea"/>
                <a:cs typeface="+mn-cs"/>
              </a:rPr>
              <a:t>system as a whole</a:t>
            </a:r>
            <a:r>
              <a:rPr kumimoji="0" lang="en-US" sz="2000" b="1" i="0" u="none" strike="noStrike" kern="1200" cap="none" spc="0" normalizeH="0" baseline="0" noProof="0" dirty="0">
                <a:ln>
                  <a:noFill/>
                </a:ln>
                <a:effectLst/>
                <a:uLnTx/>
                <a:uFillTx/>
                <a:latin typeface="Arial" charset="0"/>
                <a:ea typeface="+mn-ea"/>
                <a:cs typeface="+mn-cs"/>
              </a:rPr>
              <a:t>, or to any part of a system.  </a:t>
            </a:r>
          </a:p>
          <a:p>
            <a:r>
              <a:rPr kumimoji="0" lang="en-US" sz="2000" b="1" i="0" u="none" strike="noStrike" kern="1200" cap="none" spc="0" normalizeH="0" baseline="0" noProof="0" dirty="0">
                <a:ln>
                  <a:noFill/>
                </a:ln>
                <a:effectLst/>
                <a:uLnTx/>
                <a:uFillTx/>
                <a:latin typeface="Arial" charset="0"/>
                <a:ea typeface="+mn-ea"/>
                <a:cs typeface="+mn-cs"/>
              </a:rPr>
              <a:t>Let us a</a:t>
            </a:r>
            <a:r>
              <a:rPr lang="en-US" sz="2000" b="1" dirty="0" err="1"/>
              <a:t>pply</a:t>
            </a:r>
            <a:r>
              <a:rPr lang="en-US" sz="2000" b="1" dirty="0"/>
              <a:t> Newtons Law to each mass</a:t>
            </a:r>
          </a:p>
          <a:p>
            <a:r>
              <a:rPr lang="en-US" sz="2000" b="1" dirty="0"/>
              <a:t>For M</a:t>
            </a:r>
            <a:r>
              <a:rPr lang="en-US" sz="2000" b="1" baseline="-25000" dirty="0"/>
              <a:t>2</a:t>
            </a:r>
            <a:r>
              <a:rPr lang="en-US" sz="2000" b="1" dirty="0"/>
              <a:t>                   T =  M</a:t>
            </a:r>
            <a:r>
              <a:rPr lang="en-US" sz="2000" b="1" baseline="-25000" dirty="0"/>
              <a:t>2</a:t>
            </a:r>
            <a:r>
              <a:rPr lang="en-US" sz="2000" b="1" dirty="0"/>
              <a:t> a</a:t>
            </a:r>
          </a:p>
          <a:p>
            <a:r>
              <a:rPr lang="en-US" sz="2000" b="1" dirty="0"/>
              <a:t>For M</a:t>
            </a:r>
            <a:r>
              <a:rPr lang="en-US" sz="2000" b="1" baseline="-25000" dirty="0"/>
              <a:t>1</a:t>
            </a:r>
            <a:r>
              <a:rPr lang="en-US" sz="2000" b="1" dirty="0"/>
              <a:t>                 F - T = M</a:t>
            </a:r>
            <a:r>
              <a:rPr lang="en-US" sz="2000" b="1" baseline="-25000" dirty="0"/>
              <a:t>1</a:t>
            </a:r>
            <a:r>
              <a:rPr lang="en-US" sz="2000" b="1" dirty="0"/>
              <a:t> a</a:t>
            </a:r>
          </a:p>
          <a:p>
            <a:r>
              <a:rPr lang="en-US" sz="2000" b="1" dirty="0"/>
              <a:t>Using these 2 equations solve for unknown.</a:t>
            </a:r>
          </a:p>
        </p:txBody>
      </p:sp>
      <p:pic>
        <p:nvPicPr>
          <p:cNvPr id="3" name="Picture 2" descr="Raji K Physics Logo">
            <a:extLst>
              <a:ext uri="{FF2B5EF4-FFF2-40B4-BE49-F238E27FC236}">
                <a16:creationId xmlns:a16="http://schemas.microsoft.com/office/drawing/2014/main" id="{20C3CC99-91C2-0978-B1C5-8F66CF08453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88202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104"/>
            <a:ext cx="8062912" cy="659535"/>
          </a:xfrm>
        </p:spPr>
        <p:txBody>
          <a:bodyPr>
            <a:normAutofit/>
          </a:bodyPr>
          <a:lstStyle/>
          <a:p>
            <a:pPr algn="ctr" fontAlgn="base">
              <a:spcBef>
                <a:spcPct val="50000"/>
              </a:spcBef>
              <a:spcAft>
                <a:spcPct val="0"/>
              </a:spcAft>
              <a:defRPr/>
            </a:pPr>
            <a:r>
              <a:rPr lang="en-US" sz="2800" b="1" dirty="0">
                <a:solidFill>
                  <a:schemeClr val="tx1"/>
                </a:solidFill>
              </a:rPr>
              <a:t>Sliding and Hanging mass</a:t>
            </a:r>
          </a:p>
        </p:txBody>
      </p:sp>
      <p:pic>
        <p:nvPicPr>
          <p:cNvPr id="2" name="Picture Placeholder 1" descr="Figure shows block m1 placed on a table. A string attached to it runs over a pulley and down the right side of the table. A block m2 is suspended from it. An arrow a1 points right and an arrow a2 points down."/>
          <p:cNvPicPr>
            <a:picLocks noGrp="1" noChangeAspect="1"/>
          </p:cNvPicPr>
          <p:nvPr>
            <p:ph type="pic" sz="quarter" idx="13"/>
          </p:nvPr>
        </p:nvPicPr>
        <p:blipFill rotWithShape="1">
          <a:blip r:embed="rId3" cstate="email">
            <a:extLst>
              <a:ext uri="{28A0092B-C50C-407E-A947-70E740481C1C}">
                <a14:useLocalDpi xmlns:a14="http://schemas.microsoft.com/office/drawing/2010/main" val="0"/>
              </a:ext>
            </a:extLst>
          </a:blip>
          <a:srcRect l="768" t="1" r="-139" b="1122"/>
          <a:stretch/>
        </p:blipFill>
        <p:spPr>
          <a:xfrm>
            <a:off x="2805193" y="735639"/>
            <a:ext cx="4091553" cy="3376866"/>
          </a:xfrm>
        </p:spPr>
      </p:pic>
      <p:sp>
        <p:nvSpPr>
          <p:cNvPr id="7" name="Text Placeholder 6"/>
          <p:cNvSpPr>
            <a:spLocks noGrp="1"/>
          </p:cNvSpPr>
          <p:nvPr>
            <p:ph type="body" sz="quarter" idx="14"/>
          </p:nvPr>
        </p:nvSpPr>
        <p:spPr>
          <a:xfrm>
            <a:off x="457200" y="4235577"/>
            <a:ext cx="8231465" cy="2538378"/>
          </a:xfrm>
        </p:spPr>
        <p:txBody>
          <a:bodyPr>
            <a:normAutofit fontScale="550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3400" b="1" dirty="0"/>
              <a:t>Find the acceleration of the blocks and the tension in the string in terms of masses and g (See next slide for free body diagram). </a:t>
            </a:r>
            <a:r>
              <a:rPr kumimoji="0" lang="en-US" altLang="en-US" sz="3400" b="1" i="0" u="none" strike="noStrike" cap="none" normalizeH="0" baseline="0" dirty="0">
                <a:ln>
                  <a:noFill/>
                </a:ln>
                <a:solidFill>
                  <a:schemeClr val="tx1"/>
                </a:solidFill>
                <a:effectLst/>
                <a:latin typeface="Arial" panose="020B0604020202020204" pitchFamily="34" charset="0"/>
              </a:rPr>
              <a:t>Calculate the acceleration of the system, and the tension in the string, when the masses are </a:t>
            </a:r>
            <a:r>
              <a:rPr kumimoji="0" lang="en-US" altLang="en-US" sz="3400" b="1" i="1" u="none" strike="noStrike" cap="none" normalizeH="0" baseline="0" dirty="0">
                <a:ln>
                  <a:noFill/>
                </a:ln>
                <a:solidFill>
                  <a:schemeClr val="tx1"/>
                </a:solidFill>
                <a:effectLst/>
                <a:latin typeface="MathJax_Math"/>
              </a:rPr>
              <a:t>m</a:t>
            </a:r>
            <a:r>
              <a:rPr kumimoji="0" lang="en-US" altLang="en-US" sz="3400" b="1" i="0" u="none" strike="noStrike" cap="none" normalizeH="0" baseline="0" dirty="0">
                <a:ln>
                  <a:noFill/>
                </a:ln>
                <a:solidFill>
                  <a:schemeClr val="tx1"/>
                </a:solidFill>
                <a:effectLst/>
                <a:latin typeface="MathJax_Main"/>
              </a:rPr>
              <a:t>1=5.00kg</a:t>
            </a:r>
            <a:r>
              <a:rPr kumimoji="0" lang="en-US" altLang="en-US" sz="3400" b="1" i="0" u="none" strike="noStrike" cap="none" normalizeH="0" baseline="0" dirty="0">
                <a:ln>
                  <a:noFill/>
                </a:ln>
                <a:solidFill>
                  <a:schemeClr val="tx1"/>
                </a:solidFill>
                <a:effectLst/>
              </a:rPr>
              <a:t> and </a:t>
            </a:r>
            <a:r>
              <a:rPr kumimoji="0" lang="en-US" altLang="en-US" sz="3400" b="1" i="1" u="none" strike="noStrike" cap="none" normalizeH="0" baseline="0" dirty="0">
                <a:ln>
                  <a:noFill/>
                </a:ln>
                <a:solidFill>
                  <a:schemeClr val="tx1"/>
                </a:solidFill>
                <a:effectLst/>
                <a:latin typeface="MathJax_Math"/>
              </a:rPr>
              <a:t>m</a:t>
            </a:r>
            <a:r>
              <a:rPr kumimoji="0" lang="en-US" altLang="en-US" sz="3400" b="1" i="0" u="none" strike="noStrike" cap="none" normalizeH="0" baseline="0" dirty="0">
                <a:ln>
                  <a:noFill/>
                </a:ln>
                <a:solidFill>
                  <a:schemeClr val="tx1"/>
                </a:solidFill>
                <a:effectLst/>
                <a:latin typeface="MathJax_Main"/>
              </a:rPr>
              <a:t>2=3.00kg.</a:t>
            </a:r>
            <a:r>
              <a:rPr kumimoji="0" lang="en-US" altLang="en-US" sz="3400" b="1" i="0" u="none" strike="noStrike" cap="none" normalizeH="0" baseline="0" dirty="0">
                <a:ln>
                  <a:noFill/>
                </a:ln>
                <a:solidFill>
                  <a:schemeClr val="tx1"/>
                </a:solidFill>
                <a:effectLst/>
              </a:rPr>
              <a:t> </a:t>
            </a:r>
            <a:endParaRPr kumimoji="0" lang="en-US" altLang="en-US" sz="3400" b="1" i="0" u="none" strike="noStrike" cap="none" normalizeH="0" baseline="0" dirty="0">
              <a:ln>
                <a:noFill/>
              </a:ln>
              <a:solidFill>
                <a:schemeClr val="tx1"/>
              </a:solidFill>
              <a:effectLst/>
              <a:latin typeface="Arial" panose="020B0604020202020204" pitchFamily="34" charset="0"/>
            </a:endParaRPr>
          </a:p>
          <a:p>
            <a:endParaRPr lang="en-US" sz="3400" b="1" dirty="0"/>
          </a:p>
          <a:p>
            <a:r>
              <a:rPr lang="en-US" sz="3400" b="1" dirty="0">
                <a:solidFill>
                  <a:srgbClr val="0000FF"/>
                </a:solidFill>
                <a:latin typeface="Arial" charset="0"/>
              </a:rPr>
              <a:t> Note: </a:t>
            </a:r>
            <a:r>
              <a:rPr kumimoji="0" lang="en-US" sz="3400" b="1" i="0" u="none" strike="noStrike" kern="1200" cap="none" spc="0" normalizeH="0" baseline="0" noProof="0" dirty="0">
                <a:ln>
                  <a:noFill/>
                </a:ln>
                <a:solidFill>
                  <a:prstClr val="black"/>
                </a:solidFill>
                <a:effectLst/>
                <a:uLnTx/>
                <a:uFillTx/>
                <a:latin typeface="Arial" charset="0"/>
                <a:ea typeface="+mn-ea"/>
                <a:cs typeface="+mn-cs"/>
              </a:rPr>
              <a:t>If there is a pulley, it is easiest to have the coordinate system follow the string</a:t>
            </a:r>
            <a:r>
              <a:rPr lang="en-US" sz="3400" b="1" dirty="0">
                <a:solidFill>
                  <a:prstClr val="black"/>
                </a:solidFill>
                <a:latin typeface="Arial" charset="0"/>
              </a:rPr>
              <a:t>.</a:t>
            </a:r>
          </a:p>
          <a:p>
            <a:r>
              <a:rPr lang="en-US" sz="3600" b="1" dirty="0">
                <a:solidFill>
                  <a:srgbClr val="0000FF"/>
                </a:solidFill>
                <a:hlinkClick r:id="rId4">
                  <a:extLst>
                    <a:ext uri="{A12FA001-AC4F-418D-AE19-62706E023703}">
                      <ahyp:hlinkClr xmlns:ahyp="http://schemas.microsoft.com/office/drawing/2018/hyperlinkcolor" val="tx"/>
                    </a:ext>
                  </a:extLst>
                </a:hlinkClick>
              </a:rPr>
              <a:t>Example video</a:t>
            </a:r>
            <a:endParaRPr lang="en-US" sz="3400" b="1" dirty="0">
              <a:solidFill>
                <a:prstClr val="black"/>
              </a:solidFill>
              <a:latin typeface="Arial" charset="0"/>
            </a:endParaRPr>
          </a:p>
          <a:p>
            <a:endParaRPr lang="en-US" sz="2400" b="1" dirty="0">
              <a:solidFill>
                <a:srgbClr val="0000FF"/>
              </a:solidFill>
              <a:latin typeface="Arial" charset="0"/>
            </a:endParaRPr>
          </a:p>
          <a:p>
            <a:endParaRPr lang="en-US" sz="1600" b="1" dirty="0">
              <a:solidFill>
                <a:srgbClr val="0000FF"/>
              </a:solidFill>
              <a:latin typeface="Arial" charset="0"/>
            </a:endParaRPr>
          </a:p>
          <a:p>
            <a:endParaRPr lang="en-US" sz="1600" dirty="0"/>
          </a:p>
        </p:txBody>
      </p:sp>
      <p:pic>
        <p:nvPicPr>
          <p:cNvPr id="6" name="Picture 5" descr="OpenStax logo">
            <a:extLst>
              <a:ext uri="{FF2B5EF4-FFF2-40B4-BE49-F238E27FC236}">
                <a16:creationId xmlns:a16="http://schemas.microsoft.com/office/drawing/2014/main" id="{4153577C-A667-D37C-2A5B-E71CE67FA435}"/>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71444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877D62C-6FE3-8419-435B-D2007092107F}"/>
              </a:ext>
            </a:extLst>
          </p:cNvPr>
          <p:cNvSpPr>
            <a:spLocks noGrp="1"/>
          </p:cNvSpPr>
          <p:nvPr>
            <p:ph type="title"/>
          </p:nvPr>
        </p:nvSpPr>
        <p:spPr>
          <a:xfrm>
            <a:off x="457200" y="241326"/>
            <a:ext cx="8062912" cy="659535"/>
          </a:xfrm>
        </p:spPr>
        <p:txBody>
          <a:bodyPr>
            <a:normAutofit/>
          </a:bodyPr>
          <a:lstStyle/>
          <a:p>
            <a:pPr algn="ctr"/>
            <a:r>
              <a:rPr lang="en-US" sz="2800" dirty="0">
                <a:solidFill>
                  <a:schemeClr val="tx1"/>
                </a:solidFill>
              </a:rPr>
              <a:t>Free body diagram</a:t>
            </a:r>
          </a:p>
        </p:txBody>
      </p:sp>
      <p:pic>
        <p:nvPicPr>
          <p:cNvPr id="5" name="Picture Placeholder 4" descr="Free body diagram for the problem from the previous slide- Sliding and Hanging mass&#10;">
            <a:extLst>
              <a:ext uri="{FF2B5EF4-FFF2-40B4-BE49-F238E27FC236}">
                <a16:creationId xmlns:a16="http://schemas.microsoft.com/office/drawing/2014/main" id="{F2142852-1421-3201-0EE5-83BCC799A839}"/>
              </a:ext>
            </a:extLst>
          </p:cNvPr>
          <p:cNvPicPr>
            <a:picLocks noGrp="1" noChangeAspect="1"/>
          </p:cNvPicPr>
          <p:nvPr>
            <p:ph type="pic" sz="quarter" idx="13"/>
          </p:nvPr>
        </p:nvPicPr>
        <p:blipFill rotWithShape="1">
          <a:blip r:embed="rId2"/>
          <a:srcRect t="6368" b="6368"/>
          <a:stretch/>
        </p:blipFill>
        <p:spPr>
          <a:xfrm>
            <a:off x="457599" y="1122386"/>
            <a:ext cx="8062113" cy="3500071"/>
          </a:xfrm>
          <a:prstGeom prst="rect">
            <a:avLst/>
          </a:prstGeom>
          <a:noFill/>
        </p:spPr>
      </p:pic>
      <p:sp>
        <p:nvSpPr>
          <p:cNvPr id="12" name="Text Placeholder 3">
            <a:extLst>
              <a:ext uri="{FF2B5EF4-FFF2-40B4-BE49-F238E27FC236}">
                <a16:creationId xmlns:a16="http://schemas.microsoft.com/office/drawing/2014/main" id="{C6B6D408-B562-A116-1084-FF1094005EFA}"/>
              </a:ext>
            </a:extLst>
          </p:cNvPr>
          <p:cNvSpPr>
            <a:spLocks noGrp="1"/>
          </p:cNvSpPr>
          <p:nvPr>
            <p:ph type="body" sz="quarter" idx="14"/>
          </p:nvPr>
        </p:nvSpPr>
        <p:spPr>
          <a:xfrm>
            <a:off x="364672" y="5067007"/>
            <a:ext cx="8062912" cy="1166382"/>
          </a:xfrm>
        </p:spPr>
        <p:txBody>
          <a:bodyPr/>
          <a:lstStyle/>
          <a:p>
            <a:r>
              <a:rPr lang="en-US" sz="2000" b="1" dirty="0">
                <a:solidFill>
                  <a:schemeClr val="tx1"/>
                </a:solidFill>
              </a:rPr>
              <a:t>Free body diagram for the problem from the previous slide- Sliding and Hanging mass</a:t>
            </a:r>
          </a:p>
          <a:p>
            <a:r>
              <a:rPr lang="en-US" sz="2000" b="1" dirty="0"/>
              <a:t>(See next slide for solution)</a:t>
            </a:r>
            <a:endParaRPr lang="en-US" b="1" dirty="0"/>
          </a:p>
        </p:txBody>
      </p:sp>
      <p:pic>
        <p:nvPicPr>
          <p:cNvPr id="6" name="Picture 5" descr="OpenStax logo">
            <a:extLst>
              <a:ext uri="{FF2B5EF4-FFF2-40B4-BE49-F238E27FC236}">
                <a16:creationId xmlns:a16="http://schemas.microsoft.com/office/drawing/2014/main" id="{E18D1918-9F86-73DA-7C7C-97611911D1F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179616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8C5C-1AF4-8801-EB28-CE26C2503671}"/>
              </a:ext>
            </a:extLst>
          </p:cNvPr>
          <p:cNvSpPr>
            <a:spLocks noGrp="1"/>
          </p:cNvSpPr>
          <p:nvPr>
            <p:ph type="title"/>
          </p:nvPr>
        </p:nvSpPr>
        <p:spPr>
          <a:xfrm>
            <a:off x="457200" y="59190"/>
            <a:ext cx="8062912" cy="659535"/>
          </a:xfrm>
        </p:spPr>
        <p:txBody>
          <a:bodyPr/>
          <a:lstStyle/>
          <a:p>
            <a:r>
              <a:rPr lang="en-US" sz="2400" b="1" dirty="0">
                <a:solidFill>
                  <a:schemeClr val="tx1"/>
                </a:solidFill>
              </a:rPr>
              <a:t>Sliding and Hanging mass Solution</a:t>
            </a:r>
            <a:endParaRPr lang="en-US" dirty="0"/>
          </a:p>
        </p:txBody>
      </p:sp>
      <mc:AlternateContent xmlns:mc="http://schemas.openxmlformats.org/markup-compatibility/2006" xmlns:a14="http://schemas.microsoft.com/office/drawing/2010/main">
        <mc:Choice Requires="a14">
          <p:sp>
            <p:nvSpPr>
              <p:cNvPr id="5" name="Picture Placeholder 2">
                <a:extLst>
                  <a:ext uri="{FF2B5EF4-FFF2-40B4-BE49-F238E27FC236}">
                    <a16:creationId xmlns:a16="http://schemas.microsoft.com/office/drawing/2014/main" id="{45EE829B-742F-DF08-539D-D6F7110FF51A}"/>
                  </a:ext>
                </a:extLst>
              </p:cNvPr>
              <p:cNvSpPr>
                <a:spLocks noGrp="1"/>
              </p:cNvSpPr>
              <p:nvPr>
                <p:ph type="body" sz="quarter" idx="14"/>
              </p:nvPr>
            </p:nvSpPr>
            <p:spPr>
              <a:xfrm>
                <a:off x="204439" y="799132"/>
                <a:ext cx="8735122" cy="5824692"/>
              </a:xfrm>
            </p:spPr>
            <p:txBody>
              <a:bodyPr/>
              <a:lstStyle/>
              <a:p>
                <a:pPr marL="342900" marR="0" indent="-342900">
                  <a:spcBef>
                    <a:spcPts val="0"/>
                  </a:spcBef>
                  <a:spcAft>
                    <a:spcPts val="0"/>
                  </a:spcAft>
                  <a:buClrTx/>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Acceleration for both the masses are same.</a:t>
                </a:r>
              </a:p>
              <a:p>
                <a:pPr marL="342900" marR="0" indent="-342900">
                  <a:spcBef>
                    <a:spcPts val="0"/>
                  </a:spcBef>
                  <a:spcAft>
                    <a:spcPts val="0"/>
                  </a:spcAft>
                  <a:buClrTx/>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Applying Newton’s law    Mass m</a:t>
                </a:r>
                <a:r>
                  <a:rPr lang="en-US" sz="2400" b="1" baseline="-25000" dirty="0">
                    <a:effectLst/>
                    <a:latin typeface="Calibri" panose="020F0502020204030204" pitchFamily="34" charset="0"/>
                    <a:ea typeface="Calibri" panose="020F0502020204030204" pitchFamily="34" charset="0"/>
                    <a:cs typeface="Times New Roman" panose="02020603050405020304" pitchFamily="18" charset="0"/>
                  </a:rPr>
                  <a:t>1 </a:t>
                </a:r>
              </a:p>
              <a:p>
                <a:pPr marR="0">
                  <a:spcBef>
                    <a:spcPts val="0"/>
                  </a:spcBef>
                  <a:spcAft>
                    <a:spcPts val="0"/>
                  </a:spcAft>
                  <a:buClrTx/>
                </a:pP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1074420" lvl="1" indent="-342900">
                  <a:spcBef>
                    <a:spcPts val="0"/>
                  </a:spcBef>
                  <a:spcAft>
                    <a:spcPts val="0"/>
                  </a:spcAft>
                  <a:buClrTx/>
                  <a:buFont typeface="Wingdings" panose="05000000000000000000" pitchFamily="2" charset="2"/>
                  <a:buChar char="v"/>
                </a:pPr>
                <a:r>
                  <a:rPr lang="en-US" sz="2400" b="1" dirty="0">
                    <a:effectLst/>
                    <a:latin typeface="Calibri" panose="020F0502020204030204" pitchFamily="34" charset="0"/>
                    <a:ea typeface="Calibri" panose="020F0502020204030204" pitchFamily="34" charset="0"/>
                    <a:cs typeface="Times New Roman" panose="02020603050405020304" pitchFamily="18" charset="0"/>
                  </a:rPr>
                  <a:t>X direction</a:t>
                </a:r>
                <a:r>
                  <a:rPr lang="en-US" sz="2400" b="1" baseline="-250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baseline="-25000">
                        <a:latin typeface="Cambria Math" panose="02040503050406030204" pitchFamily="18" charset="0"/>
                        <a:ea typeface="Calibri" panose="020F0502020204030204" pitchFamily="34" charset="0"/>
                        <a:cs typeface="Times New Roman" panose="02020603050405020304" pitchFamily="18" charset="0"/>
                      </a:rPr>
                      <m:t> </m:t>
                    </m:r>
                  </m:oMath>
                </a14:m>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r>
                  <a:rPr lang="en-US" sz="2400" b="1" dirty="0">
                    <a:effectLst/>
                    <a:latin typeface="Cambria Math" panose="02040503050406030204" pitchFamily="18" charset="0"/>
                    <a:ea typeface="Cambria Math" panose="02040503050406030204" pitchFamily="18" charset="0"/>
                    <a:cs typeface="Times New Roman" panose="02020603050405020304" pitchFamily="18" charset="0"/>
                  </a:rPr>
                  <a:t> </a:t>
                </a:r>
                <a14:m>
                  <m:oMath xmlns:m="http://schemas.openxmlformats.org/officeDocument/2006/math">
                    <m:r>
                      <a:rPr lang="en-US" sz="2400" b="1" i="1">
                        <a:latin typeface="Cambria Math" panose="02040503050406030204" pitchFamily="18" charset="0"/>
                      </a:rPr>
                      <m:t>𝑻</m:t>
                    </m:r>
                    <m:r>
                      <a:rPr lang="en-US" sz="2400" b="1" i="1">
                        <a:latin typeface="Cambria Math" panose="02040503050406030204" pitchFamily="18" charset="0"/>
                      </a:rPr>
                      <m:t>= </m:t>
                    </m:r>
                    <m:r>
                      <a:rPr lang="en-US" sz="2400" b="1" i="1">
                        <a:latin typeface="Cambria Math" panose="02040503050406030204" pitchFamily="18" charset="0"/>
                      </a:rPr>
                      <m:t>𝑭𝒏𝒆𝒕𝒙</m:t>
                    </m:r>
                    <m:r>
                      <a:rPr lang="en-US" sz="2400" b="1" i="1">
                        <a:latin typeface="Cambria Math" panose="02040503050406030204" pitchFamily="18" charset="0"/>
                      </a:rPr>
                      <m:t>= </m:t>
                    </m:r>
                    <m:sSub>
                      <m:sSubPr>
                        <m:ctrlPr>
                          <a:rPr lang="en-US" sz="2400" b="1" i="1">
                            <a:latin typeface="Cambria Math" panose="02040503050406030204" pitchFamily="18" charset="0"/>
                          </a:rPr>
                        </m:ctrlPr>
                      </m:sSubPr>
                      <m:e>
                        <m:r>
                          <a:rPr lang="en-US" sz="2400" b="1" i="1">
                            <a:latin typeface="Cambria Math" panose="02040503050406030204" pitchFamily="18" charset="0"/>
                          </a:rPr>
                          <m:t>𝒎</m:t>
                        </m:r>
                      </m:e>
                      <m:sub>
                        <m:r>
                          <a:rPr lang="en-US" sz="2400" b="1" i="1">
                            <a:latin typeface="Cambria Math" panose="02040503050406030204" pitchFamily="18" charset="0"/>
                          </a:rPr>
                          <m:t>𝟏</m:t>
                        </m:r>
                      </m:sub>
                    </m:sSub>
                    <m:r>
                      <a:rPr lang="en-US" sz="2400" b="1" i="1">
                        <a:latin typeface="Cambria Math" panose="02040503050406030204" pitchFamily="18" charset="0"/>
                      </a:rPr>
                      <m:t>𝒂</m:t>
                    </m:r>
                    <m:r>
                      <a:rPr lang="en-US" sz="2400" b="1" i="1">
                        <a:latin typeface="Cambria Math" panose="02040503050406030204" pitchFamily="18" charset="0"/>
                      </a:rPr>
                      <m:t> </m:t>
                    </m:r>
                  </m:oMath>
                </a14:m>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1074420" lvl="1" indent="-342900">
                  <a:spcBef>
                    <a:spcPts val="0"/>
                  </a:spcBef>
                  <a:spcAft>
                    <a:spcPts val="0"/>
                  </a:spcAft>
                  <a:buClrTx/>
                  <a:buFont typeface="Wingdings" panose="05000000000000000000" pitchFamily="2" charset="2"/>
                  <a:buChar char="v"/>
                </a:pPr>
                <a14:m>
                  <m:oMath xmlns:m="http://schemas.openxmlformats.org/officeDocument/2006/math">
                    <m:r>
                      <a:rPr lang="en-US" sz="2400" b="1" i="1" baseline="-2500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2400" b="1" dirty="0">
                    <a:effectLst/>
                    <a:latin typeface="Calibri" panose="020F0502020204030204" pitchFamily="34" charset="0"/>
                    <a:ea typeface="Calibri" panose="020F0502020204030204" pitchFamily="34" charset="0"/>
                    <a:cs typeface="Times New Roman" panose="02020603050405020304" pitchFamily="18" charset="0"/>
                  </a:rPr>
                  <a:t>y direction</a:t>
                </a:r>
                <a:r>
                  <a:rPr lang="en-US" sz="2400" b="1" baseline="-250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𝑵</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𝒎</m:t>
                        </m:r>
                      </m:e>
                      <m:sub>
                        <m:r>
                          <a:rPr lang="en-US" sz="2400" b="1" i="1">
                            <a:effectLst/>
                            <a:latin typeface="Cambria Math" panose="02040503050406030204" pitchFamily="18" charset="0"/>
                            <a:ea typeface="Calibri" panose="020F0502020204030204" pitchFamily="34" charset="0"/>
                            <a:cs typeface="Times New Roman" panose="02020603050405020304" pitchFamily="18" charset="0"/>
                          </a:rPr>
                          <m:t>𝟏</m:t>
                        </m:r>
                      </m:sub>
                    </m:sSub>
                    <m:r>
                      <a:rPr lang="en-US" sz="2400" b="1" i="1">
                        <a:effectLst/>
                        <a:latin typeface="Cambria Math" panose="02040503050406030204" pitchFamily="18" charset="0"/>
                        <a:ea typeface="Calibri" panose="020F0502020204030204" pitchFamily="34" charset="0"/>
                        <a:cs typeface="Times New Roman" panose="02020603050405020304" pitchFamily="18" charset="0"/>
                      </a:rPr>
                      <m:t>𝒈</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effectLst/>
                            <a:latin typeface="Cambria Math" panose="02040503050406030204" pitchFamily="18" charset="0"/>
                            <a:ea typeface="Calibri" panose="020F0502020204030204" pitchFamily="34" charset="0"/>
                            <a:cs typeface="Times New Roman" panose="02020603050405020304" pitchFamily="18" charset="0"/>
                          </a:rPr>
                          <m:t>𝑭𝒏𝒆𝒕𝒚</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𝟎</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e>
                      <m:sub>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sub>
                    </m:sSub>
                    <m:sSub>
                      <m:sSubPr>
                        <m:ctrlPr>
                          <a:rPr lang="en-US" sz="24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e>
                      <m:sub>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sub>
                    </m:sSub>
                  </m:oMath>
                </a14:m>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the system doesn’t  have acceleration in y direction)</a:t>
                </a:r>
              </a:p>
              <a:p>
                <a:pPr lvl="1" indent="0">
                  <a:spcBef>
                    <a:spcPts val="0"/>
                  </a:spcBef>
                  <a:spcAft>
                    <a:spcPts val="0"/>
                  </a:spcAft>
                  <a:buClrTx/>
                  <a:buNone/>
                </a:pP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342900">
                  <a:spcBef>
                    <a:spcPts val="0"/>
                  </a:spcBef>
                  <a:spcAft>
                    <a:spcPts val="0"/>
                  </a:spcAft>
                  <a:buClrTx/>
                  <a:buFont typeface="Wingdings" panose="05000000000000000000" pitchFamily="2" charset="2"/>
                  <a:buChar char="Ø"/>
                </a:pPr>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For Mass </a:t>
                </a:r>
                <a14:m>
                  <m:oMath xmlns:m="http://schemas.openxmlformats.org/officeDocument/2006/math">
                    <m:sSub>
                      <m:sSubPr>
                        <m:ctrlP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𝒎</m:t>
                        </m:r>
                      </m:e>
                      <m:sub>
                        <m:r>
                          <a:rPr lang="en-US" sz="2400" b="1" i="1">
                            <a:effectLst/>
                            <a:latin typeface="Cambria Math" panose="02040503050406030204" pitchFamily="18" charset="0"/>
                            <a:ea typeface="Times New Roman" panose="02020603050405020304" pitchFamily="18" charset="0"/>
                            <a:cs typeface="Times New Roman" panose="02020603050405020304" pitchFamily="18" charset="0"/>
                          </a:rPr>
                          <m:t>𝟐</m:t>
                        </m:r>
                      </m:sub>
                    </m:sSub>
                  </m:oMath>
                </a14:m>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1074420" lvl="1" indent="-342900">
                  <a:spcBef>
                    <a:spcPts val="0"/>
                  </a:spcBef>
                  <a:spcAft>
                    <a:spcPts val="0"/>
                  </a:spcAft>
                  <a:buClrTx/>
                  <a:buFont typeface="Wingdings" panose="05000000000000000000" pitchFamily="2" charset="2"/>
                  <a:buChar char="v"/>
                </a:pP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r>
                  <a:rPr lang="en-US" sz="2400" b="1" dirty="0">
                    <a:effectLst/>
                    <a:latin typeface="Calibri" panose="020F0502020204030204" pitchFamily="34" charset="0"/>
                    <a:ea typeface="Calibri" panose="020F0502020204030204" pitchFamily="34" charset="0"/>
                    <a:cs typeface="Times New Roman" panose="02020603050405020304" pitchFamily="18" charset="0"/>
                  </a:rPr>
                  <a:t>X direction</a:t>
                </a:r>
                <a:r>
                  <a:rPr lang="en-US" sz="2400" b="1" baseline="-25000" dirty="0">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𝑻</m:t>
                    </m:r>
                    <m:r>
                      <a:rPr lang="en-US" sz="2400" b="1"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a:effectLst/>
                            <a:latin typeface="Cambria Math" panose="02040503050406030204" pitchFamily="18" charset="0"/>
                          </a:rPr>
                        </m:ctrlPr>
                      </m:sSubPr>
                      <m:e>
                        <m:r>
                          <a:rPr lang="en-US" sz="2400" b="1" i="1">
                            <a:effectLst/>
                            <a:latin typeface="Cambria Math" panose="02040503050406030204" pitchFamily="18" charset="0"/>
                            <a:ea typeface="Calibri" panose="020F0502020204030204" pitchFamily="34" charset="0"/>
                            <a:cs typeface="Times New Roman" panose="02020603050405020304" pitchFamily="18" charset="0"/>
                          </a:rPr>
                          <m:t>𝒎</m:t>
                        </m:r>
                      </m:e>
                      <m:sub>
                        <m:r>
                          <a:rPr lang="en-US" sz="2400" b="1" i="1">
                            <a:effectLst/>
                            <a:latin typeface="Cambria Math" panose="02040503050406030204" pitchFamily="18" charset="0"/>
                            <a:ea typeface="Calibri" panose="020F0502020204030204" pitchFamily="34" charset="0"/>
                            <a:cs typeface="Times New Roman" panose="02020603050405020304" pitchFamily="18" charset="0"/>
                          </a:rPr>
                          <m:t>𝟐</m:t>
                        </m:r>
                      </m:sub>
                    </m:sSub>
                    <m:r>
                      <a:rPr lang="en-US" sz="2400" b="1" i="1">
                        <a:effectLst/>
                        <a:latin typeface="Cambria Math" panose="02040503050406030204" pitchFamily="18" charset="0"/>
                        <a:ea typeface="Calibri" panose="020F0502020204030204" pitchFamily="34" charset="0"/>
                        <a:cs typeface="Times New Roman" panose="02020603050405020304" pitchFamily="18" charset="0"/>
                      </a:rPr>
                      <m:t>𝒈</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𝑭𝒏𝒆𝒕𝒙</m:t>
                    </m:r>
                    <m:r>
                      <a:rPr lang="en-US" sz="2400" b="1"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2400" b="1" i="1">
                            <a:effectLst/>
                            <a:latin typeface="Cambria Math" panose="02040503050406030204" pitchFamily="18" charset="0"/>
                          </a:rPr>
                        </m:ctrlPr>
                      </m:sSubPr>
                      <m:e>
                        <m:r>
                          <a:rPr lang="en-US" sz="2400" b="1" i="1">
                            <a:effectLst/>
                            <a:latin typeface="Cambria Math" panose="02040503050406030204" pitchFamily="18" charset="0"/>
                            <a:ea typeface="Calibri" panose="020F0502020204030204" pitchFamily="34" charset="0"/>
                            <a:cs typeface="Times New Roman" panose="02020603050405020304" pitchFamily="18" charset="0"/>
                          </a:rPr>
                          <m:t>𝒎</m:t>
                        </m:r>
                      </m:e>
                      <m:sub>
                        <m:r>
                          <a:rPr lang="en-US" sz="2400" b="1" i="1">
                            <a:effectLst/>
                            <a:latin typeface="Cambria Math" panose="02040503050406030204" pitchFamily="18" charset="0"/>
                            <a:ea typeface="Calibri" panose="020F0502020204030204" pitchFamily="34" charset="0"/>
                            <a:cs typeface="Times New Roman" panose="02020603050405020304" pitchFamily="18" charset="0"/>
                          </a:rPr>
                          <m:t>𝟐</m:t>
                        </m:r>
                      </m:sub>
                    </m:sSub>
                    <m:r>
                      <a:rPr lang="en-US" sz="2400" b="1" i="1">
                        <a:effectLst/>
                        <a:latin typeface="Cambria Math" panose="02040503050406030204" pitchFamily="18" charset="0"/>
                        <a:ea typeface="Calibri" panose="020F0502020204030204" pitchFamily="34" charset="0"/>
                        <a:cs typeface="Times New Roman" panose="02020603050405020304" pitchFamily="18" charset="0"/>
                      </a:rPr>
                      <m:t>𝒂</m:t>
                    </m:r>
                  </m:oMath>
                </a14:m>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R="0">
                  <a:spcBef>
                    <a:spcPts val="0"/>
                  </a:spcBef>
                  <a:spcAft>
                    <a:spcPts val="0"/>
                  </a:spcAft>
                  <a:buClrTx/>
                </a:pPr>
                <a14:m>
                  <m:oMath xmlns:m="http://schemas.openxmlformats.org/officeDocument/2006/math">
                    <m:r>
                      <a:rPr lang="en-US" sz="2400"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24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indent="-342900">
                  <a:spcBef>
                    <a:spcPts val="0"/>
                  </a:spcBef>
                  <a:spcAft>
                    <a:spcPts val="0"/>
                  </a:spcAft>
                  <a:buClrTx/>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Combining the equations, solve for </a:t>
                </a:r>
                <a:r>
                  <a:rPr lang="en-US" sz="2400" b="1" dirty="0">
                    <a:effectLst/>
                    <a:latin typeface="Calibri" panose="020F0502020204030204" pitchFamily="34" charset="0"/>
                    <a:ea typeface="Times New Roman" panose="02020603050405020304" pitchFamily="18" charset="0"/>
                    <a:cs typeface="Times New Roman" panose="02020603050405020304" pitchFamily="18" charset="0"/>
                  </a:rPr>
                  <a:t>acceleration</a:t>
                </a:r>
              </a:p>
              <a:p>
                <a:pPr marL="0" marR="0">
                  <a:spcBef>
                    <a:spcPts val="0"/>
                  </a:spcBef>
                  <a:spcAft>
                    <a:spcPts val="0"/>
                  </a:spcAft>
                </a:pP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274320" lvl="1" indent="0">
                  <a:spcBef>
                    <a:spcPts val="0"/>
                  </a:spcBef>
                  <a:spcAft>
                    <a:spcPts val="0"/>
                  </a:spcAft>
                  <a:buNone/>
                </a:pPr>
                <a14:m>
                  <m:oMath xmlns:m="http://schemas.openxmlformats.org/officeDocument/2006/math">
                    <m:r>
                      <a:rPr lang="en-US" sz="2800" b="1" i="1">
                        <a:effectLst/>
                        <a:latin typeface="Cambria Math" panose="02040503050406030204" pitchFamily="18" charset="0"/>
                        <a:ea typeface="Calibri" panose="020F0502020204030204" pitchFamily="34" charset="0"/>
                        <a:cs typeface="Times New Roman" panose="02020603050405020304" pitchFamily="18" charset="0"/>
                      </a:rPr>
                      <m:t>𝒂</m:t>
                    </m:r>
                    <m:r>
                      <a:rPr lang="en-US" sz="2800" b="1"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𝒎</m:t>
                            </m:r>
                          </m:e>
                          <m:sub>
                            <m:r>
                              <a:rPr lang="en-US" sz="2800" b="1" i="1">
                                <a:effectLst/>
                                <a:latin typeface="Cambria Math" panose="02040503050406030204" pitchFamily="18" charset="0"/>
                                <a:ea typeface="Calibri" panose="020F0502020204030204" pitchFamily="34" charset="0"/>
                                <a:cs typeface="Times New Roman" panose="02020603050405020304" pitchFamily="18" charset="0"/>
                              </a:rPr>
                              <m:t>𝟐</m:t>
                            </m:r>
                          </m:sub>
                        </m:sSub>
                        <m:r>
                          <a:rPr lang="en-US" sz="2800" b="1" i="1">
                            <a:effectLst/>
                            <a:latin typeface="Cambria Math" panose="02040503050406030204" pitchFamily="18" charset="0"/>
                            <a:ea typeface="Calibri" panose="020F0502020204030204" pitchFamily="34" charset="0"/>
                            <a:cs typeface="Times New Roman" panose="02020603050405020304" pitchFamily="18" charset="0"/>
                          </a:rPr>
                          <m:t>𝒈</m:t>
                        </m:r>
                      </m:num>
                      <m:den>
                        <m:sSub>
                          <m:sSub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𝒎</m:t>
                            </m:r>
                          </m:e>
                          <m:sub>
                            <m:r>
                              <a:rPr lang="en-US" sz="2800" b="1" i="1">
                                <a:effectLst/>
                                <a:latin typeface="Cambria Math" panose="02040503050406030204" pitchFamily="18" charset="0"/>
                                <a:ea typeface="Calibri" panose="020F0502020204030204" pitchFamily="34" charset="0"/>
                                <a:cs typeface="Times New Roman" panose="02020603050405020304" pitchFamily="18" charset="0"/>
                              </a:rPr>
                              <m:t>𝟏</m:t>
                            </m:r>
                          </m:sub>
                        </m:sSub>
                        <m:r>
                          <a:rPr lang="en-US" sz="2800" b="1"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800" b="1" i="1">
                                <a:effectLst/>
                                <a:latin typeface="Cambria Math" panose="02040503050406030204" pitchFamily="18" charset="0"/>
                                <a:ea typeface="Calibri" panose="020F0502020204030204" pitchFamily="34" charset="0"/>
                                <a:cs typeface="Times New Roman" panose="02020603050405020304" pitchFamily="18" charset="0"/>
                              </a:rPr>
                              <m:t>𝒎</m:t>
                            </m:r>
                          </m:e>
                          <m:sub>
                            <m:r>
                              <a:rPr lang="en-US" sz="2800" b="1" i="1">
                                <a:effectLst/>
                                <a:latin typeface="Cambria Math" panose="02040503050406030204" pitchFamily="18" charset="0"/>
                                <a:ea typeface="Calibri" panose="020F0502020204030204" pitchFamily="34" charset="0"/>
                                <a:cs typeface="Times New Roman" panose="02020603050405020304" pitchFamily="18" charset="0"/>
                              </a:rPr>
                              <m:t>𝟐</m:t>
                            </m:r>
                          </m:sub>
                        </m:sSub>
                      </m:den>
                    </m:f>
                  </m:oMath>
                </a14:m>
                <a:r>
                  <a:rPr lang="en-US" sz="24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indent="-342900">
                  <a:spcBef>
                    <a:spcPts val="0"/>
                  </a:spcBef>
                  <a:spcAft>
                    <a:spcPts val="0"/>
                  </a:spcAft>
                  <a:buClrTx/>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Now you can solve for T.</a:t>
                </a:r>
              </a:p>
              <a:p>
                <a:pPr marL="0" marR="0">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hlinkClick r:id="rId2"/>
                  </a:rPr>
                  <a:t>Click here for solution</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5" name="Picture Placeholder 2">
                <a:extLst>
                  <a:ext uri="{FF2B5EF4-FFF2-40B4-BE49-F238E27FC236}">
                    <a16:creationId xmlns:a16="http://schemas.microsoft.com/office/drawing/2014/main" id="{45EE829B-742F-DF08-539D-D6F7110FF51A}"/>
                  </a:ext>
                </a:extLst>
              </p:cNvPr>
              <p:cNvSpPr>
                <a:spLocks noGrp="1" noRot="1" noChangeAspect="1" noMove="1" noResize="1" noEditPoints="1" noAdjustHandles="1" noChangeArrowheads="1" noChangeShapeType="1" noTextEdit="1"/>
              </p:cNvSpPr>
              <p:nvPr>
                <p:ph type="body" sz="quarter" idx="14"/>
              </p:nvPr>
            </p:nvSpPr>
            <p:spPr>
              <a:xfrm>
                <a:off x="204439" y="799132"/>
                <a:ext cx="8735122" cy="5824692"/>
              </a:xfrm>
              <a:blipFill>
                <a:blip r:embed="rId3"/>
                <a:stretch>
                  <a:fillRect l="-1117" t="-837" b="-2406"/>
                </a:stretch>
              </a:blipFill>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456C6A08-ED07-4E2F-A64F-88264D7D12F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119191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7C6C2-9DAA-B47A-50B5-28181B9A1F87}"/>
              </a:ext>
            </a:extLst>
          </p:cNvPr>
          <p:cNvSpPr>
            <a:spLocks noGrp="1"/>
          </p:cNvSpPr>
          <p:nvPr>
            <p:ph type="title"/>
          </p:nvPr>
        </p:nvSpPr>
        <p:spPr>
          <a:xfrm>
            <a:off x="457199" y="319668"/>
            <a:ext cx="8062912" cy="900861"/>
          </a:xfrm>
        </p:spPr>
        <p:txBody>
          <a:bodyPr>
            <a:noAutofit/>
          </a:bodyPr>
          <a:lstStyle/>
          <a:p>
            <a:r>
              <a:rPr lang="en-US" sz="2800" b="1" dirty="0">
                <a:solidFill>
                  <a:schemeClr val="tx1"/>
                </a:solidFill>
              </a:rPr>
              <a:t>Free-Body Diagrams </a:t>
            </a:r>
            <a:r>
              <a:rPr lang="en-US" sz="2800" b="1" kern="1200" dirty="0">
                <a:solidFill>
                  <a:schemeClr val="tx1"/>
                </a:solidFill>
              </a:rPr>
              <a:t>of  an Object on an Inclined Plane</a:t>
            </a:r>
            <a:endParaRPr lang="en-US" sz="2800" dirty="0"/>
          </a:p>
        </p:txBody>
      </p:sp>
      <p:sp>
        <p:nvSpPr>
          <p:cNvPr id="4" name="Text Placeholder 3">
            <a:extLst>
              <a:ext uri="{FF2B5EF4-FFF2-40B4-BE49-F238E27FC236}">
                <a16:creationId xmlns:a16="http://schemas.microsoft.com/office/drawing/2014/main" id="{B1FAB982-C34B-D983-8A2F-05B5A822F271}"/>
              </a:ext>
            </a:extLst>
          </p:cNvPr>
          <p:cNvSpPr>
            <a:spLocks noGrp="1"/>
          </p:cNvSpPr>
          <p:nvPr>
            <p:ph type="body" sz="quarter" idx="14"/>
          </p:nvPr>
        </p:nvSpPr>
        <p:spPr>
          <a:xfrm>
            <a:off x="479995" y="4974394"/>
            <a:ext cx="7656615" cy="1069946"/>
          </a:xfrm>
        </p:spPr>
        <p:txBody>
          <a:bodyPr/>
          <a:lstStyle/>
          <a:p>
            <a:r>
              <a:rPr lang="en-US" sz="2400" b="1" dirty="0"/>
              <a:t>Draw FBD for </a:t>
            </a:r>
            <a:r>
              <a:rPr lang="en-US" sz="2400" b="1" dirty="0">
                <a:solidFill>
                  <a:schemeClr val="tx1"/>
                </a:solidFill>
              </a:rPr>
              <a:t>Free body diagram for the problem from the previous slide- Sliding and Hanging mass</a:t>
            </a:r>
          </a:p>
          <a:p>
            <a:endParaRPr lang="en-US" sz="2800" b="1" dirty="0"/>
          </a:p>
        </p:txBody>
      </p:sp>
      <p:pic>
        <p:nvPicPr>
          <p:cNvPr id="6" name="Picture 5" descr="Free body diagram for the problem from the previous slide- Sliding and Hanging mass.&#10;">
            <a:extLst>
              <a:ext uri="{FF2B5EF4-FFF2-40B4-BE49-F238E27FC236}">
                <a16:creationId xmlns:a16="http://schemas.microsoft.com/office/drawing/2014/main" id="{E77ACF2F-1C64-277C-6EA4-D8C997C3F76C}"/>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l="16059" r="3322"/>
          <a:stretch/>
        </p:blipFill>
        <p:spPr>
          <a:xfrm>
            <a:off x="2724533" y="1518834"/>
            <a:ext cx="4172213" cy="3248119"/>
          </a:xfrm>
          <a:prstGeom prst="rect">
            <a:avLst/>
          </a:prstGeom>
        </p:spPr>
      </p:pic>
      <p:pic>
        <p:nvPicPr>
          <p:cNvPr id="3" name="Picture 2" descr="Raji K Physics Logo">
            <a:extLst>
              <a:ext uri="{FF2B5EF4-FFF2-40B4-BE49-F238E27FC236}">
                <a16:creationId xmlns:a16="http://schemas.microsoft.com/office/drawing/2014/main" id="{F17C0653-AC75-1B81-A10D-5089BE61B1D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846685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0102"/>
            <a:ext cx="9144000" cy="851675"/>
          </a:xfrm>
        </p:spPr>
        <p:txBody>
          <a:bodyPr>
            <a:normAutofit fontScale="90000"/>
          </a:bodyPr>
          <a:lstStyle/>
          <a:p>
            <a:pPr algn="l"/>
            <a:br>
              <a:rPr lang="en-US" sz="2800" b="1" u="sng" dirty="0">
                <a:latin typeface="Arial" charset="0"/>
              </a:rPr>
            </a:br>
            <a:br>
              <a:rPr lang="en-US" sz="2800" b="1" u="sng" dirty="0">
                <a:latin typeface="Arial" charset="0"/>
              </a:rPr>
            </a:br>
            <a:r>
              <a:rPr lang="en-US" sz="2800" b="1" dirty="0">
                <a:solidFill>
                  <a:schemeClr val="tx1"/>
                </a:solidFill>
              </a:rPr>
              <a:t>Free-Body Diagrams </a:t>
            </a:r>
            <a:r>
              <a:rPr lang="en-US" sz="2800" b="1" kern="1200" dirty="0">
                <a:solidFill>
                  <a:schemeClr val="tx1"/>
                </a:solidFill>
              </a:rPr>
              <a:t>of  an Object on an Inclined Plane  </a:t>
            </a:r>
            <a:endParaRPr lang="en-US" sz="2800" dirty="0"/>
          </a:p>
        </p:txBody>
      </p:sp>
      <p:pic>
        <p:nvPicPr>
          <p:cNvPr id="70660" name="Picture 5" descr=" Free-Body Diagrams of  an Object on an Inclined Plane  "/>
          <p:cNvPicPr>
            <a:picLocks noChangeAspect="1" noChangeArrowheads="1"/>
          </p:cNvPicPr>
          <p:nvPr/>
        </p:nvPicPr>
        <p:blipFill rotWithShape="1">
          <a:blip r:embed="rId3" cstate="print"/>
          <a:srcRect b="5589"/>
          <a:stretch/>
        </p:blipFill>
        <p:spPr bwMode="auto">
          <a:xfrm>
            <a:off x="357105" y="1078468"/>
            <a:ext cx="7989378" cy="4450364"/>
          </a:xfrm>
          <a:prstGeom prst="rect">
            <a:avLst/>
          </a:prstGeom>
          <a:noFill/>
          <a:ln w="9525">
            <a:noFill/>
            <a:miter lim="800000"/>
            <a:headEnd/>
            <a:tailEnd/>
          </a:ln>
        </p:spPr>
      </p:pic>
      <p:sp>
        <p:nvSpPr>
          <p:cNvPr id="4" name="TextBox 3">
            <a:extLst>
              <a:ext uri="{FF2B5EF4-FFF2-40B4-BE49-F238E27FC236}">
                <a16:creationId xmlns:a16="http://schemas.microsoft.com/office/drawing/2014/main" id="{66CCB78D-F5A0-4EF6-8483-2DD516C43194}"/>
              </a:ext>
            </a:extLst>
          </p:cNvPr>
          <p:cNvSpPr txBox="1"/>
          <p:nvPr/>
        </p:nvSpPr>
        <p:spPr>
          <a:xfrm>
            <a:off x="1100954" y="5694042"/>
            <a:ext cx="5171609" cy="584775"/>
          </a:xfrm>
          <a:prstGeom prst="rect">
            <a:avLst/>
          </a:prstGeom>
          <a:noFill/>
        </p:spPr>
        <p:txBody>
          <a:bodyPr wrap="none" rtlCol="0">
            <a:spAutoFit/>
          </a:bodyPr>
          <a:lstStyle/>
          <a:p>
            <a:r>
              <a:rPr lang="en-US" dirty="0"/>
              <a:t>   </a:t>
            </a:r>
            <a:r>
              <a:rPr lang="en-US" dirty="0">
                <a:hlinkClick r:id="rId4"/>
              </a:rPr>
              <a:t>  </a:t>
            </a:r>
            <a:r>
              <a:rPr lang="en-US" b="1" dirty="0">
                <a:hlinkClick r:id="rId4"/>
              </a:rPr>
              <a:t>Sliding mass on an incline example video</a:t>
            </a:r>
            <a:r>
              <a:rPr lang="en-US" sz="3200" b="1" dirty="0">
                <a:solidFill>
                  <a:srgbClr val="0000FF"/>
                </a:solidFill>
              </a:rPr>
              <a:t> </a:t>
            </a:r>
          </a:p>
        </p:txBody>
      </p:sp>
      <p:pic>
        <p:nvPicPr>
          <p:cNvPr id="3" name="Picture 2" descr="Raji K Physics Logo">
            <a:extLst>
              <a:ext uri="{FF2B5EF4-FFF2-40B4-BE49-F238E27FC236}">
                <a16:creationId xmlns:a16="http://schemas.microsoft.com/office/drawing/2014/main" id="{1BCD611E-9AA8-0329-608D-1D9BCEA3BAA7}"/>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3158783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98449" y="100000"/>
            <a:ext cx="8062912" cy="659535"/>
          </a:xfrm>
        </p:spPr>
        <p:txBody>
          <a:bodyPr>
            <a:normAutofit/>
          </a:bodyPr>
          <a:lstStyle/>
          <a:p>
            <a:pPr algn="ctr"/>
            <a:r>
              <a:rPr kumimoji="0" lang="en-US" altLang="en-US" sz="2800" b="1" i="0" u="none" strike="noStrike" cap="none" normalizeH="0" baseline="0" dirty="0">
                <a:ln>
                  <a:noFill/>
                </a:ln>
                <a:solidFill>
                  <a:schemeClr val="tx1"/>
                </a:solidFill>
                <a:effectLst/>
              </a:rPr>
              <a:t>ATWOOD MACHINE</a:t>
            </a:r>
            <a:endParaRPr lang="en-US" sz="2800" cap="none" dirty="0"/>
          </a:p>
        </p:txBody>
      </p:sp>
      <p:pic>
        <p:nvPicPr>
          <p:cNvPr id="2" name="Picture Placeholder 1" descr="An Atwood machine consists of masses suspended on either side of a pulley by a string passing over the pulley. In the figure, mass m sub 1 is on the left and mass m sub 2 is on the right. The free body diagram of block one shows mass one with force vector T pointing vertically up and force vector w sub one pointing vertically down. The free body diagram of block two shows mass two with force vector T pointing vertically up and force vector w sub two pointing vertically dow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0789" r="-30789"/>
          <a:stretch>
            <a:fillRect/>
          </a:stretch>
        </p:blipFill>
        <p:spPr>
          <a:xfrm>
            <a:off x="1061052" y="966218"/>
            <a:ext cx="7021895" cy="3048170"/>
          </a:xfrm>
        </p:spPr>
      </p:pic>
      <p:sp>
        <p:nvSpPr>
          <p:cNvPr id="7" name="Text Placeholder 6"/>
          <p:cNvSpPr>
            <a:spLocks noGrp="1"/>
          </p:cNvSpPr>
          <p:nvPr>
            <p:ph type="body" sz="quarter" idx="14"/>
          </p:nvPr>
        </p:nvSpPr>
        <p:spPr>
          <a:xfrm>
            <a:off x="213732" y="4221072"/>
            <a:ext cx="8716536" cy="2462226"/>
          </a:xfrm>
        </p:spPr>
        <p:txBody>
          <a:bodyPr>
            <a:normAutofit fontScale="77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600" dirty="0"/>
              <a:t> </a:t>
            </a:r>
            <a:r>
              <a:rPr kumimoji="0" lang="en-US" altLang="en-US" sz="2600" b="1" i="0" u="none" strike="noStrike" cap="none" normalizeH="0" baseline="0" dirty="0">
                <a:ln>
                  <a:noFill/>
                </a:ln>
                <a:solidFill>
                  <a:schemeClr val="tx1"/>
                </a:solidFill>
                <a:effectLst/>
                <a:latin typeface="Arial" panose="020B0604020202020204" pitchFamily="34" charset="0"/>
              </a:rPr>
              <a:t>A classic problem in physics, similar to the one we just solved, is that of the Atwood machine, which consists of a rope running over a pulley, with two objects of different mass attached.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600" b="1" i="0" u="none" strike="noStrike" cap="none" normalizeH="0" baseline="0" dirty="0">
                <a:ln>
                  <a:noFill/>
                </a:ln>
                <a:solidFill>
                  <a:schemeClr val="tx1"/>
                </a:solidFill>
                <a:effectLst/>
                <a:latin typeface="Arial" panose="020B0604020202020204" pitchFamily="34" charset="0"/>
              </a:rPr>
              <a:t>It is particularly useful in understanding the connection between force and motion. In </a:t>
            </a:r>
            <a:r>
              <a:rPr kumimoji="0" lang="en-US" altLang="en-US" sz="2600" b="1" i="1" u="none" strike="noStrike" cap="none" normalizeH="0" baseline="0" dirty="0">
                <a:ln>
                  <a:noFill/>
                </a:ln>
                <a:solidFill>
                  <a:schemeClr val="tx1"/>
                </a:solidFill>
                <a:effectLst/>
                <a:latin typeface="MathJax_Math"/>
              </a:rPr>
              <a:t>m</a:t>
            </a:r>
            <a:r>
              <a:rPr kumimoji="0" lang="en-US" altLang="en-US" sz="2600" b="1" i="0" u="none" strike="noStrike" cap="none" normalizeH="0" baseline="0" dirty="0">
                <a:ln>
                  <a:noFill/>
                </a:ln>
                <a:solidFill>
                  <a:schemeClr val="tx1"/>
                </a:solidFill>
                <a:effectLst/>
                <a:latin typeface="MathJax_Main"/>
              </a:rPr>
              <a:t>1=2.00kg</a:t>
            </a:r>
            <a:r>
              <a:rPr kumimoji="0" lang="en-US" altLang="en-US" sz="2600" b="1" i="0" u="none" strike="noStrike" cap="none" normalizeH="0" baseline="0" dirty="0">
                <a:ln>
                  <a:noFill/>
                </a:ln>
                <a:solidFill>
                  <a:schemeClr val="tx1"/>
                </a:solidFill>
                <a:effectLst/>
              </a:rPr>
              <a:t> and </a:t>
            </a:r>
            <a:r>
              <a:rPr kumimoji="0" lang="en-US" altLang="en-US" sz="2600" b="1" i="1" u="none" strike="noStrike" cap="none" normalizeH="0" baseline="0" dirty="0">
                <a:ln>
                  <a:noFill/>
                </a:ln>
                <a:solidFill>
                  <a:schemeClr val="tx1"/>
                </a:solidFill>
                <a:effectLst/>
                <a:latin typeface="MathJax_Math"/>
              </a:rPr>
              <a:t>m</a:t>
            </a:r>
            <a:r>
              <a:rPr kumimoji="0" lang="en-US" altLang="en-US" sz="2600" b="1" i="0" u="none" strike="noStrike" cap="none" normalizeH="0" baseline="0" dirty="0">
                <a:ln>
                  <a:noFill/>
                </a:ln>
                <a:solidFill>
                  <a:schemeClr val="tx1"/>
                </a:solidFill>
                <a:effectLst/>
                <a:latin typeface="MathJax_Main"/>
              </a:rPr>
              <a:t>2=4.00kg.</a:t>
            </a:r>
            <a:r>
              <a:rPr kumimoji="0" lang="en-US" altLang="en-US" sz="2600" b="1" i="0" u="none" strike="noStrike" cap="none" normalizeH="0" baseline="0" dirty="0">
                <a:ln>
                  <a:noFill/>
                </a:ln>
                <a:solidFill>
                  <a:schemeClr val="tx1"/>
                </a:solidFill>
                <a:effectLst/>
              </a:rPr>
              <a:t> Consider the pulley to be frictionless. (a) If </a:t>
            </a:r>
            <a:r>
              <a:rPr kumimoji="0" lang="en-US" altLang="en-US" sz="2600" b="1" i="1" u="none" strike="noStrike" cap="none" normalizeH="0" baseline="0" dirty="0">
                <a:ln>
                  <a:noFill/>
                </a:ln>
                <a:solidFill>
                  <a:schemeClr val="tx1"/>
                </a:solidFill>
                <a:effectLst/>
                <a:latin typeface="MathJax_Math"/>
              </a:rPr>
              <a:t>m</a:t>
            </a:r>
            <a:r>
              <a:rPr kumimoji="0" lang="en-US" altLang="en-US" sz="2600" b="1" i="0" u="none" strike="noStrike" cap="none" normalizeH="0" baseline="0" dirty="0">
                <a:ln>
                  <a:noFill/>
                </a:ln>
                <a:solidFill>
                  <a:schemeClr val="tx1"/>
                </a:solidFill>
                <a:effectLst/>
                <a:latin typeface="MathJax_Main"/>
              </a:rPr>
              <a:t>2</a:t>
            </a:r>
            <a:r>
              <a:rPr kumimoji="0" lang="en-US" altLang="en-US" sz="2600" b="1" i="0" u="none" strike="noStrike" cap="none" normalizeH="0" baseline="0" dirty="0">
                <a:ln>
                  <a:noFill/>
                </a:ln>
                <a:solidFill>
                  <a:schemeClr val="tx1"/>
                </a:solidFill>
                <a:effectLst/>
              </a:rPr>
              <a:t> is released, what will its acceleration be? (b) What is the tension in the string? </a:t>
            </a:r>
            <a:r>
              <a:rPr kumimoji="0" lang="en-US" altLang="en-US" sz="2600" b="1" i="0" u="none" strike="noStrike" cap="none" normalizeH="0" baseline="0" dirty="0">
                <a:ln>
                  <a:noFill/>
                </a:ln>
                <a:solidFill>
                  <a:schemeClr val="tx1"/>
                </a:solidFill>
                <a:effectLst/>
                <a:latin typeface="Arial" panose="020B0604020202020204" pitchFamily="34" charset="0"/>
                <a:hlinkClick r:id="rId3"/>
              </a:rPr>
              <a:t>Click Here for solution</a:t>
            </a:r>
            <a:endParaRPr kumimoji="0" lang="en-US" altLang="en-US" sz="2600" b="1" i="0" u="none" strike="noStrike" cap="none" normalizeH="0" baseline="0" dirty="0">
              <a:ln>
                <a:noFill/>
              </a:ln>
              <a:solidFill>
                <a:schemeClr val="tx1"/>
              </a:solidFill>
              <a:effectLst/>
              <a:latin typeface="Arial" panose="020B0604020202020204" pitchFamily="34" charset="0"/>
            </a:endParaRPr>
          </a:p>
          <a:p>
            <a:pPr eaLnBrk="0" hangingPunct="0">
              <a:spcBef>
                <a:spcPct val="0"/>
              </a:spcBef>
              <a:spcAft>
                <a:spcPct val="0"/>
              </a:spcAft>
              <a:buClrTx/>
            </a:pPr>
            <a:r>
              <a:rPr kumimoji="0" lang="en-US" altLang="en-US" sz="2600" b="1" i="0" u="none" strike="noStrike" cap="none" normalizeH="0" baseline="0" dirty="0">
                <a:ln>
                  <a:noFill/>
                </a:ln>
                <a:solidFill>
                  <a:schemeClr val="tx1"/>
                </a:solidFill>
                <a:effectLst/>
                <a:latin typeface="Arial" panose="020B0604020202020204" pitchFamily="34" charset="0"/>
                <a:hlinkClick r:id="rId4"/>
              </a:rPr>
              <a:t> </a:t>
            </a:r>
          </a:p>
          <a:p>
            <a:pPr eaLnBrk="0" hangingPunct="0">
              <a:spcBef>
                <a:spcPct val="0"/>
              </a:spcBef>
              <a:spcAft>
                <a:spcPct val="0"/>
              </a:spcAft>
              <a:buClrTx/>
            </a:pPr>
            <a:r>
              <a:rPr kumimoji="0" lang="en-US" altLang="en-US" sz="2600" b="1" i="0" u="none" strike="noStrike" cap="none" normalizeH="0" baseline="0" dirty="0">
                <a:ln>
                  <a:noFill/>
                </a:ln>
                <a:solidFill>
                  <a:schemeClr val="tx1"/>
                </a:solidFill>
                <a:effectLst/>
                <a:latin typeface="Arial" panose="020B0604020202020204" pitchFamily="34" charset="0"/>
                <a:hlinkClick r:id="rId4"/>
              </a:rPr>
              <a:t>Atwood Machine Video</a:t>
            </a:r>
            <a:endParaRPr kumimoji="0" lang="en-US" altLang="en-US" sz="2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endParaRPr lang="en-US" sz="2600" dirty="0"/>
          </a:p>
          <a:p>
            <a:endParaRPr lang="en-US" sz="1600" dirty="0"/>
          </a:p>
        </p:txBody>
      </p:sp>
      <p:pic>
        <p:nvPicPr>
          <p:cNvPr id="6" name="Picture 5" descr="OpenStax logo">
            <a:extLst>
              <a:ext uri="{FF2B5EF4-FFF2-40B4-BE49-F238E27FC236}">
                <a16:creationId xmlns:a16="http://schemas.microsoft.com/office/drawing/2014/main" id="{865C8110-BBA7-DCF5-3E9D-C8FBC20A0296}"/>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73859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p:nvPr>
        </p:nvSpPr>
        <p:spPr>
          <a:xfrm>
            <a:off x="74918" y="118604"/>
            <a:ext cx="9021337" cy="575204"/>
          </a:xfrm>
        </p:spPr>
        <p:txBody>
          <a:bodyPr>
            <a:noAutofit/>
          </a:bodyPr>
          <a:lstStyle/>
          <a:p>
            <a:pPr algn="ctr"/>
            <a:r>
              <a:rPr lang="en-US" sz="2800" b="1" dirty="0">
                <a:solidFill>
                  <a:schemeClr val="tx1"/>
                </a:solidFill>
              </a:rPr>
              <a:t>Bathroom Scale in an Elevator </a:t>
            </a:r>
          </a:p>
        </p:txBody>
      </p:sp>
      <p:sp>
        <p:nvSpPr>
          <p:cNvPr id="9219" name="Text Placeholder 6"/>
          <p:cNvSpPr>
            <a:spLocks noGrp="1"/>
          </p:cNvSpPr>
          <p:nvPr>
            <p:ph type="body" sz="quarter" idx="14"/>
          </p:nvPr>
        </p:nvSpPr>
        <p:spPr>
          <a:xfrm>
            <a:off x="276231" y="664634"/>
            <a:ext cx="3782813" cy="5861261"/>
          </a:xfrm>
        </p:spPr>
        <p:txBody>
          <a:bodyPr/>
          <a:lstStyle/>
          <a:p>
            <a:r>
              <a:rPr lang="en-US" b="1" dirty="0">
                <a:solidFill>
                  <a:schemeClr val="tx1"/>
                </a:solidFill>
              </a:rPr>
              <a:t>A 75.0-kg man </a:t>
            </a:r>
            <a:br>
              <a:rPr lang="en-US" b="1" dirty="0">
                <a:solidFill>
                  <a:schemeClr val="tx1"/>
                </a:solidFill>
              </a:rPr>
            </a:br>
            <a:r>
              <a:rPr lang="en-US" b="1" dirty="0">
                <a:solidFill>
                  <a:schemeClr val="tx1"/>
                </a:solidFill>
              </a:rPr>
              <a:t>(weight of about </a:t>
            </a:r>
            <a:br>
              <a:rPr lang="en-US" b="1" dirty="0">
                <a:solidFill>
                  <a:schemeClr val="tx1"/>
                </a:solidFill>
              </a:rPr>
            </a:br>
            <a:r>
              <a:rPr lang="en-US" b="1" dirty="0">
                <a:solidFill>
                  <a:schemeClr val="tx1"/>
                </a:solidFill>
              </a:rPr>
              <a:t>165 lb) stands </a:t>
            </a:r>
            <a:br>
              <a:rPr lang="en-US" b="1" dirty="0">
                <a:solidFill>
                  <a:schemeClr val="tx1"/>
                </a:solidFill>
              </a:rPr>
            </a:br>
            <a:r>
              <a:rPr lang="en-US" b="1" dirty="0">
                <a:solidFill>
                  <a:schemeClr val="tx1"/>
                </a:solidFill>
              </a:rPr>
              <a:t>on a bathroom </a:t>
            </a:r>
            <a:br>
              <a:rPr lang="en-US" b="1" dirty="0">
                <a:solidFill>
                  <a:schemeClr val="tx1"/>
                </a:solidFill>
              </a:rPr>
            </a:br>
            <a:r>
              <a:rPr lang="en-US" b="1" dirty="0">
                <a:solidFill>
                  <a:schemeClr val="tx1"/>
                </a:solidFill>
              </a:rPr>
              <a:t>scale in an </a:t>
            </a:r>
            <a:br>
              <a:rPr lang="en-US" b="1" dirty="0">
                <a:solidFill>
                  <a:schemeClr val="tx1"/>
                </a:solidFill>
              </a:rPr>
            </a:br>
            <a:r>
              <a:rPr lang="en-US" b="1" dirty="0">
                <a:solidFill>
                  <a:schemeClr val="tx1"/>
                </a:solidFill>
              </a:rPr>
              <a:t>elevator. Calculate </a:t>
            </a:r>
            <a:br>
              <a:rPr lang="en-US" b="1" dirty="0">
                <a:solidFill>
                  <a:schemeClr val="tx1"/>
                </a:solidFill>
              </a:rPr>
            </a:br>
            <a:r>
              <a:rPr lang="en-US" b="1" dirty="0">
                <a:solidFill>
                  <a:schemeClr val="tx1"/>
                </a:solidFill>
              </a:rPr>
              <a:t>the scale reading: </a:t>
            </a:r>
            <a:br>
              <a:rPr lang="en-US" b="1" dirty="0">
                <a:solidFill>
                  <a:schemeClr val="tx1"/>
                </a:solidFill>
              </a:rPr>
            </a:br>
            <a:r>
              <a:rPr lang="en-US" b="1" dirty="0">
                <a:solidFill>
                  <a:schemeClr val="tx1"/>
                </a:solidFill>
              </a:rPr>
              <a:t>(a) if the elevator </a:t>
            </a:r>
            <a:br>
              <a:rPr lang="en-US" b="1" dirty="0">
                <a:solidFill>
                  <a:schemeClr val="tx1"/>
                </a:solidFill>
              </a:rPr>
            </a:br>
            <a:r>
              <a:rPr lang="en-US" b="1" dirty="0">
                <a:solidFill>
                  <a:schemeClr val="tx1"/>
                </a:solidFill>
              </a:rPr>
              <a:t>accelerates </a:t>
            </a:r>
            <a:r>
              <a:rPr lang="en-US" b="1" i="1" dirty="0">
                <a:solidFill>
                  <a:schemeClr val="tx1"/>
                </a:solidFill>
              </a:rPr>
              <a:t>upward</a:t>
            </a:r>
            <a:r>
              <a:rPr lang="en-US" b="1" dirty="0">
                <a:solidFill>
                  <a:schemeClr val="tx1"/>
                </a:solidFill>
              </a:rPr>
              <a:t> </a:t>
            </a:r>
            <a:br>
              <a:rPr lang="en-US" b="1" dirty="0">
                <a:solidFill>
                  <a:schemeClr val="tx1"/>
                </a:solidFill>
              </a:rPr>
            </a:br>
            <a:r>
              <a:rPr lang="en-US" b="1" dirty="0">
                <a:solidFill>
                  <a:schemeClr val="tx1"/>
                </a:solidFill>
              </a:rPr>
              <a:t>at a rate of 1.20 m/s</a:t>
            </a:r>
            <a:r>
              <a:rPr lang="en-US" b="1" baseline="30000" dirty="0">
                <a:solidFill>
                  <a:schemeClr val="tx1"/>
                </a:solidFill>
              </a:rPr>
              <a:t>2</a:t>
            </a:r>
            <a:r>
              <a:rPr lang="en-US" b="1" dirty="0">
                <a:solidFill>
                  <a:schemeClr val="tx1"/>
                </a:solidFill>
              </a:rPr>
              <a:t> , </a:t>
            </a:r>
            <a:br>
              <a:rPr lang="en-US" b="1" dirty="0">
                <a:solidFill>
                  <a:schemeClr val="tx1"/>
                </a:solidFill>
              </a:rPr>
            </a:br>
            <a:r>
              <a:rPr lang="en-US" b="1" dirty="0">
                <a:solidFill>
                  <a:schemeClr val="tx1"/>
                </a:solidFill>
              </a:rPr>
              <a:t>(b) if the elevator accelerates </a:t>
            </a:r>
            <a:r>
              <a:rPr lang="en-US" b="1" i="1" dirty="0">
                <a:solidFill>
                  <a:schemeClr val="tx1"/>
                </a:solidFill>
              </a:rPr>
              <a:t>downward</a:t>
            </a:r>
            <a:r>
              <a:rPr lang="en-US" b="1" dirty="0">
                <a:solidFill>
                  <a:schemeClr val="tx1"/>
                </a:solidFill>
              </a:rPr>
              <a:t> at a rate of 1.20 m/s</a:t>
            </a:r>
            <a:r>
              <a:rPr lang="en-US" b="1" baseline="30000" dirty="0">
                <a:solidFill>
                  <a:schemeClr val="tx1"/>
                </a:solidFill>
              </a:rPr>
              <a:t>2</a:t>
            </a:r>
            <a:r>
              <a:rPr lang="en-US" b="1" dirty="0">
                <a:solidFill>
                  <a:schemeClr val="tx1"/>
                </a:solidFill>
              </a:rPr>
              <a:t>, </a:t>
            </a:r>
            <a:br>
              <a:rPr lang="en-US" b="1" dirty="0">
                <a:solidFill>
                  <a:schemeClr val="tx1"/>
                </a:solidFill>
              </a:rPr>
            </a:br>
            <a:r>
              <a:rPr lang="en-US" b="1" dirty="0">
                <a:solidFill>
                  <a:schemeClr val="tx1"/>
                </a:solidFill>
              </a:rPr>
              <a:t>(c) if the elevator moves upward at a </a:t>
            </a:r>
            <a:r>
              <a:rPr lang="en-US" b="1" i="1" dirty="0">
                <a:solidFill>
                  <a:schemeClr val="tx1"/>
                </a:solidFill>
              </a:rPr>
              <a:t>constant speed </a:t>
            </a:r>
            <a:r>
              <a:rPr lang="en-US" b="1" dirty="0">
                <a:solidFill>
                  <a:schemeClr val="tx1"/>
                </a:solidFill>
              </a:rPr>
              <a:t>of 1 m/s. </a:t>
            </a:r>
          </a:p>
          <a:p>
            <a:r>
              <a:rPr lang="en-US" sz="2000" b="1" dirty="0">
                <a:solidFill>
                  <a:srgbClr val="0000FF"/>
                </a:solidFill>
                <a:hlinkClick r:id="rId3">
                  <a:extLst>
                    <a:ext uri="{A12FA001-AC4F-418D-AE19-62706E023703}">
                      <ahyp:hlinkClr xmlns:ahyp="http://schemas.microsoft.com/office/drawing/2018/hyperlinkcolor" val="tx"/>
                    </a:ext>
                  </a:extLst>
                </a:hlinkClick>
              </a:rPr>
              <a:t>Click Here for Solution</a:t>
            </a:r>
            <a:endParaRPr lang="en-US" sz="2000" dirty="0">
              <a:solidFill>
                <a:srgbClr val="0000FF"/>
              </a:solidFill>
            </a:endParaRPr>
          </a:p>
          <a:p>
            <a:endParaRPr lang="en-US" b="1" dirty="0">
              <a:solidFill>
                <a:schemeClr val="tx1"/>
              </a:solidFill>
            </a:endParaRPr>
          </a:p>
        </p:txBody>
      </p:sp>
      <p:pic>
        <p:nvPicPr>
          <p:cNvPr id="3075" name="Picture 3" descr="A man stands  on a bathroom &#10;scale in an elevator. "/>
          <p:cNvPicPr>
            <a:picLocks noChangeAspect="1" noChangeArrowheads="1"/>
          </p:cNvPicPr>
          <p:nvPr/>
        </p:nvPicPr>
        <p:blipFill>
          <a:blip r:embed="rId4" cstate="print"/>
          <a:srcRect/>
          <a:stretch>
            <a:fillRect/>
          </a:stretch>
        </p:blipFill>
        <p:spPr bwMode="auto">
          <a:xfrm>
            <a:off x="4693572" y="1085386"/>
            <a:ext cx="4248106" cy="3152078"/>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F95F297B-6FC6-4562-A607-96C7AA962099}"/>
              </a:ext>
            </a:extLst>
          </p:cNvPr>
          <p:cNvSpPr txBox="1"/>
          <p:nvPr/>
        </p:nvSpPr>
        <p:spPr>
          <a:xfrm>
            <a:off x="3806874" y="5830884"/>
            <a:ext cx="5134804" cy="461665"/>
          </a:xfrm>
          <a:prstGeom prst="rect">
            <a:avLst/>
          </a:prstGeom>
          <a:noFill/>
        </p:spPr>
        <p:txBody>
          <a:bodyPr wrap="none" rtlCol="0">
            <a:spAutoFit/>
          </a:bodyPr>
          <a:lstStyle/>
          <a:p>
            <a:r>
              <a:rPr lang="en-US" dirty="0"/>
              <a:t>  </a:t>
            </a:r>
            <a:r>
              <a:rPr lang="en-US" dirty="0">
                <a:hlinkClick r:id="rId5"/>
              </a:rPr>
              <a:t> </a:t>
            </a:r>
            <a:r>
              <a:rPr lang="en-US" sz="2400" b="1" dirty="0">
                <a:hlinkClick r:id="rId5"/>
              </a:rPr>
              <a:t>Apparent Weightlessness  Video</a:t>
            </a:r>
            <a:endParaRPr lang="en-US" sz="2400" b="1" dirty="0"/>
          </a:p>
        </p:txBody>
      </p:sp>
      <p:pic>
        <p:nvPicPr>
          <p:cNvPr id="8" name="Picture 7" descr="OpenStax logo">
            <a:extLst>
              <a:ext uri="{FF2B5EF4-FFF2-40B4-BE49-F238E27FC236}">
                <a16:creationId xmlns:a16="http://schemas.microsoft.com/office/drawing/2014/main" id="{EC13B0D4-6274-619C-14FE-4073DC0602A3}"/>
              </a:ext>
            </a:extLst>
          </p:cNvPr>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04740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p:cNvSpPr>
            <a:spLocks noGrp="1"/>
          </p:cNvSpPr>
          <p:nvPr>
            <p:ph type="title" idx="4294967295"/>
          </p:nvPr>
        </p:nvSpPr>
        <p:spPr>
          <a:xfrm>
            <a:off x="466795" y="70924"/>
            <a:ext cx="8331200" cy="509666"/>
          </a:xfrm>
        </p:spPr>
        <p:txBody>
          <a:bodyPr>
            <a:normAutofit fontScale="90000"/>
          </a:bodyPr>
          <a:lstStyle/>
          <a:p>
            <a:pPr algn="ctr" fontAlgn="auto">
              <a:spcAft>
                <a:spcPts val="0"/>
              </a:spcAft>
              <a:defRPr/>
            </a:pPr>
            <a:r>
              <a:rPr lang="en-US" sz="2800" b="1" dirty="0"/>
              <a:t>  </a:t>
            </a:r>
            <a:r>
              <a:rPr lang="en-US" sz="3100" b="1" dirty="0">
                <a:solidFill>
                  <a:schemeClr val="tx1"/>
                </a:solidFill>
              </a:rPr>
              <a:t>FRICTION FORCE</a:t>
            </a:r>
            <a:endParaRPr lang="en-US" sz="3100" dirty="0">
              <a:solidFill>
                <a:schemeClr val="tx1"/>
              </a:solidFill>
            </a:endParaRPr>
          </a:p>
        </p:txBody>
      </p:sp>
      <p:pic>
        <p:nvPicPr>
          <p:cNvPr id="3" name="Picture Placeholder 2" descr=" Frictional forces."/>
          <p:cNvPicPr>
            <a:picLocks noGrp="1" noChangeAspect="1"/>
          </p:cNvPicPr>
          <p:nvPr>
            <p:ph type="pic" sz="quarter" idx="4294967295"/>
          </p:nvPr>
        </p:nvPicPr>
        <p:blipFill>
          <a:blip r:embed="rId3" cstate="email">
            <a:extLst>
              <a:ext uri="{28A0092B-C50C-407E-A947-70E740481C1C}">
                <a14:useLocalDpi xmlns:a14="http://schemas.microsoft.com/office/drawing/2010/main" val="0"/>
              </a:ext>
            </a:extLst>
          </a:blip>
          <a:srcRect t="-4268" b="-4268"/>
          <a:stretch>
            <a:fillRect/>
          </a:stretch>
        </p:blipFill>
        <p:spPr>
          <a:xfrm>
            <a:off x="1672682" y="491699"/>
            <a:ext cx="6296721" cy="2393969"/>
          </a:xfrm>
        </p:spPr>
      </p:pic>
      <p:sp>
        <p:nvSpPr>
          <p:cNvPr id="9219" name="Text Placeholder 6"/>
          <p:cNvSpPr>
            <a:spLocks noGrp="1"/>
          </p:cNvSpPr>
          <p:nvPr>
            <p:ph type="body" sz="quarter" idx="4294967295"/>
          </p:nvPr>
        </p:nvSpPr>
        <p:spPr>
          <a:xfrm>
            <a:off x="312156" y="2900557"/>
            <a:ext cx="8331201" cy="3465744"/>
          </a:xfrm>
        </p:spPr>
        <p:txBody>
          <a:bodyPr/>
          <a:lstStyle/>
          <a:p>
            <a:pPr marL="342900" indent="-342900">
              <a:lnSpc>
                <a:spcPts val="2900"/>
              </a:lnSpc>
              <a:buClrTx/>
              <a:buFont typeface="Wingdings" panose="05000000000000000000" pitchFamily="2" charset="2"/>
              <a:buChar char="Ø"/>
            </a:pPr>
            <a:r>
              <a:rPr lang="en-US" b="1" dirty="0">
                <a:solidFill>
                  <a:schemeClr val="tx1"/>
                </a:solidFill>
              </a:rPr>
              <a:t>Frictional forces always oppose motion between objects in contact. </a:t>
            </a:r>
          </a:p>
          <a:p>
            <a:pPr marL="342900" indent="-342900">
              <a:lnSpc>
                <a:spcPts val="2900"/>
              </a:lnSpc>
              <a:buClrTx/>
              <a:buFont typeface="Wingdings" panose="05000000000000000000" pitchFamily="2" charset="2"/>
              <a:buChar char="Ø"/>
            </a:pPr>
            <a:r>
              <a:rPr lang="en-US" b="1" dirty="0">
                <a:solidFill>
                  <a:schemeClr val="tx1"/>
                </a:solidFill>
              </a:rPr>
              <a:t>Friction arises in part because of the roughness of the surfaces. </a:t>
            </a:r>
          </a:p>
          <a:p>
            <a:pPr marL="342900" indent="-342900">
              <a:lnSpc>
                <a:spcPts val="2900"/>
              </a:lnSpc>
              <a:buClrTx/>
              <a:buFont typeface="Wingdings" panose="05000000000000000000" pitchFamily="2" charset="2"/>
              <a:buChar char="Ø"/>
            </a:pPr>
            <a:r>
              <a:rPr lang="en-US" b="1" dirty="0">
                <a:solidFill>
                  <a:schemeClr val="tx1"/>
                </a:solidFill>
              </a:rPr>
              <a:t>A force is required just to set the object in motion, and a force is required to maintain motion. </a:t>
            </a:r>
          </a:p>
          <a:p>
            <a:pPr marL="342900" indent="-342900">
              <a:lnSpc>
                <a:spcPts val="2900"/>
              </a:lnSpc>
              <a:buClrTx/>
              <a:buFont typeface="Wingdings" panose="05000000000000000000" pitchFamily="2" charset="2"/>
              <a:buChar char="Ø"/>
            </a:pPr>
            <a:r>
              <a:rPr lang="en-US" b="1" dirty="0">
                <a:solidFill>
                  <a:schemeClr val="tx1"/>
                </a:solidFill>
              </a:rPr>
              <a:t>Much of the friction is due to attractive forces between molecules making up the two objects, so that even perfectly smooth surfaces are not friction-free.</a:t>
            </a:r>
          </a:p>
        </p:txBody>
      </p:sp>
      <p:pic>
        <p:nvPicPr>
          <p:cNvPr id="5" name="Picture 4" descr="OpenStax logo">
            <a:extLst>
              <a:ext uri="{FF2B5EF4-FFF2-40B4-BE49-F238E27FC236}">
                <a16:creationId xmlns:a16="http://schemas.microsoft.com/office/drawing/2014/main" id="{95F797CC-AC4E-F0FC-D7D3-BD2264CB22DA}"/>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09284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idx="4294967295"/>
          </p:nvPr>
        </p:nvSpPr>
        <p:spPr>
          <a:xfrm>
            <a:off x="274637" y="209405"/>
            <a:ext cx="8229600" cy="766072"/>
          </a:xfrm>
        </p:spPr>
        <p:txBody>
          <a:bodyPr/>
          <a:lstStyle/>
          <a:p>
            <a:pPr lvl="0" algn="ctr" eaLnBrk="1" hangingPunct="1"/>
            <a:r>
              <a:rPr lang="en-US" sz="3200" b="1" kern="1200" dirty="0">
                <a:solidFill>
                  <a:schemeClr val="tx1"/>
                </a:solidFill>
              </a:rPr>
              <a:t>TYPES OF FRICTION</a:t>
            </a:r>
            <a:r>
              <a:rPr lang="en-US" sz="3200" b="1" dirty="0">
                <a:solidFill>
                  <a:schemeClr val="tx1"/>
                </a:solidFill>
              </a:rPr>
              <a:t> </a:t>
            </a:r>
          </a:p>
        </p:txBody>
      </p:sp>
      <p:sp>
        <p:nvSpPr>
          <p:cNvPr id="76804" name="Text Box 3"/>
          <p:cNvSpPr txBox="1">
            <a:spLocks noChangeArrowheads="1"/>
          </p:cNvSpPr>
          <p:nvPr/>
        </p:nvSpPr>
        <p:spPr bwMode="auto">
          <a:xfrm>
            <a:off x="195444" y="1566863"/>
            <a:ext cx="8843853" cy="2677656"/>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800" b="1" i="0" u="none" strike="noStrike" kern="1200" cap="none" spc="0" normalizeH="0" baseline="0" noProof="0" dirty="0">
                <a:ln>
                  <a:noFill/>
                </a:ln>
                <a:effectLst/>
                <a:uLnTx/>
                <a:uFillTx/>
                <a:latin typeface="Arial" charset="0"/>
                <a:ea typeface="+mn-ea"/>
                <a:cs typeface="+mn-cs"/>
              </a:rPr>
              <a:t>Static friction: when the frictional force is large enough to prevent motion</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800" b="1" i="0" u="none" strike="noStrike" kern="1200" cap="none" spc="0" normalizeH="0" baseline="0" noProof="0" dirty="0">
                <a:ln>
                  <a:noFill/>
                </a:ln>
                <a:effectLst/>
                <a:uLnTx/>
                <a:uFillTx/>
                <a:latin typeface="Arial" charset="0"/>
                <a:ea typeface="+mn-ea"/>
                <a:cs typeface="+mn-cs"/>
              </a:rPr>
              <a:t>Kinetic friction: when two surfaces are sliding along each other</a:t>
            </a:r>
            <a:r>
              <a:rPr kumimoji="0" lang="en-US" sz="2800" b="1" i="0" u="none" strike="noStrike" kern="1200" cap="none" spc="0" normalizeH="0" baseline="0" noProof="0" dirty="0">
                <a:ln>
                  <a:noFill/>
                </a:ln>
                <a:effectLst/>
                <a:uLnTx/>
                <a:uFillTx/>
                <a:latin typeface="Arial" charset="0"/>
                <a:ea typeface="+mn-ea"/>
                <a:cs typeface="+mn-cs"/>
                <a:hlinkClick r:id="rId3">
                  <a:extLst>
                    <a:ext uri="{A12FA001-AC4F-418D-AE19-62706E023703}">
                      <ahyp:hlinkClr xmlns:ahyp="http://schemas.microsoft.com/office/drawing/2018/hyperlinkcolor" val="tx"/>
                    </a:ext>
                  </a:extLst>
                </a:hlinkClick>
              </a:rPr>
              <a:t> </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2800" b="1" i="0" u="none" strike="noStrike" kern="1200" cap="none" spc="0" normalizeH="0" baseline="0" noProof="0" dirty="0">
                <a:ln>
                  <a:noFill/>
                </a:ln>
                <a:solidFill>
                  <a:srgbClr val="0000FF"/>
                </a:solidFill>
                <a:effectLst/>
                <a:uLnTx/>
                <a:uFillTx/>
                <a:latin typeface="Arial" charset="0"/>
                <a:ea typeface="+mn-ea"/>
                <a:cs typeface="+mn-cs"/>
                <a:hlinkClick r:id="rId3">
                  <a:extLst>
                    <a:ext uri="{A12FA001-AC4F-418D-AE19-62706E023703}">
                      <ahyp:hlinkClr xmlns:ahyp="http://schemas.microsoft.com/office/drawing/2018/hyperlinkcolor" val="tx"/>
                    </a:ext>
                  </a:extLst>
                </a:hlinkClick>
              </a:rPr>
              <a:t>Static and Kinetic Friction Video</a:t>
            </a:r>
            <a:endParaRPr kumimoji="0" lang="en-US" sz="2800" b="1" i="0" u="none" strike="noStrike" kern="1200" cap="none" spc="0" normalizeH="0" baseline="0" noProof="0" dirty="0">
              <a:ln>
                <a:noFill/>
              </a:ln>
              <a:solidFill>
                <a:srgbClr val="0000FF"/>
              </a:solidFill>
              <a:effectLst/>
              <a:uLnTx/>
              <a:uFillTx/>
              <a:latin typeface="Arial" charset="0"/>
              <a:ea typeface="+mn-ea"/>
              <a:cs typeface="+mn-cs"/>
            </a:endParaRPr>
          </a:p>
        </p:txBody>
      </p:sp>
      <p:pic>
        <p:nvPicPr>
          <p:cNvPr id="2" name="Picture 1" descr="Raji K Physics Logo">
            <a:extLst>
              <a:ext uri="{FF2B5EF4-FFF2-40B4-BE49-F238E27FC236}">
                <a16:creationId xmlns:a16="http://schemas.microsoft.com/office/drawing/2014/main" id="{82539292-D9A5-7E4F-E88B-DC81955305AC}"/>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077178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81510" y="104726"/>
            <a:ext cx="8424862" cy="669925"/>
          </a:xfrm>
        </p:spPr>
        <p:txBody>
          <a:bodyPr/>
          <a:lstStyle/>
          <a:p>
            <a:pPr algn="ctr"/>
            <a:r>
              <a:rPr lang="en-US" sz="2800" b="1" kern="1200" dirty="0">
                <a:solidFill>
                  <a:schemeClr val="tx1"/>
                </a:solidFill>
                <a:cs typeface="Arial" charset="0"/>
              </a:rPr>
              <a:t>COEFFICIENT OF   FRICTION</a:t>
            </a:r>
            <a:endParaRPr lang="en-US" sz="2800" dirty="0">
              <a:solidFill>
                <a:schemeClr val="tx1"/>
              </a:solidFill>
            </a:endParaRPr>
          </a:p>
        </p:txBody>
      </p:sp>
      <mc:AlternateContent xmlns:mc="http://schemas.openxmlformats.org/markup-compatibility/2006" xmlns:a14="http://schemas.microsoft.com/office/drawing/2010/main">
        <mc:Choice Requires="a14">
          <p:sp>
            <p:nvSpPr>
              <p:cNvPr id="5" name="Text Box 3"/>
              <p:cNvSpPr txBox="1">
                <a:spLocks noChangeArrowheads="1"/>
              </p:cNvSpPr>
              <p:nvPr/>
            </p:nvSpPr>
            <p:spPr bwMode="auto">
              <a:xfrm>
                <a:off x="461904" y="858785"/>
                <a:ext cx="8244468" cy="4893647"/>
              </a:xfrm>
              <a:prstGeom prst="rect">
                <a:avLst/>
              </a:prstGeom>
              <a:noFill/>
              <a:ln w="9525">
                <a:noFill/>
                <a:miter lim="800000"/>
                <a:headEnd/>
                <a:tailEnd/>
              </a:ln>
              <a:effectLst/>
            </p:spPr>
            <p:txBody>
              <a:bodyPr wrap="square">
                <a:spAutoFit/>
              </a:bodyPr>
              <a:lstStyle/>
              <a:p>
                <a:pPr marL="342900" marR="0" lvl="0" indent="-342900" algn="l" defTabSz="914400" rtl="0" eaLnBrk="1" fontAlgn="base" latinLnBrk="0" hangingPunct="1">
                  <a:lnSpc>
                    <a:spcPct val="100000"/>
                  </a:lnSpc>
                  <a:spcBef>
                    <a:spcPct val="50000"/>
                  </a:spcBef>
                  <a:spcAft>
                    <a:spcPct val="0"/>
                  </a:spcAft>
                  <a:buClrTx/>
                  <a:buSzTx/>
                  <a:buFont typeface="Wingdings" panose="05000000000000000000" pitchFamily="2" charset="2"/>
                  <a:buChar char="Ø"/>
                  <a:tabLst/>
                  <a:defRPr/>
                </a:pPr>
                <a:r>
                  <a:rPr lang="en-US" sz="2400" b="1" dirty="0">
                    <a:solidFill>
                      <a:srgbClr val="000000">
                        <a:lumMod val="50000"/>
                      </a:srgbClr>
                    </a:solidFill>
                    <a:latin typeface="Arial"/>
                  </a:rPr>
                  <a:t>T</a:t>
                </a:r>
                <a:r>
                  <a:rPr kumimoji="0" lang="en-US" sz="2400" b="1" i="0" u="none" strike="noStrike" kern="1200" cap="none" spc="0" normalizeH="0" baseline="0" noProof="0" dirty="0">
                    <a:ln>
                      <a:noFill/>
                    </a:ln>
                    <a:solidFill>
                      <a:srgbClr val="000000">
                        <a:lumMod val="50000"/>
                      </a:srgbClr>
                    </a:solidFill>
                    <a:effectLst/>
                    <a:uLnTx/>
                    <a:uFillTx/>
                    <a:latin typeface="Arial"/>
                    <a:ea typeface="+mn-ea"/>
                    <a:cs typeface="+mn-cs"/>
                  </a:rPr>
                  <a:t>he frictional force is proportional to the </a:t>
                </a:r>
                <a:r>
                  <a:rPr kumimoji="0" lang="en-US" sz="2400" b="1" i="1" u="none" strike="noStrike" kern="1200" cap="none" spc="0" normalizeH="0" baseline="0" noProof="0" dirty="0">
                    <a:ln>
                      <a:noFill/>
                    </a:ln>
                    <a:solidFill>
                      <a:srgbClr val="000000">
                        <a:lumMod val="50000"/>
                      </a:srgbClr>
                    </a:solidFill>
                    <a:effectLst/>
                    <a:uLnTx/>
                    <a:uFillTx/>
                    <a:latin typeface="Arial"/>
                    <a:ea typeface="+mn-ea"/>
                    <a:cs typeface="+mn-cs"/>
                  </a:rPr>
                  <a:t>normal force</a:t>
                </a:r>
                <a:r>
                  <a:rPr kumimoji="0" lang="en-US" sz="2400" b="1" i="0" u="none" strike="noStrike" kern="1200" cap="none" spc="0" normalizeH="0" baseline="0" noProof="0" dirty="0">
                    <a:ln>
                      <a:noFill/>
                    </a:ln>
                    <a:solidFill>
                      <a:srgbClr val="000000">
                        <a:lumMod val="50000"/>
                      </a:srgbClr>
                    </a:solidFill>
                    <a:effectLst/>
                    <a:uLnTx/>
                    <a:uFillTx/>
                    <a:latin typeface="Arial"/>
                    <a:ea typeface="+mn-ea"/>
                    <a:cs typeface="+mn-cs"/>
                  </a:rPr>
                  <a:t>. </a:t>
                </a:r>
              </a:p>
              <a:p>
                <a:pPr marL="800100" lvl="1" indent="-342900">
                  <a:buFont typeface="Wingdings" panose="05000000000000000000" pitchFamily="2" charset="2"/>
                  <a:buChar char="v"/>
                </a:pPr>
                <a:r>
                  <a:rPr kumimoji="0" lang="en-US" sz="2400" b="1" i="0" u="none" strike="noStrike" kern="1200" cap="none" spc="0" normalizeH="0" baseline="0" noProof="0" dirty="0">
                    <a:ln>
                      <a:noFill/>
                    </a:ln>
                    <a:solidFill>
                      <a:srgbClr val="000000">
                        <a:lumMod val="50000"/>
                      </a:srgbClr>
                    </a:solidFill>
                    <a:effectLst/>
                    <a:uLnTx/>
                    <a:uFillTx/>
                    <a:latin typeface="Arial"/>
                    <a:ea typeface="+mn-ea"/>
                    <a:cs typeface="+mn-cs"/>
                  </a:rPr>
                  <a:t>For static friction:</a:t>
                </a:r>
                <a14:m>
                  <m:oMath xmlns:m="http://schemas.openxmlformats.org/officeDocument/2006/math">
                    <m:sSub>
                      <m:sSubPr>
                        <m:ctrlP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sz="3600" b="1" i="1">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3600" b="1" i="1">
                            <a:effectLst/>
                            <a:latin typeface="Cambria Math" panose="02040503050406030204" pitchFamily="18" charset="0"/>
                            <a:ea typeface="Calibri" panose="020F0502020204030204" pitchFamily="34" charset="0"/>
                            <a:cs typeface="Times New Roman" panose="02020603050405020304" pitchFamily="18" charset="0"/>
                          </a:rPr>
                          <m:t>𝒔</m:t>
                        </m:r>
                      </m:sub>
                    </m:sSub>
                    <m:r>
                      <a:rPr lang="en-US" sz="3600" b="1"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6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600" b="1" i="1">
                            <a:effectLst/>
                            <a:latin typeface="Cambria Math" panose="02040503050406030204" pitchFamily="18" charset="0"/>
                            <a:ea typeface="Calibri" panose="020F0502020204030204" pitchFamily="34" charset="0"/>
                            <a:cs typeface="Times New Roman" panose="02020603050405020304" pitchFamily="18" charset="0"/>
                          </a:rPr>
                          <m:t>𝝁</m:t>
                        </m:r>
                      </m:e>
                      <m:sub>
                        <m:r>
                          <a:rPr lang="en-US" sz="3600" b="1" i="1">
                            <a:effectLst/>
                            <a:latin typeface="Cambria Math" panose="02040503050406030204" pitchFamily="18" charset="0"/>
                            <a:ea typeface="Calibri" panose="020F0502020204030204" pitchFamily="34" charset="0"/>
                            <a:cs typeface="Times New Roman" panose="02020603050405020304" pitchFamily="18" charset="0"/>
                          </a:rPr>
                          <m:t>𝒔</m:t>
                        </m:r>
                      </m:sub>
                    </m:sSub>
                    <m:r>
                      <a:rPr lang="en-US" sz="3600" b="1" i="1">
                        <a:effectLst/>
                        <a:latin typeface="Cambria Math" panose="02040503050406030204" pitchFamily="18" charset="0"/>
                        <a:ea typeface="Calibri" panose="020F0502020204030204" pitchFamily="34" charset="0"/>
                        <a:cs typeface="Times New Roman" panose="02020603050405020304" pitchFamily="18" charset="0"/>
                      </a:rPr>
                      <m:t>𝑵</m:t>
                    </m:r>
                  </m:oMath>
                </a14:m>
                <a:endParaRPr lang="en-US" sz="3600" b="1" dirty="0">
                  <a:solidFill>
                    <a:srgbClr val="000000">
                      <a:lumMod val="50000"/>
                    </a:srgbClr>
                  </a:solidFill>
                </a:endParaRPr>
              </a:p>
              <a:p>
                <a:pPr marL="800100" lvl="1" indent="-342900">
                  <a:buFont typeface="Wingdings" panose="05000000000000000000" pitchFamily="2" charset="2"/>
                  <a:buChar char="v"/>
                </a:pPr>
                <a:r>
                  <a:rPr lang="en-US" sz="2400" b="1" dirty="0">
                    <a:solidFill>
                      <a:srgbClr val="000000">
                        <a:lumMod val="50000"/>
                      </a:srgbClr>
                    </a:solidFill>
                  </a:rPr>
                  <a:t>The constant </a:t>
                </a:r>
                <a:r>
                  <a:rPr lang="el-GR" sz="2400" b="1" i="1" dirty="0">
                    <a:solidFill>
                      <a:srgbClr val="000000">
                        <a:lumMod val="50000"/>
                      </a:srgbClr>
                    </a:solidFill>
                    <a:cs typeface="Arial" charset="0"/>
                  </a:rPr>
                  <a:t>μ</a:t>
                </a:r>
                <a:r>
                  <a:rPr lang="en-US" sz="2400" b="1" i="1" baseline="-25000" dirty="0">
                    <a:solidFill>
                      <a:srgbClr val="000000">
                        <a:lumMod val="50000"/>
                      </a:srgbClr>
                    </a:solidFill>
                    <a:cs typeface="Arial" charset="0"/>
                  </a:rPr>
                  <a:t>s</a:t>
                </a:r>
                <a:r>
                  <a:rPr lang="en-US" sz="2400" b="1" dirty="0">
                    <a:solidFill>
                      <a:srgbClr val="000000">
                        <a:lumMod val="50000"/>
                      </a:srgbClr>
                    </a:solidFill>
                    <a:cs typeface="Arial" charset="0"/>
                  </a:rPr>
                  <a:t> is called the </a:t>
                </a:r>
                <a:r>
                  <a:rPr lang="en-US" sz="2400" b="1" dirty="0">
                    <a:cs typeface="Arial" charset="0"/>
                  </a:rPr>
                  <a:t>coefficient of static friction. </a:t>
                </a:r>
              </a:p>
              <a:p>
                <a:pPr marL="800100" lvl="1" indent="-342900">
                  <a:buFont typeface="Wingdings" panose="05000000000000000000" pitchFamily="2" charset="2"/>
                  <a:buChar char="v"/>
                </a:pPr>
                <a:r>
                  <a:rPr lang="en-US" sz="2400" b="1" dirty="0">
                    <a:cs typeface="Arial" charset="0"/>
                  </a:rPr>
                  <a:t>The static frictional force may not have its </a:t>
                </a:r>
                <a:r>
                  <a:rPr lang="en-US" sz="2400" b="1" dirty="0">
                    <a:solidFill>
                      <a:srgbClr val="000000">
                        <a:lumMod val="50000"/>
                      </a:srgbClr>
                    </a:solidFill>
                    <a:cs typeface="Arial" charset="0"/>
                  </a:rPr>
                  <a:t>maximum value; its value is such that the object does not move and depends on the physical circumstances.</a:t>
                </a:r>
              </a:p>
              <a:p>
                <a:pPr marL="800100" lvl="1" indent="-342900">
                  <a:buFont typeface="Wingdings" panose="05000000000000000000" pitchFamily="2" charset="2"/>
                  <a:buChar char="v"/>
                </a:pPr>
                <a:r>
                  <a:rPr kumimoji="0" lang="en-US" sz="2400" b="1" i="0" u="none" strike="noStrike" kern="1200" cap="none" spc="0" normalizeH="0" baseline="0" noProof="0" dirty="0">
                    <a:ln>
                      <a:noFill/>
                    </a:ln>
                    <a:solidFill>
                      <a:srgbClr val="000000">
                        <a:lumMod val="50000"/>
                      </a:srgbClr>
                    </a:solidFill>
                    <a:effectLst/>
                    <a:uLnTx/>
                    <a:uFillTx/>
                    <a:latin typeface="Arial"/>
                    <a:ea typeface="+mn-ea"/>
                    <a:cs typeface="+mn-cs"/>
                  </a:rPr>
                  <a:t>For kinetic friction:  </a:t>
                </a:r>
                <a14:m>
                  <m:oMath xmlns:m="http://schemas.openxmlformats.org/officeDocument/2006/math">
                    <m:sSub>
                      <m:sSubPr>
                        <m:ctrlPr>
                          <a:rPr lang="en-US" sz="3600" b="1"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600" b="1" i="1">
                            <a:effectLst/>
                            <a:latin typeface="Cambria Math" panose="02040503050406030204" pitchFamily="18" charset="0"/>
                            <a:ea typeface="Calibri" panose="020F0502020204030204" pitchFamily="34" charset="0"/>
                            <a:cs typeface="Times New Roman" panose="02020603050405020304" pitchFamily="18" charset="0"/>
                          </a:rPr>
                          <m:t>𝒇</m:t>
                        </m:r>
                      </m:e>
                      <m:sub>
                        <m:r>
                          <a:rPr lang="en-US" sz="3600" b="1" i="1">
                            <a:effectLst/>
                            <a:latin typeface="Cambria Math" panose="02040503050406030204" pitchFamily="18" charset="0"/>
                            <a:ea typeface="Calibri" panose="020F0502020204030204" pitchFamily="34" charset="0"/>
                            <a:cs typeface="Times New Roman" panose="02020603050405020304" pitchFamily="18" charset="0"/>
                          </a:rPr>
                          <m:t>𝒌</m:t>
                        </m:r>
                      </m:sub>
                    </m:sSub>
                    <m:r>
                      <a:rPr lang="en-US" sz="3600" b="1"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36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600" b="1" i="1">
                            <a:effectLst/>
                            <a:latin typeface="Cambria Math" panose="02040503050406030204" pitchFamily="18" charset="0"/>
                            <a:ea typeface="Calibri" panose="020F0502020204030204" pitchFamily="34" charset="0"/>
                            <a:cs typeface="Times New Roman" panose="02020603050405020304" pitchFamily="18" charset="0"/>
                          </a:rPr>
                          <m:t>𝝁</m:t>
                        </m:r>
                      </m:e>
                      <m:sub>
                        <m:r>
                          <a:rPr lang="en-US" sz="3600" b="1" i="1">
                            <a:effectLst/>
                            <a:latin typeface="Cambria Math" panose="02040503050406030204" pitchFamily="18" charset="0"/>
                            <a:ea typeface="Calibri" panose="020F0502020204030204" pitchFamily="34" charset="0"/>
                            <a:cs typeface="Times New Roman" panose="02020603050405020304" pitchFamily="18" charset="0"/>
                          </a:rPr>
                          <m:t>𝒌</m:t>
                        </m:r>
                      </m:sub>
                    </m:sSub>
                    <m:r>
                      <a:rPr lang="en-US" sz="3600" b="1" i="1">
                        <a:effectLst/>
                        <a:latin typeface="Cambria Math" panose="02040503050406030204" pitchFamily="18" charset="0"/>
                        <a:ea typeface="Calibri" panose="020F0502020204030204" pitchFamily="34" charset="0"/>
                        <a:cs typeface="Times New Roman" panose="02020603050405020304" pitchFamily="18" charset="0"/>
                      </a:rPr>
                      <m:t>𝑵</m:t>
                    </m:r>
                  </m:oMath>
                </a14:m>
                <a:endParaRPr lang="en-US" sz="36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v"/>
                </a:pPr>
                <a:r>
                  <a:rPr kumimoji="0" lang="en-US" sz="2400" b="1" i="0" u="none" strike="noStrike" kern="1200" cap="none" spc="0" normalizeH="0" baseline="0" noProof="0" dirty="0">
                    <a:ln>
                      <a:noFill/>
                    </a:ln>
                    <a:effectLst/>
                    <a:uLnTx/>
                    <a:uFillTx/>
                    <a:latin typeface="Arial"/>
                    <a:ea typeface="+mn-ea"/>
                  </a:rPr>
                  <a:t>The constant </a:t>
                </a:r>
                <a:r>
                  <a:rPr kumimoji="0" lang="el-GR" sz="2400" b="1" i="1" u="none" strike="noStrike" kern="1200" cap="none" spc="0" normalizeH="0" baseline="0" noProof="0" dirty="0">
                    <a:ln>
                      <a:noFill/>
                    </a:ln>
                    <a:effectLst/>
                    <a:uLnTx/>
                    <a:uFillTx/>
                    <a:latin typeface="Arial"/>
                    <a:ea typeface="+mn-ea"/>
                    <a:cs typeface="Arial" charset="0"/>
                  </a:rPr>
                  <a:t>μ</a:t>
                </a:r>
                <a:r>
                  <a:rPr kumimoji="0" lang="en-US" sz="2400" b="1" i="1" u="none" strike="noStrike" kern="1200" cap="none" spc="0" normalizeH="0" baseline="-25000" noProof="0" dirty="0">
                    <a:ln>
                      <a:noFill/>
                    </a:ln>
                    <a:effectLst/>
                    <a:uLnTx/>
                    <a:uFillTx/>
                    <a:latin typeface="Arial"/>
                    <a:ea typeface="+mn-ea"/>
                    <a:cs typeface="Arial" charset="0"/>
                  </a:rPr>
                  <a:t>k</a:t>
                </a:r>
                <a:r>
                  <a:rPr kumimoji="0" lang="en-US" sz="2400" b="1" i="0" u="none" strike="noStrike" kern="1200" cap="none" spc="0" normalizeH="0" baseline="0" noProof="0" dirty="0">
                    <a:ln>
                      <a:noFill/>
                    </a:ln>
                    <a:effectLst/>
                    <a:uLnTx/>
                    <a:uFillTx/>
                    <a:latin typeface="Arial"/>
                    <a:ea typeface="+mn-ea"/>
                    <a:cs typeface="Arial" charset="0"/>
                  </a:rPr>
                  <a:t> is called the </a:t>
                </a:r>
                <a:r>
                  <a:rPr kumimoji="0" lang="en-US" sz="2400" b="1" i="1" u="none" strike="noStrike" kern="1200" cap="none" spc="0" normalizeH="0" baseline="0" noProof="0" dirty="0">
                    <a:ln>
                      <a:noFill/>
                    </a:ln>
                    <a:effectLst/>
                    <a:uLnTx/>
                    <a:uFillTx/>
                    <a:latin typeface="Arial"/>
                    <a:ea typeface="+mn-ea"/>
                    <a:cs typeface="Arial" charset="0"/>
                  </a:rPr>
                  <a:t>coefficient of kinetic friction</a:t>
                </a:r>
                <a:r>
                  <a:rPr lang="en-US" sz="2400" b="1" dirty="0">
                    <a:latin typeface="Arial"/>
                    <a:cs typeface="Arial" charset="0"/>
                  </a:rPr>
                  <a:t> </a:t>
                </a:r>
                <a:r>
                  <a:rPr kumimoji="0" lang="en-US" sz="2400" b="1" i="0" u="none" strike="noStrike" kern="1200" cap="none" spc="0" normalizeH="0" baseline="0" noProof="0" dirty="0">
                    <a:ln>
                      <a:noFill/>
                    </a:ln>
                    <a:effectLst/>
                    <a:uLnTx/>
                    <a:uFillTx/>
                    <a:latin typeface="Arial"/>
                    <a:ea typeface="+mn-ea"/>
                    <a:cs typeface="Arial" charset="0"/>
                  </a:rPr>
                  <a:t> and is usually smaller than </a:t>
                </a:r>
                <a:r>
                  <a:rPr kumimoji="0" lang="el-GR" sz="2400" b="1" i="1" u="none" strike="noStrike" kern="1200" cap="none" spc="0" normalizeH="0" baseline="0" noProof="0" dirty="0">
                    <a:ln>
                      <a:noFill/>
                    </a:ln>
                    <a:effectLst/>
                    <a:uLnTx/>
                    <a:uFillTx/>
                    <a:latin typeface="Arial"/>
                    <a:ea typeface="+mn-ea"/>
                    <a:cs typeface="Arial" charset="0"/>
                  </a:rPr>
                  <a:t>μ</a:t>
                </a:r>
                <a:r>
                  <a:rPr kumimoji="0" lang="en-US" sz="2400" b="1" i="1" u="none" strike="noStrike" kern="1200" cap="none" spc="0" normalizeH="0" baseline="-25000" noProof="0" dirty="0">
                    <a:ln>
                      <a:noFill/>
                    </a:ln>
                    <a:effectLst/>
                    <a:uLnTx/>
                    <a:uFillTx/>
                    <a:latin typeface="Arial"/>
                    <a:ea typeface="+mn-ea"/>
                    <a:cs typeface="Arial" charset="0"/>
                  </a:rPr>
                  <a:t>s</a:t>
                </a:r>
                <a:r>
                  <a:rPr kumimoji="0" lang="en-US" sz="2400" b="1" i="0" u="none" strike="noStrike" kern="1200" cap="none" spc="0" normalizeH="0" baseline="0" noProof="0" dirty="0">
                    <a:ln>
                      <a:noFill/>
                    </a:ln>
                    <a:effectLst/>
                    <a:uLnTx/>
                    <a:uFillTx/>
                    <a:latin typeface="Arial"/>
                    <a:ea typeface="+mn-ea"/>
                    <a:cs typeface="Arial" charset="0"/>
                  </a:rPr>
                  <a:t>.</a:t>
                </a:r>
                <a14:m>
                  <m:oMath xmlns:m="http://schemas.openxmlformats.org/officeDocument/2006/math">
                    <m:r>
                      <a:rPr lang="en-US" sz="1800" b="1" i="1"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kumimoji="0" lang="en-US" sz="2800" b="1" i="0" u="none" strike="noStrike" kern="1200" cap="none" spc="0" normalizeH="0" baseline="0" noProof="0" dirty="0">
                  <a:ln>
                    <a:noFill/>
                  </a:ln>
                  <a:solidFill>
                    <a:srgbClr val="000000">
                      <a:lumMod val="50000"/>
                    </a:srgbClr>
                  </a:solidFill>
                  <a:effectLst/>
                  <a:uLnTx/>
                  <a:uFillTx/>
                  <a:latin typeface="Arial"/>
                  <a:ea typeface="+mn-ea"/>
                  <a:cs typeface="+mn-cs"/>
                </a:endParaRPr>
              </a:p>
            </p:txBody>
          </p:sp>
        </mc:Choice>
        <mc:Fallback xmlns="">
          <p:sp>
            <p:nvSpPr>
              <p:cNvPr id="5" name="Text Box 3"/>
              <p:cNvSpPr txBox="1">
                <a:spLocks noRot="1" noChangeAspect="1" noMove="1" noResize="1" noEditPoints="1" noAdjustHandles="1" noChangeArrowheads="1" noChangeShapeType="1" noTextEdit="1"/>
              </p:cNvSpPr>
              <p:nvPr/>
            </p:nvSpPr>
            <p:spPr bwMode="auto">
              <a:xfrm>
                <a:off x="461904" y="858785"/>
                <a:ext cx="8244468" cy="4893647"/>
              </a:xfrm>
              <a:prstGeom prst="rect">
                <a:avLst/>
              </a:prstGeom>
              <a:blipFill>
                <a:blip r:embed="rId3"/>
                <a:stretch>
                  <a:fillRect l="-1036" t="-872" r="-518" b="-1993"/>
                </a:stretch>
              </a:blipFill>
              <a:ln w="9525">
                <a:noFill/>
                <a:miter lim="800000"/>
                <a:headEnd/>
                <a:tailEnd/>
              </a:ln>
              <a:effectLst/>
            </p:spPr>
            <p:txBody>
              <a:bodyPr/>
              <a:lstStyle/>
              <a:p>
                <a:r>
                  <a:rPr lang="en-US">
                    <a:noFill/>
                  </a:rPr>
                  <a:t> </a:t>
                </a:r>
              </a:p>
            </p:txBody>
          </p:sp>
        </mc:Fallback>
      </mc:AlternateContent>
      <p:pic>
        <p:nvPicPr>
          <p:cNvPr id="3" name="Picture 2" descr="Raji K Physics Logo">
            <a:extLst>
              <a:ext uri="{FF2B5EF4-FFF2-40B4-BE49-F238E27FC236}">
                <a16:creationId xmlns:a16="http://schemas.microsoft.com/office/drawing/2014/main" id="{5E2CE810-1701-3511-06D6-3C5F4288DD96}"/>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996713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0544" y="100077"/>
            <a:ext cx="8062912" cy="588627"/>
          </a:xfrm>
        </p:spPr>
        <p:txBody>
          <a:bodyPr/>
          <a:lstStyle/>
          <a:p>
            <a:pPr algn="ctr"/>
            <a:r>
              <a:rPr lang="en-US" dirty="0"/>
              <a:t> </a:t>
            </a:r>
            <a:r>
              <a:rPr lang="en-US" sz="2800" dirty="0">
                <a:solidFill>
                  <a:schemeClr val="tx1"/>
                </a:solidFill>
              </a:rPr>
              <a:t>FRICTION WITH APPLIED FORCE</a:t>
            </a:r>
          </a:p>
        </p:txBody>
      </p:sp>
      <p:pic>
        <p:nvPicPr>
          <p:cNvPr id="2" name="Picture Placeholder 1" descr="(a) The figure shows a block on a horizontal surface. The situation is that of impending motion. The following forces are shown: N vertically up, w vertically down, F to the right, f sub s to the left. Vectors N and w are the same size. Vectors F and f sub s are the same size. (b) The figure shows a block on a horizontal surface. The motion is to the right. The situation is that of friction behaving simply. The following forces are shown: N vertically up, w vertically down, F to the right, f sub k to the left. Vectors N and w are the same size. Vectors F is larger than f sub s. (c) A graph of the magnitude of the friction force f as a function of the applied force F is shown. In the interval from 0 to when the magnitude of f equals f sub s max, the graph is a straight line described by f sub s equals F. This is the static region, and f sub s max equals mu sub s times N. For values of F larger than this maximum value of f, the graph drops a bit then flattens out to a somewhat noisy but constant on average value. This is the kinetic region in which the magnitude of f is f sub k which is also equal to mu sub k times 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696" b="-696"/>
          <a:stretch>
            <a:fillRect/>
          </a:stretch>
        </p:blipFill>
        <p:spPr>
          <a:xfrm>
            <a:off x="1516566" y="688704"/>
            <a:ext cx="6512891" cy="2827214"/>
          </a:xfrm>
        </p:spPr>
      </p:pic>
      <mc:AlternateContent xmlns:mc="http://schemas.openxmlformats.org/markup-compatibility/2006" xmlns:a14="http://schemas.microsoft.com/office/drawing/2010/main">
        <mc:Choice Requires="a14">
          <p:sp>
            <p:nvSpPr>
              <p:cNvPr id="7" name="Text Placeholder 6"/>
              <p:cNvSpPr>
                <a:spLocks noGrp="1"/>
              </p:cNvSpPr>
              <p:nvPr>
                <p:ph type="body" sz="quarter" idx="14"/>
              </p:nvPr>
            </p:nvSpPr>
            <p:spPr>
              <a:xfrm>
                <a:off x="211873" y="3615422"/>
                <a:ext cx="8720254" cy="2926911"/>
              </a:xfrm>
            </p:spPr>
            <p:txBody>
              <a:bodyPr>
                <a:noAutofit/>
              </a:bodyPr>
              <a:lstStyle/>
              <a:p>
                <a:pPr marL="457200" indent="-457200">
                  <a:buClrTx/>
                  <a:buFont typeface="+mj-lt"/>
                  <a:buAutoNum type="alphaLcParenR"/>
                </a:pPr>
                <a:r>
                  <a:rPr lang="en-US" sz="1800" b="1" dirty="0"/>
                  <a:t>The force of friction </a:t>
                </a:r>
                <a14:m>
                  <m:oMath xmlns:m="http://schemas.openxmlformats.org/officeDocument/2006/math">
                    <m:acc>
                      <m:accPr>
                        <m:chr m:val="⃗"/>
                        <m:ctrlPr>
                          <a:rPr lang="en-US" sz="1800" b="1" i="1">
                            <a:solidFill>
                              <a:schemeClr val="tx1"/>
                            </a:solidFill>
                            <a:latin typeface="Cambria Math" panose="02040503050406030204" pitchFamily="18" charset="0"/>
                          </a:rPr>
                        </m:ctrlPr>
                      </m:accPr>
                      <m:e>
                        <m:r>
                          <a:rPr lang="en-US" sz="1800" b="1" i="0">
                            <a:solidFill>
                              <a:schemeClr val="tx1"/>
                            </a:solidFill>
                            <a:latin typeface="Cambria Math" panose="02040503050406030204" pitchFamily="18" charset="0"/>
                          </a:rPr>
                          <m:t>𝐟</m:t>
                        </m:r>
                      </m:e>
                    </m:acc>
                  </m:oMath>
                </a14:m>
                <a:r>
                  <a:rPr lang="en-US" sz="1800" b="1" dirty="0"/>
                  <a:t> between the block and the rough surface opposes the direction of the applied force </a:t>
                </a:r>
                <a14:m>
                  <m:oMath xmlns:m="http://schemas.openxmlformats.org/officeDocument/2006/math">
                    <m:acc>
                      <m:accPr>
                        <m:chr m:val="⃗"/>
                        <m:ctrlPr>
                          <a:rPr lang="en-US" sz="1800" b="1" i="1">
                            <a:solidFill>
                              <a:schemeClr val="tx1"/>
                            </a:solidFill>
                            <a:latin typeface="Cambria Math" panose="02040503050406030204" pitchFamily="18" charset="0"/>
                          </a:rPr>
                        </m:ctrlPr>
                      </m:accPr>
                      <m:e>
                        <m:r>
                          <a:rPr lang="en-US" sz="1800" b="1" i="0" smtClean="0">
                            <a:solidFill>
                              <a:schemeClr val="tx1"/>
                            </a:solidFill>
                            <a:latin typeface="Cambria Math" panose="02040503050406030204" pitchFamily="18" charset="0"/>
                          </a:rPr>
                          <m:t>𝐅</m:t>
                        </m:r>
                      </m:e>
                    </m:acc>
                  </m:oMath>
                </a14:m>
                <a:r>
                  <a:rPr lang="en-US" sz="1800" b="1" dirty="0"/>
                  <a:t>. The magnitude of the static friction balances that of the applied force. This is shown in the left side of the graph in </a:t>
                </a:r>
                <a:r>
                  <a:rPr lang="en-US" sz="1800" b="1" dirty="0">
                    <a:solidFill>
                      <a:schemeClr val="tx1"/>
                    </a:solidFill>
                  </a:rPr>
                  <a:t>(c). </a:t>
                </a:r>
              </a:p>
              <a:p>
                <a:pPr marL="457200" indent="-457200">
                  <a:buClrTx/>
                  <a:buFont typeface="+mj-lt"/>
                  <a:buAutoNum type="alphaLcParenR"/>
                </a:pPr>
                <a:r>
                  <a:rPr lang="en-US" sz="1800" b="1" dirty="0"/>
                  <a:t>At some point, the magnitude of the applied force is greater than the force of kinetic friction, and the block moves to the right. This is shown in the right side of the graph.</a:t>
                </a:r>
              </a:p>
              <a:p>
                <a:pPr marL="457200" indent="-457200">
                  <a:buClrTx/>
                  <a:buFont typeface="+mj-lt"/>
                  <a:buAutoNum type="alphaLcParenR"/>
                </a:pPr>
                <a:r>
                  <a:rPr lang="en-US" sz="1800" b="1" dirty="0"/>
                  <a:t>The graph of the frictional force versus the applied force; note that </a:t>
                </a: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𝒇</m:t>
                        </m:r>
                      </m:e>
                      <m:sub>
                        <m:r>
                          <a:rPr lang="en-US" sz="1800" b="1" i="0" smtClean="0">
                            <a:latin typeface="Cambria Math" panose="02040503050406030204" pitchFamily="18" charset="0"/>
                          </a:rPr>
                          <m:t>𝐬</m:t>
                        </m:r>
                      </m:sub>
                    </m:sSub>
                    <m:d>
                      <m:dPr>
                        <m:ctrlPr>
                          <a:rPr lang="en-US" sz="1800" b="1" i="1" smtClean="0">
                            <a:latin typeface="Cambria Math" panose="02040503050406030204" pitchFamily="18" charset="0"/>
                          </a:rPr>
                        </m:ctrlPr>
                      </m:dPr>
                      <m:e>
                        <m:r>
                          <a:rPr lang="en-US" sz="1800" b="1" i="0" smtClean="0">
                            <a:latin typeface="Cambria Math" panose="02040503050406030204" pitchFamily="18" charset="0"/>
                          </a:rPr>
                          <m:t>𝐦𝐚𝐱</m:t>
                        </m:r>
                      </m:e>
                    </m:d>
                    <m:r>
                      <a:rPr lang="en-US" sz="1800" b="1" i="1" smtClean="0">
                        <a:latin typeface="Cambria Math" panose="02040503050406030204" pitchFamily="18" charset="0"/>
                      </a:rPr>
                      <m:t> </m:t>
                    </m:r>
                    <m:r>
                      <a:rPr lang="en-US" sz="1800" b="1" i="1" smtClean="0">
                        <a:latin typeface="Cambria Math" panose="02040503050406030204" pitchFamily="18" charset="0"/>
                        <a:ea typeface="Cambria Math"/>
                      </a:rPr>
                      <m:t>&gt; </m:t>
                    </m:r>
                    <m:sSub>
                      <m:sSubPr>
                        <m:ctrlPr>
                          <a:rPr lang="en-US" sz="1800" b="1" i="1">
                            <a:latin typeface="Cambria Math" panose="02040503050406030204" pitchFamily="18" charset="0"/>
                          </a:rPr>
                        </m:ctrlPr>
                      </m:sSubPr>
                      <m:e>
                        <m:r>
                          <a:rPr lang="en-US" sz="1800" b="1" i="1">
                            <a:latin typeface="Cambria Math" panose="02040503050406030204" pitchFamily="18" charset="0"/>
                          </a:rPr>
                          <m:t>𝒇</m:t>
                        </m:r>
                      </m:e>
                      <m:sub>
                        <m:r>
                          <a:rPr lang="en-US" sz="1800" b="1" i="0" smtClean="0">
                            <a:latin typeface="Cambria Math" panose="02040503050406030204" pitchFamily="18" charset="0"/>
                          </a:rPr>
                          <m:t>𝐤</m:t>
                        </m:r>
                      </m:sub>
                    </m:sSub>
                  </m:oMath>
                </a14:m>
                <a:r>
                  <a:rPr lang="en-US" sz="1800" b="1" dirty="0"/>
                  <a:t>. This means that </a:t>
                </a: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ea typeface="Cambria Math"/>
                          </a:rPr>
                          <m:t>𝝁</m:t>
                        </m:r>
                      </m:e>
                      <m:sub>
                        <m:r>
                          <a:rPr lang="en-US" sz="1800" b="1" i="1">
                            <a:latin typeface="Cambria Math" panose="02040503050406030204" pitchFamily="18" charset="0"/>
                          </a:rPr>
                          <m:t>𝐬</m:t>
                        </m:r>
                        <m:r>
                          <a:rPr lang="en-US" sz="1800" b="1" i="0" smtClean="0">
                            <a:latin typeface="Cambria Math" panose="02040503050406030204" pitchFamily="18" charset="0"/>
                          </a:rPr>
                          <m:t> </m:t>
                        </m:r>
                      </m:sub>
                    </m:sSub>
                    <m:r>
                      <a:rPr lang="en-US" sz="1800" b="1" i="1" smtClean="0">
                        <a:latin typeface="Cambria Math" panose="02040503050406030204" pitchFamily="18" charset="0"/>
                        <a:ea typeface="Cambria Math"/>
                      </a:rPr>
                      <m:t>&gt; </m:t>
                    </m:r>
                    <m:sSub>
                      <m:sSubPr>
                        <m:ctrlPr>
                          <a:rPr lang="en-US" sz="1800" b="1" i="1" smtClean="0">
                            <a:latin typeface="Cambria Math" panose="02040503050406030204" pitchFamily="18" charset="0"/>
                          </a:rPr>
                        </m:ctrlPr>
                      </m:sSubPr>
                      <m:e>
                        <m:r>
                          <a:rPr lang="en-US" sz="1800" b="1" i="1">
                            <a:latin typeface="Cambria Math" panose="02040503050406030204" pitchFamily="18" charset="0"/>
                            <a:ea typeface="Cambria Math"/>
                          </a:rPr>
                          <m:t>𝝁</m:t>
                        </m:r>
                      </m:e>
                      <m:sub>
                        <m:r>
                          <a:rPr lang="en-US" sz="1800" b="1" i="0" smtClean="0">
                            <a:latin typeface="Cambria Math" panose="02040503050406030204" pitchFamily="18" charset="0"/>
                            <a:ea typeface="Cambria Math"/>
                          </a:rPr>
                          <m:t>𝐤</m:t>
                        </m:r>
                      </m:sub>
                    </m:sSub>
                  </m:oMath>
                </a14:m>
                <a:r>
                  <a:rPr lang="en-US" sz="1800" b="1" dirty="0"/>
                  <a:t>.</a:t>
                </a:r>
              </a:p>
            </p:txBody>
          </p:sp>
        </mc:Choice>
        <mc:Fallback xmlns="">
          <p:sp>
            <p:nvSpPr>
              <p:cNvPr id="7" name="Text Placeholder 6"/>
              <p:cNvSpPr>
                <a:spLocks noGrp="1" noRot="1" noChangeAspect="1" noMove="1" noResize="1" noEditPoints="1" noAdjustHandles="1" noChangeArrowheads="1" noChangeShapeType="1" noTextEdit="1"/>
              </p:cNvSpPr>
              <p:nvPr>
                <p:ph type="body" sz="quarter" idx="14"/>
              </p:nvPr>
            </p:nvSpPr>
            <p:spPr>
              <a:xfrm>
                <a:off x="211873" y="3615422"/>
                <a:ext cx="8720254" cy="2926911"/>
              </a:xfrm>
              <a:blipFill>
                <a:blip r:embed="rId3"/>
                <a:stretch>
                  <a:fillRect l="-490" t="-2917" r="-979" b="-2500"/>
                </a:stretch>
              </a:blipFill>
            </p:spPr>
            <p:txBody>
              <a:bodyPr/>
              <a:lstStyle/>
              <a:p>
                <a:r>
                  <a:rPr lang="en-US">
                    <a:noFill/>
                  </a:rPr>
                  <a:t> </a:t>
                </a:r>
              </a:p>
            </p:txBody>
          </p:sp>
        </mc:Fallback>
      </mc:AlternateContent>
      <p:pic>
        <p:nvPicPr>
          <p:cNvPr id="3" name="Picture 2" descr="OpenStax logo">
            <a:extLst>
              <a:ext uri="{FF2B5EF4-FFF2-40B4-BE49-F238E27FC236}">
                <a16:creationId xmlns:a16="http://schemas.microsoft.com/office/drawing/2014/main" id="{6A74E5C2-A765-E9B9-5794-72EAE0DC644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347924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5" name="AutoShape 5" descr="Line"/>
          <p:cNvSpPr>
            <a:spLocks noChangeArrowheads="1"/>
          </p:cNvSpPr>
          <p:nvPr/>
        </p:nvSpPr>
        <p:spPr bwMode="auto">
          <a:xfrm flipH="1">
            <a:off x="4862513" y="2600325"/>
            <a:ext cx="1152525" cy="76200"/>
          </a:xfrm>
          <a:prstGeom prst="rightArrow">
            <a:avLst>
              <a:gd name="adj1" fmla="val 50000"/>
              <a:gd name="adj2" fmla="val 378125"/>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06" name="AutoShape 6" descr="Line"/>
          <p:cNvSpPr>
            <a:spLocks noChangeArrowheads="1"/>
          </p:cNvSpPr>
          <p:nvPr/>
        </p:nvSpPr>
        <p:spPr bwMode="auto">
          <a:xfrm flipH="1">
            <a:off x="4870450" y="2600325"/>
            <a:ext cx="768350" cy="76200"/>
          </a:xfrm>
          <a:prstGeom prst="rightArrow">
            <a:avLst>
              <a:gd name="adj1" fmla="val 50000"/>
              <a:gd name="adj2" fmla="val 252083"/>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02" name="AutoShape 2" descr="Line"/>
          <p:cNvSpPr>
            <a:spLocks noChangeArrowheads="1"/>
          </p:cNvSpPr>
          <p:nvPr/>
        </p:nvSpPr>
        <p:spPr bwMode="auto">
          <a:xfrm>
            <a:off x="2376488" y="2600325"/>
            <a:ext cx="1919287" cy="76200"/>
          </a:xfrm>
          <a:prstGeom prst="rightArrow">
            <a:avLst>
              <a:gd name="adj1" fmla="val 50000"/>
              <a:gd name="adj2" fmla="val 629687"/>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03" name="AutoShape 3" descr="Line"/>
          <p:cNvSpPr>
            <a:spLocks noChangeArrowheads="1"/>
          </p:cNvSpPr>
          <p:nvPr/>
        </p:nvSpPr>
        <p:spPr bwMode="auto">
          <a:xfrm>
            <a:off x="2747963" y="2600325"/>
            <a:ext cx="1535112" cy="76200"/>
          </a:xfrm>
          <a:prstGeom prst="rightArrow">
            <a:avLst>
              <a:gd name="adj1" fmla="val 50000"/>
              <a:gd name="adj2" fmla="val 503646"/>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04" name="AutoShape 4" descr="Line"/>
          <p:cNvSpPr>
            <a:spLocks noChangeArrowheads="1"/>
          </p:cNvSpPr>
          <p:nvPr/>
        </p:nvSpPr>
        <p:spPr bwMode="auto">
          <a:xfrm>
            <a:off x="3124200" y="2600325"/>
            <a:ext cx="1152525" cy="76200"/>
          </a:xfrm>
          <a:prstGeom prst="rightArrow">
            <a:avLst>
              <a:gd name="adj1" fmla="val 50000"/>
              <a:gd name="adj2" fmla="val 378125"/>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07" name="AutoShape 7" descr="Line"/>
          <p:cNvSpPr>
            <a:spLocks noChangeArrowheads="1"/>
          </p:cNvSpPr>
          <p:nvPr/>
        </p:nvSpPr>
        <p:spPr bwMode="auto">
          <a:xfrm>
            <a:off x="3505200" y="2600325"/>
            <a:ext cx="768350" cy="76200"/>
          </a:xfrm>
          <a:prstGeom prst="rightArrow">
            <a:avLst>
              <a:gd name="adj1" fmla="val 50000"/>
              <a:gd name="adj2" fmla="val 252083"/>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08" name="Text Box 8"/>
          <p:cNvSpPr txBox="1">
            <a:spLocks noChangeArrowheads="1"/>
          </p:cNvSpPr>
          <p:nvPr/>
        </p:nvSpPr>
        <p:spPr bwMode="auto">
          <a:xfrm>
            <a:off x="2762250" y="3171825"/>
            <a:ext cx="3592513" cy="457200"/>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A50021"/>
                </a:solidFill>
                <a:effectLst/>
                <a:uLnTx/>
                <a:uFillTx/>
                <a:latin typeface="Comic Sans MS" pitchFamily="66" charset="0"/>
                <a:ea typeface="+mn-ea"/>
                <a:cs typeface="+mn-cs"/>
              </a:rPr>
              <a:t>On the verge of slipping</a:t>
            </a:r>
          </a:p>
        </p:txBody>
      </p:sp>
      <p:sp>
        <p:nvSpPr>
          <p:cNvPr id="204809" name="Line 9" descr="Line"/>
          <p:cNvSpPr>
            <a:spLocks noChangeShapeType="1"/>
          </p:cNvSpPr>
          <p:nvPr/>
        </p:nvSpPr>
        <p:spPr bwMode="auto">
          <a:xfrm>
            <a:off x="0" y="2927350"/>
            <a:ext cx="9144000" cy="0"/>
          </a:xfrm>
          <a:prstGeom prst="line">
            <a:avLst/>
          </a:prstGeom>
          <a:noFill/>
          <a:ln w="57150">
            <a:solidFill>
              <a:schemeClr val="bg2"/>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10" name="Text Box 10"/>
          <p:cNvSpPr txBox="1">
            <a:spLocks noChangeArrowheads="1"/>
          </p:cNvSpPr>
          <p:nvPr/>
        </p:nvSpPr>
        <p:spPr bwMode="auto">
          <a:xfrm>
            <a:off x="3644900" y="2133600"/>
            <a:ext cx="519113" cy="457200"/>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A50021"/>
                </a:solidFill>
                <a:effectLst/>
                <a:uLnTx/>
                <a:uFillTx/>
                <a:latin typeface="Comic Sans MS" pitchFamily="66" charset="0"/>
                <a:ea typeface="+mn-ea"/>
                <a:cs typeface="+mn-cs"/>
              </a:rPr>
              <a:t>F</a:t>
            </a:r>
            <a:r>
              <a:rPr kumimoji="0" lang="en-US" sz="2400" b="0" i="0" u="none" strike="noStrike" kern="1200" cap="none" spc="0" normalizeH="0" baseline="-25000" noProof="0">
                <a:ln>
                  <a:noFill/>
                </a:ln>
                <a:solidFill>
                  <a:srgbClr val="A50021"/>
                </a:solidFill>
                <a:effectLst/>
                <a:uLnTx/>
                <a:uFillTx/>
                <a:latin typeface="Comic Sans MS" pitchFamily="66" charset="0"/>
                <a:ea typeface="+mn-ea"/>
                <a:cs typeface="+mn-cs"/>
              </a:rPr>
              <a:t>A</a:t>
            </a:r>
            <a:endParaRPr kumimoji="0" lang="en-US" sz="2400" b="0" i="0" u="none" strike="noStrike" kern="1200" cap="none" spc="0" normalizeH="0" baseline="0" noProof="0">
              <a:ln>
                <a:noFill/>
              </a:ln>
              <a:solidFill>
                <a:srgbClr val="A50021"/>
              </a:solidFill>
              <a:effectLst/>
              <a:uLnTx/>
              <a:uFillTx/>
              <a:latin typeface="Comic Sans MS" pitchFamily="66" charset="0"/>
              <a:ea typeface="+mn-ea"/>
              <a:cs typeface="+mn-cs"/>
            </a:endParaRPr>
          </a:p>
        </p:txBody>
      </p:sp>
      <p:sp>
        <p:nvSpPr>
          <p:cNvPr id="204811" name="AutoShape 11" descr="Line"/>
          <p:cNvSpPr>
            <a:spLocks noChangeArrowheads="1"/>
          </p:cNvSpPr>
          <p:nvPr/>
        </p:nvSpPr>
        <p:spPr bwMode="auto">
          <a:xfrm>
            <a:off x="3895725" y="2600325"/>
            <a:ext cx="381000" cy="76200"/>
          </a:xfrm>
          <a:prstGeom prst="rightArrow">
            <a:avLst>
              <a:gd name="adj1" fmla="val 50000"/>
              <a:gd name="adj2" fmla="val 125000"/>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12" name="Rectangle 12" descr="Box"/>
          <p:cNvSpPr>
            <a:spLocks noChangeArrowheads="1"/>
          </p:cNvSpPr>
          <p:nvPr/>
        </p:nvSpPr>
        <p:spPr bwMode="auto">
          <a:xfrm>
            <a:off x="4267200" y="2366963"/>
            <a:ext cx="609600" cy="533400"/>
          </a:xfrm>
          <a:prstGeom prst="rect">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13" name="Text Box 13"/>
          <p:cNvSpPr txBox="1">
            <a:spLocks noChangeArrowheads="1"/>
          </p:cNvSpPr>
          <p:nvPr/>
        </p:nvSpPr>
        <p:spPr bwMode="auto">
          <a:xfrm>
            <a:off x="3990975" y="3190875"/>
            <a:ext cx="1152525" cy="457200"/>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A50021"/>
                </a:solidFill>
                <a:effectLst/>
                <a:uLnTx/>
                <a:uFillTx/>
                <a:latin typeface="Comic Sans MS" pitchFamily="66" charset="0"/>
                <a:ea typeface="+mn-ea"/>
                <a:cs typeface="+mn-cs"/>
              </a:rPr>
              <a:t>Sliding</a:t>
            </a:r>
          </a:p>
        </p:txBody>
      </p:sp>
      <p:sp>
        <p:nvSpPr>
          <p:cNvPr id="204815" name="Text Box 15"/>
          <p:cNvSpPr txBox="1">
            <a:spLocks noChangeArrowheads="1"/>
          </p:cNvSpPr>
          <p:nvPr/>
        </p:nvSpPr>
        <p:spPr bwMode="auto">
          <a:xfrm>
            <a:off x="5046663" y="2133600"/>
            <a:ext cx="369887" cy="457200"/>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1" u="none" strike="noStrike" kern="1200" cap="none" spc="0" normalizeH="0" baseline="0" noProof="0">
                <a:ln>
                  <a:noFill/>
                </a:ln>
                <a:solidFill>
                  <a:srgbClr val="A50021"/>
                </a:solidFill>
                <a:effectLst/>
                <a:uLnTx/>
                <a:uFillTx/>
                <a:latin typeface="Comic Sans MS" pitchFamily="66" charset="0"/>
                <a:ea typeface="+mn-ea"/>
                <a:cs typeface="+mn-cs"/>
              </a:rPr>
              <a:t>F</a:t>
            </a:r>
          </a:p>
        </p:txBody>
      </p:sp>
      <p:sp>
        <p:nvSpPr>
          <p:cNvPr id="204816" name="Text Box 16"/>
          <p:cNvSpPr txBox="1">
            <a:spLocks noChangeArrowheads="1"/>
          </p:cNvSpPr>
          <p:nvPr/>
        </p:nvSpPr>
        <p:spPr bwMode="auto">
          <a:xfrm>
            <a:off x="3197225" y="2025650"/>
            <a:ext cx="625475" cy="579438"/>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0" i="0" u="none" strike="noStrike" kern="1200" cap="none" spc="0" normalizeH="0" baseline="0" noProof="0">
                <a:ln>
                  <a:noFill/>
                </a:ln>
                <a:solidFill>
                  <a:srgbClr val="A50021"/>
                </a:solidFill>
                <a:effectLst/>
                <a:uLnTx/>
                <a:uFillTx/>
                <a:latin typeface="Comic Sans MS" pitchFamily="66" charset="0"/>
                <a:ea typeface="+mn-ea"/>
                <a:cs typeface="+mn-cs"/>
              </a:rPr>
              <a:t>F</a:t>
            </a:r>
            <a:r>
              <a:rPr kumimoji="0" lang="en-US" sz="3200" b="0" i="0" u="none" strike="noStrike" kern="1200" cap="none" spc="0" normalizeH="0" baseline="-25000" noProof="0">
                <a:ln>
                  <a:noFill/>
                </a:ln>
                <a:solidFill>
                  <a:srgbClr val="A50021"/>
                </a:solidFill>
                <a:effectLst/>
                <a:uLnTx/>
                <a:uFillTx/>
                <a:latin typeface="Comic Sans MS" pitchFamily="66" charset="0"/>
                <a:ea typeface="+mn-ea"/>
                <a:cs typeface="+mn-cs"/>
              </a:rPr>
              <a:t>A</a:t>
            </a:r>
            <a:endParaRPr kumimoji="0" lang="en-US" sz="3200" b="0" i="0" u="none" strike="noStrike" kern="1200" cap="none" spc="0" normalizeH="0" baseline="0" noProof="0">
              <a:ln>
                <a:noFill/>
              </a:ln>
              <a:solidFill>
                <a:srgbClr val="A50021"/>
              </a:solidFill>
              <a:effectLst/>
              <a:uLnTx/>
              <a:uFillTx/>
              <a:latin typeface="Comic Sans MS" pitchFamily="66" charset="0"/>
              <a:ea typeface="+mn-ea"/>
              <a:cs typeface="+mn-cs"/>
            </a:endParaRPr>
          </a:p>
        </p:txBody>
      </p:sp>
      <p:sp>
        <p:nvSpPr>
          <p:cNvPr id="204817" name="Text Box 17"/>
          <p:cNvSpPr txBox="1">
            <a:spLocks noChangeArrowheads="1"/>
          </p:cNvSpPr>
          <p:nvPr/>
        </p:nvSpPr>
        <p:spPr bwMode="auto">
          <a:xfrm>
            <a:off x="5424488" y="2020888"/>
            <a:ext cx="430212" cy="579437"/>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1" u="none" strike="noStrike" kern="1200" cap="none" spc="0" normalizeH="0" baseline="0" noProof="0">
                <a:ln>
                  <a:noFill/>
                </a:ln>
                <a:solidFill>
                  <a:srgbClr val="A50021"/>
                </a:solidFill>
                <a:effectLst/>
                <a:uLnTx/>
                <a:uFillTx/>
                <a:latin typeface="Comic Sans MS" pitchFamily="66" charset="0"/>
                <a:ea typeface="+mn-ea"/>
                <a:cs typeface="+mn-cs"/>
              </a:rPr>
              <a:t>F</a:t>
            </a:r>
          </a:p>
        </p:txBody>
      </p:sp>
      <p:sp>
        <p:nvSpPr>
          <p:cNvPr id="204818" name="Text Box 18"/>
          <p:cNvSpPr txBox="1">
            <a:spLocks noChangeArrowheads="1"/>
          </p:cNvSpPr>
          <p:nvPr/>
        </p:nvSpPr>
        <p:spPr bwMode="auto">
          <a:xfrm>
            <a:off x="5756275" y="1895475"/>
            <a:ext cx="492125" cy="701675"/>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000" b="1" i="1" u="none" strike="noStrike" kern="1200" cap="none" spc="0" normalizeH="0" baseline="0" noProof="0" dirty="0">
                <a:ln>
                  <a:noFill/>
                </a:ln>
                <a:solidFill>
                  <a:srgbClr val="A50021"/>
                </a:solidFill>
                <a:effectLst/>
                <a:uLnTx/>
                <a:uFillTx/>
                <a:latin typeface="Comic Sans MS" pitchFamily="66" charset="0"/>
                <a:ea typeface="+mn-ea"/>
                <a:cs typeface="+mn-cs"/>
              </a:rPr>
              <a:t>F</a:t>
            </a:r>
          </a:p>
        </p:txBody>
      </p:sp>
      <p:sp>
        <p:nvSpPr>
          <p:cNvPr id="204819" name="Text Box 19"/>
          <p:cNvSpPr txBox="1">
            <a:spLocks noChangeArrowheads="1"/>
          </p:cNvSpPr>
          <p:nvPr/>
        </p:nvSpPr>
        <p:spPr bwMode="auto">
          <a:xfrm>
            <a:off x="2743200" y="1905000"/>
            <a:ext cx="742950" cy="701675"/>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000" b="0" i="0" u="none" strike="noStrike" kern="1200" cap="none" spc="0" normalizeH="0" baseline="0" noProof="0">
                <a:ln>
                  <a:noFill/>
                </a:ln>
                <a:solidFill>
                  <a:srgbClr val="A50021"/>
                </a:solidFill>
                <a:effectLst/>
                <a:uLnTx/>
                <a:uFillTx/>
                <a:latin typeface="Comic Sans MS" pitchFamily="66" charset="0"/>
                <a:ea typeface="+mn-ea"/>
                <a:cs typeface="+mn-cs"/>
              </a:rPr>
              <a:t>F</a:t>
            </a:r>
            <a:r>
              <a:rPr kumimoji="0" lang="en-US" sz="4000" b="0" i="0" u="none" strike="noStrike" kern="1200" cap="none" spc="0" normalizeH="0" baseline="-25000" noProof="0">
                <a:ln>
                  <a:noFill/>
                </a:ln>
                <a:solidFill>
                  <a:srgbClr val="A50021"/>
                </a:solidFill>
                <a:effectLst/>
                <a:uLnTx/>
                <a:uFillTx/>
                <a:latin typeface="Comic Sans MS" pitchFamily="66" charset="0"/>
                <a:ea typeface="+mn-ea"/>
                <a:cs typeface="+mn-cs"/>
              </a:rPr>
              <a:t>A</a:t>
            </a:r>
            <a:endParaRPr kumimoji="0" lang="en-US" sz="4000" b="0" i="0" u="none" strike="noStrike" kern="1200" cap="none" spc="0" normalizeH="0" baseline="0" noProof="0">
              <a:ln>
                <a:noFill/>
              </a:ln>
              <a:solidFill>
                <a:srgbClr val="A50021"/>
              </a:solidFill>
              <a:effectLst/>
              <a:uLnTx/>
              <a:uFillTx/>
              <a:latin typeface="Comic Sans MS" pitchFamily="66" charset="0"/>
              <a:ea typeface="+mn-ea"/>
              <a:cs typeface="+mn-cs"/>
            </a:endParaRPr>
          </a:p>
        </p:txBody>
      </p:sp>
      <p:sp>
        <p:nvSpPr>
          <p:cNvPr id="204820" name="Text Box 20"/>
          <p:cNvSpPr txBox="1">
            <a:spLocks noChangeArrowheads="1"/>
          </p:cNvSpPr>
          <p:nvPr/>
        </p:nvSpPr>
        <p:spPr bwMode="auto">
          <a:xfrm>
            <a:off x="2311400" y="1770063"/>
            <a:ext cx="850900" cy="8239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800" b="0" i="0" u="none" strike="noStrike" kern="1200" cap="none" spc="0" normalizeH="0" baseline="0" noProof="0">
                <a:ln>
                  <a:noFill/>
                </a:ln>
                <a:solidFill>
                  <a:srgbClr val="A50021"/>
                </a:solidFill>
                <a:effectLst/>
                <a:uLnTx/>
                <a:uFillTx/>
                <a:latin typeface="Comic Sans MS" pitchFamily="66" charset="0"/>
                <a:ea typeface="+mn-ea"/>
                <a:cs typeface="+mn-cs"/>
              </a:rPr>
              <a:t>F</a:t>
            </a:r>
            <a:r>
              <a:rPr kumimoji="0" lang="en-US" sz="4800" b="0" i="0" u="none" strike="noStrike" kern="1200" cap="none" spc="0" normalizeH="0" baseline="-25000" noProof="0">
                <a:ln>
                  <a:noFill/>
                </a:ln>
                <a:solidFill>
                  <a:srgbClr val="A50021"/>
                </a:solidFill>
                <a:effectLst/>
                <a:uLnTx/>
                <a:uFillTx/>
                <a:latin typeface="Comic Sans MS" pitchFamily="66" charset="0"/>
                <a:ea typeface="+mn-ea"/>
                <a:cs typeface="+mn-cs"/>
              </a:rPr>
              <a:t>A</a:t>
            </a:r>
            <a:endParaRPr kumimoji="0" lang="en-US" sz="4800" b="0" i="0" u="none" strike="noStrike" kern="1200" cap="none" spc="0" normalizeH="0" baseline="0" noProof="0">
              <a:ln>
                <a:noFill/>
              </a:ln>
              <a:solidFill>
                <a:srgbClr val="A50021"/>
              </a:solidFill>
              <a:effectLst/>
              <a:uLnTx/>
              <a:uFillTx/>
              <a:latin typeface="Comic Sans MS" pitchFamily="66" charset="0"/>
              <a:ea typeface="+mn-ea"/>
              <a:cs typeface="+mn-cs"/>
            </a:endParaRPr>
          </a:p>
        </p:txBody>
      </p:sp>
      <p:sp>
        <p:nvSpPr>
          <p:cNvPr id="204821" name="Text Box 21"/>
          <p:cNvSpPr txBox="1">
            <a:spLocks noChangeArrowheads="1"/>
          </p:cNvSpPr>
          <p:nvPr/>
        </p:nvSpPr>
        <p:spPr bwMode="auto">
          <a:xfrm>
            <a:off x="1905000" y="1676400"/>
            <a:ext cx="935038" cy="914400"/>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5400" b="0" i="0" u="none" strike="noStrike" kern="1200" cap="none" spc="0" normalizeH="0" baseline="0" noProof="0">
                <a:ln>
                  <a:noFill/>
                </a:ln>
                <a:solidFill>
                  <a:srgbClr val="A50021"/>
                </a:solidFill>
                <a:effectLst/>
                <a:uLnTx/>
                <a:uFillTx/>
                <a:latin typeface="Comic Sans MS" pitchFamily="66" charset="0"/>
                <a:ea typeface="+mn-ea"/>
                <a:cs typeface="+mn-cs"/>
              </a:rPr>
              <a:t>F</a:t>
            </a:r>
            <a:r>
              <a:rPr kumimoji="0" lang="en-US" sz="5400" b="0" i="0" u="none" strike="noStrike" kern="1200" cap="none" spc="0" normalizeH="0" baseline="-25000" noProof="0">
                <a:ln>
                  <a:noFill/>
                </a:ln>
                <a:solidFill>
                  <a:srgbClr val="A50021"/>
                </a:solidFill>
                <a:effectLst/>
                <a:uLnTx/>
                <a:uFillTx/>
                <a:latin typeface="Comic Sans MS" pitchFamily="66" charset="0"/>
                <a:ea typeface="+mn-ea"/>
                <a:cs typeface="+mn-cs"/>
              </a:rPr>
              <a:t>A</a:t>
            </a:r>
            <a:endParaRPr kumimoji="0" lang="en-US" sz="5400" b="0" i="0" u="none" strike="noStrike" kern="1200" cap="none" spc="0" normalizeH="0" baseline="0" noProof="0">
              <a:ln>
                <a:noFill/>
              </a:ln>
              <a:solidFill>
                <a:srgbClr val="A50021"/>
              </a:solidFill>
              <a:effectLst/>
              <a:uLnTx/>
              <a:uFillTx/>
              <a:latin typeface="Comic Sans MS" pitchFamily="66" charset="0"/>
              <a:ea typeface="+mn-ea"/>
              <a:cs typeface="+mn-cs"/>
            </a:endParaRPr>
          </a:p>
        </p:txBody>
      </p:sp>
      <p:sp>
        <p:nvSpPr>
          <p:cNvPr id="204823" name="Line 23" descr="Static Friction"/>
          <p:cNvSpPr>
            <a:spLocks noChangeShapeType="1"/>
          </p:cNvSpPr>
          <p:nvPr/>
        </p:nvSpPr>
        <p:spPr bwMode="auto">
          <a:xfrm>
            <a:off x="4849813" y="5029200"/>
            <a:ext cx="1752600" cy="0"/>
          </a:xfrm>
          <a:prstGeom prst="line">
            <a:avLst/>
          </a:prstGeom>
          <a:noFill/>
          <a:ln w="19050">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24" name="Freeform 24" descr="Slipping"/>
          <p:cNvSpPr>
            <a:spLocks/>
          </p:cNvSpPr>
          <p:nvPr/>
        </p:nvSpPr>
        <p:spPr bwMode="auto">
          <a:xfrm>
            <a:off x="3998913" y="5614988"/>
            <a:ext cx="1587" cy="419100"/>
          </a:xfrm>
          <a:custGeom>
            <a:avLst/>
            <a:gdLst>
              <a:gd name="T0" fmla="*/ 0 w 1"/>
              <a:gd name="T1" fmla="*/ 0 h 264"/>
              <a:gd name="T2" fmla="*/ 0 w 1"/>
              <a:gd name="T3" fmla="*/ 2147483647 h 264"/>
              <a:gd name="T4" fmla="*/ 0 60000 65536"/>
              <a:gd name="T5" fmla="*/ 0 60000 65536"/>
              <a:gd name="T6" fmla="*/ 0 w 1"/>
              <a:gd name="T7" fmla="*/ 0 h 264"/>
              <a:gd name="T8" fmla="*/ 1 w 1"/>
              <a:gd name="T9" fmla="*/ 264 h 264"/>
            </a:gdLst>
            <a:ahLst/>
            <a:cxnLst>
              <a:cxn ang="T4">
                <a:pos x="T0" y="T1"/>
              </a:cxn>
              <a:cxn ang="T5">
                <a:pos x="T2" y="T3"/>
              </a:cxn>
            </a:cxnLst>
            <a:rect l="T6" t="T7" r="T8" b="T9"/>
            <a:pathLst>
              <a:path w="1" h="264">
                <a:moveTo>
                  <a:pt x="0" y="0"/>
                </a:moveTo>
                <a:lnTo>
                  <a:pt x="0" y="264"/>
                </a:lnTo>
              </a:path>
            </a:pathLst>
          </a:custGeom>
          <a:solidFill>
            <a:srgbClr val="FFFFCC"/>
          </a:solidFill>
          <a:ln w="9525" cap="flat" cmpd="sng">
            <a:solidFill>
              <a:srgbClr val="000000"/>
            </a:solidFill>
            <a:prstDash val="sysDot"/>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25" name="Freeform 25" descr="Kinetic friction"/>
          <p:cNvSpPr>
            <a:spLocks/>
          </p:cNvSpPr>
          <p:nvPr/>
        </p:nvSpPr>
        <p:spPr bwMode="auto">
          <a:xfrm rot="5400000" flipH="1">
            <a:off x="3790156" y="5409407"/>
            <a:ext cx="1587" cy="419100"/>
          </a:xfrm>
          <a:custGeom>
            <a:avLst/>
            <a:gdLst>
              <a:gd name="T0" fmla="*/ 0 w 1"/>
              <a:gd name="T1" fmla="*/ 0 h 264"/>
              <a:gd name="T2" fmla="*/ 0 w 1"/>
              <a:gd name="T3" fmla="*/ 2147483647 h 264"/>
              <a:gd name="T4" fmla="*/ 0 60000 65536"/>
              <a:gd name="T5" fmla="*/ 0 60000 65536"/>
              <a:gd name="T6" fmla="*/ 0 w 1"/>
              <a:gd name="T7" fmla="*/ 0 h 264"/>
              <a:gd name="T8" fmla="*/ 1 w 1"/>
              <a:gd name="T9" fmla="*/ 264 h 264"/>
            </a:gdLst>
            <a:ahLst/>
            <a:cxnLst>
              <a:cxn ang="T4">
                <a:pos x="T0" y="T1"/>
              </a:cxn>
              <a:cxn ang="T5">
                <a:pos x="T2" y="T3"/>
              </a:cxn>
            </a:cxnLst>
            <a:rect l="T6" t="T7" r="T8" b="T9"/>
            <a:pathLst>
              <a:path w="1" h="264">
                <a:moveTo>
                  <a:pt x="0" y="0"/>
                </a:moveTo>
                <a:lnTo>
                  <a:pt x="0" y="264"/>
                </a:lnTo>
              </a:path>
            </a:pathLst>
          </a:custGeom>
          <a:solidFill>
            <a:srgbClr val="FFFFCC"/>
          </a:solidFill>
          <a:ln w="9525" cap="flat" cmpd="sng">
            <a:solidFill>
              <a:srgbClr val="000000"/>
            </a:solidFill>
            <a:prstDash val="sysDot"/>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26" name="Line 26" descr="Friction"/>
          <p:cNvSpPr>
            <a:spLocks noChangeShapeType="1"/>
          </p:cNvSpPr>
          <p:nvPr/>
        </p:nvSpPr>
        <p:spPr bwMode="auto">
          <a:xfrm>
            <a:off x="5715000" y="5029200"/>
            <a:ext cx="0" cy="990600"/>
          </a:xfrm>
          <a:prstGeom prst="line">
            <a:avLst/>
          </a:prstGeom>
          <a:noFill/>
          <a:ln w="9525">
            <a:solidFill>
              <a:srgbClr val="000000"/>
            </a:solidFill>
            <a:prstDash val="sysDot"/>
            <a:round/>
            <a:headEnd type="none" w="sm" len="sm"/>
            <a:tailEnd type="none" w="sm" len="sm"/>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27" name="Line 27" descr="Friction"/>
          <p:cNvSpPr>
            <a:spLocks noChangeShapeType="1"/>
          </p:cNvSpPr>
          <p:nvPr/>
        </p:nvSpPr>
        <p:spPr bwMode="auto">
          <a:xfrm>
            <a:off x="3581400" y="5029200"/>
            <a:ext cx="2138363" cy="0"/>
          </a:xfrm>
          <a:prstGeom prst="line">
            <a:avLst/>
          </a:prstGeom>
          <a:noFill/>
          <a:ln w="12700">
            <a:solidFill>
              <a:srgbClr val="000000"/>
            </a:solidFill>
            <a:prstDash val="sysDot"/>
            <a:round/>
            <a:headEnd type="none" w="sm" len="sm"/>
            <a:tailEnd type="none" w="sm" len="sm"/>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28" name="Freeform 28" descr="Applied force"/>
          <p:cNvSpPr>
            <a:spLocks/>
          </p:cNvSpPr>
          <p:nvPr/>
        </p:nvSpPr>
        <p:spPr bwMode="auto">
          <a:xfrm>
            <a:off x="4843463" y="4767263"/>
            <a:ext cx="4762" cy="1262062"/>
          </a:xfrm>
          <a:custGeom>
            <a:avLst/>
            <a:gdLst>
              <a:gd name="T0" fmla="*/ 0 w 1"/>
              <a:gd name="T1" fmla="*/ 0 h 264"/>
              <a:gd name="T2" fmla="*/ 0 w 1"/>
              <a:gd name="T3" fmla="*/ 2147483647 h 264"/>
              <a:gd name="T4" fmla="*/ 0 60000 65536"/>
              <a:gd name="T5" fmla="*/ 0 60000 65536"/>
              <a:gd name="T6" fmla="*/ 0 w 1"/>
              <a:gd name="T7" fmla="*/ 0 h 264"/>
              <a:gd name="T8" fmla="*/ 1 w 1"/>
              <a:gd name="T9" fmla="*/ 264 h 264"/>
            </a:gdLst>
            <a:ahLst/>
            <a:cxnLst>
              <a:cxn ang="T4">
                <a:pos x="T0" y="T1"/>
              </a:cxn>
              <a:cxn ang="T5">
                <a:pos x="T2" y="T3"/>
              </a:cxn>
            </a:cxnLst>
            <a:rect l="T6" t="T7" r="T8" b="T9"/>
            <a:pathLst>
              <a:path w="1" h="264">
                <a:moveTo>
                  <a:pt x="0" y="0"/>
                </a:moveTo>
                <a:lnTo>
                  <a:pt x="0" y="264"/>
                </a:lnTo>
              </a:path>
            </a:pathLst>
          </a:custGeom>
          <a:solidFill>
            <a:srgbClr val="FFFFCC"/>
          </a:solidFill>
          <a:ln w="9525" cap="flat" cmpd="sng">
            <a:solidFill>
              <a:srgbClr val="000000"/>
            </a:solidFill>
            <a:prstDash val="sysDot"/>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29" name="Freeform 29" descr="Static Friction"/>
          <p:cNvSpPr>
            <a:spLocks/>
          </p:cNvSpPr>
          <p:nvPr/>
        </p:nvSpPr>
        <p:spPr bwMode="auto">
          <a:xfrm rot="5400000" flipH="1">
            <a:off x="4214813" y="4148138"/>
            <a:ext cx="4762" cy="1262062"/>
          </a:xfrm>
          <a:custGeom>
            <a:avLst/>
            <a:gdLst>
              <a:gd name="T0" fmla="*/ 0 w 1"/>
              <a:gd name="T1" fmla="*/ 0 h 264"/>
              <a:gd name="T2" fmla="*/ 0 w 1"/>
              <a:gd name="T3" fmla="*/ 2147483647 h 264"/>
              <a:gd name="T4" fmla="*/ 0 60000 65536"/>
              <a:gd name="T5" fmla="*/ 0 60000 65536"/>
              <a:gd name="T6" fmla="*/ 0 w 1"/>
              <a:gd name="T7" fmla="*/ 0 h 264"/>
              <a:gd name="T8" fmla="*/ 1 w 1"/>
              <a:gd name="T9" fmla="*/ 264 h 264"/>
            </a:gdLst>
            <a:ahLst/>
            <a:cxnLst>
              <a:cxn ang="T4">
                <a:pos x="T0" y="T1"/>
              </a:cxn>
              <a:cxn ang="T5">
                <a:pos x="T2" y="T3"/>
              </a:cxn>
            </a:cxnLst>
            <a:rect l="T6" t="T7" r="T8" b="T9"/>
            <a:pathLst>
              <a:path w="1" h="264">
                <a:moveTo>
                  <a:pt x="0" y="0"/>
                </a:moveTo>
                <a:lnTo>
                  <a:pt x="0" y="264"/>
                </a:lnTo>
              </a:path>
            </a:pathLst>
          </a:custGeom>
          <a:solidFill>
            <a:srgbClr val="FFFFCC"/>
          </a:solidFill>
          <a:ln w="9525" cap="flat" cmpd="sng">
            <a:solidFill>
              <a:srgbClr val="000000"/>
            </a:solidFill>
            <a:prstDash val="sysDot"/>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30" name="Line 30" descr="Friction vs applied force"/>
          <p:cNvSpPr>
            <a:spLocks noChangeShapeType="1"/>
          </p:cNvSpPr>
          <p:nvPr/>
        </p:nvSpPr>
        <p:spPr bwMode="auto">
          <a:xfrm flipV="1">
            <a:off x="3581400" y="4776788"/>
            <a:ext cx="1257300" cy="1252537"/>
          </a:xfrm>
          <a:prstGeom prst="line">
            <a:avLst/>
          </a:prstGeom>
          <a:noFill/>
          <a:ln w="19050">
            <a:solidFill>
              <a:srgbClr val="000000"/>
            </a:solidFill>
            <a:round/>
            <a:headEnd/>
            <a:tailEn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31" name="Line 31" descr="Y axis"/>
          <p:cNvSpPr>
            <a:spLocks noChangeShapeType="1"/>
          </p:cNvSpPr>
          <p:nvPr/>
        </p:nvSpPr>
        <p:spPr bwMode="auto">
          <a:xfrm>
            <a:off x="3582988" y="4052888"/>
            <a:ext cx="0" cy="198120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32" name="Line 32" descr="x axis"/>
          <p:cNvSpPr>
            <a:spLocks noChangeShapeType="1"/>
          </p:cNvSpPr>
          <p:nvPr/>
        </p:nvSpPr>
        <p:spPr bwMode="auto">
          <a:xfrm>
            <a:off x="3575050" y="6034088"/>
            <a:ext cx="2819400" cy="0"/>
          </a:xfrm>
          <a:prstGeom prst="line">
            <a:avLst/>
          </a:prstGeom>
          <a:noFill/>
          <a:ln w="28575">
            <a:solidFill>
              <a:srgbClr val="000000"/>
            </a:solidFill>
            <a:round/>
            <a:headEnd/>
            <a:tailEnd/>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33" name="Text Box 33"/>
          <p:cNvSpPr txBox="1">
            <a:spLocks noChangeArrowheads="1"/>
          </p:cNvSpPr>
          <p:nvPr/>
        </p:nvSpPr>
        <p:spPr bwMode="auto">
          <a:xfrm>
            <a:off x="444500" y="4041775"/>
            <a:ext cx="2825750" cy="366713"/>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A50021"/>
                </a:solidFill>
                <a:effectLst/>
                <a:uLnTx/>
                <a:uFillTx/>
                <a:latin typeface="Comic Sans MS" pitchFamily="66" charset="0"/>
                <a:ea typeface="+mn-ea"/>
                <a:cs typeface="+mn-cs"/>
              </a:rPr>
              <a:t>Maximum Static Friction</a:t>
            </a:r>
          </a:p>
        </p:txBody>
      </p:sp>
      <p:sp>
        <p:nvSpPr>
          <p:cNvPr id="204834" name="Text Box 34"/>
          <p:cNvSpPr txBox="1">
            <a:spLocks noChangeArrowheads="1"/>
          </p:cNvSpPr>
          <p:nvPr/>
        </p:nvSpPr>
        <p:spPr bwMode="auto">
          <a:xfrm>
            <a:off x="4002088" y="6110288"/>
            <a:ext cx="2041525"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A50021"/>
                </a:solidFill>
                <a:effectLst/>
                <a:uLnTx/>
                <a:uFillTx/>
                <a:latin typeface="Comic Sans MS" pitchFamily="66" charset="0"/>
                <a:ea typeface="+mn-ea"/>
                <a:cs typeface="+mn-cs"/>
              </a:rPr>
              <a:t>Applied Force, F</a:t>
            </a:r>
            <a:r>
              <a:rPr kumimoji="0" lang="en-US" sz="1800" b="0" i="0" u="none" strike="noStrike" kern="1200" cap="none" spc="0" normalizeH="0" baseline="-25000" noProof="0">
                <a:ln>
                  <a:noFill/>
                </a:ln>
                <a:solidFill>
                  <a:srgbClr val="A50021"/>
                </a:solidFill>
                <a:effectLst/>
                <a:uLnTx/>
                <a:uFillTx/>
                <a:latin typeface="Comic Sans MS" pitchFamily="66" charset="0"/>
                <a:ea typeface="+mn-ea"/>
                <a:cs typeface="+mn-cs"/>
              </a:rPr>
              <a:t>A</a:t>
            </a:r>
            <a:endParaRPr kumimoji="0" lang="en-US" sz="1800" b="0" i="0" u="none" strike="noStrike" kern="1200" cap="none" spc="0" normalizeH="0" baseline="0" noProof="0">
              <a:ln>
                <a:noFill/>
              </a:ln>
              <a:solidFill>
                <a:srgbClr val="A50021"/>
              </a:solidFill>
              <a:effectLst/>
              <a:uLnTx/>
              <a:uFillTx/>
              <a:latin typeface="Comic Sans MS" pitchFamily="66" charset="0"/>
              <a:ea typeface="+mn-ea"/>
              <a:cs typeface="+mn-cs"/>
            </a:endParaRPr>
          </a:p>
        </p:txBody>
      </p:sp>
      <p:sp>
        <p:nvSpPr>
          <p:cNvPr id="204835" name="Text Box 35"/>
          <p:cNvSpPr txBox="1">
            <a:spLocks noChangeArrowheads="1"/>
          </p:cNvSpPr>
          <p:nvPr/>
        </p:nvSpPr>
        <p:spPr bwMode="auto">
          <a:xfrm>
            <a:off x="2170113" y="5199063"/>
            <a:ext cx="1293812"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A50021"/>
                </a:solidFill>
                <a:effectLst/>
                <a:uLnTx/>
                <a:uFillTx/>
                <a:latin typeface="Comic Sans MS" pitchFamily="66" charset="0"/>
                <a:ea typeface="+mn-ea"/>
                <a:cs typeface="+mn-cs"/>
              </a:rPr>
              <a:t>Friction, </a:t>
            </a:r>
            <a:r>
              <a:rPr kumimoji="0" lang="en-US" sz="1800" b="0" i="1" u="none" strike="noStrike" kern="1200" cap="none" spc="0" normalizeH="0" baseline="0" noProof="0">
                <a:ln>
                  <a:noFill/>
                </a:ln>
                <a:solidFill>
                  <a:srgbClr val="A50021"/>
                </a:solidFill>
                <a:effectLst/>
                <a:uLnTx/>
                <a:uFillTx/>
                <a:latin typeface="Comic Sans MS" pitchFamily="66" charset="0"/>
                <a:ea typeface="+mn-ea"/>
                <a:cs typeface="+mn-cs"/>
              </a:rPr>
              <a:t>F</a:t>
            </a:r>
          </a:p>
        </p:txBody>
      </p:sp>
      <p:sp>
        <p:nvSpPr>
          <p:cNvPr id="204836" name="Text Box 36"/>
          <p:cNvSpPr txBox="1">
            <a:spLocks noChangeArrowheads="1"/>
          </p:cNvSpPr>
          <p:nvPr/>
        </p:nvSpPr>
        <p:spPr bwMode="auto">
          <a:xfrm>
            <a:off x="241300" y="5794375"/>
            <a:ext cx="2787650" cy="366713"/>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A50021"/>
                </a:solidFill>
                <a:effectLst/>
                <a:uLnTx/>
                <a:uFillTx/>
                <a:latin typeface="Comic Sans MS" pitchFamily="66" charset="0"/>
                <a:ea typeface="+mn-ea"/>
                <a:cs typeface="+mn-cs"/>
              </a:rPr>
              <a:t>Sliding (Kinetic) Friction</a:t>
            </a:r>
          </a:p>
        </p:txBody>
      </p:sp>
      <p:sp>
        <p:nvSpPr>
          <p:cNvPr id="204837" name="Oval 37" descr="Point"/>
          <p:cNvSpPr>
            <a:spLocks noChangeArrowheads="1"/>
          </p:cNvSpPr>
          <p:nvPr/>
        </p:nvSpPr>
        <p:spPr bwMode="auto">
          <a:xfrm>
            <a:off x="3957638" y="5576888"/>
            <a:ext cx="76200" cy="76200"/>
          </a:xfrm>
          <a:prstGeom prst="ellipse">
            <a:avLst/>
          </a:prstGeom>
          <a:solidFill>
            <a:srgbClr val="000000"/>
          </a:solidFill>
          <a:ln w="9525">
            <a:no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38" name="Oval 38" descr="Point"/>
          <p:cNvSpPr>
            <a:spLocks noChangeArrowheads="1"/>
          </p:cNvSpPr>
          <p:nvPr/>
        </p:nvSpPr>
        <p:spPr bwMode="auto">
          <a:xfrm>
            <a:off x="4800600" y="4738688"/>
            <a:ext cx="76200" cy="76200"/>
          </a:xfrm>
          <a:prstGeom prst="ellipse">
            <a:avLst/>
          </a:prstGeom>
          <a:solidFill>
            <a:srgbClr val="000000"/>
          </a:solidFill>
          <a:ln w="9525">
            <a:no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39" name="Oval 39" descr="Point"/>
          <p:cNvSpPr>
            <a:spLocks noChangeArrowheads="1"/>
          </p:cNvSpPr>
          <p:nvPr/>
        </p:nvSpPr>
        <p:spPr bwMode="auto">
          <a:xfrm>
            <a:off x="4381500" y="5153025"/>
            <a:ext cx="76200" cy="76200"/>
          </a:xfrm>
          <a:prstGeom prst="ellipse">
            <a:avLst/>
          </a:prstGeom>
          <a:solidFill>
            <a:srgbClr val="000000"/>
          </a:solidFill>
          <a:ln w="9525">
            <a:no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40" name="Freeform 40" descr="Line"/>
          <p:cNvSpPr>
            <a:spLocks/>
          </p:cNvSpPr>
          <p:nvPr/>
        </p:nvSpPr>
        <p:spPr bwMode="auto">
          <a:xfrm>
            <a:off x="4419600" y="5187950"/>
            <a:ext cx="3175" cy="841375"/>
          </a:xfrm>
          <a:custGeom>
            <a:avLst/>
            <a:gdLst>
              <a:gd name="T0" fmla="*/ 0 w 1"/>
              <a:gd name="T1" fmla="*/ 0 h 264"/>
              <a:gd name="T2" fmla="*/ 0 w 1"/>
              <a:gd name="T3" fmla="*/ 2147483647 h 264"/>
              <a:gd name="T4" fmla="*/ 0 60000 65536"/>
              <a:gd name="T5" fmla="*/ 0 60000 65536"/>
              <a:gd name="T6" fmla="*/ 0 w 1"/>
              <a:gd name="T7" fmla="*/ 0 h 264"/>
              <a:gd name="T8" fmla="*/ 1 w 1"/>
              <a:gd name="T9" fmla="*/ 264 h 264"/>
            </a:gdLst>
            <a:ahLst/>
            <a:cxnLst>
              <a:cxn ang="T4">
                <a:pos x="T0" y="T1"/>
              </a:cxn>
              <a:cxn ang="T5">
                <a:pos x="T2" y="T3"/>
              </a:cxn>
            </a:cxnLst>
            <a:rect l="T6" t="T7" r="T8" b="T9"/>
            <a:pathLst>
              <a:path w="1" h="264">
                <a:moveTo>
                  <a:pt x="0" y="0"/>
                </a:moveTo>
                <a:lnTo>
                  <a:pt x="0" y="264"/>
                </a:lnTo>
              </a:path>
            </a:pathLst>
          </a:custGeom>
          <a:solidFill>
            <a:srgbClr val="FFFFCC"/>
          </a:solidFill>
          <a:ln w="9525" cap="flat" cmpd="sng">
            <a:solidFill>
              <a:srgbClr val="000000"/>
            </a:solidFill>
            <a:prstDash val="sysDot"/>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41" name="Freeform 41" descr="Line"/>
          <p:cNvSpPr>
            <a:spLocks/>
          </p:cNvSpPr>
          <p:nvPr/>
        </p:nvSpPr>
        <p:spPr bwMode="auto">
          <a:xfrm rot="5400000" flipH="1">
            <a:off x="4000500" y="4775200"/>
            <a:ext cx="3175" cy="841375"/>
          </a:xfrm>
          <a:custGeom>
            <a:avLst/>
            <a:gdLst>
              <a:gd name="T0" fmla="*/ 0 w 1"/>
              <a:gd name="T1" fmla="*/ 0 h 264"/>
              <a:gd name="T2" fmla="*/ 0 w 1"/>
              <a:gd name="T3" fmla="*/ 2147483647 h 264"/>
              <a:gd name="T4" fmla="*/ 0 60000 65536"/>
              <a:gd name="T5" fmla="*/ 0 60000 65536"/>
              <a:gd name="T6" fmla="*/ 0 w 1"/>
              <a:gd name="T7" fmla="*/ 0 h 264"/>
              <a:gd name="T8" fmla="*/ 1 w 1"/>
              <a:gd name="T9" fmla="*/ 264 h 264"/>
            </a:gdLst>
            <a:ahLst/>
            <a:cxnLst>
              <a:cxn ang="T4">
                <a:pos x="T0" y="T1"/>
              </a:cxn>
              <a:cxn ang="T5">
                <a:pos x="T2" y="T3"/>
              </a:cxn>
            </a:cxnLst>
            <a:rect l="T6" t="T7" r="T8" b="T9"/>
            <a:pathLst>
              <a:path w="1" h="264">
                <a:moveTo>
                  <a:pt x="0" y="0"/>
                </a:moveTo>
                <a:lnTo>
                  <a:pt x="0" y="264"/>
                </a:lnTo>
              </a:path>
            </a:pathLst>
          </a:custGeom>
          <a:solidFill>
            <a:srgbClr val="FFFFCC"/>
          </a:solidFill>
          <a:ln w="9525" cap="flat" cmpd="sng">
            <a:solidFill>
              <a:srgbClr val="000000"/>
            </a:solidFill>
            <a:prstDash val="sysDot"/>
            <a:round/>
            <a:headEnd type="none" w="med" len="med"/>
            <a:tailEnd type="non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42" name="Freeform 42" descr="Static  friction"/>
          <p:cNvSpPr>
            <a:spLocks/>
          </p:cNvSpPr>
          <p:nvPr/>
        </p:nvSpPr>
        <p:spPr bwMode="auto">
          <a:xfrm>
            <a:off x="2208213" y="4495800"/>
            <a:ext cx="1296987" cy="417513"/>
          </a:xfrm>
          <a:custGeom>
            <a:avLst/>
            <a:gdLst>
              <a:gd name="T0" fmla="*/ 2147483647 w 817"/>
              <a:gd name="T1" fmla="*/ 0 h 263"/>
              <a:gd name="T2" fmla="*/ 2147483647 w 817"/>
              <a:gd name="T3" fmla="*/ 2147483647 h 263"/>
              <a:gd name="T4" fmla="*/ 2147483647 w 817"/>
              <a:gd name="T5" fmla="*/ 2147483647 h 263"/>
              <a:gd name="T6" fmla="*/ 0 60000 65536"/>
              <a:gd name="T7" fmla="*/ 0 60000 65536"/>
              <a:gd name="T8" fmla="*/ 0 60000 65536"/>
              <a:gd name="T9" fmla="*/ 0 w 817"/>
              <a:gd name="T10" fmla="*/ 0 h 263"/>
              <a:gd name="T11" fmla="*/ 817 w 817"/>
              <a:gd name="T12" fmla="*/ 263 h 263"/>
            </a:gdLst>
            <a:ahLst/>
            <a:cxnLst>
              <a:cxn ang="T6">
                <a:pos x="T0" y="T1"/>
              </a:cxn>
              <a:cxn ang="T7">
                <a:pos x="T2" y="T3"/>
              </a:cxn>
              <a:cxn ang="T8">
                <a:pos x="T4" y="T5"/>
              </a:cxn>
            </a:cxnLst>
            <a:rect l="T9" t="T10" r="T11" b="T12"/>
            <a:pathLst>
              <a:path w="817" h="263">
                <a:moveTo>
                  <a:pt x="1" y="0"/>
                </a:moveTo>
                <a:cubicBezTo>
                  <a:pt x="23" y="38"/>
                  <a:pt x="0" y="199"/>
                  <a:pt x="136" y="231"/>
                </a:cubicBezTo>
                <a:cubicBezTo>
                  <a:pt x="272" y="263"/>
                  <a:pt x="675" y="200"/>
                  <a:pt x="817" y="192"/>
                </a:cubicBezTo>
              </a:path>
            </a:pathLst>
          </a:custGeom>
          <a:solidFill>
            <a:srgbClr val="FFFFCC"/>
          </a:solidFill>
          <a:ln w="9525" cap="flat" cmpd="sng">
            <a:solidFill>
              <a:srgbClr val="000000"/>
            </a:solidFill>
            <a:prstDash val="solid"/>
            <a:round/>
            <a:headEnd type="none" w="med" len="me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43" name="Oval 43" descr="Point"/>
          <p:cNvSpPr>
            <a:spLocks noChangeArrowheads="1"/>
          </p:cNvSpPr>
          <p:nvPr/>
        </p:nvSpPr>
        <p:spPr bwMode="auto">
          <a:xfrm>
            <a:off x="5238750" y="4986338"/>
            <a:ext cx="76200" cy="76200"/>
          </a:xfrm>
          <a:prstGeom prst="ellipse">
            <a:avLst/>
          </a:prstGeom>
          <a:solidFill>
            <a:srgbClr val="000000"/>
          </a:solidFill>
          <a:ln w="9525">
            <a:no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44" name="Oval 44" descr="Point"/>
          <p:cNvSpPr>
            <a:spLocks noChangeArrowheads="1"/>
          </p:cNvSpPr>
          <p:nvPr/>
        </p:nvSpPr>
        <p:spPr bwMode="auto">
          <a:xfrm>
            <a:off x="5676900" y="4986338"/>
            <a:ext cx="76200" cy="76200"/>
          </a:xfrm>
          <a:prstGeom prst="ellipse">
            <a:avLst/>
          </a:prstGeom>
          <a:solidFill>
            <a:srgbClr val="000000"/>
          </a:solidFill>
          <a:ln w="9525">
            <a:noFill/>
            <a:round/>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45" name="Line 45" descr="Point"/>
          <p:cNvSpPr>
            <a:spLocks noChangeShapeType="1"/>
          </p:cNvSpPr>
          <p:nvPr/>
        </p:nvSpPr>
        <p:spPr bwMode="auto">
          <a:xfrm>
            <a:off x="5276850" y="5029200"/>
            <a:ext cx="0" cy="990600"/>
          </a:xfrm>
          <a:prstGeom prst="line">
            <a:avLst/>
          </a:prstGeom>
          <a:noFill/>
          <a:ln w="9525">
            <a:solidFill>
              <a:srgbClr val="000000"/>
            </a:solidFill>
            <a:prstDash val="sysDot"/>
            <a:round/>
            <a:headEnd type="none" w="sm" len="sm"/>
            <a:tailEnd type="none" w="sm" len="sm"/>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46" name="Line 46" descr="Point"/>
          <p:cNvSpPr>
            <a:spLocks noChangeShapeType="1"/>
          </p:cNvSpPr>
          <p:nvPr/>
        </p:nvSpPr>
        <p:spPr bwMode="auto">
          <a:xfrm>
            <a:off x="3581400" y="5029200"/>
            <a:ext cx="1700213" cy="0"/>
          </a:xfrm>
          <a:prstGeom prst="line">
            <a:avLst/>
          </a:prstGeom>
          <a:noFill/>
          <a:ln w="12700">
            <a:solidFill>
              <a:srgbClr val="000000"/>
            </a:solidFill>
            <a:prstDash val="sysDot"/>
            <a:round/>
            <a:headEnd type="none" w="sm" len="sm"/>
            <a:tailEnd type="none" w="sm" len="sm"/>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47" name="Freeform 47" descr="Friction"/>
          <p:cNvSpPr>
            <a:spLocks/>
          </p:cNvSpPr>
          <p:nvPr/>
        </p:nvSpPr>
        <p:spPr bwMode="auto">
          <a:xfrm>
            <a:off x="266700" y="5029200"/>
            <a:ext cx="3162300" cy="685800"/>
          </a:xfrm>
          <a:custGeom>
            <a:avLst/>
            <a:gdLst>
              <a:gd name="T0" fmla="*/ 2147483647 w 1992"/>
              <a:gd name="T1" fmla="*/ 2147483647 h 432"/>
              <a:gd name="T2" fmla="*/ 2147483647 w 1992"/>
              <a:gd name="T3" fmla="*/ 2147483647 h 432"/>
              <a:gd name="T4" fmla="*/ 2147483647 w 1992"/>
              <a:gd name="T5" fmla="*/ 0 h 432"/>
              <a:gd name="T6" fmla="*/ 0 60000 65536"/>
              <a:gd name="T7" fmla="*/ 0 60000 65536"/>
              <a:gd name="T8" fmla="*/ 0 60000 65536"/>
              <a:gd name="T9" fmla="*/ 0 w 1992"/>
              <a:gd name="T10" fmla="*/ 0 h 432"/>
              <a:gd name="T11" fmla="*/ 1992 w 1992"/>
              <a:gd name="T12" fmla="*/ 432 h 432"/>
            </a:gdLst>
            <a:ahLst/>
            <a:cxnLst>
              <a:cxn ang="T6">
                <a:pos x="T0" y="T1"/>
              </a:cxn>
              <a:cxn ang="T7">
                <a:pos x="T2" y="T3"/>
              </a:cxn>
              <a:cxn ang="T8">
                <a:pos x="T4" y="T5"/>
              </a:cxn>
            </a:cxnLst>
            <a:rect l="T9" t="T10" r="T11" b="T12"/>
            <a:pathLst>
              <a:path w="1992" h="432">
                <a:moveTo>
                  <a:pt x="120" y="432"/>
                </a:moveTo>
                <a:cubicBezTo>
                  <a:pt x="60" y="300"/>
                  <a:pt x="0" y="168"/>
                  <a:pt x="312" y="96"/>
                </a:cubicBezTo>
                <a:cubicBezTo>
                  <a:pt x="624" y="24"/>
                  <a:pt x="1712" y="16"/>
                  <a:pt x="1992" y="0"/>
                </a:cubicBezTo>
              </a:path>
            </a:pathLst>
          </a:custGeom>
          <a:solidFill>
            <a:srgbClr val="FFFFCC"/>
          </a:solidFill>
          <a:ln w="12700" cap="flat" cmpd="sng">
            <a:solidFill>
              <a:srgbClr val="000000"/>
            </a:solidFill>
            <a:prstDash val="solid"/>
            <a:round/>
            <a:headEnd type="none" w="sm" len="sm"/>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mn-cs"/>
            </a:endParaRPr>
          </a:p>
        </p:txBody>
      </p:sp>
      <p:sp>
        <p:nvSpPr>
          <p:cNvPr id="204848" name="Text Box 48"/>
          <p:cNvSpPr txBox="1">
            <a:spLocks noChangeArrowheads="1"/>
          </p:cNvSpPr>
          <p:nvPr/>
        </p:nvSpPr>
        <p:spPr bwMode="auto">
          <a:xfrm>
            <a:off x="5665788" y="1952625"/>
            <a:ext cx="461962" cy="641350"/>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1" u="none" strike="noStrike" kern="1200" cap="none" spc="0" normalizeH="0" baseline="0" noProof="0">
                <a:ln>
                  <a:noFill/>
                </a:ln>
                <a:solidFill>
                  <a:srgbClr val="A50021"/>
                </a:solidFill>
                <a:effectLst/>
                <a:uLnTx/>
                <a:uFillTx/>
                <a:latin typeface="Comic Sans MS" pitchFamily="66" charset="0"/>
                <a:ea typeface="+mn-ea"/>
                <a:cs typeface="+mn-cs"/>
              </a:rPr>
              <a:t>F</a:t>
            </a:r>
          </a:p>
        </p:txBody>
      </p:sp>
      <p:sp>
        <p:nvSpPr>
          <p:cNvPr id="204849" name="AutoShape 49" descr="Point"/>
          <p:cNvSpPr>
            <a:spLocks noChangeArrowheads="1"/>
          </p:cNvSpPr>
          <p:nvPr/>
        </p:nvSpPr>
        <p:spPr bwMode="auto">
          <a:xfrm flipH="1">
            <a:off x="4870450" y="2600325"/>
            <a:ext cx="1033463" cy="76200"/>
          </a:xfrm>
          <a:prstGeom prst="rightArrow">
            <a:avLst>
              <a:gd name="adj1" fmla="val 50000"/>
              <a:gd name="adj2" fmla="val 339063"/>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14" name="AutoShape 14" descr="Point"/>
          <p:cNvSpPr>
            <a:spLocks noChangeArrowheads="1"/>
          </p:cNvSpPr>
          <p:nvPr/>
        </p:nvSpPr>
        <p:spPr bwMode="auto">
          <a:xfrm flipH="1">
            <a:off x="4862513" y="2600325"/>
            <a:ext cx="381000" cy="76200"/>
          </a:xfrm>
          <a:prstGeom prst="rightArrow">
            <a:avLst>
              <a:gd name="adj1" fmla="val 50000"/>
              <a:gd name="adj2" fmla="val 125000"/>
            </a:avLst>
          </a:prstGeom>
          <a:solidFill>
            <a:srgbClr val="00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51" name="AutoShape 51" descr="Point"/>
          <p:cNvSpPr>
            <a:spLocks noChangeArrowheads="1"/>
          </p:cNvSpPr>
          <p:nvPr/>
        </p:nvSpPr>
        <p:spPr bwMode="auto">
          <a:xfrm flipH="1">
            <a:off x="4873625" y="2597150"/>
            <a:ext cx="1033463" cy="76200"/>
          </a:xfrm>
          <a:prstGeom prst="rightArrow">
            <a:avLst>
              <a:gd name="adj1" fmla="val 50000"/>
              <a:gd name="adj2" fmla="val 339063"/>
            </a:avLst>
          </a:prstGeom>
          <a:solidFill>
            <a:srgbClr val="0000FF"/>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04852" name="AutoShape 52" descr="Poi"/>
          <p:cNvSpPr>
            <a:spLocks noChangeArrowheads="1"/>
          </p:cNvSpPr>
          <p:nvPr/>
        </p:nvSpPr>
        <p:spPr bwMode="auto">
          <a:xfrm flipH="1">
            <a:off x="4867275" y="2600325"/>
            <a:ext cx="1152525" cy="76200"/>
          </a:xfrm>
          <a:prstGeom prst="rightArrow">
            <a:avLst>
              <a:gd name="adj1" fmla="val 50000"/>
              <a:gd name="adj2" fmla="val 378125"/>
            </a:avLst>
          </a:prstGeom>
          <a:solidFill>
            <a:srgbClr val="FF0000"/>
          </a:solidFill>
          <a:ln w="9525">
            <a:no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2" name="Title 1"/>
          <p:cNvSpPr>
            <a:spLocks noGrp="1"/>
          </p:cNvSpPr>
          <p:nvPr>
            <p:ph type="title"/>
          </p:nvPr>
        </p:nvSpPr>
        <p:spPr>
          <a:xfrm>
            <a:off x="432149" y="56762"/>
            <a:ext cx="8229600" cy="869951"/>
          </a:xfrm>
        </p:spPr>
        <p:txBody>
          <a:bodyPr/>
          <a:lstStyle/>
          <a:p>
            <a:r>
              <a:rPr lang="en-US" sz="2800" b="1" dirty="0"/>
              <a:t>APPLIED FORCE VS FRICTION</a:t>
            </a:r>
            <a:br>
              <a:rPr lang="en-US" sz="2800" b="1" dirty="0"/>
            </a:br>
            <a:r>
              <a:rPr lang="en-US" sz="2800" b="1" dirty="0"/>
              <a:t>(Use slide show mode)</a:t>
            </a:r>
          </a:p>
        </p:txBody>
      </p:sp>
      <p:pic>
        <p:nvPicPr>
          <p:cNvPr id="3" name="Picture 2" descr="Raji K Physics Logo">
            <a:extLst>
              <a:ext uri="{FF2B5EF4-FFF2-40B4-BE49-F238E27FC236}">
                <a16:creationId xmlns:a16="http://schemas.microsoft.com/office/drawing/2014/main" id="{9B0EA245-3A31-9330-2D3D-749B1836FFB7}"/>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821342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4809"/>
                                        </p:tgtEl>
                                        <p:attrNameLst>
                                          <p:attrName>style.visibility</p:attrName>
                                        </p:attrNameLst>
                                      </p:cBhvr>
                                      <p:to>
                                        <p:strVal val="visible"/>
                                      </p:to>
                                    </p:set>
                                    <p:animEffect transition="in" filter="wipe(left)">
                                      <p:cBhvr>
                                        <p:cTn id="7" dur="500"/>
                                        <p:tgtEl>
                                          <p:spTgt spid="2048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36" fill="hold" grpId="0" nodeType="clickEffect">
                                  <p:stCondLst>
                                    <p:cond delay="0"/>
                                  </p:stCondLst>
                                  <p:childTnLst>
                                    <p:set>
                                      <p:cBhvr>
                                        <p:cTn id="11" dur="1" fill="hold">
                                          <p:stCondLst>
                                            <p:cond delay="0"/>
                                          </p:stCondLst>
                                        </p:cTn>
                                        <p:tgtEl>
                                          <p:spTgt spid="204812"/>
                                        </p:tgtEl>
                                        <p:attrNameLst>
                                          <p:attrName>style.visibility</p:attrName>
                                        </p:attrNameLst>
                                      </p:cBhvr>
                                      <p:to>
                                        <p:strVal val="visible"/>
                                      </p:to>
                                    </p:set>
                                    <p:anim calcmode="lin" valueType="num">
                                      <p:cBhvr>
                                        <p:cTn id="12" dur="500" fill="hold"/>
                                        <p:tgtEl>
                                          <p:spTgt spid="204812"/>
                                        </p:tgtEl>
                                        <p:attrNameLst>
                                          <p:attrName>ppt_w</p:attrName>
                                        </p:attrNameLst>
                                      </p:cBhvr>
                                      <p:tavLst>
                                        <p:tav tm="0">
                                          <p:val>
                                            <p:strVal val="(6*min(max(#ppt_w*#ppt_h,.3),1)-7.4)/-.7*#ppt_w"/>
                                          </p:val>
                                        </p:tav>
                                        <p:tav tm="100000">
                                          <p:val>
                                            <p:strVal val="#ppt_w"/>
                                          </p:val>
                                        </p:tav>
                                      </p:tavLst>
                                    </p:anim>
                                    <p:anim calcmode="lin" valueType="num">
                                      <p:cBhvr>
                                        <p:cTn id="13" dur="500" fill="hold"/>
                                        <p:tgtEl>
                                          <p:spTgt spid="204812"/>
                                        </p:tgtEl>
                                        <p:attrNameLst>
                                          <p:attrName>ppt_h</p:attrName>
                                        </p:attrNameLst>
                                      </p:cBhvr>
                                      <p:tavLst>
                                        <p:tav tm="0">
                                          <p:val>
                                            <p:strVal val="(6*min(max(#ppt_w*#ppt_h,.3),1)-7.4)/-.7*#ppt_h"/>
                                          </p:val>
                                        </p:tav>
                                        <p:tav tm="100000">
                                          <p:val>
                                            <p:strVal val="#ppt_h"/>
                                          </p:val>
                                        </p:tav>
                                      </p:tavLst>
                                    </p:anim>
                                    <p:anim calcmode="lin" valueType="num">
                                      <p:cBhvr>
                                        <p:cTn id="14" dur="500" fill="hold"/>
                                        <p:tgtEl>
                                          <p:spTgt spid="204812"/>
                                        </p:tgtEl>
                                        <p:attrNameLst>
                                          <p:attrName>ppt_x</p:attrName>
                                        </p:attrNameLst>
                                      </p:cBhvr>
                                      <p:tavLst>
                                        <p:tav tm="0">
                                          <p:val>
                                            <p:fltVal val="0.5"/>
                                          </p:val>
                                        </p:tav>
                                        <p:tav tm="100000">
                                          <p:val>
                                            <p:strVal val="#ppt_x"/>
                                          </p:val>
                                        </p:tav>
                                      </p:tavLst>
                                    </p:anim>
                                    <p:anim calcmode="lin" valueType="num">
                                      <p:cBhvr>
                                        <p:cTn id="15" dur="500" fill="hold"/>
                                        <p:tgtEl>
                                          <p:spTgt spid="204812"/>
                                        </p:tgtEl>
                                        <p:attrNameLst>
                                          <p:attrName>ppt_y</p:attrName>
                                        </p:attrNameLst>
                                      </p:cBhvr>
                                      <p:tavLst>
                                        <p:tav tm="0">
                                          <p:val>
                                            <p:strVal val="1+(6*min(max(#ppt_w*#ppt_h,.3),1)-7.4)/-.7*#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4832"/>
                                        </p:tgtEl>
                                        <p:attrNameLst>
                                          <p:attrName>style.visibility</p:attrName>
                                        </p:attrNameLst>
                                      </p:cBhvr>
                                      <p:to>
                                        <p:strVal val="visible"/>
                                      </p:to>
                                    </p:set>
                                    <p:animEffect transition="in" filter="wipe(left)">
                                      <p:cBhvr>
                                        <p:cTn id="20" dur="500"/>
                                        <p:tgtEl>
                                          <p:spTgt spid="204832"/>
                                        </p:tgtEl>
                                      </p:cBhvr>
                                    </p:animEffect>
                                  </p:childTnLst>
                                </p:cTn>
                              </p:par>
                            </p:childTnLst>
                          </p:cTn>
                        </p:par>
                        <p:par>
                          <p:cTn id="21" fill="hold" nodeType="afterGroup">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204834"/>
                                        </p:tgtEl>
                                        <p:attrNameLst>
                                          <p:attrName>style.visibility</p:attrName>
                                        </p:attrNameLst>
                                      </p:cBhvr>
                                      <p:to>
                                        <p:strVal val="visible"/>
                                      </p:to>
                                    </p:set>
                                    <p:animEffect transition="in" filter="dissolve">
                                      <p:cBhvr>
                                        <p:cTn id="24" dur="500"/>
                                        <p:tgtEl>
                                          <p:spTgt spid="204834"/>
                                        </p:tgtEl>
                                      </p:cBhvr>
                                    </p:animEffect>
                                  </p:childTnLst>
                                </p:cTn>
                              </p:par>
                            </p:childTnLst>
                          </p:cTn>
                        </p:par>
                        <p:par>
                          <p:cTn id="25" fill="hold" nodeType="afterGroup">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204831"/>
                                        </p:tgtEl>
                                        <p:attrNameLst>
                                          <p:attrName>style.visibility</p:attrName>
                                        </p:attrNameLst>
                                      </p:cBhvr>
                                      <p:to>
                                        <p:strVal val="visible"/>
                                      </p:to>
                                    </p:set>
                                    <p:animEffect transition="in" filter="wipe(down)">
                                      <p:cBhvr>
                                        <p:cTn id="28" dur="500"/>
                                        <p:tgtEl>
                                          <p:spTgt spid="204831"/>
                                        </p:tgtEl>
                                      </p:cBhvr>
                                    </p:animEffect>
                                  </p:childTnLst>
                                </p:cTn>
                              </p:par>
                            </p:childTnLst>
                          </p:cTn>
                        </p:par>
                        <p:par>
                          <p:cTn id="29" fill="hold" nodeType="afterGroup">
                            <p:stCondLst>
                              <p:cond delay="1500"/>
                            </p:stCondLst>
                            <p:childTnLst>
                              <p:par>
                                <p:cTn id="30" presetID="9" presetClass="entr" presetSubtype="0" fill="hold" grpId="0" nodeType="afterEffect">
                                  <p:stCondLst>
                                    <p:cond delay="0"/>
                                  </p:stCondLst>
                                  <p:childTnLst>
                                    <p:set>
                                      <p:cBhvr>
                                        <p:cTn id="31" dur="1" fill="hold">
                                          <p:stCondLst>
                                            <p:cond delay="0"/>
                                          </p:stCondLst>
                                        </p:cTn>
                                        <p:tgtEl>
                                          <p:spTgt spid="204835"/>
                                        </p:tgtEl>
                                        <p:attrNameLst>
                                          <p:attrName>style.visibility</p:attrName>
                                        </p:attrNameLst>
                                      </p:cBhvr>
                                      <p:to>
                                        <p:strVal val="visible"/>
                                      </p:to>
                                    </p:set>
                                    <p:animEffect transition="in" filter="dissolve">
                                      <p:cBhvr>
                                        <p:cTn id="32" dur="500"/>
                                        <p:tgtEl>
                                          <p:spTgt spid="2048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04811"/>
                                        </p:tgtEl>
                                        <p:attrNameLst>
                                          <p:attrName>style.visibility</p:attrName>
                                        </p:attrNameLst>
                                      </p:cBhvr>
                                      <p:to>
                                        <p:strVal val="visible"/>
                                      </p:to>
                                    </p:set>
                                    <p:animEffect transition="in" filter="fade">
                                      <p:cBhvr>
                                        <p:cTn id="37" dur="2000"/>
                                        <p:tgtEl>
                                          <p:spTgt spid="2048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4810"/>
                                        </p:tgtEl>
                                        <p:attrNameLst>
                                          <p:attrName>style.visibility</p:attrName>
                                        </p:attrNameLst>
                                      </p:cBhvr>
                                      <p:to>
                                        <p:strVal val="visible"/>
                                      </p:to>
                                    </p:set>
                                    <p:animEffect transition="in" filter="fade">
                                      <p:cBhvr>
                                        <p:cTn id="40" dur="2000"/>
                                        <p:tgtEl>
                                          <p:spTgt spid="204810"/>
                                        </p:tgtEl>
                                      </p:cBhvr>
                                    </p:animEffect>
                                  </p:childTnLst>
                                </p:cTn>
                              </p:par>
                            </p:childTnLst>
                          </p:cTn>
                        </p:par>
                        <p:par>
                          <p:cTn id="41" fill="hold" nodeType="afterGroup">
                            <p:stCondLst>
                              <p:cond delay="2000"/>
                            </p:stCondLst>
                            <p:childTnLst>
                              <p:par>
                                <p:cTn id="42" presetID="10" presetClass="entr" presetSubtype="0" fill="hold" grpId="0" nodeType="afterEffect">
                                  <p:stCondLst>
                                    <p:cond delay="0"/>
                                  </p:stCondLst>
                                  <p:childTnLst>
                                    <p:set>
                                      <p:cBhvr>
                                        <p:cTn id="43" dur="1" fill="hold">
                                          <p:stCondLst>
                                            <p:cond delay="0"/>
                                          </p:stCondLst>
                                        </p:cTn>
                                        <p:tgtEl>
                                          <p:spTgt spid="204815"/>
                                        </p:tgtEl>
                                        <p:attrNameLst>
                                          <p:attrName>style.visibility</p:attrName>
                                        </p:attrNameLst>
                                      </p:cBhvr>
                                      <p:to>
                                        <p:strVal val="visible"/>
                                      </p:to>
                                    </p:set>
                                    <p:animEffect transition="in" filter="fade">
                                      <p:cBhvr>
                                        <p:cTn id="44" dur="500"/>
                                        <p:tgtEl>
                                          <p:spTgt spid="20481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4814"/>
                                        </p:tgtEl>
                                        <p:attrNameLst>
                                          <p:attrName>style.visibility</p:attrName>
                                        </p:attrNameLst>
                                      </p:cBhvr>
                                      <p:to>
                                        <p:strVal val="visible"/>
                                      </p:to>
                                    </p:set>
                                    <p:animEffect transition="in" filter="fade">
                                      <p:cBhvr>
                                        <p:cTn id="47" dur="500"/>
                                        <p:tgtEl>
                                          <p:spTgt spid="20481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04824"/>
                                        </p:tgtEl>
                                        <p:attrNameLst>
                                          <p:attrName>style.visibility</p:attrName>
                                        </p:attrNameLst>
                                      </p:cBhvr>
                                      <p:to>
                                        <p:strVal val="visible"/>
                                      </p:to>
                                    </p:set>
                                    <p:animEffect transition="in" filter="wipe(down)">
                                      <p:cBhvr>
                                        <p:cTn id="52" dur="500"/>
                                        <p:tgtEl>
                                          <p:spTgt spid="204824"/>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204825"/>
                                        </p:tgtEl>
                                        <p:attrNameLst>
                                          <p:attrName>style.visibility</p:attrName>
                                        </p:attrNameLst>
                                      </p:cBhvr>
                                      <p:to>
                                        <p:strVal val="visible"/>
                                      </p:to>
                                    </p:set>
                                    <p:animEffect transition="in" filter="wipe(left)">
                                      <p:cBhvr>
                                        <p:cTn id="55" dur="500"/>
                                        <p:tgtEl>
                                          <p:spTgt spid="204825"/>
                                        </p:tgtEl>
                                      </p:cBhvr>
                                    </p:animEffect>
                                  </p:childTnLst>
                                </p:cTn>
                              </p:par>
                            </p:childTnLst>
                          </p:cTn>
                        </p:par>
                        <p:par>
                          <p:cTn id="56" fill="hold" nodeType="afterGroup">
                            <p:stCondLst>
                              <p:cond delay="500"/>
                            </p:stCondLst>
                            <p:childTnLst>
                              <p:par>
                                <p:cTn id="57" presetID="23" presetClass="entr" presetSubtype="16" fill="hold" grpId="0" nodeType="afterEffect">
                                  <p:stCondLst>
                                    <p:cond delay="0"/>
                                  </p:stCondLst>
                                  <p:childTnLst>
                                    <p:set>
                                      <p:cBhvr>
                                        <p:cTn id="58" dur="1" fill="hold">
                                          <p:stCondLst>
                                            <p:cond delay="0"/>
                                          </p:stCondLst>
                                        </p:cTn>
                                        <p:tgtEl>
                                          <p:spTgt spid="204837"/>
                                        </p:tgtEl>
                                        <p:attrNameLst>
                                          <p:attrName>style.visibility</p:attrName>
                                        </p:attrNameLst>
                                      </p:cBhvr>
                                      <p:to>
                                        <p:strVal val="visible"/>
                                      </p:to>
                                    </p:set>
                                    <p:anim calcmode="lin" valueType="num">
                                      <p:cBhvr>
                                        <p:cTn id="59" dur="500" fill="hold"/>
                                        <p:tgtEl>
                                          <p:spTgt spid="204837"/>
                                        </p:tgtEl>
                                        <p:attrNameLst>
                                          <p:attrName>ppt_w</p:attrName>
                                        </p:attrNameLst>
                                      </p:cBhvr>
                                      <p:tavLst>
                                        <p:tav tm="0">
                                          <p:val>
                                            <p:fltVal val="0"/>
                                          </p:val>
                                        </p:tav>
                                        <p:tav tm="100000">
                                          <p:val>
                                            <p:strVal val="#ppt_w"/>
                                          </p:val>
                                        </p:tav>
                                      </p:tavLst>
                                    </p:anim>
                                    <p:anim calcmode="lin" valueType="num">
                                      <p:cBhvr>
                                        <p:cTn id="60" dur="500" fill="hold"/>
                                        <p:tgtEl>
                                          <p:spTgt spid="204837"/>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xit" presetSubtype="0" fill="hold" grpId="1" nodeType="clickEffect">
                                  <p:stCondLst>
                                    <p:cond delay="0"/>
                                  </p:stCondLst>
                                  <p:childTnLst>
                                    <p:animEffect transition="out" filter="fade">
                                      <p:cBhvr>
                                        <p:cTn id="64" dur="2000"/>
                                        <p:tgtEl>
                                          <p:spTgt spid="204811"/>
                                        </p:tgtEl>
                                      </p:cBhvr>
                                    </p:animEffect>
                                    <p:set>
                                      <p:cBhvr>
                                        <p:cTn id="65" dur="1" fill="hold">
                                          <p:stCondLst>
                                            <p:cond delay="1999"/>
                                          </p:stCondLst>
                                        </p:cTn>
                                        <p:tgtEl>
                                          <p:spTgt spid="204811"/>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000"/>
                                        <p:tgtEl>
                                          <p:spTgt spid="204810"/>
                                        </p:tgtEl>
                                      </p:cBhvr>
                                    </p:animEffect>
                                    <p:set>
                                      <p:cBhvr>
                                        <p:cTn id="68" dur="1" fill="hold">
                                          <p:stCondLst>
                                            <p:cond delay="1999"/>
                                          </p:stCondLst>
                                        </p:cTn>
                                        <p:tgtEl>
                                          <p:spTgt spid="204810"/>
                                        </p:tgtEl>
                                        <p:attrNameLst>
                                          <p:attrName>style.visibility</p:attrName>
                                        </p:attrNameLst>
                                      </p:cBhvr>
                                      <p:to>
                                        <p:strVal val="hidden"/>
                                      </p:to>
                                    </p:set>
                                  </p:childTnLst>
                                </p:cTn>
                              </p:par>
                              <p:par>
                                <p:cTn id="69" presetID="10" presetClass="exit" presetSubtype="0" fill="hold" grpId="1" nodeType="withEffect">
                                  <p:stCondLst>
                                    <p:cond delay="0"/>
                                  </p:stCondLst>
                                  <p:childTnLst>
                                    <p:animEffect transition="out" filter="fade">
                                      <p:cBhvr>
                                        <p:cTn id="70" dur="2000"/>
                                        <p:tgtEl>
                                          <p:spTgt spid="204814"/>
                                        </p:tgtEl>
                                      </p:cBhvr>
                                    </p:animEffect>
                                    <p:set>
                                      <p:cBhvr>
                                        <p:cTn id="71" dur="1" fill="hold">
                                          <p:stCondLst>
                                            <p:cond delay="1999"/>
                                          </p:stCondLst>
                                        </p:cTn>
                                        <p:tgtEl>
                                          <p:spTgt spid="204814"/>
                                        </p:tgtEl>
                                        <p:attrNameLst>
                                          <p:attrName>style.visibility</p:attrName>
                                        </p:attrNameLst>
                                      </p:cBhvr>
                                      <p:to>
                                        <p:strVal val="hidden"/>
                                      </p:to>
                                    </p:set>
                                  </p:childTnLst>
                                </p:cTn>
                              </p:par>
                              <p:par>
                                <p:cTn id="72" presetID="10" presetClass="exit" presetSubtype="0" fill="hold" grpId="1" nodeType="withEffect">
                                  <p:stCondLst>
                                    <p:cond delay="0"/>
                                  </p:stCondLst>
                                  <p:childTnLst>
                                    <p:animEffect transition="out" filter="fade">
                                      <p:cBhvr>
                                        <p:cTn id="73" dur="2000"/>
                                        <p:tgtEl>
                                          <p:spTgt spid="204815"/>
                                        </p:tgtEl>
                                      </p:cBhvr>
                                    </p:animEffect>
                                    <p:set>
                                      <p:cBhvr>
                                        <p:cTn id="74" dur="1" fill="hold">
                                          <p:stCondLst>
                                            <p:cond delay="1999"/>
                                          </p:stCondLst>
                                        </p:cTn>
                                        <p:tgtEl>
                                          <p:spTgt spid="204815"/>
                                        </p:tgtEl>
                                        <p:attrNameLst>
                                          <p:attrName>style.visibility</p:attrName>
                                        </p:attrNameLst>
                                      </p:cBhvr>
                                      <p:to>
                                        <p:strVal val="hidden"/>
                                      </p:to>
                                    </p:set>
                                  </p:childTnLst>
                                </p:cTn>
                              </p:par>
                              <p:par>
                                <p:cTn id="75" presetID="10" presetClass="entr" presetSubtype="0" fill="hold" grpId="0" nodeType="withEffect">
                                  <p:stCondLst>
                                    <p:cond delay="0"/>
                                  </p:stCondLst>
                                  <p:childTnLst>
                                    <p:set>
                                      <p:cBhvr>
                                        <p:cTn id="76" dur="1" fill="hold">
                                          <p:stCondLst>
                                            <p:cond delay="0"/>
                                          </p:stCondLst>
                                        </p:cTn>
                                        <p:tgtEl>
                                          <p:spTgt spid="204807"/>
                                        </p:tgtEl>
                                        <p:attrNameLst>
                                          <p:attrName>style.visibility</p:attrName>
                                        </p:attrNameLst>
                                      </p:cBhvr>
                                      <p:to>
                                        <p:strVal val="visible"/>
                                      </p:to>
                                    </p:set>
                                    <p:animEffect transition="in" filter="fade">
                                      <p:cBhvr>
                                        <p:cTn id="77" dur="2000"/>
                                        <p:tgtEl>
                                          <p:spTgt spid="20480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04816"/>
                                        </p:tgtEl>
                                        <p:attrNameLst>
                                          <p:attrName>style.visibility</p:attrName>
                                        </p:attrNameLst>
                                      </p:cBhvr>
                                      <p:to>
                                        <p:strVal val="visible"/>
                                      </p:to>
                                    </p:set>
                                    <p:animEffect transition="in" filter="fade">
                                      <p:cBhvr>
                                        <p:cTn id="80" dur="2000"/>
                                        <p:tgtEl>
                                          <p:spTgt spid="204816"/>
                                        </p:tgtEl>
                                      </p:cBhvr>
                                    </p:animEffect>
                                  </p:childTnLst>
                                </p:cTn>
                              </p:par>
                            </p:childTnLst>
                          </p:cTn>
                        </p:par>
                        <p:par>
                          <p:cTn id="81" fill="hold" nodeType="afterGroup">
                            <p:stCondLst>
                              <p:cond delay="2000"/>
                            </p:stCondLst>
                            <p:childTnLst>
                              <p:par>
                                <p:cTn id="82" presetID="10" presetClass="entr" presetSubtype="0" fill="hold" grpId="0" nodeType="afterEffect">
                                  <p:stCondLst>
                                    <p:cond delay="0"/>
                                  </p:stCondLst>
                                  <p:childTnLst>
                                    <p:set>
                                      <p:cBhvr>
                                        <p:cTn id="83" dur="1" fill="hold">
                                          <p:stCondLst>
                                            <p:cond delay="0"/>
                                          </p:stCondLst>
                                        </p:cTn>
                                        <p:tgtEl>
                                          <p:spTgt spid="204806"/>
                                        </p:tgtEl>
                                        <p:attrNameLst>
                                          <p:attrName>style.visibility</p:attrName>
                                        </p:attrNameLst>
                                      </p:cBhvr>
                                      <p:to>
                                        <p:strVal val="visible"/>
                                      </p:to>
                                    </p:set>
                                    <p:animEffect transition="in" filter="fade">
                                      <p:cBhvr>
                                        <p:cTn id="84" dur="500"/>
                                        <p:tgtEl>
                                          <p:spTgt spid="204806"/>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04817"/>
                                        </p:tgtEl>
                                        <p:attrNameLst>
                                          <p:attrName>style.visibility</p:attrName>
                                        </p:attrNameLst>
                                      </p:cBhvr>
                                      <p:to>
                                        <p:strVal val="visible"/>
                                      </p:to>
                                    </p:set>
                                    <p:animEffect transition="in" filter="fade">
                                      <p:cBhvr>
                                        <p:cTn id="87" dur="500"/>
                                        <p:tgtEl>
                                          <p:spTgt spid="20481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204840"/>
                                        </p:tgtEl>
                                        <p:attrNameLst>
                                          <p:attrName>style.visibility</p:attrName>
                                        </p:attrNameLst>
                                      </p:cBhvr>
                                      <p:to>
                                        <p:strVal val="visible"/>
                                      </p:to>
                                    </p:set>
                                    <p:animEffect transition="in" filter="wipe(down)">
                                      <p:cBhvr>
                                        <p:cTn id="92" dur="500"/>
                                        <p:tgtEl>
                                          <p:spTgt spid="204840"/>
                                        </p:tgtEl>
                                      </p:cBhvr>
                                    </p:animEffect>
                                  </p:childTnLst>
                                </p:cTn>
                              </p:par>
                              <p:par>
                                <p:cTn id="93" presetID="22" presetClass="entr" presetSubtype="8" fill="hold" grpId="0" nodeType="withEffect">
                                  <p:stCondLst>
                                    <p:cond delay="0"/>
                                  </p:stCondLst>
                                  <p:childTnLst>
                                    <p:set>
                                      <p:cBhvr>
                                        <p:cTn id="94" dur="1" fill="hold">
                                          <p:stCondLst>
                                            <p:cond delay="0"/>
                                          </p:stCondLst>
                                        </p:cTn>
                                        <p:tgtEl>
                                          <p:spTgt spid="204841"/>
                                        </p:tgtEl>
                                        <p:attrNameLst>
                                          <p:attrName>style.visibility</p:attrName>
                                        </p:attrNameLst>
                                      </p:cBhvr>
                                      <p:to>
                                        <p:strVal val="visible"/>
                                      </p:to>
                                    </p:set>
                                    <p:animEffect transition="in" filter="wipe(left)">
                                      <p:cBhvr>
                                        <p:cTn id="95" dur="500"/>
                                        <p:tgtEl>
                                          <p:spTgt spid="204841"/>
                                        </p:tgtEl>
                                      </p:cBhvr>
                                    </p:animEffect>
                                  </p:childTnLst>
                                </p:cTn>
                              </p:par>
                            </p:childTnLst>
                          </p:cTn>
                        </p:par>
                        <p:par>
                          <p:cTn id="96" fill="hold" nodeType="afterGroup">
                            <p:stCondLst>
                              <p:cond delay="500"/>
                            </p:stCondLst>
                            <p:childTnLst>
                              <p:par>
                                <p:cTn id="97" presetID="23" presetClass="entr" presetSubtype="16" fill="hold" grpId="0" nodeType="afterEffect">
                                  <p:stCondLst>
                                    <p:cond delay="0"/>
                                  </p:stCondLst>
                                  <p:childTnLst>
                                    <p:set>
                                      <p:cBhvr>
                                        <p:cTn id="98" dur="1" fill="hold">
                                          <p:stCondLst>
                                            <p:cond delay="0"/>
                                          </p:stCondLst>
                                        </p:cTn>
                                        <p:tgtEl>
                                          <p:spTgt spid="204839"/>
                                        </p:tgtEl>
                                        <p:attrNameLst>
                                          <p:attrName>style.visibility</p:attrName>
                                        </p:attrNameLst>
                                      </p:cBhvr>
                                      <p:to>
                                        <p:strVal val="visible"/>
                                      </p:to>
                                    </p:set>
                                    <p:anim calcmode="lin" valueType="num">
                                      <p:cBhvr>
                                        <p:cTn id="99" dur="500" fill="hold"/>
                                        <p:tgtEl>
                                          <p:spTgt spid="204839"/>
                                        </p:tgtEl>
                                        <p:attrNameLst>
                                          <p:attrName>ppt_w</p:attrName>
                                        </p:attrNameLst>
                                      </p:cBhvr>
                                      <p:tavLst>
                                        <p:tav tm="0">
                                          <p:val>
                                            <p:fltVal val="0"/>
                                          </p:val>
                                        </p:tav>
                                        <p:tav tm="100000">
                                          <p:val>
                                            <p:strVal val="#ppt_w"/>
                                          </p:val>
                                        </p:tav>
                                      </p:tavLst>
                                    </p:anim>
                                    <p:anim calcmode="lin" valueType="num">
                                      <p:cBhvr>
                                        <p:cTn id="100" dur="500" fill="hold"/>
                                        <p:tgtEl>
                                          <p:spTgt spid="204839"/>
                                        </p:tgtEl>
                                        <p:attrNameLst>
                                          <p:attrName>ppt_h</p:attrName>
                                        </p:attrNameLst>
                                      </p:cBhvr>
                                      <p:tavLst>
                                        <p:tav tm="0">
                                          <p:val>
                                            <p:fltVal val="0"/>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0" presetClass="exit" presetSubtype="0" fill="hold" grpId="1" nodeType="clickEffect">
                                  <p:stCondLst>
                                    <p:cond delay="0"/>
                                  </p:stCondLst>
                                  <p:childTnLst>
                                    <p:animEffect transition="out" filter="fade">
                                      <p:cBhvr>
                                        <p:cTn id="104" dur="2000"/>
                                        <p:tgtEl>
                                          <p:spTgt spid="204807"/>
                                        </p:tgtEl>
                                      </p:cBhvr>
                                    </p:animEffect>
                                    <p:set>
                                      <p:cBhvr>
                                        <p:cTn id="105" dur="1" fill="hold">
                                          <p:stCondLst>
                                            <p:cond delay="1999"/>
                                          </p:stCondLst>
                                        </p:cTn>
                                        <p:tgtEl>
                                          <p:spTgt spid="204807"/>
                                        </p:tgtEl>
                                        <p:attrNameLst>
                                          <p:attrName>style.visibility</p:attrName>
                                        </p:attrNameLst>
                                      </p:cBhvr>
                                      <p:to>
                                        <p:strVal val="hidden"/>
                                      </p:to>
                                    </p:set>
                                  </p:childTnLst>
                                </p:cTn>
                              </p:par>
                              <p:par>
                                <p:cTn id="106" presetID="10" presetClass="exit" presetSubtype="0" fill="hold" grpId="1" nodeType="withEffect">
                                  <p:stCondLst>
                                    <p:cond delay="0"/>
                                  </p:stCondLst>
                                  <p:childTnLst>
                                    <p:animEffect transition="out" filter="fade">
                                      <p:cBhvr>
                                        <p:cTn id="107" dur="2000"/>
                                        <p:tgtEl>
                                          <p:spTgt spid="204816"/>
                                        </p:tgtEl>
                                      </p:cBhvr>
                                    </p:animEffect>
                                    <p:set>
                                      <p:cBhvr>
                                        <p:cTn id="108" dur="1" fill="hold">
                                          <p:stCondLst>
                                            <p:cond delay="1999"/>
                                          </p:stCondLst>
                                        </p:cTn>
                                        <p:tgtEl>
                                          <p:spTgt spid="204816"/>
                                        </p:tgtEl>
                                        <p:attrNameLst>
                                          <p:attrName>style.visibility</p:attrName>
                                        </p:attrNameLst>
                                      </p:cBhvr>
                                      <p:to>
                                        <p:strVal val="hidden"/>
                                      </p:to>
                                    </p:set>
                                  </p:childTnLst>
                                </p:cTn>
                              </p:par>
                              <p:par>
                                <p:cTn id="109" presetID="10" presetClass="exit" presetSubtype="0" fill="hold" grpId="1" nodeType="withEffect">
                                  <p:stCondLst>
                                    <p:cond delay="0"/>
                                  </p:stCondLst>
                                  <p:childTnLst>
                                    <p:animEffect transition="out" filter="fade">
                                      <p:cBhvr>
                                        <p:cTn id="110" dur="2000"/>
                                        <p:tgtEl>
                                          <p:spTgt spid="204806"/>
                                        </p:tgtEl>
                                      </p:cBhvr>
                                    </p:animEffect>
                                    <p:set>
                                      <p:cBhvr>
                                        <p:cTn id="111" dur="1" fill="hold">
                                          <p:stCondLst>
                                            <p:cond delay="1999"/>
                                          </p:stCondLst>
                                        </p:cTn>
                                        <p:tgtEl>
                                          <p:spTgt spid="204806"/>
                                        </p:tgtEl>
                                        <p:attrNameLst>
                                          <p:attrName>style.visibility</p:attrName>
                                        </p:attrNameLst>
                                      </p:cBhvr>
                                      <p:to>
                                        <p:strVal val="hidden"/>
                                      </p:to>
                                    </p:set>
                                  </p:childTnLst>
                                </p:cTn>
                              </p:par>
                              <p:par>
                                <p:cTn id="112" presetID="10" presetClass="exit" presetSubtype="0" fill="hold" grpId="1" nodeType="withEffect">
                                  <p:stCondLst>
                                    <p:cond delay="0"/>
                                  </p:stCondLst>
                                  <p:childTnLst>
                                    <p:animEffect transition="out" filter="fade">
                                      <p:cBhvr>
                                        <p:cTn id="113" dur="2000"/>
                                        <p:tgtEl>
                                          <p:spTgt spid="204817"/>
                                        </p:tgtEl>
                                      </p:cBhvr>
                                    </p:animEffect>
                                    <p:set>
                                      <p:cBhvr>
                                        <p:cTn id="114" dur="1" fill="hold">
                                          <p:stCondLst>
                                            <p:cond delay="1999"/>
                                          </p:stCondLst>
                                        </p:cTn>
                                        <p:tgtEl>
                                          <p:spTgt spid="204817"/>
                                        </p:tgtEl>
                                        <p:attrNameLst>
                                          <p:attrName>style.visibility</p:attrName>
                                        </p:attrNameLst>
                                      </p:cBhvr>
                                      <p:to>
                                        <p:strVal val="hidden"/>
                                      </p:to>
                                    </p:set>
                                  </p:childTnLst>
                                </p:cTn>
                              </p:par>
                              <p:par>
                                <p:cTn id="115" presetID="10" presetClass="entr" presetSubtype="0" fill="hold" grpId="0" nodeType="withEffect">
                                  <p:stCondLst>
                                    <p:cond delay="0"/>
                                  </p:stCondLst>
                                  <p:childTnLst>
                                    <p:set>
                                      <p:cBhvr>
                                        <p:cTn id="116" dur="1" fill="hold">
                                          <p:stCondLst>
                                            <p:cond delay="0"/>
                                          </p:stCondLst>
                                        </p:cTn>
                                        <p:tgtEl>
                                          <p:spTgt spid="204819"/>
                                        </p:tgtEl>
                                        <p:attrNameLst>
                                          <p:attrName>style.visibility</p:attrName>
                                        </p:attrNameLst>
                                      </p:cBhvr>
                                      <p:to>
                                        <p:strVal val="visible"/>
                                      </p:to>
                                    </p:set>
                                    <p:animEffect transition="in" filter="fade">
                                      <p:cBhvr>
                                        <p:cTn id="117" dur="2000"/>
                                        <p:tgtEl>
                                          <p:spTgt spid="204819"/>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04804"/>
                                        </p:tgtEl>
                                        <p:attrNameLst>
                                          <p:attrName>style.visibility</p:attrName>
                                        </p:attrNameLst>
                                      </p:cBhvr>
                                      <p:to>
                                        <p:strVal val="visible"/>
                                      </p:to>
                                    </p:set>
                                    <p:animEffect transition="in" filter="fade">
                                      <p:cBhvr>
                                        <p:cTn id="120" dur="2000"/>
                                        <p:tgtEl>
                                          <p:spTgt spid="204804"/>
                                        </p:tgtEl>
                                      </p:cBhvr>
                                    </p:animEffect>
                                  </p:childTnLst>
                                </p:cTn>
                              </p:par>
                            </p:childTnLst>
                          </p:cTn>
                        </p:par>
                        <p:par>
                          <p:cTn id="121" fill="hold" nodeType="afterGroup">
                            <p:stCondLst>
                              <p:cond delay="2000"/>
                            </p:stCondLst>
                            <p:childTnLst>
                              <p:par>
                                <p:cTn id="122" presetID="10" presetClass="entr" presetSubtype="0" fill="hold" grpId="0" nodeType="afterEffect">
                                  <p:stCondLst>
                                    <p:cond delay="0"/>
                                  </p:stCondLst>
                                  <p:childTnLst>
                                    <p:set>
                                      <p:cBhvr>
                                        <p:cTn id="123" dur="1" fill="hold">
                                          <p:stCondLst>
                                            <p:cond delay="0"/>
                                          </p:stCondLst>
                                        </p:cTn>
                                        <p:tgtEl>
                                          <p:spTgt spid="204805"/>
                                        </p:tgtEl>
                                        <p:attrNameLst>
                                          <p:attrName>style.visibility</p:attrName>
                                        </p:attrNameLst>
                                      </p:cBhvr>
                                      <p:to>
                                        <p:strVal val="visible"/>
                                      </p:to>
                                    </p:set>
                                    <p:animEffect transition="in" filter="fade">
                                      <p:cBhvr>
                                        <p:cTn id="124" dur="500"/>
                                        <p:tgtEl>
                                          <p:spTgt spid="204805"/>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204818"/>
                                        </p:tgtEl>
                                        <p:attrNameLst>
                                          <p:attrName>style.visibility</p:attrName>
                                        </p:attrNameLst>
                                      </p:cBhvr>
                                      <p:to>
                                        <p:strVal val="visible"/>
                                      </p:to>
                                    </p:set>
                                    <p:animEffect transition="in" filter="fade">
                                      <p:cBhvr>
                                        <p:cTn id="127" dur="500"/>
                                        <p:tgtEl>
                                          <p:spTgt spid="204818"/>
                                        </p:tgtEl>
                                      </p:cBhvr>
                                    </p:animEffect>
                                  </p:childTnLst>
                                </p:cTn>
                              </p:par>
                            </p:childTnLst>
                          </p:cTn>
                        </p:par>
                        <p:par>
                          <p:cTn id="128" fill="hold" nodeType="afterGroup">
                            <p:stCondLst>
                              <p:cond delay="2500"/>
                            </p:stCondLst>
                            <p:childTnLst>
                              <p:par>
                                <p:cTn id="129" presetID="10" presetClass="entr" presetSubtype="0" fill="hold" grpId="0" nodeType="afterEffect">
                                  <p:stCondLst>
                                    <p:cond delay="0"/>
                                  </p:stCondLst>
                                  <p:childTnLst>
                                    <p:set>
                                      <p:cBhvr>
                                        <p:cTn id="130" dur="1" fill="hold">
                                          <p:stCondLst>
                                            <p:cond delay="0"/>
                                          </p:stCondLst>
                                        </p:cTn>
                                        <p:tgtEl>
                                          <p:spTgt spid="204808"/>
                                        </p:tgtEl>
                                        <p:attrNameLst>
                                          <p:attrName>style.visibility</p:attrName>
                                        </p:attrNameLst>
                                      </p:cBhvr>
                                      <p:to>
                                        <p:strVal val="visible"/>
                                      </p:to>
                                    </p:set>
                                    <p:animEffect transition="in" filter="fade">
                                      <p:cBhvr>
                                        <p:cTn id="131" dur="2000"/>
                                        <p:tgtEl>
                                          <p:spTgt spid="204808"/>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4" fill="hold" grpId="0" nodeType="clickEffect">
                                  <p:stCondLst>
                                    <p:cond delay="0"/>
                                  </p:stCondLst>
                                  <p:childTnLst>
                                    <p:set>
                                      <p:cBhvr>
                                        <p:cTn id="135" dur="1" fill="hold">
                                          <p:stCondLst>
                                            <p:cond delay="0"/>
                                          </p:stCondLst>
                                        </p:cTn>
                                        <p:tgtEl>
                                          <p:spTgt spid="204828"/>
                                        </p:tgtEl>
                                        <p:attrNameLst>
                                          <p:attrName>style.visibility</p:attrName>
                                        </p:attrNameLst>
                                      </p:cBhvr>
                                      <p:to>
                                        <p:strVal val="visible"/>
                                      </p:to>
                                    </p:set>
                                    <p:animEffect transition="in" filter="wipe(down)">
                                      <p:cBhvr>
                                        <p:cTn id="136" dur="500"/>
                                        <p:tgtEl>
                                          <p:spTgt spid="204828"/>
                                        </p:tgtEl>
                                      </p:cBhvr>
                                    </p:animEffect>
                                  </p:childTnLst>
                                </p:cTn>
                              </p:par>
                              <p:par>
                                <p:cTn id="137" presetID="22" presetClass="entr" presetSubtype="8" fill="hold" grpId="0" nodeType="withEffect">
                                  <p:stCondLst>
                                    <p:cond delay="0"/>
                                  </p:stCondLst>
                                  <p:childTnLst>
                                    <p:set>
                                      <p:cBhvr>
                                        <p:cTn id="138" dur="1" fill="hold">
                                          <p:stCondLst>
                                            <p:cond delay="0"/>
                                          </p:stCondLst>
                                        </p:cTn>
                                        <p:tgtEl>
                                          <p:spTgt spid="204829"/>
                                        </p:tgtEl>
                                        <p:attrNameLst>
                                          <p:attrName>style.visibility</p:attrName>
                                        </p:attrNameLst>
                                      </p:cBhvr>
                                      <p:to>
                                        <p:strVal val="visible"/>
                                      </p:to>
                                    </p:set>
                                    <p:animEffect transition="in" filter="wipe(left)">
                                      <p:cBhvr>
                                        <p:cTn id="139" dur="500"/>
                                        <p:tgtEl>
                                          <p:spTgt spid="204829"/>
                                        </p:tgtEl>
                                      </p:cBhvr>
                                    </p:animEffect>
                                  </p:childTnLst>
                                </p:cTn>
                              </p:par>
                            </p:childTnLst>
                          </p:cTn>
                        </p:par>
                        <p:par>
                          <p:cTn id="140" fill="hold" nodeType="afterGroup">
                            <p:stCondLst>
                              <p:cond delay="500"/>
                            </p:stCondLst>
                            <p:childTnLst>
                              <p:par>
                                <p:cTn id="141" presetID="23" presetClass="entr" presetSubtype="16" fill="hold" grpId="0" nodeType="afterEffect">
                                  <p:stCondLst>
                                    <p:cond delay="0"/>
                                  </p:stCondLst>
                                  <p:childTnLst>
                                    <p:set>
                                      <p:cBhvr>
                                        <p:cTn id="142" dur="1" fill="hold">
                                          <p:stCondLst>
                                            <p:cond delay="0"/>
                                          </p:stCondLst>
                                        </p:cTn>
                                        <p:tgtEl>
                                          <p:spTgt spid="204838"/>
                                        </p:tgtEl>
                                        <p:attrNameLst>
                                          <p:attrName>style.visibility</p:attrName>
                                        </p:attrNameLst>
                                      </p:cBhvr>
                                      <p:to>
                                        <p:strVal val="visible"/>
                                      </p:to>
                                    </p:set>
                                    <p:anim calcmode="lin" valueType="num">
                                      <p:cBhvr>
                                        <p:cTn id="143" dur="500" fill="hold"/>
                                        <p:tgtEl>
                                          <p:spTgt spid="204838"/>
                                        </p:tgtEl>
                                        <p:attrNameLst>
                                          <p:attrName>ppt_w</p:attrName>
                                        </p:attrNameLst>
                                      </p:cBhvr>
                                      <p:tavLst>
                                        <p:tav tm="0">
                                          <p:val>
                                            <p:fltVal val="0"/>
                                          </p:val>
                                        </p:tav>
                                        <p:tav tm="100000">
                                          <p:val>
                                            <p:strVal val="#ppt_w"/>
                                          </p:val>
                                        </p:tav>
                                      </p:tavLst>
                                    </p:anim>
                                    <p:anim calcmode="lin" valueType="num">
                                      <p:cBhvr>
                                        <p:cTn id="144" dur="500" fill="hold"/>
                                        <p:tgtEl>
                                          <p:spTgt spid="204838"/>
                                        </p:tgtEl>
                                        <p:attrNameLst>
                                          <p:attrName>ppt_h</p:attrName>
                                        </p:attrNameLst>
                                      </p:cBhvr>
                                      <p:tavLst>
                                        <p:tav tm="0">
                                          <p:val>
                                            <p:fltVal val="0"/>
                                          </p:val>
                                        </p:tav>
                                        <p:tav tm="100000">
                                          <p:val>
                                            <p:strVal val="#ppt_h"/>
                                          </p:val>
                                        </p:tav>
                                      </p:tavLst>
                                    </p:anim>
                                  </p:childTnLst>
                                </p:cTn>
                              </p:par>
                            </p:childTnLst>
                          </p:cTn>
                        </p:par>
                        <p:par>
                          <p:cTn id="145" fill="hold" nodeType="afterGroup">
                            <p:stCondLst>
                              <p:cond delay="1000"/>
                            </p:stCondLst>
                            <p:childTnLst>
                              <p:par>
                                <p:cTn id="146" presetID="22" presetClass="entr" presetSubtype="8" fill="hold" grpId="0" nodeType="afterEffect">
                                  <p:stCondLst>
                                    <p:cond delay="0"/>
                                  </p:stCondLst>
                                  <p:childTnLst>
                                    <p:set>
                                      <p:cBhvr>
                                        <p:cTn id="147" dur="1" fill="hold">
                                          <p:stCondLst>
                                            <p:cond delay="0"/>
                                          </p:stCondLst>
                                        </p:cTn>
                                        <p:tgtEl>
                                          <p:spTgt spid="204830"/>
                                        </p:tgtEl>
                                        <p:attrNameLst>
                                          <p:attrName>style.visibility</p:attrName>
                                        </p:attrNameLst>
                                      </p:cBhvr>
                                      <p:to>
                                        <p:strVal val="visible"/>
                                      </p:to>
                                    </p:set>
                                    <p:animEffect transition="in" filter="wipe(left)">
                                      <p:cBhvr>
                                        <p:cTn id="148" dur="500"/>
                                        <p:tgtEl>
                                          <p:spTgt spid="204830"/>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10" presetClass="exit" presetSubtype="0" fill="hold" grpId="1" nodeType="clickEffect">
                                  <p:stCondLst>
                                    <p:cond delay="0"/>
                                  </p:stCondLst>
                                  <p:childTnLst>
                                    <p:animEffect transition="out" filter="fade">
                                      <p:cBhvr>
                                        <p:cTn id="152" dur="2000"/>
                                        <p:tgtEl>
                                          <p:spTgt spid="204804"/>
                                        </p:tgtEl>
                                      </p:cBhvr>
                                    </p:animEffect>
                                    <p:set>
                                      <p:cBhvr>
                                        <p:cTn id="153" dur="1" fill="hold">
                                          <p:stCondLst>
                                            <p:cond delay="1999"/>
                                          </p:stCondLst>
                                        </p:cTn>
                                        <p:tgtEl>
                                          <p:spTgt spid="204804"/>
                                        </p:tgtEl>
                                        <p:attrNameLst>
                                          <p:attrName>style.visibility</p:attrName>
                                        </p:attrNameLst>
                                      </p:cBhvr>
                                      <p:to>
                                        <p:strVal val="hidden"/>
                                      </p:to>
                                    </p:set>
                                  </p:childTnLst>
                                </p:cTn>
                              </p:par>
                              <p:par>
                                <p:cTn id="154" presetID="10" presetClass="exit" presetSubtype="0" fill="hold" grpId="1" nodeType="withEffect">
                                  <p:stCondLst>
                                    <p:cond delay="0"/>
                                  </p:stCondLst>
                                  <p:childTnLst>
                                    <p:animEffect transition="out" filter="fade">
                                      <p:cBhvr>
                                        <p:cTn id="155" dur="2000"/>
                                        <p:tgtEl>
                                          <p:spTgt spid="204819"/>
                                        </p:tgtEl>
                                      </p:cBhvr>
                                    </p:animEffect>
                                    <p:set>
                                      <p:cBhvr>
                                        <p:cTn id="156" dur="1" fill="hold">
                                          <p:stCondLst>
                                            <p:cond delay="1999"/>
                                          </p:stCondLst>
                                        </p:cTn>
                                        <p:tgtEl>
                                          <p:spTgt spid="204819"/>
                                        </p:tgtEl>
                                        <p:attrNameLst>
                                          <p:attrName>style.visibility</p:attrName>
                                        </p:attrNameLst>
                                      </p:cBhvr>
                                      <p:to>
                                        <p:strVal val="hidden"/>
                                      </p:to>
                                    </p:set>
                                  </p:childTnLst>
                                </p:cTn>
                              </p:par>
                              <p:par>
                                <p:cTn id="157" presetID="10" presetClass="exit" presetSubtype="0" fill="hold" grpId="1" nodeType="withEffect">
                                  <p:stCondLst>
                                    <p:cond delay="0"/>
                                  </p:stCondLst>
                                  <p:childTnLst>
                                    <p:animEffect transition="out" filter="fade">
                                      <p:cBhvr>
                                        <p:cTn id="158" dur="2000"/>
                                        <p:tgtEl>
                                          <p:spTgt spid="204805"/>
                                        </p:tgtEl>
                                      </p:cBhvr>
                                    </p:animEffect>
                                    <p:set>
                                      <p:cBhvr>
                                        <p:cTn id="159" dur="1" fill="hold">
                                          <p:stCondLst>
                                            <p:cond delay="1999"/>
                                          </p:stCondLst>
                                        </p:cTn>
                                        <p:tgtEl>
                                          <p:spTgt spid="204805"/>
                                        </p:tgtEl>
                                        <p:attrNameLst>
                                          <p:attrName>style.visibility</p:attrName>
                                        </p:attrNameLst>
                                      </p:cBhvr>
                                      <p:to>
                                        <p:strVal val="hidden"/>
                                      </p:to>
                                    </p:set>
                                  </p:childTnLst>
                                </p:cTn>
                              </p:par>
                              <p:par>
                                <p:cTn id="160" presetID="10" presetClass="exit" presetSubtype="0" fill="hold" grpId="1" nodeType="withEffect">
                                  <p:stCondLst>
                                    <p:cond delay="0"/>
                                  </p:stCondLst>
                                  <p:childTnLst>
                                    <p:animEffect transition="out" filter="fade">
                                      <p:cBhvr>
                                        <p:cTn id="161" dur="2000"/>
                                        <p:tgtEl>
                                          <p:spTgt spid="204818"/>
                                        </p:tgtEl>
                                      </p:cBhvr>
                                    </p:animEffect>
                                    <p:set>
                                      <p:cBhvr>
                                        <p:cTn id="162" dur="1" fill="hold">
                                          <p:stCondLst>
                                            <p:cond delay="1999"/>
                                          </p:stCondLst>
                                        </p:cTn>
                                        <p:tgtEl>
                                          <p:spTgt spid="204818"/>
                                        </p:tgtEl>
                                        <p:attrNameLst>
                                          <p:attrName>style.visibility</p:attrName>
                                        </p:attrNameLst>
                                      </p:cBhvr>
                                      <p:to>
                                        <p:strVal val="hidden"/>
                                      </p:to>
                                    </p:set>
                                  </p:childTnLst>
                                </p:cTn>
                              </p:par>
                              <p:par>
                                <p:cTn id="163" presetID="10" presetClass="exit" presetSubtype="0" fill="hold" grpId="1" nodeType="withEffect">
                                  <p:stCondLst>
                                    <p:cond delay="0"/>
                                  </p:stCondLst>
                                  <p:childTnLst>
                                    <p:animEffect transition="out" filter="fade">
                                      <p:cBhvr>
                                        <p:cTn id="164" dur="2000"/>
                                        <p:tgtEl>
                                          <p:spTgt spid="204808"/>
                                        </p:tgtEl>
                                      </p:cBhvr>
                                    </p:animEffect>
                                    <p:set>
                                      <p:cBhvr>
                                        <p:cTn id="165" dur="1" fill="hold">
                                          <p:stCondLst>
                                            <p:cond delay="1999"/>
                                          </p:stCondLst>
                                        </p:cTn>
                                        <p:tgtEl>
                                          <p:spTgt spid="204808"/>
                                        </p:tgtEl>
                                        <p:attrNameLst>
                                          <p:attrName>style.visibility</p:attrName>
                                        </p:attrNameLst>
                                      </p:cBhvr>
                                      <p:to>
                                        <p:strVal val="hidden"/>
                                      </p:to>
                                    </p:set>
                                  </p:childTnLst>
                                </p:cTn>
                              </p:par>
                            </p:childTnLst>
                          </p:cTn>
                        </p:par>
                        <p:par>
                          <p:cTn id="166" fill="hold" nodeType="afterGroup">
                            <p:stCondLst>
                              <p:cond delay="2000"/>
                            </p:stCondLst>
                            <p:childTnLst>
                              <p:par>
                                <p:cTn id="167" presetID="10" presetClass="entr" presetSubtype="0" fill="hold" grpId="0" nodeType="afterEffect">
                                  <p:stCondLst>
                                    <p:cond delay="0"/>
                                  </p:stCondLst>
                                  <p:childTnLst>
                                    <p:set>
                                      <p:cBhvr>
                                        <p:cTn id="168" dur="1" fill="hold">
                                          <p:stCondLst>
                                            <p:cond delay="0"/>
                                          </p:stCondLst>
                                        </p:cTn>
                                        <p:tgtEl>
                                          <p:spTgt spid="204820"/>
                                        </p:tgtEl>
                                        <p:attrNameLst>
                                          <p:attrName>style.visibility</p:attrName>
                                        </p:attrNameLst>
                                      </p:cBhvr>
                                      <p:to>
                                        <p:strVal val="visible"/>
                                      </p:to>
                                    </p:set>
                                    <p:animEffect transition="in" filter="fade">
                                      <p:cBhvr>
                                        <p:cTn id="169" dur="2000"/>
                                        <p:tgtEl>
                                          <p:spTgt spid="204820"/>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204813"/>
                                        </p:tgtEl>
                                        <p:attrNameLst>
                                          <p:attrName>style.visibility</p:attrName>
                                        </p:attrNameLst>
                                      </p:cBhvr>
                                      <p:to>
                                        <p:strVal val="visible"/>
                                      </p:to>
                                    </p:set>
                                    <p:animEffect transition="in" filter="fade">
                                      <p:cBhvr>
                                        <p:cTn id="172" dur="2000"/>
                                        <p:tgtEl>
                                          <p:spTgt spid="204813"/>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204803"/>
                                        </p:tgtEl>
                                        <p:attrNameLst>
                                          <p:attrName>style.visibility</p:attrName>
                                        </p:attrNameLst>
                                      </p:cBhvr>
                                      <p:to>
                                        <p:strVal val="visible"/>
                                      </p:to>
                                    </p:set>
                                    <p:animEffect transition="in" filter="fade">
                                      <p:cBhvr>
                                        <p:cTn id="175" dur="2000"/>
                                        <p:tgtEl>
                                          <p:spTgt spid="204803"/>
                                        </p:tgtEl>
                                      </p:cBhvr>
                                    </p:animEffect>
                                  </p:childTnLst>
                                </p:cTn>
                              </p:par>
                            </p:childTnLst>
                          </p:cTn>
                        </p:par>
                        <p:par>
                          <p:cTn id="176" fill="hold" nodeType="afterGroup">
                            <p:stCondLst>
                              <p:cond delay="4000"/>
                            </p:stCondLst>
                            <p:childTnLst>
                              <p:par>
                                <p:cTn id="177" presetID="10" presetClass="entr" presetSubtype="0" fill="hold" grpId="0" nodeType="afterEffect">
                                  <p:stCondLst>
                                    <p:cond delay="0"/>
                                  </p:stCondLst>
                                  <p:childTnLst>
                                    <p:set>
                                      <p:cBhvr>
                                        <p:cTn id="178" dur="1" fill="hold">
                                          <p:stCondLst>
                                            <p:cond delay="0"/>
                                          </p:stCondLst>
                                        </p:cTn>
                                        <p:tgtEl>
                                          <p:spTgt spid="204849"/>
                                        </p:tgtEl>
                                        <p:attrNameLst>
                                          <p:attrName>style.visibility</p:attrName>
                                        </p:attrNameLst>
                                      </p:cBhvr>
                                      <p:to>
                                        <p:strVal val="visible"/>
                                      </p:to>
                                    </p:set>
                                    <p:animEffect transition="in" filter="fade">
                                      <p:cBhvr>
                                        <p:cTn id="179" dur="500"/>
                                        <p:tgtEl>
                                          <p:spTgt spid="204849"/>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204848"/>
                                        </p:tgtEl>
                                        <p:attrNameLst>
                                          <p:attrName>style.visibility</p:attrName>
                                        </p:attrNameLst>
                                      </p:cBhvr>
                                      <p:to>
                                        <p:strVal val="visible"/>
                                      </p:to>
                                    </p:set>
                                    <p:animEffect transition="in" filter="fade">
                                      <p:cBhvr>
                                        <p:cTn id="182" dur="500"/>
                                        <p:tgtEl>
                                          <p:spTgt spid="204848"/>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4" fill="hold" grpId="0" nodeType="clickEffect">
                                  <p:stCondLst>
                                    <p:cond delay="0"/>
                                  </p:stCondLst>
                                  <p:childTnLst>
                                    <p:set>
                                      <p:cBhvr>
                                        <p:cTn id="186" dur="1" fill="hold">
                                          <p:stCondLst>
                                            <p:cond delay="0"/>
                                          </p:stCondLst>
                                        </p:cTn>
                                        <p:tgtEl>
                                          <p:spTgt spid="204845"/>
                                        </p:tgtEl>
                                        <p:attrNameLst>
                                          <p:attrName>style.visibility</p:attrName>
                                        </p:attrNameLst>
                                      </p:cBhvr>
                                      <p:to>
                                        <p:strVal val="visible"/>
                                      </p:to>
                                    </p:set>
                                    <p:animEffect transition="in" filter="wipe(down)">
                                      <p:cBhvr>
                                        <p:cTn id="187" dur="500"/>
                                        <p:tgtEl>
                                          <p:spTgt spid="204845"/>
                                        </p:tgtEl>
                                      </p:cBhvr>
                                    </p:animEffect>
                                  </p:childTnLst>
                                </p:cTn>
                              </p:par>
                              <p:par>
                                <p:cTn id="188" presetID="22" presetClass="entr" presetSubtype="8" fill="hold" grpId="0" nodeType="withEffect">
                                  <p:stCondLst>
                                    <p:cond delay="0"/>
                                  </p:stCondLst>
                                  <p:childTnLst>
                                    <p:set>
                                      <p:cBhvr>
                                        <p:cTn id="189" dur="1" fill="hold">
                                          <p:stCondLst>
                                            <p:cond delay="0"/>
                                          </p:stCondLst>
                                        </p:cTn>
                                        <p:tgtEl>
                                          <p:spTgt spid="204846"/>
                                        </p:tgtEl>
                                        <p:attrNameLst>
                                          <p:attrName>style.visibility</p:attrName>
                                        </p:attrNameLst>
                                      </p:cBhvr>
                                      <p:to>
                                        <p:strVal val="visible"/>
                                      </p:to>
                                    </p:set>
                                    <p:animEffect transition="in" filter="wipe(left)">
                                      <p:cBhvr>
                                        <p:cTn id="190" dur="500"/>
                                        <p:tgtEl>
                                          <p:spTgt spid="204846"/>
                                        </p:tgtEl>
                                      </p:cBhvr>
                                    </p:animEffect>
                                  </p:childTnLst>
                                </p:cTn>
                              </p:par>
                            </p:childTnLst>
                          </p:cTn>
                        </p:par>
                        <p:par>
                          <p:cTn id="191" fill="hold" nodeType="afterGroup">
                            <p:stCondLst>
                              <p:cond delay="500"/>
                            </p:stCondLst>
                            <p:childTnLst>
                              <p:par>
                                <p:cTn id="192" presetID="23" presetClass="entr" presetSubtype="16" fill="hold" grpId="0" nodeType="afterEffect">
                                  <p:stCondLst>
                                    <p:cond delay="0"/>
                                  </p:stCondLst>
                                  <p:childTnLst>
                                    <p:set>
                                      <p:cBhvr>
                                        <p:cTn id="193" dur="1" fill="hold">
                                          <p:stCondLst>
                                            <p:cond delay="0"/>
                                          </p:stCondLst>
                                        </p:cTn>
                                        <p:tgtEl>
                                          <p:spTgt spid="204843"/>
                                        </p:tgtEl>
                                        <p:attrNameLst>
                                          <p:attrName>style.visibility</p:attrName>
                                        </p:attrNameLst>
                                      </p:cBhvr>
                                      <p:to>
                                        <p:strVal val="visible"/>
                                      </p:to>
                                    </p:set>
                                    <p:anim calcmode="lin" valueType="num">
                                      <p:cBhvr>
                                        <p:cTn id="194" dur="500" fill="hold"/>
                                        <p:tgtEl>
                                          <p:spTgt spid="204843"/>
                                        </p:tgtEl>
                                        <p:attrNameLst>
                                          <p:attrName>ppt_w</p:attrName>
                                        </p:attrNameLst>
                                      </p:cBhvr>
                                      <p:tavLst>
                                        <p:tav tm="0">
                                          <p:val>
                                            <p:fltVal val="0"/>
                                          </p:val>
                                        </p:tav>
                                        <p:tav tm="100000">
                                          <p:val>
                                            <p:strVal val="#ppt_w"/>
                                          </p:val>
                                        </p:tav>
                                      </p:tavLst>
                                    </p:anim>
                                    <p:anim calcmode="lin" valueType="num">
                                      <p:cBhvr>
                                        <p:cTn id="195" dur="500" fill="hold"/>
                                        <p:tgtEl>
                                          <p:spTgt spid="204843"/>
                                        </p:tgtEl>
                                        <p:attrNameLst>
                                          <p:attrName>ppt_h</p:attrName>
                                        </p:attrNameLst>
                                      </p:cBhvr>
                                      <p:tavLst>
                                        <p:tav tm="0">
                                          <p:val>
                                            <p:fltVal val="0"/>
                                          </p:val>
                                        </p:tav>
                                        <p:tav tm="100000">
                                          <p:val>
                                            <p:strVal val="#ppt_h"/>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0" presetClass="exit" presetSubtype="0" fill="hold" grpId="1" nodeType="clickEffect">
                                  <p:stCondLst>
                                    <p:cond delay="0"/>
                                  </p:stCondLst>
                                  <p:childTnLst>
                                    <p:animEffect transition="out" filter="fade">
                                      <p:cBhvr>
                                        <p:cTn id="199" dur="2000"/>
                                        <p:tgtEl>
                                          <p:spTgt spid="204803"/>
                                        </p:tgtEl>
                                      </p:cBhvr>
                                    </p:animEffect>
                                    <p:set>
                                      <p:cBhvr>
                                        <p:cTn id="200" dur="1" fill="hold">
                                          <p:stCondLst>
                                            <p:cond delay="1999"/>
                                          </p:stCondLst>
                                        </p:cTn>
                                        <p:tgtEl>
                                          <p:spTgt spid="204803"/>
                                        </p:tgtEl>
                                        <p:attrNameLst>
                                          <p:attrName>style.visibility</p:attrName>
                                        </p:attrNameLst>
                                      </p:cBhvr>
                                      <p:to>
                                        <p:strVal val="hidden"/>
                                      </p:to>
                                    </p:set>
                                  </p:childTnLst>
                                </p:cTn>
                              </p:par>
                              <p:par>
                                <p:cTn id="201" presetID="10" presetClass="exit" presetSubtype="0" fill="hold" grpId="1" nodeType="withEffect">
                                  <p:stCondLst>
                                    <p:cond delay="0"/>
                                  </p:stCondLst>
                                  <p:childTnLst>
                                    <p:animEffect transition="out" filter="fade">
                                      <p:cBhvr>
                                        <p:cTn id="202" dur="2000"/>
                                        <p:tgtEl>
                                          <p:spTgt spid="204820"/>
                                        </p:tgtEl>
                                      </p:cBhvr>
                                    </p:animEffect>
                                    <p:set>
                                      <p:cBhvr>
                                        <p:cTn id="203" dur="1" fill="hold">
                                          <p:stCondLst>
                                            <p:cond delay="1999"/>
                                          </p:stCondLst>
                                        </p:cTn>
                                        <p:tgtEl>
                                          <p:spTgt spid="204820"/>
                                        </p:tgtEl>
                                        <p:attrNameLst>
                                          <p:attrName>style.visibility</p:attrName>
                                        </p:attrNameLst>
                                      </p:cBhvr>
                                      <p:to>
                                        <p:strVal val="hidden"/>
                                      </p:to>
                                    </p:set>
                                  </p:childTnLst>
                                </p:cTn>
                              </p:par>
                              <p:par>
                                <p:cTn id="204" presetID="10" presetClass="exit" presetSubtype="0" fill="hold" grpId="1" nodeType="withEffect">
                                  <p:stCondLst>
                                    <p:cond delay="0"/>
                                  </p:stCondLst>
                                  <p:childTnLst>
                                    <p:animEffect transition="out" filter="fade">
                                      <p:cBhvr>
                                        <p:cTn id="205" dur="2000"/>
                                        <p:tgtEl>
                                          <p:spTgt spid="204849"/>
                                        </p:tgtEl>
                                      </p:cBhvr>
                                    </p:animEffect>
                                    <p:set>
                                      <p:cBhvr>
                                        <p:cTn id="206" dur="1" fill="hold">
                                          <p:stCondLst>
                                            <p:cond delay="1999"/>
                                          </p:stCondLst>
                                        </p:cTn>
                                        <p:tgtEl>
                                          <p:spTgt spid="204849"/>
                                        </p:tgtEl>
                                        <p:attrNameLst>
                                          <p:attrName>style.visibility</p:attrName>
                                        </p:attrNameLst>
                                      </p:cBhvr>
                                      <p:to>
                                        <p:strVal val="hidden"/>
                                      </p:to>
                                    </p:set>
                                  </p:childTnLst>
                                </p:cTn>
                              </p:par>
                              <p:par>
                                <p:cTn id="207" presetID="10" presetClass="exit" presetSubtype="0" fill="hold" grpId="1" nodeType="withEffect">
                                  <p:stCondLst>
                                    <p:cond delay="0"/>
                                  </p:stCondLst>
                                  <p:childTnLst>
                                    <p:animEffect transition="out" filter="fade">
                                      <p:cBhvr>
                                        <p:cTn id="208" dur="2000"/>
                                        <p:tgtEl>
                                          <p:spTgt spid="204848"/>
                                        </p:tgtEl>
                                      </p:cBhvr>
                                    </p:animEffect>
                                    <p:set>
                                      <p:cBhvr>
                                        <p:cTn id="209" dur="1" fill="hold">
                                          <p:stCondLst>
                                            <p:cond delay="1999"/>
                                          </p:stCondLst>
                                        </p:cTn>
                                        <p:tgtEl>
                                          <p:spTgt spid="204848"/>
                                        </p:tgtEl>
                                        <p:attrNameLst>
                                          <p:attrName>style.visibility</p:attrName>
                                        </p:attrNameLst>
                                      </p:cBhvr>
                                      <p:to>
                                        <p:strVal val="hidden"/>
                                      </p:to>
                                    </p:set>
                                  </p:childTnLst>
                                </p:cTn>
                              </p:par>
                              <p:par>
                                <p:cTn id="210" presetID="10" presetClass="entr" presetSubtype="0" fill="hold" grpId="0" nodeType="withEffect">
                                  <p:stCondLst>
                                    <p:cond delay="0"/>
                                  </p:stCondLst>
                                  <p:childTnLst>
                                    <p:set>
                                      <p:cBhvr>
                                        <p:cTn id="211" dur="1" fill="hold">
                                          <p:stCondLst>
                                            <p:cond delay="0"/>
                                          </p:stCondLst>
                                        </p:cTn>
                                        <p:tgtEl>
                                          <p:spTgt spid="204802"/>
                                        </p:tgtEl>
                                        <p:attrNameLst>
                                          <p:attrName>style.visibility</p:attrName>
                                        </p:attrNameLst>
                                      </p:cBhvr>
                                      <p:to>
                                        <p:strVal val="visible"/>
                                      </p:to>
                                    </p:set>
                                    <p:animEffect transition="in" filter="fade">
                                      <p:cBhvr>
                                        <p:cTn id="212" dur="2000"/>
                                        <p:tgtEl>
                                          <p:spTgt spid="204802"/>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204821"/>
                                        </p:tgtEl>
                                        <p:attrNameLst>
                                          <p:attrName>style.visibility</p:attrName>
                                        </p:attrNameLst>
                                      </p:cBhvr>
                                      <p:to>
                                        <p:strVal val="visible"/>
                                      </p:to>
                                    </p:set>
                                    <p:animEffect transition="in" filter="fade">
                                      <p:cBhvr>
                                        <p:cTn id="215" dur="2000"/>
                                        <p:tgtEl>
                                          <p:spTgt spid="204821"/>
                                        </p:tgtEl>
                                      </p:cBhvr>
                                    </p:animEffect>
                                  </p:childTnLst>
                                </p:cTn>
                              </p:par>
                            </p:childTnLst>
                          </p:cTn>
                        </p:par>
                        <p:par>
                          <p:cTn id="216" fill="hold" nodeType="afterGroup">
                            <p:stCondLst>
                              <p:cond delay="2000"/>
                            </p:stCondLst>
                            <p:childTnLst>
                              <p:par>
                                <p:cTn id="217" presetID="10" presetClass="entr" presetSubtype="0" fill="hold" grpId="2" nodeType="afterEffect">
                                  <p:stCondLst>
                                    <p:cond delay="0"/>
                                  </p:stCondLst>
                                  <p:childTnLst>
                                    <p:set>
                                      <p:cBhvr>
                                        <p:cTn id="218" dur="1" fill="hold">
                                          <p:stCondLst>
                                            <p:cond delay="0"/>
                                          </p:stCondLst>
                                        </p:cTn>
                                        <p:tgtEl>
                                          <p:spTgt spid="204849"/>
                                        </p:tgtEl>
                                        <p:attrNameLst>
                                          <p:attrName>style.visibility</p:attrName>
                                        </p:attrNameLst>
                                      </p:cBhvr>
                                      <p:to>
                                        <p:strVal val="visible"/>
                                      </p:to>
                                    </p:set>
                                    <p:animEffect transition="in" filter="fade">
                                      <p:cBhvr>
                                        <p:cTn id="219" dur="500"/>
                                        <p:tgtEl>
                                          <p:spTgt spid="204849"/>
                                        </p:tgtEl>
                                      </p:cBhvr>
                                    </p:animEffect>
                                  </p:childTnLst>
                                </p:cTn>
                              </p:par>
                              <p:par>
                                <p:cTn id="220" presetID="10" presetClass="entr" presetSubtype="0" fill="hold" grpId="2" nodeType="withEffect">
                                  <p:stCondLst>
                                    <p:cond delay="0"/>
                                  </p:stCondLst>
                                  <p:childTnLst>
                                    <p:set>
                                      <p:cBhvr>
                                        <p:cTn id="221" dur="1" fill="hold">
                                          <p:stCondLst>
                                            <p:cond delay="0"/>
                                          </p:stCondLst>
                                        </p:cTn>
                                        <p:tgtEl>
                                          <p:spTgt spid="204848"/>
                                        </p:tgtEl>
                                        <p:attrNameLst>
                                          <p:attrName>style.visibility</p:attrName>
                                        </p:attrNameLst>
                                      </p:cBhvr>
                                      <p:to>
                                        <p:strVal val="visible"/>
                                      </p:to>
                                    </p:set>
                                    <p:animEffect transition="in" filter="fade">
                                      <p:cBhvr>
                                        <p:cTn id="222" dur="500"/>
                                        <p:tgtEl>
                                          <p:spTgt spid="204848"/>
                                        </p:tgtEl>
                                      </p:cBhvr>
                                    </p:animEffec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22" presetClass="entr" presetSubtype="4" fill="hold" grpId="0" nodeType="clickEffect">
                                  <p:stCondLst>
                                    <p:cond delay="0"/>
                                  </p:stCondLst>
                                  <p:childTnLst>
                                    <p:set>
                                      <p:cBhvr>
                                        <p:cTn id="226" dur="1" fill="hold">
                                          <p:stCondLst>
                                            <p:cond delay="0"/>
                                          </p:stCondLst>
                                        </p:cTn>
                                        <p:tgtEl>
                                          <p:spTgt spid="204826"/>
                                        </p:tgtEl>
                                        <p:attrNameLst>
                                          <p:attrName>style.visibility</p:attrName>
                                        </p:attrNameLst>
                                      </p:cBhvr>
                                      <p:to>
                                        <p:strVal val="visible"/>
                                      </p:to>
                                    </p:set>
                                    <p:animEffect transition="in" filter="wipe(down)">
                                      <p:cBhvr>
                                        <p:cTn id="227" dur="500"/>
                                        <p:tgtEl>
                                          <p:spTgt spid="204826"/>
                                        </p:tgtEl>
                                      </p:cBhvr>
                                    </p:animEffect>
                                  </p:childTnLst>
                                </p:cTn>
                              </p:par>
                              <p:par>
                                <p:cTn id="228" presetID="22" presetClass="entr" presetSubtype="8" fill="hold" grpId="0" nodeType="withEffect">
                                  <p:stCondLst>
                                    <p:cond delay="0"/>
                                  </p:stCondLst>
                                  <p:childTnLst>
                                    <p:set>
                                      <p:cBhvr>
                                        <p:cTn id="229" dur="1" fill="hold">
                                          <p:stCondLst>
                                            <p:cond delay="0"/>
                                          </p:stCondLst>
                                        </p:cTn>
                                        <p:tgtEl>
                                          <p:spTgt spid="204827"/>
                                        </p:tgtEl>
                                        <p:attrNameLst>
                                          <p:attrName>style.visibility</p:attrName>
                                        </p:attrNameLst>
                                      </p:cBhvr>
                                      <p:to>
                                        <p:strVal val="visible"/>
                                      </p:to>
                                    </p:set>
                                    <p:animEffect transition="in" filter="wipe(left)">
                                      <p:cBhvr>
                                        <p:cTn id="230" dur="500"/>
                                        <p:tgtEl>
                                          <p:spTgt spid="204827"/>
                                        </p:tgtEl>
                                      </p:cBhvr>
                                    </p:animEffect>
                                  </p:childTnLst>
                                </p:cTn>
                              </p:par>
                            </p:childTnLst>
                          </p:cTn>
                        </p:par>
                        <p:par>
                          <p:cTn id="231" fill="hold" nodeType="afterGroup">
                            <p:stCondLst>
                              <p:cond delay="500"/>
                            </p:stCondLst>
                            <p:childTnLst>
                              <p:par>
                                <p:cTn id="232" presetID="23" presetClass="entr" presetSubtype="16" fill="hold" grpId="0" nodeType="afterEffect">
                                  <p:stCondLst>
                                    <p:cond delay="0"/>
                                  </p:stCondLst>
                                  <p:childTnLst>
                                    <p:set>
                                      <p:cBhvr>
                                        <p:cTn id="233" dur="1" fill="hold">
                                          <p:stCondLst>
                                            <p:cond delay="0"/>
                                          </p:stCondLst>
                                        </p:cTn>
                                        <p:tgtEl>
                                          <p:spTgt spid="204844"/>
                                        </p:tgtEl>
                                        <p:attrNameLst>
                                          <p:attrName>style.visibility</p:attrName>
                                        </p:attrNameLst>
                                      </p:cBhvr>
                                      <p:to>
                                        <p:strVal val="visible"/>
                                      </p:to>
                                    </p:set>
                                    <p:anim calcmode="lin" valueType="num">
                                      <p:cBhvr>
                                        <p:cTn id="234" dur="500" fill="hold"/>
                                        <p:tgtEl>
                                          <p:spTgt spid="204844"/>
                                        </p:tgtEl>
                                        <p:attrNameLst>
                                          <p:attrName>ppt_w</p:attrName>
                                        </p:attrNameLst>
                                      </p:cBhvr>
                                      <p:tavLst>
                                        <p:tav tm="0">
                                          <p:val>
                                            <p:fltVal val="0"/>
                                          </p:val>
                                        </p:tav>
                                        <p:tav tm="100000">
                                          <p:val>
                                            <p:strVal val="#ppt_w"/>
                                          </p:val>
                                        </p:tav>
                                      </p:tavLst>
                                    </p:anim>
                                    <p:anim calcmode="lin" valueType="num">
                                      <p:cBhvr>
                                        <p:cTn id="235" dur="500" fill="hold"/>
                                        <p:tgtEl>
                                          <p:spTgt spid="204844"/>
                                        </p:tgtEl>
                                        <p:attrNameLst>
                                          <p:attrName>ppt_h</p:attrName>
                                        </p:attrNameLst>
                                      </p:cBhvr>
                                      <p:tavLst>
                                        <p:tav tm="0">
                                          <p:val>
                                            <p:fltVal val="0"/>
                                          </p:val>
                                        </p:tav>
                                        <p:tav tm="100000">
                                          <p:val>
                                            <p:strVal val="#ppt_h"/>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9" presetClass="entr" presetSubtype="0" fill="hold" grpId="0" nodeType="clickEffect">
                                  <p:stCondLst>
                                    <p:cond delay="0"/>
                                  </p:stCondLst>
                                  <p:childTnLst>
                                    <p:set>
                                      <p:cBhvr>
                                        <p:cTn id="239" dur="1" fill="hold">
                                          <p:stCondLst>
                                            <p:cond delay="0"/>
                                          </p:stCondLst>
                                        </p:cTn>
                                        <p:tgtEl>
                                          <p:spTgt spid="204823"/>
                                        </p:tgtEl>
                                        <p:attrNameLst>
                                          <p:attrName>style.visibility</p:attrName>
                                        </p:attrNameLst>
                                      </p:cBhvr>
                                      <p:to>
                                        <p:strVal val="visible"/>
                                      </p:to>
                                    </p:set>
                                    <p:animEffect transition="in" filter="dissolve">
                                      <p:cBhvr>
                                        <p:cTn id="240" dur="500"/>
                                        <p:tgtEl>
                                          <p:spTgt spid="204823"/>
                                        </p:tgtEl>
                                      </p:cBhvr>
                                    </p:animEffec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9" presetClass="entr" presetSubtype="0" fill="hold" grpId="0" nodeType="clickEffect">
                                  <p:stCondLst>
                                    <p:cond delay="0"/>
                                  </p:stCondLst>
                                  <p:childTnLst>
                                    <p:set>
                                      <p:cBhvr>
                                        <p:cTn id="244" dur="1" fill="hold">
                                          <p:stCondLst>
                                            <p:cond delay="0"/>
                                          </p:stCondLst>
                                        </p:cTn>
                                        <p:tgtEl>
                                          <p:spTgt spid="204833"/>
                                        </p:tgtEl>
                                        <p:attrNameLst>
                                          <p:attrName>style.visibility</p:attrName>
                                        </p:attrNameLst>
                                      </p:cBhvr>
                                      <p:to>
                                        <p:strVal val="visible"/>
                                      </p:to>
                                    </p:set>
                                    <p:animEffect transition="in" filter="dissolve">
                                      <p:cBhvr>
                                        <p:cTn id="245" dur="500"/>
                                        <p:tgtEl>
                                          <p:spTgt spid="204833"/>
                                        </p:tgtEl>
                                      </p:cBhvr>
                                    </p:animEffect>
                                  </p:childTnLst>
                                </p:cTn>
                              </p:par>
                            </p:childTnLst>
                          </p:cTn>
                        </p:par>
                        <p:par>
                          <p:cTn id="246" fill="hold" nodeType="afterGroup">
                            <p:stCondLst>
                              <p:cond delay="500"/>
                            </p:stCondLst>
                            <p:childTnLst>
                              <p:par>
                                <p:cTn id="247" presetID="22" presetClass="entr" presetSubtype="8" fill="hold" grpId="0" nodeType="afterEffect">
                                  <p:stCondLst>
                                    <p:cond delay="0"/>
                                  </p:stCondLst>
                                  <p:childTnLst>
                                    <p:set>
                                      <p:cBhvr>
                                        <p:cTn id="248" dur="1" fill="hold">
                                          <p:stCondLst>
                                            <p:cond delay="0"/>
                                          </p:stCondLst>
                                        </p:cTn>
                                        <p:tgtEl>
                                          <p:spTgt spid="204842"/>
                                        </p:tgtEl>
                                        <p:attrNameLst>
                                          <p:attrName>style.visibility</p:attrName>
                                        </p:attrNameLst>
                                      </p:cBhvr>
                                      <p:to>
                                        <p:strVal val="visible"/>
                                      </p:to>
                                    </p:set>
                                    <p:animEffect transition="in" filter="wipe(left)">
                                      <p:cBhvr>
                                        <p:cTn id="249" dur="500"/>
                                        <p:tgtEl>
                                          <p:spTgt spid="204842"/>
                                        </p:tgtEl>
                                      </p:cBhvr>
                                    </p:animEffect>
                                  </p:childTnLst>
                                </p:cTn>
                              </p:par>
                            </p:childTnLst>
                          </p:cTn>
                        </p:par>
                        <p:par>
                          <p:cTn id="250" fill="hold" nodeType="afterGroup">
                            <p:stCondLst>
                              <p:cond delay="1500"/>
                            </p:stCondLst>
                            <p:childTnLst>
                              <p:par>
                                <p:cTn id="251" presetID="1" presetClass="entr" presetSubtype="0" fill="hold" grpId="0" nodeType="afterEffect">
                                  <p:stCondLst>
                                    <p:cond delay="0"/>
                                  </p:stCondLst>
                                  <p:childTnLst>
                                    <p:set>
                                      <p:cBhvr>
                                        <p:cTn id="252" dur="1" fill="hold">
                                          <p:stCondLst>
                                            <p:cond delay="0"/>
                                          </p:stCondLst>
                                        </p:cTn>
                                        <p:tgtEl>
                                          <p:spTgt spid="204852"/>
                                        </p:tgtEl>
                                        <p:attrNameLst>
                                          <p:attrName>style.visibility</p:attrName>
                                        </p:attrNameLst>
                                      </p:cBhvr>
                                      <p:to>
                                        <p:strVal val="visible"/>
                                      </p:to>
                                    </p:set>
                                  </p:childTnLst>
                                </p:cTn>
                              </p:par>
                            </p:childTnLst>
                          </p:cTn>
                        </p:par>
                        <p:par>
                          <p:cTn id="253" fill="hold" nodeType="afterGroup">
                            <p:stCondLst>
                              <p:cond delay="1500"/>
                            </p:stCondLst>
                            <p:childTnLst>
                              <p:par>
                                <p:cTn id="254" presetID="35" presetClass="emph" presetSubtype="0" fill="hold" grpId="1" nodeType="afterEffect">
                                  <p:stCondLst>
                                    <p:cond delay="0"/>
                                  </p:stCondLst>
                                  <p:childTnLst>
                                    <p:anim calcmode="discrete" valueType="str">
                                      <p:cBhvr>
                                        <p:cTn id="255" dur="1000" fill="hold"/>
                                        <p:tgtEl>
                                          <p:spTgt spid="204852"/>
                                        </p:tgtEl>
                                        <p:attrNameLst>
                                          <p:attrName>style.visibility</p:attrName>
                                        </p:attrNameLst>
                                      </p:cBhvr>
                                      <p:tavLst>
                                        <p:tav tm="0">
                                          <p:val>
                                            <p:strVal val="hidden"/>
                                          </p:val>
                                        </p:tav>
                                        <p:tav tm="50000">
                                          <p:val>
                                            <p:strVal val="visible"/>
                                          </p:val>
                                        </p:tav>
                                      </p:tavLst>
                                    </p:anim>
                                  </p:childTnLst>
                                </p:cTn>
                              </p:par>
                            </p:childTnLst>
                          </p:cTn>
                        </p:par>
                        <p:par>
                          <p:cTn id="256" fill="hold" nodeType="afterGroup">
                            <p:stCondLst>
                              <p:cond delay="2500"/>
                            </p:stCondLst>
                            <p:childTnLst>
                              <p:par>
                                <p:cTn id="257" presetID="35" presetClass="emph" presetSubtype="0" fill="hold" grpId="2" nodeType="afterEffect">
                                  <p:stCondLst>
                                    <p:cond delay="0"/>
                                  </p:stCondLst>
                                  <p:childTnLst>
                                    <p:anim calcmode="discrete" valueType="str">
                                      <p:cBhvr>
                                        <p:cTn id="258" dur="1000" fill="hold"/>
                                        <p:tgtEl>
                                          <p:spTgt spid="204852"/>
                                        </p:tgtEl>
                                        <p:attrNameLst>
                                          <p:attrName>style.visibility</p:attrName>
                                        </p:attrNameLst>
                                      </p:cBhvr>
                                      <p:tavLst>
                                        <p:tav tm="0">
                                          <p:val>
                                            <p:strVal val="hidden"/>
                                          </p:val>
                                        </p:tav>
                                        <p:tav tm="50000">
                                          <p:val>
                                            <p:strVal val="visible"/>
                                          </p:val>
                                        </p:tav>
                                      </p:tavLst>
                                    </p:anim>
                                  </p:childTnLst>
                                </p:cTn>
                              </p:par>
                            </p:childTnLst>
                          </p:cTn>
                        </p:par>
                        <p:par>
                          <p:cTn id="259" fill="hold" nodeType="afterGroup">
                            <p:stCondLst>
                              <p:cond delay="3500"/>
                            </p:stCondLst>
                            <p:childTnLst>
                              <p:par>
                                <p:cTn id="260" presetID="35" presetClass="emph" presetSubtype="0" fill="hold" grpId="3" nodeType="afterEffect">
                                  <p:stCondLst>
                                    <p:cond delay="0"/>
                                  </p:stCondLst>
                                  <p:childTnLst>
                                    <p:anim calcmode="discrete" valueType="str">
                                      <p:cBhvr>
                                        <p:cTn id="261" dur="1000" fill="hold"/>
                                        <p:tgtEl>
                                          <p:spTgt spid="204852"/>
                                        </p:tgtEl>
                                        <p:attrNameLst>
                                          <p:attrName>style.visibility</p:attrName>
                                        </p:attrNameLst>
                                      </p:cBhvr>
                                      <p:tavLst>
                                        <p:tav tm="0">
                                          <p:val>
                                            <p:strVal val="hidden"/>
                                          </p:val>
                                        </p:tav>
                                        <p:tav tm="50000">
                                          <p:val>
                                            <p:strVal val="visible"/>
                                          </p:val>
                                        </p:tav>
                                      </p:tavLst>
                                    </p:anim>
                                  </p:childTnLst>
                                </p:cTn>
                              </p:par>
                            </p:childTnLst>
                          </p:cTn>
                        </p:par>
                        <p:par>
                          <p:cTn id="262" fill="hold" nodeType="afterGroup">
                            <p:stCondLst>
                              <p:cond delay="4500"/>
                            </p:stCondLst>
                            <p:childTnLst>
                              <p:par>
                                <p:cTn id="263" presetID="35" presetClass="emph" presetSubtype="0" fill="hold" grpId="4" nodeType="afterEffect">
                                  <p:stCondLst>
                                    <p:cond delay="0"/>
                                  </p:stCondLst>
                                  <p:childTnLst>
                                    <p:anim calcmode="discrete" valueType="str">
                                      <p:cBhvr>
                                        <p:cTn id="264" dur="1000" fill="hold"/>
                                        <p:tgtEl>
                                          <p:spTgt spid="204852"/>
                                        </p:tgtEl>
                                        <p:attrNameLst>
                                          <p:attrName>style.visibility</p:attrName>
                                        </p:attrNameLst>
                                      </p:cBhvr>
                                      <p:tavLst>
                                        <p:tav tm="0">
                                          <p:val>
                                            <p:strVal val="hidden"/>
                                          </p:val>
                                        </p:tav>
                                        <p:tav tm="50000">
                                          <p:val>
                                            <p:strVal val="visible"/>
                                          </p:val>
                                        </p:tav>
                                      </p:tavLst>
                                    </p:anim>
                                  </p:childTnLst>
                                </p:cTn>
                              </p:par>
                            </p:childTnLst>
                          </p:cTn>
                        </p:par>
                        <p:par>
                          <p:cTn id="265" fill="hold" nodeType="afterGroup">
                            <p:stCondLst>
                              <p:cond delay="5500"/>
                            </p:stCondLst>
                            <p:childTnLst>
                              <p:par>
                                <p:cTn id="266" presetID="35" presetClass="emph" presetSubtype="0" fill="hold" grpId="5" nodeType="afterEffect">
                                  <p:stCondLst>
                                    <p:cond delay="0"/>
                                  </p:stCondLst>
                                  <p:childTnLst>
                                    <p:anim calcmode="discrete" valueType="str">
                                      <p:cBhvr>
                                        <p:cTn id="267" dur="1000" fill="hold"/>
                                        <p:tgtEl>
                                          <p:spTgt spid="204852"/>
                                        </p:tgtEl>
                                        <p:attrNameLst>
                                          <p:attrName>style.visibility</p:attrName>
                                        </p:attrNameLst>
                                      </p:cBhvr>
                                      <p:tavLst>
                                        <p:tav tm="0">
                                          <p:val>
                                            <p:strVal val="hidden"/>
                                          </p:val>
                                        </p:tav>
                                        <p:tav tm="50000">
                                          <p:val>
                                            <p:strVal val="visible"/>
                                          </p:val>
                                        </p:tav>
                                      </p:tavLst>
                                    </p:anim>
                                  </p:childTnLst>
                                </p:cTn>
                              </p:par>
                            </p:childTnLst>
                          </p:cTn>
                        </p:par>
                        <p:par>
                          <p:cTn id="268" fill="hold" nodeType="afterGroup">
                            <p:stCondLst>
                              <p:cond delay="6500"/>
                            </p:stCondLst>
                            <p:childTnLst>
                              <p:par>
                                <p:cTn id="269" presetID="10" presetClass="exit" presetSubtype="0" fill="hold" grpId="6" nodeType="afterEffect">
                                  <p:stCondLst>
                                    <p:cond delay="0"/>
                                  </p:stCondLst>
                                  <p:childTnLst>
                                    <p:animEffect transition="out" filter="fade">
                                      <p:cBhvr>
                                        <p:cTn id="270" dur="2000"/>
                                        <p:tgtEl>
                                          <p:spTgt spid="204852"/>
                                        </p:tgtEl>
                                      </p:cBhvr>
                                    </p:animEffect>
                                    <p:set>
                                      <p:cBhvr>
                                        <p:cTn id="271" dur="1" fill="hold">
                                          <p:stCondLst>
                                            <p:cond delay="1999"/>
                                          </p:stCondLst>
                                        </p:cTn>
                                        <p:tgtEl>
                                          <p:spTgt spid="204852"/>
                                        </p:tgtEl>
                                        <p:attrNameLst>
                                          <p:attrName>style.visibility</p:attrName>
                                        </p:attrNameLst>
                                      </p:cBhvr>
                                      <p:to>
                                        <p:strVal val="hidden"/>
                                      </p:to>
                                    </p:se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9" presetClass="entr" presetSubtype="0" fill="hold" grpId="0" nodeType="clickEffect">
                                  <p:stCondLst>
                                    <p:cond delay="0"/>
                                  </p:stCondLst>
                                  <p:childTnLst>
                                    <p:set>
                                      <p:cBhvr>
                                        <p:cTn id="275" dur="1" fill="hold">
                                          <p:stCondLst>
                                            <p:cond delay="0"/>
                                          </p:stCondLst>
                                        </p:cTn>
                                        <p:tgtEl>
                                          <p:spTgt spid="204836"/>
                                        </p:tgtEl>
                                        <p:attrNameLst>
                                          <p:attrName>style.visibility</p:attrName>
                                        </p:attrNameLst>
                                      </p:cBhvr>
                                      <p:to>
                                        <p:strVal val="visible"/>
                                      </p:to>
                                    </p:set>
                                    <p:animEffect transition="in" filter="dissolve">
                                      <p:cBhvr>
                                        <p:cTn id="276" dur="500"/>
                                        <p:tgtEl>
                                          <p:spTgt spid="204836"/>
                                        </p:tgtEl>
                                      </p:cBhvr>
                                    </p:animEffect>
                                  </p:childTnLst>
                                </p:cTn>
                              </p:par>
                            </p:childTnLst>
                          </p:cTn>
                        </p:par>
                        <p:par>
                          <p:cTn id="277" fill="hold" nodeType="afterGroup">
                            <p:stCondLst>
                              <p:cond delay="500"/>
                            </p:stCondLst>
                            <p:childTnLst>
                              <p:par>
                                <p:cTn id="278" presetID="22" presetClass="entr" presetSubtype="8" fill="hold" grpId="0" nodeType="afterEffect">
                                  <p:stCondLst>
                                    <p:cond delay="0"/>
                                  </p:stCondLst>
                                  <p:childTnLst>
                                    <p:set>
                                      <p:cBhvr>
                                        <p:cTn id="279" dur="1" fill="hold">
                                          <p:stCondLst>
                                            <p:cond delay="0"/>
                                          </p:stCondLst>
                                        </p:cTn>
                                        <p:tgtEl>
                                          <p:spTgt spid="204847"/>
                                        </p:tgtEl>
                                        <p:attrNameLst>
                                          <p:attrName>style.visibility</p:attrName>
                                        </p:attrNameLst>
                                      </p:cBhvr>
                                      <p:to>
                                        <p:strVal val="visible"/>
                                      </p:to>
                                    </p:set>
                                    <p:animEffect transition="in" filter="wipe(left)">
                                      <p:cBhvr>
                                        <p:cTn id="280" dur="500"/>
                                        <p:tgtEl>
                                          <p:spTgt spid="204847"/>
                                        </p:tgtEl>
                                      </p:cBhvr>
                                    </p:animEffect>
                                  </p:childTnLst>
                                </p:cTn>
                              </p:par>
                            </p:childTnLst>
                          </p:cTn>
                        </p:par>
                        <p:par>
                          <p:cTn id="281" fill="hold" nodeType="afterGroup">
                            <p:stCondLst>
                              <p:cond delay="1000"/>
                            </p:stCondLst>
                            <p:childTnLst>
                              <p:par>
                                <p:cTn id="282" presetID="1" presetClass="entr" presetSubtype="0" fill="hold" grpId="0" nodeType="afterEffect">
                                  <p:stCondLst>
                                    <p:cond delay="0"/>
                                  </p:stCondLst>
                                  <p:childTnLst>
                                    <p:set>
                                      <p:cBhvr>
                                        <p:cTn id="283" dur="1" fill="hold">
                                          <p:stCondLst>
                                            <p:cond delay="0"/>
                                          </p:stCondLst>
                                        </p:cTn>
                                        <p:tgtEl>
                                          <p:spTgt spid="204851"/>
                                        </p:tgtEl>
                                        <p:attrNameLst>
                                          <p:attrName>style.visibility</p:attrName>
                                        </p:attrNameLst>
                                      </p:cBhvr>
                                      <p:to>
                                        <p:strVal val="visible"/>
                                      </p:to>
                                    </p:set>
                                  </p:childTnLst>
                                </p:cTn>
                              </p:par>
                            </p:childTnLst>
                          </p:cTn>
                        </p:par>
                        <p:par>
                          <p:cTn id="284" fill="hold" nodeType="afterGroup">
                            <p:stCondLst>
                              <p:cond delay="1000"/>
                            </p:stCondLst>
                            <p:childTnLst>
                              <p:par>
                                <p:cTn id="285" presetID="35" presetClass="emph" presetSubtype="0" fill="hold" grpId="1" nodeType="afterEffect">
                                  <p:stCondLst>
                                    <p:cond delay="0"/>
                                  </p:stCondLst>
                                  <p:childTnLst>
                                    <p:anim calcmode="discrete" valueType="str">
                                      <p:cBhvr>
                                        <p:cTn id="286" dur="1000" fill="hold"/>
                                        <p:tgtEl>
                                          <p:spTgt spid="204851"/>
                                        </p:tgtEl>
                                        <p:attrNameLst>
                                          <p:attrName>style.visibility</p:attrName>
                                        </p:attrNameLst>
                                      </p:cBhvr>
                                      <p:tavLst>
                                        <p:tav tm="0">
                                          <p:val>
                                            <p:strVal val="hidden"/>
                                          </p:val>
                                        </p:tav>
                                        <p:tav tm="50000">
                                          <p:val>
                                            <p:strVal val="visible"/>
                                          </p:val>
                                        </p:tav>
                                      </p:tavLst>
                                    </p:anim>
                                  </p:childTnLst>
                                </p:cTn>
                              </p:par>
                            </p:childTnLst>
                          </p:cTn>
                        </p:par>
                        <p:par>
                          <p:cTn id="287" fill="hold" nodeType="afterGroup">
                            <p:stCondLst>
                              <p:cond delay="2000"/>
                            </p:stCondLst>
                            <p:childTnLst>
                              <p:par>
                                <p:cTn id="288" presetID="35" presetClass="emph" presetSubtype="0" fill="hold" grpId="2" nodeType="afterEffect">
                                  <p:stCondLst>
                                    <p:cond delay="0"/>
                                  </p:stCondLst>
                                  <p:childTnLst>
                                    <p:anim calcmode="discrete" valueType="str">
                                      <p:cBhvr>
                                        <p:cTn id="289" dur="1000" fill="hold"/>
                                        <p:tgtEl>
                                          <p:spTgt spid="204851"/>
                                        </p:tgtEl>
                                        <p:attrNameLst>
                                          <p:attrName>style.visibility</p:attrName>
                                        </p:attrNameLst>
                                      </p:cBhvr>
                                      <p:tavLst>
                                        <p:tav tm="0">
                                          <p:val>
                                            <p:strVal val="hidden"/>
                                          </p:val>
                                        </p:tav>
                                        <p:tav tm="50000">
                                          <p:val>
                                            <p:strVal val="visible"/>
                                          </p:val>
                                        </p:tav>
                                      </p:tavLst>
                                    </p:anim>
                                  </p:childTnLst>
                                </p:cTn>
                              </p:par>
                            </p:childTnLst>
                          </p:cTn>
                        </p:par>
                        <p:par>
                          <p:cTn id="290" fill="hold" nodeType="afterGroup">
                            <p:stCondLst>
                              <p:cond delay="3000"/>
                            </p:stCondLst>
                            <p:childTnLst>
                              <p:par>
                                <p:cTn id="291" presetID="35" presetClass="emph" presetSubtype="0" fill="hold" grpId="3" nodeType="afterEffect">
                                  <p:stCondLst>
                                    <p:cond delay="0"/>
                                  </p:stCondLst>
                                  <p:childTnLst>
                                    <p:anim calcmode="discrete" valueType="str">
                                      <p:cBhvr>
                                        <p:cTn id="292" dur="1000" fill="hold"/>
                                        <p:tgtEl>
                                          <p:spTgt spid="204851"/>
                                        </p:tgtEl>
                                        <p:attrNameLst>
                                          <p:attrName>style.visibility</p:attrName>
                                        </p:attrNameLst>
                                      </p:cBhvr>
                                      <p:tavLst>
                                        <p:tav tm="0">
                                          <p:val>
                                            <p:strVal val="hidden"/>
                                          </p:val>
                                        </p:tav>
                                        <p:tav tm="50000">
                                          <p:val>
                                            <p:strVal val="visible"/>
                                          </p:val>
                                        </p:tav>
                                      </p:tavLst>
                                    </p:anim>
                                  </p:childTnLst>
                                </p:cTn>
                              </p:par>
                            </p:childTnLst>
                          </p:cTn>
                        </p:par>
                        <p:par>
                          <p:cTn id="293" fill="hold" nodeType="afterGroup">
                            <p:stCondLst>
                              <p:cond delay="4000"/>
                            </p:stCondLst>
                            <p:childTnLst>
                              <p:par>
                                <p:cTn id="294" presetID="35" presetClass="emph" presetSubtype="0" fill="hold" grpId="4" nodeType="afterEffect">
                                  <p:stCondLst>
                                    <p:cond delay="0"/>
                                  </p:stCondLst>
                                  <p:childTnLst>
                                    <p:anim calcmode="discrete" valueType="str">
                                      <p:cBhvr>
                                        <p:cTn id="295" dur="1000" fill="hold"/>
                                        <p:tgtEl>
                                          <p:spTgt spid="204851"/>
                                        </p:tgtEl>
                                        <p:attrNameLst>
                                          <p:attrName>style.visibility</p:attrName>
                                        </p:attrNameLst>
                                      </p:cBhvr>
                                      <p:tavLst>
                                        <p:tav tm="0">
                                          <p:val>
                                            <p:strVal val="hidden"/>
                                          </p:val>
                                        </p:tav>
                                        <p:tav tm="50000">
                                          <p:val>
                                            <p:strVal val="visible"/>
                                          </p:val>
                                        </p:tav>
                                      </p:tavLst>
                                    </p:anim>
                                  </p:childTnLst>
                                </p:cTn>
                              </p:par>
                            </p:childTnLst>
                          </p:cTn>
                        </p:par>
                        <p:par>
                          <p:cTn id="296" fill="hold" nodeType="afterGroup">
                            <p:stCondLst>
                              <p:cond delay="5000"/>
                            </p:stCondLst>
                            <p:childTnLst>
                              <p:par>
                                <p:cTn id="297" presetID="35" presetClass="emph" presetSubtype="0" fill="hold" grpId="5" nodeType="afterEffect">
                                  <p:stCondLst>
                                    <p:cond delay="0"/>
                                  </p:stCondLst>
                                  <p:childTnLst>
                                    <p:anim calcmode="discrete" valueType="str">
                                      <p:cBhvr>
                                        <p:cTn id="298" dur="1000" fill="hold"/>
                                        <p:tgtEl>
                                          <p:spTgt spid="20485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5" grpId="0" animBg="1"/>
      <p:bldP spid="204805" grpId="1" animBg="1"/>
      <p:bldP spid="204806" grpId="0" animBg="1"/>
      <p:bldP spid="204806" grpId="1" animBg="1"/>
      <p:bldP spid="204802" grpId="0" animBg="1"/>
      <p:bldP spid="204803" grpId="0" animBg="1"/>
      <p:bldP spid="204803" grpId="1" animBg="1"/>
      <p:bldP spid="204804" grpId="0" animBg="1"/>
      <p:bldP spid="204804" grpId="1" animBg="1"/>
      <p:bldP spid="204807" grpId="0" animBg="1"/>
      <p:bldP spid="204807" grpId="1" animBg="1"/>
      <p:bldP spid="204808" grpId="0"/>
      <p:bldP spid="204808" grpId="1"/>
      <p:bldP spid="204809" grpId="0" animBg="1"/>
      <p:bldP spid="204810" grpId="0"/>
      <p:bldP spid="204810" grpId="1"/>
      <p:bldP spid="204811" grpId="0" animBg="1"/>
      <p:bldP spid="204811" grpId="1" animBg="1"/>
      <p:bldP spid="204812" grpId="0" animBg="1"/>
      <p:bldP spid="204813" grpId="0"/>
      <p:bldP spid="204815" grpId="0"/>
      <p:bldP spid="204815" grpId="1"/>
      <p:bldP spid="204816" grpId="0"/>
      <p:bldP spid="204816" grpId="1"/>
      <p:bldP spid="204817" grpId="0"/>
      <p:bldP spid="204817" grpId="1"/>
      <p:bldP spid="204818" grpId="0"/>
      <p:bldP spid="204818" grpId="1"/>
      <p:bldP spid="204819" grpId="0"/>
      <p:bldP spid="204819" grpId="1"/>
      <p:bldP spid="204820" grpId="0"/>
      <p:bldP spid="204820" grpId="1"/>
      <p:bldP spid="204821" grpId="0"/>
      <p:bldP spid="204823" grpId="0" animBg="1"/>
      <p:bldP spid="204824" grpId="0" animBg="1"/>
      <p:bldP spid="204825" grpId="0" animBg="1"/>
      <p:bldP spid="204826" grpId="0" animBg="1"/>
      <p:bldP spid="204827" grpId="0" animBg="1"/>
      <p:bldP spid="204828" grpId="0" animBg="1"/>
      <p:bldP spid="204829" grpId="0" animBg="1"/>
      <p:bldP spid="204830" grpId="0" animBg="1"/>
      <p:bldP spid="204831" grpId="0" animBg="1"/>
      <p:bldP spid="204832" grpId="0" animBg="1"/>
      <p:bldP spid="204833" grpId="0" autoUpdateAnimBg="0"/>
      <p:bldP spid="204834" grpId="0" autoUpdateAnimBg="0"/>
      <p:bldP spid="204835" grpId="0" autoUpdateAnimBg="0"/>
      <p:bldP spid="204836" grpId="0" autoUpdateAnimBg="0"/>
      <p:bldP spid="204837" grpId="0" animBg="1"/>
      <p:bldP spid="204838" grpId="0" animBg="1"/>
      <p:bldP spid="204839" grpId="0" animBg="1"/>
      <p:bldP spid="204840" grpId="0" animBg="1"/>
      <p:bldP spid="204841" grpId="0" animBg="1"/>
      <p:bldP spid="204842" grpId="0" animBg="1"/>
      <p:bldP spid="204843" grpId="0" animBg="1"/>
      <p:bldP spid="204844" grpId="0" animBg="1"/>
      <p:bldP spid="204845" grpId="0" animBg="1"/>
      <p:bldP spid="204846" grpId="0" animBg="1"/>
      <p:bldP spid="204847" grpId="0" animBg="1"/>
      <p:bldP spid="204848" grpId="0"/>
      <p:bldP spid="204848" grpId="1"/>
      <p:bldP spid="204848" grpId="2"/>
      <p:bldP spid="204849" grpId="0" animBg="1"/>
      <p:bldP spid="204849" grpId="1" animBg="1"/>
      <p:bldP spid="204849" grpId="2" animBg="1"/>
      <p:bldP spid="204814" grpId="0" animBg="1"/>
      <p:bldP spid="204814" grpId="1" animBg="1"/>
      <p:bldP spid="204851" grpId="0" animBg="1"/>
      <p:bldP spid="204851" grpId="1" animBg="1"/>
      <p:bldP spid="204851" grpId="2" animBg="1"/>
      <p:bldP spid="204851" grpId="3" animBg="1"/>
      <p:bldP spid="204851" grpId="4" animBg="1"/>
      <p:bldP spid="204851" grpId="5" animBg="1"/>
      <p:bldP spid="204852" grpId="0" animBg="1"/>
      <p:bldP spid="204852" grpId="1" animBg="1"/>
      <p:bldP spid="204852" grpId="2" animBg="1"/>
      <p:bldP spid="204852" grpId="3" animBg="1"/>
      <p:bldP spid="204852" grpId="4" animBg="1"/>
      <p:bldP spid="204852" grpId="5" animBg="1"/>
      <p:bldP spid="204852" grpId="6"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0D318-B968-53AD-EF96-BC9F8C2BA796}"/>
              </a:ext>
            </a:extLst>
          </p:cNvPr>
          <p:cNvSpPr>
            <a:spLocks noGrp="1"/>
          </p:cNvSpPr>
          <p:nvPr>
            <p:ph type="title"/>
          </p:nvPr>
        </p:nvSpPr>
        <p:spPr>
          <a:xfrm>
            <a:off x="466202" y="200723"/>
            <a:ext cx="8062912" cy="967768"/>
          </a:xfrm>
        </p:spPr>
        <p:txBody>
          <a:bodyPr>
            <a:noAutofit/>
          </a:bodyPr>
          <a:lstStyle/>
          <a:p>
            <a:r>
              <a:rPr lang="en-US" sz="2800" dirty="0">
                <a:solidFill>
                  <a:schemeClr val="tx1"/>
                </a:solidFill>
              </a:rPr>
              <a:t>Table 6.1 Approximate Coefficients of Static and Kinetic Friction</a:t>
            </a:r>
          </a:p>
        </p:txBody>
      </p:sp>
      <p:graphicFrame>
        <p:nvGraphicFramePr>
          <p:cNvPr id="12" name="Table 12" descr="Table of coefficients of Static and Kinetic Friction">
            <a:extLst>
              <a:ext uri="{FF2B5EF4-FFF2-40B4-BE49-F238E27FC236}">
                <a16:creationId xmlns:a16="http://schemas.microsoft.com/office/drawing/2014/main" id="{4C90738C-ADBA-A5A8-C87D-2C82ACA348AA}"/>
              </a:ext>
            </a:extLst>
          </p:cNvPr>
          <p:cNvGraphicFramePr>
            <a:graphicFrameLocks noGrp="1"/>
          </p:cNvGraphicFramePr>
          <p:nvPr>
            <p:extLst>
              <p:ext uri="{D42A27DB-BD31-4B8C-83A1-F6EECF244321}">
                <p14:modId xmlns:p14="http://schemas.microsoft.com/office/powerpoint/2010/main" val="2202645130"/>
              </p:ext>
            </p:extLst>
          </p:nvPr>
        </p:nvGraphicFramePr>
        <p:xfrm>
          <a:off x="973874" y="1338146"/>
          <a:ext cx="6973228" cy="4564567"/>
        </p:xfrm>
        <a:graphic>
          <a:graphicData uri="http://schemas.openxmlformats.org/drawingml/2006/table">
            <a:tbl>
              <a:tblPr firstRow="1" bandRow="1">
                <a:tableStyleId>{46F890A9-2807-4EBB-B81D-B2AA78EC7F39}</a:tableStyleId>
              </a:tblPr>
              <a:tblGrid>
                <a:gridCol w="2395313">
                  <a:extLst>
                    <a:ext uri="{9D8B030D-6E8A-4147-A177-3AD203B41FA5}">
                      <a16:colId xmlns:a16="http://schemas.microsoft.com/office/drawing/2014/main" val="2436044093"/>
                    </a:ext>
                  </a:extLst>
                </a:gridCol>
                <a:gridCol w="2050042">
                  <a:extLst>
                    <a:ext uri="{9D8B030D-6E8A-4147-A177-3AD203B41FA5}">
                      <a16:colId xmlns:a16="http://schemas.microsoft.com/office/drawing/2014/main" val="3654619040"/>
                    </a:ext>
                  </a:extLst>
                </a:gridCol>
                <a:gridCol w="2527873">
                  <a:extLst>
                    <a:ext uri="{9D8B030D-6E8A-4147-A177-3AD203B41FA5}">
                      <a16:colId xmlns:a16="http://schemas.microsoft.com/office/drawing/2014/main" val="688411117"/>
                    </a:ext>
                  </a:extLst>
                </a:gridCol>
              </a:tblGrid>
              <a:tr h="460239">
                <a:tc>
                  <a:txBody>
                    <a:bodyPr/>
                    <a:lstStyle/>
                    <a:p>
                      <a:pPr marL="0" marR="0">
                        <a:spcBef>
                          <a:spcPts val="0"/>
                        </a:spcBef>
                        <a:spcAft>
                          <a:spcPts val="0"/>
                        </a:spcAft>
                      </a:pPr>
                      <a:r>
                        <a:rPr lang="en-US" sz="2000" dirty="0">
                          <a:solidFill>
                            <a:schemeClr val="tx1"/>
                          </a:solidFill>
                          <a:effectLst/>
                        </a:rPr>
                        <a:t>System</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static friction</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solidFill>
                            <a:schemeClr val="tx1"/>
                          </a:solidFill>
                          <a:effectLst/>
                        </a:rPr>
                        <a:t>Kinetic friction</a:t>
                      </a:r>
                      <a:endParaRPr lang="en-US" sz="20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3147183"/>
                  </a:ext>
                </a:extLst>
              </a:tr>
              <a:tr h="605247">
                <a:tc>
                  <a:txBody>
                    <a:bodyPr/>
                    <a:lstStyle/>
                    <a:p>
                      <a:pPr marL="0" marR="0">
                        <a:spcBef>
                          <a:spcPts val="0"/>
                        </a:spcBef>
                        <a:spcAft>
                          <a:spcPts val="0"/>
                        </a:spcAft>
                      </a:pPr>
                      <a:r>
                        <a:rPr lang="en-US" sz="1600" b="1">
                          <a:effectLst/>
                        </a:rPr>
                        <a:t>Steel on steel (oiled)</a:t>
                      </a:r>
                    </a:p>
                    <a:p>
                      <a:pPr marL="0" marR="0">
                        <a:spcBef>
                          <a:spcPts val="0"/>
                        </a:spcBef>
                        <a:spcAft>
                          <a:spcPts val="0"/>
                        </a:spcAft>
                      </a:pPr>
                      <a:r>
                        <a:rPr lang="en-US" sz="1600" b="1">
                          <a:effectLst/>
                        </a:rPr>
                        <a:t> </a:t>
                      </a:r>
                      <a:endParaRPr lang="en-US" sz="1600" b="1">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dirty="0">
                          <a:effectLst/>
                        </a:rPr>
                        <a:t>0.05</a:t>
                      </a:r>
                      <a:endParaRPr lang="en-US" sz="16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dirty="0">
                          <a:effectLst/>
                        </a:rPr>
                        <a:t>0.03</a:t>
                      </a:r>
                      <a:endParaRPr lang="en-US" sz="16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8865563"/>
                  </a:ext>
                </a:extLst>
              </a:tr>
              <a:tr h="605247">
                <a:tc>
                  <a:txBody>
                    <a:bodyPr/>
                    <a:lstStyle/>
                    <a:p>
                      <a:pPr marL="0" marR="0">
                        <a:spcBef>
                          <a:spcPts val="0"/>
                        </a:spcBef>
                        <a:spcAft>
                          <a:spcPts val="0"/>
                        </a:spcAft>
                      </a:pPr>
                      <a:r>
                        <a:rPr lang="en-US" sz="1600" b="1">
                          <a:effectLst/>
                        </a:rPr>
                        <a:t>Teflon on steel</a:t>
                      </a:r>
                    </a:p>
                    <a:p>
                      <a:pPr marL="0" marR="0">
                        <a:spcBef>
                          <a:spcPts val="0"/>
                        </a:spcBef>
                        <a:spcAft>
                          <a:spcPts val="0"/>
                        </a:spcAft>
                      </a:pPr>
                      <a:r>
                        <a:rPr lang="en-US" sz="1600" b="1">
                          <a:effectLst/>
                        </a:rPr>
                        <a:t> </a:t>
                      </a:r>
                      <a:endParaRPr lang="en-US" sz="1600" b="1">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0.04</a:t>
                      </a:r>
                    </a:p>
                    <a:p>
                      <a:endParaRPr lang="en-US" sz="1600" b="1" dirty="0">
                        <a:latin typeface="+mn-l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0.04</a:t>
                      </a:r>
                      <a:endParaRPr lang="en-US" sz="1600" b="1" dirty="0">
                        <a:latin typeface="+mn-l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8779225"/>
                  </a:ext>
                </a:extLst>
              </a:tr>
              <a:tr h="907870">
                <a:tc>
                  <a:txBody>
                    <a:bodyPr/>
                    <a:lstStyle/>
                    <a:p>
                      <a:pPr marL="0" marR="0">
                        <a:spcBef>
                          <a:spcPts val="0"/>
                        </a:spcBef>
                        <a:spcAft>
                          <a:spcPts val="0"/>
                        </a:spcAft>
                      </a:pPr>
                      <a:r>
                        <a:rPr lang="en-US" sz="1600" b="1">
                          <a:effectLst/>
                        </a:rPr>
                        <a:t>Bone lubricated by synovial fluid</a:t>
                      </a:r>
                    </a:p>
                    <a:p>
                      <a:pPr marL="0" marR="0">
                        <a:spcBef>
                          <a:spcPts val="0"/>
                        </a:spcBef>
                        <a:spcAft>
                          <a:spcPts val="0"/>
                        </a:spcAft>
                      </a:pPr>
                      <a:r>
                        <a:rPr lang="en-US" sz="1600" b="1">
                          <a:effectLst/>
                        </a:rPr>
                        <a:t> </a:t>
                      </a:r>
                      <a:endParaRPr lang="en-US" sz="1600" b="1">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effectLst/>
                        </a:rPr>
                        <a:t>0.016</a:t>
                      </a:r>
                    </a:p>
                    <a:p>
                      <a:pPr marL="0" marR="0">
                        <a:spcBef>
                          <a:spcPts val="0"/>
                        </a:spcBef>
                        <a:spcAft>
                          <a:spcPts val="0"/>
                        </a:spcAft>
                      </a:pPr>
                      <a:endParaRPr lang="en-US" sz="1600" b="1" dirty="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dirty="0">
                          <a:effectLst/>
                        </a:rPr>
                        <a:t>0.015</a:t>
                      </a:r>
                      <a:endParaRPr lang="en-US" sz="1600" b="1" dirty="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592607"/>
                  </a:ext>
                </a:extLst>
              </a:tr>
              <a:tr h="460239">
                <a:tc>
                  <a:txBody>
                    <a:bodyPr/>
                    <a:lstStyle/>
                    <a:p>
                      <a:pPr marL="0" marR="0">
                        <a:spcBef>
                          <a:spcPts val="0"/>
                        </a:spcBef>
                        <a:spcAft>
                          <a:spcPts val="0"/>
                        </a:spcAft>
                      </a:pPr>
                      <a:r>
                        <a:rPr lang="en-US" sz="1600" b="1" dirty="0">
                          <a:effectLst/>
                        </a:rPr>
                        <a:t>Shoes on wood</a:t>
                      </a:r>
                      <a:endParaRPr lang="en-US" sz="1600" b="1" dirty="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0.9</a:t>
                      </a:r>
                      <a:endParaRPr lang="en-US" sz="1600" b="1" dirty="0">
                        <a:latin typeface="+mn-l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0.7</a:t>
                      </a:r>
                      <a:endParaRPr lang="en-US" sz="1600" b="1" dirty="0">
                        <a:latin typeface="+mn-lt"/>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2920404"/>
                  </a:ext>
                </a:extLst>
              </a:tr>
              <a:tr h="460239">
                <a:tc>
                  <a:txBody>
                    <a:bodyPr/>
                    <a:lstStyle/>
                    <a:p>
                      <a:pPr marL="0" marR="0">
                        <a:spcBef>
                          <a:spcPts val="0"/>
                        </a:spcBef>
                        <a:spcAft>
                          <a:spcPts val="0"/>
                        </a:spcAft>
                      </a:pPr>
                      <a:r>
                        <a:rPr lang="en-US" sz="1600" b="1" dirty="0">
                          <a:effectLst/>
                        </a:rPr>
                        <a:t>Shoes on ice</a:t>
                      </a:r>
                      <a:endParaRPr lang="en-US" sz="1600" b="1" dirty="0">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a:effectLst/>
                        </a:rPr>
                        <a:t>0.1</a:t>
                      </a:r>
                      <a:endParaRPr lang="en-US" sz="1600" b="1">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a:effectLst/>
                        </a:rPr>
                        <a:t>0.05</a:t>
                      </a:r>
                      <a:endParaRPr lang="en-US" sz="1600" b="1">
                        <a:effectLst/>
                        <a:latin typeface="+mn-lt"/>
                        <a:ea typeface="Calibri" panose="020F0502020204030204" pitchFamily="34" charset="0"/>
                        <a:cs typeface="Times New Roman" panose="02020603050405020304" pitchFamily="18" charset="0"/>
                      </a:endParaRPr>
                    </a:p>
                  </a:txBody>
                  <a:tcPr marL="9525" marR="9525" marT="9525" marB="95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0663471"/>
                  </a:ext>
                </a:extLst>
              </a:tr>
              <a:tr h="605247">
                <a:tc>
                  <a:txBody>
                    <a:bodyPr/>
                    <a:lstStyle/>
                    <a:p>
                      <a:pPr marL="0" marR="0">
                        <a:spcBef>
                          <a:spcPts val="0"/>
                        </a:spcBef>
                        <a:spcAft>
                          <a:spcPts val="0"/>
                        </a:spcAft>
                      </a:pPr>
                      <a:r>
                        <a:rPr lang="en-US" sz="1600" b="1">
                          <a:effectLst/>
                        </a:rPr>
                        <a:t>Ice on ice</a:t>
                      </a:r>
                    </a:p>
                    <a:p>
                      <a:pPr marL="0" marR="0">
                        <a:spcBef>
                          <a:spcPts val="0"/>
                        </a:spcBef>
                        <a:spcAft>
                          <a:spcPts val="0"/>
                        </a:spcAft>
                      </a:pPr>
                      <a:r>
                        <a:rPr lang="en-US" sz="1600" b="1">
                          <a:effectLst/>
                        </a:rPr>
                        <a:t> </a:t>
                      </a:r>
                      <a:endParaRPr lang="en-US" sz="1600" b="1">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a:effectLst/>
                        </a:rPr>
                        <a:t>0.1</a:t>
                      </a:r>
                      <a:endParaRPr lang="en-US" sz="1600" b="1">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a:effectLst/>
                        </a:rPr>
                        <a:t>0.03</a:t>
                      </a:r>
                      <a:endParaRPr lang="en-US" sz="1600" b="1">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0586239"/>
                  </a:ext>
                </a:extLst>
              </a:tr>
              <a:tr h="460239">
                <a:tc>
                  <a:txBody>
                    <a:bodyPr/>
                    <a:lstStyle/>
                    <a:p>
                      <a:pPr marL="0" marR="0">
                        <a:spcBef>
                          <a:spcPts val="0"/>
                        </a:spcBef>
                        <a:spcAft>
                          <a:spcPts val="0"/>
                        </a:spcAft>
                      </a:pPr>
                      <a:r>
                        <a:rPr lang="en-US" sz="1600" b="1" dirty="0">
                          <a:effectLst/>
                        </a:rPr>
                        <a:t>Steel on ice</a:t>
                      </a:r>
                      <a:endParaRPr lang="en-US" sz="16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dirty="0">
                          <a:effectLst/>
                        </a:rPr>
                        <a:t>0.4</a:t>
                      </a:r>
                      <a:endParaRPr lang="en-US" sz="16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600" b="1" dirty="0">
                          <a:effectLst/>
                        </a:rPr>
                        <a:t>0.02</a:t>
                      </a:r>
                      <a:endParaRPr lang="en-US" sz="16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237490"/>
                  </a:ext>
                </a:extLst>
              </a:tr>
            </a:tbl>
          </a:graphicData>
        </a:graphic>
      </p:graphicFrame>
      <p:sp>
        <p:nvSpPr>
          <p:cNvPr id="14" name="TextBox 13">
            <a:extLst>
              <a:ext uri="{FF2B5EF4-FFF2-40B4-BE49-F238E27FC236}">
                <a16:creationId xmlns:a16="http://schemas.microsoft.com/office/drawing/2014/main" id="{88D40325-16CA-CDB7-996C-9F15919ABD45}"/>
              </a:ext>
            </a:extLst>
          </p:cNvPr>
          <p:cNvSpPr txBox="1"/>
          <p:nvPr/>
        </p:nvSpPr>
        <p:spPr>
          <a:xfrm>
            <a:off x="263912" y="6061413"/>
            <a:ext cx="8062912" cy="369332"/>
          </a:xfrm>
          <a:prstGeom prst="rect">
            <a:avLst/>
          </a:prstGeom>
          <a:noFill/>
        </p:spPr>
        <p:txBody>
          <a:bodyPr wrap="square">
            <a:spAutoFit/>
          </a:bodyPr>
          <a:lstStyle/>
          <a:p>
            <a:r>
              <a:rPr lang="en-US" b="1" dirty="0">
                <a:ea typeface="Calibri" panose="020F0502020204030204" pitchFamily="34" charset="0"/>
                <a:cs typeface="Times New Roman" panose="02020603050405020304" pitchFamily="18" charset="0"/>
              </a:rPr>
              <a:t>T</a:t>
            </a:r>
            <a:r>
              <a:rPr lang="en-US" sz="1800" b="1" dirty="0">
                <a:effectLst/>
                <a:ea typeface="Calibri" panose="020F0502020204030204" pitchFamily="34" charset="0"/>
                <a:cs typeface="Times New Roman" panose="02020603050405020304" pitchFamily="18" charset="0"/>
              </a:rPr>
              <a:t>he coefficients of kinetic friction are less than their static counterparts</a:t>
            </a:r>
            <a:endParaRPr lang="en-US" b="1" dirty="0"/>
          </a:p>
        </p:txBody>
      </p:sp>
      <p:pic>
        <p:nvPicPr>
          <p:cNvPr id="15" name="Picture 14" descr="OpenStax logo">
            <a:extLst>
              <a:ext uri="{FF2B5EF4-FFF2-40B4-BE49-F238E27FC236}">
                <a16:creationId xmlns:a16="http://schemas.microsoft.com/office/drawing/2014/main" id="{1E8AA38F-6B2A-FF06-4C56-3CAAD51A56C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041641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312234" y="152362"/>
            <a:ext cx="8229600" cy="763587"/>
          </a:xfrm>
        </p:spPr>
        <p:txBody>
          <a:bodyPr>
            <a:normAutofit fontScale="90000"/>
          </a:bodyPr>
          <a:lstStyle/>
          <a:p>
            <a:pPr algn="ctr"/>
            <a:r>
              <a:rPr lang="en-US" sz="2000" b="1" dirty="0"/>
              <a:t> </a:t>
            </a:r>
            <a:br>
              <a:rPr lang="en-US" sz="2000" b="1" dirty="0"/>
            </a:br>
            <a:r>
              <a:rPr lang="en-US" sz="3100" b="1" dirty="0">
                <a:solidFill>
                  <a:schemeClr val="tx1"/>
                </a:solidFill>
              </a:rPr>
              <a:t>FRICTION FOR ROLLING MOTION</a:t>
            </a:r>
          </a:p>
        </p:txBody>
      </p:sp>
      <p:sp>
        <p:nvSpPr>
          <p:cNvPr id="2" name="TextBox 1"/>
          <p:cNvSpPr txBox="1"/>
          <p:nvPr/>
        </p:nvSpPr>
        <p:spPr>
          <a:xfrm>
            <a:off x="669073" y="1216598"/>
            <a:ext cx="8281639" cy="4339650"/>
          </a:xfrm>
          <a:prstGeom prst="rect">
            <a:avLst/>
          </a:prstGeom>
          <a:noFill/>
        </p:spPr>
        <p:txBody>
          <a:bodyPr wrap="square" rtlCol="0">
            <a:spAutoFit/>
          </a:bodyPr>
          <a:lstStyle/>
          <a:p>
            <a:r>
              <a:rPr lang="en-US" sz="2400" b="1" dirty="0"/>
              <a:t>A car drives with its tires rolling freely. Is the friction between the tires and the road </a:t>
            </a:r>
          </a:p>
          <a:p>
            <a:r>
              <a:rPr lang="en-US" sz="2400" b="1" dirty="0"/>
              <a:t>(a) kinetic or (b) static?</a:t>
            </a:r>
          </a:p>
          <a:p>
            <a:endParaRPr lang="en-US" sz="2800" b="1" dirty="0"/>
          </a:p>
          <a:p>
            <a:endParaRPr lang="en-US" sz="2800" b="1" dirty="0"/>
          </a:p>
          <a:p>
            <a:r>
              <a:rPr lang="en-US" sz="2800" b="0" i="0" dirty="0">
                <a:solidFill>
                  <a:srgbClr val="000000"/>
                </a:solidFill>
                <a:effectLst/>
                <a:latin typeface="Calibri" panose="020F0502020204030204" pitchFamily="34" charset="0"/>
              </a:rPr>
              <a:t> </a:t>
            </a:r>
            <a:r>
              <a:rPr lang="en-US" sz="2800" b="1" dirty="0">
                <a:solidFill>
                  <a:prstClr val="black"/>
                </a:solidFill>
                <a:latin typeface="Arial"/>
                <a:hlinkClick r:id="rId3"/>
              </a:rPr>
              <a:t>Does a rolling wheel use static friction or kinetic friction?-Video</a:t>
            </a:r>
            <a:endParaRPr lang="en-US" sz="2800" b="1" dirty="0">
              <a:solidFill>
                <a:prstClr val="black"/>
              </a:solidFill>
              <a:latin typeface="Arial"/>
            </a:endParaRPr>
          </a:p>
          <a:p>
            <a:endParaRPr lang="en-US" sz="2800" dirty="0">
              <a:solidFill>
                <a:prstClr val="black"/>
              </a:solidFill>
              <a:latin typeface="Arial"/>
            </a:endParaRPr>
          </a:p>
          <a:p>
            <a:endParaRPr lang="en-US" sz="2800" b="1" dirty="0"/>
          </a:p>
          <a:p>
            <a:endParaRPr lang="en-US" dirty="0"/>
          </a:p>
          <a:p>
            <a:endParaRPr lang="en-US" dirty="0"/>
          </a:p>
        </p:txBody>
      </p:sp>
      <p:pic>
        <p:nvPicPr>
          <p:cNvPr id="3" name="Picture 2" descr="Raji K Physics Logo">
            <a:extLst>
              <a:ext uri="{FF2B5EF4-FFF2-40B4-BE49-F238E27FC236}">
                <a16:creationId xmlns:a16="http://schemas.microsoft.com/office/drawing/2014/main" id="{4D931801-9F3C-E820-FDCC-3FB23D54BCAE}"/>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827963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3" name="Rectangle 3"/>
          <p:cNvSpPr>
            <a:spLocks noGrp="1" noChangeArrowheads="1"/>
          </p:cNvSpPr>
          <p:nvPr>
            <p:ph type="body" idx="4294967295"/>
          </p:nvPr>
        </p:nvSpPr>
        <p:spPr>
          <a:xfrm>
            <a:off x="0" y="1746250"/>
            <a:ext cx="8229600" cy="2871788"/>
          </a:xfrm>
        </p:spPr>
        <p:txBody>
          <a:bodyPr/>
          <a:lstStyle/>
          <a:p>
            <a:pPr marL="609600" indent="-609600">
              <a:lnSpc>
                <a:spcPct val="90000"/>
              </a:lnSpc>
              <a:buFontTx/>
              <a:buNone/>
            </a:pPr>
            <a:r>
              <a:rPr lang="en-US" sz="2400" b="1" dirty="0"/>
              <a:t>The force of friction can occur</a:t>
            </a:r>
          </a:p>
          <a:p>
            <a:pPr marL="609600" indent="-609600">
              <a:lnSpc>
                <a:spcPct val="90000"/>
              </a:lnSpc>
              <a:buFontTx/>
              <a:buNone/>
            </a:pPr>
            <a:endParaRPr lang="en-US" sz="2400" b="1" dirty="0"/>
          </a:p>
          <a:p>
            <a:pPr marL="609600" indent="-609600">
              <a:lnSpc>
                <a:spcPct val="90000"/>
              </a:lnSpc>
              <a:buClrTx/>
              <a:buFont typeface="+mj-lt"/>
              <a:buAutoNum type="alphaUcPeriod"/>
            </a:pPr>
            <a:r>
              <a:rPr lang="en-US" sz="2400" b="1" dirty="0"/>
              <a:t>with sliding objects.</a:t>
            </a:r>
            <a:endParaRPr lang="en-US" sz="2400" b="1" dirty="0">
              <a:ea typeface="Batang" pitchFamily="18" charset="-127"/>
            </a:endParaRPr>
          </a:p>
          <a:p>
            <a:pPr marL="609600" indent="-609600">
              <a:lnSpc>
                <a:spcPct val="90000"/>
              </a:lnSpc>
              <a:buClrTx/>
              <a:buFont typeface="+mj-lt"/>
              <a:buAutoNum type="alphaUcPeriod"/>
            </a:pPr>
            <a:r>
              <a:rPr lang="en-US" sz="2400" b="1" dirty="0"/>
              <a:t>in water.</a:t>
            </a:r>
            <a:r>
              <a:rPr lang="en-US" sz="2400" b="1" dirty="0">
                <a:ea typeface="Batang" pitchFamily="18" charset="-127"/>
              </a:rPr>
              <a:t> </a:t>
            </a:r>
          </a:p>
          <a:p>
            <a:pPr marL="609600" indent="-609600">
              <a:lnSpc>
                <a:spcPct val="90000"/>
              </a:lnSpc>
              <a:buClrTx/>
              <a:buFont typeface="+mj-lt"/>
              <a:buAutoNum type="alphaUcPeriod"/>
            </a:pPr>
            <a:r>
              <a:rPr lang="en-US" sz="2400" b="1" dirty="0"/>
              <a:t>in air.</a:t>
            </a:r>
            <a:endParaRPr lang="en-US" sz="2400" b="1" dirty="0">
              <a:ea typeface="Batang" pitchFamily="18" charset="-127"/>
            </a:endParaRPr>
          </a:p>
          <a:p>
            <a:pPr marL="609600" indent="-609600">
              <a:lnSpc>
                <a:spcPct val="90000"/>
              </a:lnSpc>
              <a:buClrTx/>
              <a:buFont typeface="+mj-lt"/>
              <a:buAutoNum type="alphaUcPeriod"/>
            </a:pPr>
            <a:r>
              <a:rPr lang="en-US" sz="2400" b="1" dirty="0"/>
              <a:t>All of the above.</a:t>
            </a:r>
            <a:br>
              <a:rPr lang="en-US" sz="2400" b="1" dirty="0"/>
            </a:br>
            <a:endParaRPr lang="en-US" sz="2400" b="1" dirty="0"/>
          </a:p>
          <a:p>
            <a:pPr marL="609600" indent="-609600">
              <a:lnSpc>
                <a:spcPct val="90000"/>
              </a:lnSpc>
              <a:buFontTx/>
              <a:buNone/>
            </a:pPr>
            <a:r>
              <a:rPr lang="en-US" sz="2400" b="1" dirty="0"/>
              <a:t>	</a:t>
            </a:r>
            <a:r>
              <a:rPr lang="en-US" sz="2400" b="1" i="1" dirty="0"/>
              <a:t> </a:t>
            </a:r>
            <a:endParaRPr lang="en-US" sz="2400" b="1" dirty="0"/>
          </a:p>
          <a:p>
            <a:pPr marL="609600" indent="-609600">
              <a:lnSpc>
                <a:spcPct val="90000"/>
              </a:lnSpc>
              <a:buFontTx/>
              <a:buNone/>
            </a:pPr>
            <a:endParaRPr lang="en-US" sz="2400" dirty="0"/>
          </a:p>
        </p:txBody>
      </p:sp>
      <p:sp>
        <p:nvSpPr>
          <p:cNvPr id="2" name="Title 1">
            <a:extLst>
              <a:ext uri="{FF2B5EF4-FFF2-40B4-BE49-F238E27FC236}">
                <a16:creationId xmlns:a16="http://schemas.microsoft.com/office/drawing/2014/main" id="{EBADC212-2EE4-4494-809C-10FFA878FE00}"/>
              </a:ext>
            </a:extLst>
          </p:cNvPr>
          <p:cNvSpPr>
            <a:spLocks noGrp="1"/>
          </p:cNvSpPr>
          <p:nvPr>
            <p:ph type="title" idx="4294967295"/>
          </p:nvPr>
        </p:nvSpPr>
        <p:spPr>
          <a:xfrm>
            <a:off x="0" y="527824"/>
            <a:ext cx="8229600" cy="805676"/>
          </a:xfrm>
        </p:spPr>
        <p:txBody>
          <a:bodyPr/>
          <a:lstStyle/>
          <a:p>
            <a:pPr algn="ctr"/>
            <a:r>
              <a:rPr lang="en-US" sz="3200" b="1" dirty="0">
                <a:solidFill>
                  <a:schemeClr val="tx1"/>
                </a:solidFill>
              </a:rPr>
              <a:t>FORCE OF FRICTION can occur</a:t>
            </a:r>
          </a:p>
        </p:txBody>
      </p:sp>
      <p:pic>
        <p:nvPicPr>
          <p:cNvPr id="3" name="Picture 2" descr="Raji K Physics Logo">
            <a:extLst>
              <a:ext uri="{FF2B5EF4-FFF2-40B4-BE49-F238E27FC236}">
                <a16:creationId xmlns:a16="http://schemas.microsoft.com/office/drawing/2014/main" id="{78AF666A-4810-994C-3149-95BEC14C1D4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5055925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1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643053" y="137598"/>
            <a:ext cx="8229600" cy="598381"/>
          </a:xfrm>
        </p:spPr>
        <p:txBody>
          <a:bodyPr/>
          <a:lstStyle/>
          <a:p>
            <a:pPr marL="838200" indent="-838200" algn="ctr"/>
            <a:r>
              <a:rPr lang="en-US" sz="2800" b="1" kern="1200" dirty="0">
                <a:solidFill>
                  <a:schemeClr val="tx1"/>
                </a:solidFill>
                <a:cs typeface="Arial" charset="0"/>
              </a:rPr>
              <a:t>The Force of Friction-ANSWER</a:t>
            </a:r>
            <a:endParaRPr lang="en-US" sz="2800" b="1" i="1" u="sng" dirty="0">
              <a:solidFill>
                <a:schemeClr val="tx1"/>
              </a:solidFill>
              <a:ea typeface="Batang" pitchFamily="18" charset="-127"/>
            </a:endParaRPr>
          </a:p>
        </p:txBody>
      </p:sp>
      <p:sp>
        <p:nvSpPr>
          <p:cNvPr id="271363" name="Rectangle 3"/>
          <p:cNvSpPr>
            <a:spLocks noGrp="1" noChangeArrowheads="1"/>
          </p:cNvSpPr>
          <p:nvPr>
            <p:ph type="body" idx="4294967295"/>
          </p:nvPr>
        </p:nvSpPr>
        <p:spPr>
          <a:xfrm>
            <a:off x="286186" y="1334361"/>
            <a:ext cx="8229600" cy="4919856"/>
          </a:xfrm>
        </p:spPr>
        <p:txBody>
          <a:bodyPr/>
          <a:lstStyle/>
          <a:p>
            <a:pPr marL="609600" indent="-609600">
              <a:lnSpc>
                <a:spcPct val="90000"/>
              </a:lnSpc>
              <a:buFontTx/>
              <a:buNone/>
            </a:pPr>
            <a:r>
              <a:rPr lang="en-US" sz="2400" dirty="0"/>
              <a:t>The force of friction can occur</a:t>
            </a:r>
          </a:p>
          <a:p>
            <a:pPr marL="609600" indent="-609600">
              <a:lnSpc>
                <a:spcPct val="90000"/>
              </a:lnSpc>
              <a:buClrTx/>
              <a:buFont typeface="+mj-lt"/>
              <a:buAutoNum type="alphaUcPeriod"/>
            </a:pPr>
            <a:r>
              <a:rPr lang="en-US" sz="2400" dirty="0"/>
              <a:t>A.	with sliding objects.</a:t>
            </a:r>
            <a:endParaRPr lang="en-US" sz="2400" dirty="0">
              <a:ea typeface="Batang" pitchFamily="18" charset="-127"/>
            </a:endParaRPr>
          </a:p>
          <a:p>
            <a:pPr marL="609600" indent="-609600">
              <a:lnSpc>
                <a:spcPct val="90000"/>
              </a:lnSpc>
              <a:buClrTx/>
              <a:buFont typeface="+mj-lt"/>
              <a:buAutoNum type="alphaUcPeriod"/>
            </a:pPr>
            <a:r>
              <a:rPr lang="en-US" sz="2400" dirty="0"/>
              <a:t>in water.</a:t>
            </a:r>
            <a:r>
              <a:rPr lang="en-US" sz="2400" b="1" dirty="0">
                <a:ea typeface="Batang" pitchFamily="18" charset="-127"/>
              </a:rPr>
              <a:t> </a:t>
            </a:r>
          </a:p>
          <a:p>
            <a:pPr marL="609600" indent="-609600">
              <a:lnSpc>
                <a:spcPct val="90000"/>
              </a:lnSpc>
              <a:buClrTx/>
              <a:buFont typeface="+mj-lt"/>
              <a:buAutoNum type="alphaUcPeriod"/>
            </a:pPr>
            <a:r>
              <a:rPr lang="en-US" sz="2400" dirty="0"/>
              <a:t>in air.</a:t>
            </a:r>
            <a:endParaRPr lang="en-US" sz="2400" dirty="0">
              <a:ea typeface="Batang" pitchFamily="18" charset="-127"/>
            </a:endParaRPr>
          </a:p>
          <a:p>
            <a:pPr marL="609600" indent="-609600">
              <a:lnSpc>
                <a:spcPct val="90000"/>
              </a:lnSpc>
              <a:buClrTx/>
              <a:buFont typeface="+mj-lt"/>
              <a:buAutoNum type="alphaUcPeriod"/>
            </a:pPr>
            <a:r>
              <a:rPr lang="en-US" sz="2400" b="1" dirty="0"/>
              <a:t>All of the above.</a:t>
            </a:r>
            <a:br>
              <a:rPr lang="en-US" sz="2400" b="1" dirty="0"/>
            </a:br>
            <a:endParaRPr lang="en-US" sz="2400" b="1" dirty="0"/>
          </a:p>
          <a:p>
            <a:pPr marL="609600" indent="-609600">
              <a:lnSpc>
                <a:spcPct val="90000"/>
              </a:lnSpc>
              <a:buFontTx/>
              <a:buNone/>
            </a:pPr>
            <a:r>
              <a:rPr lang="en-US" sz="2400" dirty="0"/>
              <a:t>	</a:t>
            </a:r>
            <a:r>
              <a:rPr lang="en-US" sz="2400" i="1" dirty="0"/>
              <a:t>Comment</a:t>
            </a:r>
            <a:r>
              <a:rPr lang="en-US" sz="2400" dirty="0"/>
              <a:t>:</a:t>
            </a:r>
          </a:p>
          <a:p>
            <a:pPr marL="609600" indent="-609600">
              <a:lnSpc>
                <a:spcPct val="90000"/>
              </a:lnSpc>
              <a:buFontTx/>
              <a:buNone/>
            </a:pPr>
            <a:r>
              <a:rPr lang="en-US" sz="2400" dirty="0"/>
              <a:t>	Friction can also occur for objects at rest. If you push horizontally on your book and it doesn’t move, then friction between the book and the table is equal and opposite to your push.</a:t>
            </a:r>
          </a:p>
          <a:p>
            <a:pPr marL="609600" indent="-609600">
              <a:lnSpc>
                <a:spcPct val="90000"/>
              </a:lnSpc>
              <a:buFontTx/>
              <a:buNone/>
            </a:pPr>
            <a:endParaRPr lang="en-US" sz="2400" dirty="0"/>
          </a:p>
        </p:txBody>
      </p:sp>
      <p:pic>
        <p:nvPicPr>
          <p:cNvPr id="2" name="Picture 1" descr="Raji K Physics Logo">
            <a:extLst>
              <a:ext uri="{FF2B5EF4-FFF2-40B4-BE49-F238E27FC236}">
                <a16:creationId xmlns:a16="http://schemas.microsoft.com/office/drawing/2014/main" id="{07D6F4CF-C407-6519-BDCB-3DE568ED341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77775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136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13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4997" name="Rectangle 5"/>
          <p:cNvSpPr>
            <a:spLocks noChangeArrowheads="1"/>
          </p:cNvSpPr>
          <p:nvPr/>
        </p:nvSpPr>
        <p:spPr bwMode="auto">
          <a:xfrm>
            <a:off x="61779" y="311150"/>
            <a:ext cx="9144000" cy="762000"/>
          </a:xfrm>
          <a:prstGeom prst="rect">
            <a:avLst/>
          </a:prstGeom>
          <a:noFill/>
          <a:ln w="9525">
            <a:noFill/>
            <a:miter lim="800000"/>
            <a:headEnd/>
            <a:tailEnd/>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800" b="1" i="0" strike="noStrike" kern="1200" cap="none" spc="0" normalizeH="0" baseline="0" noProof="0" dirty="0">
                <a:ln>
                  <a:noFill/>
                </a:ln>
                <a:effectLst/>
                <a:uLnTx/>
                <a:uFillTx/>
                <a:latin typeface="+mj-lt"/>
                <a:ea typeface="+mn-ea"/>
                <a:cs typeface="Arial" charset="0"/>
              </a:rPr>
              <a:t>THE FORCE OF FRICTION-2</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sng" strike="noStrike" kern="1200" cap="none" spc="0" normalizeH="0" baseline="0" noProof="0" dirty="0">
                <a:ln>
                  <a:noFill/>
                </a:ln>
                <a:solidFill>
                  <a:srgbClr val="FFFFFF"/>
                </a:solidFill>
                <a:effectLst/>
                <a:uLnTx/>
                <a:uFillTx/>
                <a:latin typeface="Arial" charset="0"/>
                <a:ea typeface="+mn-ea"/>
                <a:cs typeface="Arial" charset="0"/>
              </a:rPr>
              <a:t>    </a:t>
            </a:r>
            <a:endParaRPr kumimoji="0" lang="en-US" sz="2400" b="1" i="1" u="sng" strike="noStrike" kern="1200" cap="none" spc="0" normalizeH="0" baseline="0" noProof="0" dirty="0">
              <a:ln>
                <a:noFill/>
              </a:ln>
              <a:solidFill>
                <a:srgbClr val="99CC00"/>
              </a:solidFill>
              <a:effectLst/>
              <a:uLnTx/>
              <a:uFillTx/>
              <a:latin typeface="Arial" charset="0"/>
              <a:ea typeface="+mn-ea"/>
              <a:cs typeface="Arial" charset="0"/>
            </a:endParaRPr>
          </a:p>
        </p:txBody>
      </p:sp>
      <p:sp>
        <p:nvSpPr>
          <p:cNvPr id="84995" name="Rectangle 3"/>
          <p:cNvSpPr>
            <a:spLocks noGrp="1" noChangeArrowheads="1"/>
          </p:cNvSpPr>
          <p:nvPr>
            <p:ph type="title" idx="4294967295"/>
          </p:nvPr>
        </p:nvSpPr>
        <p:spPr>
          <a:xfrm>
            <a:off x="61779" y="844599"/>
            <a:ext cx="8760092" cy="1360100"/>
          </a:xfrm>
        </p:spPr>
        <p:txBody>
          <a:bodyPr/>
          <a:lstStyle/>
          <a:p>
            <a:pPr algn="l"/>
            <a:r>
              <a:rPr lang="en-US" sz="2400" b="1" cap="none" dirty="0">
                <a:solidFill>
                  <a:schemeClr val="tx1"/>
                </a:solidFill>
                <a:latin typeface="+mn-lt"/>
              </a:rPr>
              <a:t>When </a:t>
            </a:r>
            <a:r>
              <a:rPr lang="en-US" b="1" cap="none" dirty="0">
                <a:solidFill>
                  <a:schemeClr val="tx1"/>
                </a:solidFill>
                <a:latin typeface="+mn-lt"/>
              </a:rPr>
              <a:t>S</a:t>
            </a:r>
            <a:r>
              <a:rPr lang="en-US" sz="2400" b="1" cap="none" dirty="0">
                <a:solidFill>
                  <a:schemeClr val="tx1"/>
                </a:solidFill>
                <a:latin typeface="+mn-lt"/>
              </a:rPr>
              <a:t>am pushes a refrigerator across a kitchen floor at a constant speed, the force of friction between the refrigerator and the floor is</a:t>
            </a:r>
            <a:endParaRPr lang="en-US" sz="2800" b="1" i="1" cap="none" dirty="0">
              <a:solidFill>
                <a:schemeClr val="tx1"/>
              </a:solidFill>
              <a:latin typeface="+mn-lt"/>
              <a:ea typeface="Batang" pitchFamily="18" charset="-127"/>
            </a:endParaRPr>
          </a:p>
        </p:txBody>
      </p:sp>
      <p:sp>
        <p:nvSpPr>
          <p:cNvPr id="273412" name="Rectangle 4"/>
          <p:cNvSpPr>
            <a:spLocks noGrp="1" noChangeArrowheads="1"/>
          </p:cNvSpPr>
          <p:nvPr>
            <p:ph type="body" idx="4294967295"/>
          </p:nvPr>
        </p:nvSpPr>
        <p:spPr>
          <a:xfrm>
            <a:off x="153564" y="2397598"/>
            <a:ext cx="4592940" cy="3544887"/>
          </a:xfrm>
        </p:spPr>
        <p:txBody>
          <a:bodyPr/>
          <a:lstStyle/>
          <a:p>
            <a:pPr marL="609600" indent="-609600">
              <a:lnSpc>
                <a:spcPct val="90000"/>
              </a:lnSpc>
              <a:buClrTx/>
              <a:buFont typeface="+mj-lt"/>
              <a:buAutoNum type="alphaUcPeriod"/>
            </a:pPr>
            <a:r>
              <a:rPr lang="en-US" sz="2400" dirty="0"/>
              <a:t>A.	</a:t>
            </a:r>
            <a:r>
              <a:rPr lang="en-US" sz="2400" b="1" dirty="0"/>
              <a:t>less than Sam’s push.</a:t>
            </a:r>
            <a:endParaRPr lang="en-US" sz="2400" b="1" dirty="0">
              <a:ea typeface="Batang" pitchFamily="18" charset="-127"/>
            </a:endParaRPr>
          </a:p>
          <a:p>
            <a:pPr marL="609600" indent="-609600">
              <a:lnSpc>
                <a:spcPct val="90000"/>
              </a:lnSpc>
              <a:buClrTx/>
              <a:buFont typeface="+mj-lt"/>
              <a:buAutoNum type="alphaUcPeriod"/>
            </a:pPr>
            <a:r>
              <a:rPr lang="en-US" sz="2400" b="1" dirty="0"/>
              <a:t>equal to Sam’s push.</a:t>
            </a:r>
            <a:r>
              <a:rPr lang="en-US" sz="2400" b="1" dirty="0">
                <a:ea typeface="Batang" pitchFamily="18" charset="-127"/>
              </a:rPr>
              <a:t> </a:t>
            </a:r>
          </a:p>
          <a:p>
            <a:pPr marL="609600" indent="-609600">
              <a:lnSpc>
                <a:spcPct val="90000"/>
              </a:lnSpc>
              <a:buClrTx/>
              <a:buFont typeface="+mj-lt"/>
              <a:buAutoNum type="alphaUcPeriod"/>
            </a:pPr>
            <a:r>
              <a:rPr lang="en-US" sz="2400" b="1" dirty="0"/>
              <a:t>equal and opposite to Sam’s push.</a:t>
            </a:r>
            <a:endParaRPr lang="en-US" sz="2400" b="1" dirty="0">
              <a:ea typeface="Batang" pitchFamily="18" charset="-127"/>
            </a:endParaRPr>
          </a:p>
          <a:p>
            <a:pPr marL="609600" indent="-609600">
              <a:lnSpc>
                <a:spcPct val="90000"/>
              </a:lnSpc>
              <a:buClrTx/>
              <a:buFont typeface="+mj-lt"/>
              <a:buAutoNum type="alphaUcPeriod"/>
            </a:pPr>
            <a:r>
              <a:rPr lang="en-US" sz="2400" b="1" dirty="0"/>
              <a:t>more than Sam’s push.</a:t>
            </a:r>
          </a:p>
          <a:p>
            <a:pPr marL="609600" indent="-609600">
              <a:lnSpc>
                <a:spcPct val="90000"/>
              </a:lnSpc>
              <a:buFontTx/>
              <a:buNone/>
            </a:pPr>
            <a:endParaRPr lang="en-US" sz="2400" b="1" dirty="0"/>
          </a:p>
          <a:p>
            <a:pPr marL="609600" indent="-609600">
              <a:lnSpc>
                <a:spcPct val="90000"/>
              </a:lnSpc>
              <a:buFontTx/>
              <a:buNone/>
            </a:pPr>
            <a:endParaRPr lang="en-US" sz="2400" dirty="0"/>
          </a:p>
          <a:p>
            <a:pPr marL="609600" indent="-609600">
              <a:lnSpc>
                <a:spcPct val="90000"/>
              </a:lnSpc>
              <a:buFontTx/>
              <a:buNone/>
            </a:pPr>
            <a:br>
              <a:rPr lang="en-US" sz="2400" dirty="0"/>
            </a:br>
            <a:r>
              <a:rPr lang="en-US" sz="2400" dirty="0"/>
              <a:t>										</a:t>
            </a:r>
          </a:p>
        </p:txBody>
      </p:sp>
      <p:pic>
        <p:nvPicPr>
          <p:cNvPr id="2" name="Picture 1" descr="Raji K Physics Logo">
            <a:extLst>
              <a:ext uri="{FF2B5EF4-FFF2-40B4-BE49-F238E27FC236}">
                <a16:creationId xmlns:a16="http://schemas.microsoft.com/office/drawing/2014/main" id="{8095EE7F-A81A-FE41-F7AA-97AAAA15A66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19186128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3412">
                                            <p:txEl>
                                              <p:pRg st="0" end="0"/>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273412">
                                            <p:txEl>
                                              <p:pRg st="1" end="1"/>
                                            </p:txEl>
                                          </p:spTgt>
                                        </p:tgtEl>
                                        <p:attrNameLst>
                                          <p:attrName>style.visibility</p:attrName>
                                        </p:attrNameLst>
                                      </p:cBhvr>
                                      <p:to>
                                        <p:strVal val="visible"/>
                                      </p:to>
                                    </p:set>
                                  </p:childTnLst>
                                </p:cTn>
                              </p:par>
                            </p:childTnLst>
                          </p:cTn>
                        </p:par>
                        <p:par>
                          <p:cTn id="10" fill="hold" nodeType="afterGroup">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273412">
                                            <p:txEl>
                                              <p:pRg st="2" end="2"/>
                                            </p:txEl>
                                          </p:spTgt>
                                        </p:tgtEl>
                                        <p:attrNameLst>
                                          <p:attrName>style.visibility</p:attrName>
                                        </p:attrNameLst>
                                      </p:cBhvr>
                                      <p:to>
                                        <p:strVal val="visible"/>
                                      </p:to>
                                    </p:set>
                                  </p:childTnLst>
                                </p:cTn>
                              </p:par>
                            </p:childTnLst>
                          </p:cTn>
                        </p:par>
                        <p:par>
                          <p:cTn id="13" fill="hold" nodeType="afterGroup">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273412">
                                            <p:txEl>
                                              <p:pRg st="3" end="3"/>
                                            </p:txEl>
                                          </p:spTgt>
                                        </p:tgtEl>
                                        <p:attrNameLst>
                                          <p:attrName>style.visibility</p:attrName>
                                        </p:attrNameLst>
                                      </p:cBhvr>
                                      <p:to>
                                        <p:strVal val="visible"/>
                                      </p:to>
                                    </p:set>
                                  </p:childTnLst>
                                </p:cTn>
                              </p:par>
                            </p:childTnLst>
                          </p:cTn>
                        </p:par>
                        <p:par>
                          <p:cTn id="16" fill="hold" nodeType="afterGroup">
                            <p:stCondLst>
                              <p:cond delay="1500"/>
                            </p:stCondLst>
                            <p:childTnLst>
                              <p:par>
                                <p:cTn id="17" presetID="1" presetClass="entr" presetSubtype="0" fill="hold" grpId="0" nodeType="afterEffect">
                                  <p:stCondLst>
                                    <p:cond delay="500"/>
                                  </p:stCondLst>
                                  <p:childTnLst>
                                    <p:set>
                                      <p:cBhvr>
                                        <p:cTn id="18" dur="1" fill="hold">
                                          <p:stCondLst>
                                            <p:cond delay="0"/>
                                          </p:stCondLst>
                                        </p:cTn>
                                        <p:tgtEl>
                                          <p:spTgt spid="2734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7A783F10-9B11-1445-F428-4DDC850FCB05}"/>
              </a:ext>
            </a:extLst>
          </p:cNvPr>
          <p:cNvSpPr>
            <a:spLocks noGrp="1" noChangeArrowheads="1"/>
          </p:cNvSpPr>
          <p:nvPr>
            <p:ph type="title"/>
          </p:nvPr>
        </p:nvSpPr>
        <p:spPr>
          <a:xfrm>
            <a:off x="457200" y="1285080"/>
            <a:ext cx="8229600" cy="1265237"/>
          </a:xfrm>
        </p:spPr>
        <p:txBody>
          <a:bodyPr/>
          <a:lstStyle/>
          <a:p>
            <a:pPr algn="l"/>
            <a:r>
              <a:rPr lang="en-US" altLang="en-US" sz="2400" b="1" cap="none" dirty="0">
                <a:solidFill>
                  <a:schemeClr val="tx1"/>
                </a:solidFill>
                <a:latin typeface="+mn-lt"/>
              </a:rPr>
              <a:t>When Sam pushes a refrigerator across a kitchen floor at a constant speed, the force of friction between the refrigerator and the floor is</a:t>
            </a:r>
            <a:endParaRPr lang="en-US" altLang="en-US" sz="2800" b="1" i="1" cap="none" dirty="0">
              <a:solidFill>
                <a:schemeClr val="tx1"/>
              </a:solidFill>
              <a:latin typeface="+mn-lt"/>
              <a:ea typeface="Batang" panose="02030600000101010101" pitchFamily="18" charset="-127"/>
              <a:cs typeface="Batang" panose="02030600000101010101" pitchFamily="18" charset="-127"/>
            </a:endParaRPr>
          </a:p>
        </p:txBody>
      </p:sp>
      <p:sp>
        <p:nvSpPr>
          <p:cNvPr id="106499" name="Rectangle 3">
            <a:extLst>
              <a:ext uri="{FF2B5EF4-FFF2-40B4-BE49-F238E27FC236}">
                <a16:creationId xmlns:a16="http://schemas.microsoft.com/office/drawing/2014/main" id="{1233F060-623B-2820-0AB9-7D052E7CF0E9}"/>
              </a:ext>
            </a:extLst>
          </p:cNvPr>
          <p:cNvSpPr>
            <a:spLocks noGrp="1" noChangeArrowheads="1"/>
          </p:cNvSpPr>
          <p:nvPr>
            <p:ph type="body" idx="1"/>
          </p:nvPr>
        </p:nvSpPr>
        <p:spPr>
          <a:xfrm>
            <a:off x="457200" y="3429000"/>
            <a:ext cx="8229600" cy="2255838"/>
          </a:xfrm>
        </p:spPr>
        <p:txBody>
          <a:bodyPr/>
          <a:lstStyle/>
          <a:p>
            <a:pPr marL="609600" indent="-609600">
              <a:buClrTx/>
              <a:buFont typeface="+mj-lt"/>
              <a:buAutoNum type="alphaUcPeriod"/>
            </a:pPr>
            <a:r>
              <a:rPr lang="en-US" altLang="en-US" sz="2400" dirty="0"/>
              <a:t>A.	less than Sanjay’s push.</a:t>
            </a:r>
            <a:endParaRPr lang="en-US" altLang="en-US" sz="2400" dirty="0">
              <a:ea typeface="Batang" panose="02030600000101010101" pitchFamily="18" charset="-127"/>
              <a:cs typeface="Batang" panose="02030600000101010101" pitchFamily="18" charset="-127"/>
            </a:endParaRPr>
          </a:p>
          <a:p>
            <a:pPr marL="609600" indent="-609600">
              <a:buClrTx/>
              <a:buFont typeface="+mj-lt"/>
              <a:buAutoNum type="alphaUcPeriod"/>
            </a:pPr>
            <a:r>
              <a:rPr lang="en-US" altLang="en-US" sz="2400" dirty="0"/>
              <a:t>equal to Sanjay’s push.</a:t>
            </a:r>
            <a:r>
              <a:rPr lang="en-US" altLang="en-US" sz="2400" b="1" dirty="0">
                <a:ea typeface="Batang" panose="02030600000101010101" pitchFamily="18" charset="-127"/>
                <a:cs typeface="Batang" panose="02030600000101010101" pitchFamily="18" charset="-127"/>
              </a:rPr>
              <a:t> </a:t>
            </a:r>
          </a:p>
          <a:p>
            <a:pPr marL="609600" indent="-609600">
              <a:buClrTx/>
              <a:buFont typeface="+mj-lt"/>
              <a:buAutoNum type="alphaUcPeriod"/>
            </a:pPr>
            <a:r>
              <a:rPr lang="en-US" altLang="en-US" sz="2400" b="1" dirty="0"/>
              <a:t>equal and opposite to Sanjay’s push.</a:t>
            </a:r>
            <a:endParaRPr lang="en-US" altLang="en-US" sz="2400" dirty="0">
              <a:ea typeface="Batang" panose="02030600000101010101" pitchFamily="18" charset="-127"/>
              <a:cs typeface="Batang" panose="02030600000101010101" pitchFamily="18" charset="-127"/>
            </a:endParaRPr>
          </a:p>
          <a:p>
            <a:pPr marL="609600" indent="-609600">
              <a:buClrTx/>
              <a:buFont typeface="+mj-lt"/>
              <a:buAutoNum type="alphaUcPeriod"/>
            </a:pPr>
            <a:r>
              <a:rPr lang="en-US" altLang="en-US" sz="2400" dirty="0"/>
              <a:t>more than Sanjay’s push.</a:t>
            </a:r>
          </a:p>
          <a:p>
            <a:pPr marL="609600" indent="-609600">
              <a:buFontTx/>
              <a:buNone/>
            </a:pPr>
            <a:endParaRPr lang="en-US" altLang="en-US" sz="2400" dirty="0"/>
          </a:p>
          <a:p>
            <a:pPr marL="609600" indent="-609600">
              <a:buFontTx/>
              <a:buNone/>
            </a:pPr>
            <a:endParaRPr lang="en-US" altLang="en-US" sz="2400" dirty="0"/>
          </a:p>
          <a:p>
            <a:pPr marL="609600" indent="-609600">
              <a:buFontTx/>
              <a:buNone/>
            </a:pPr>
            <a:endParaRPr lang="en-US" altLang="en-US" sz="2400" dirty="0"/>
          </a:p>
          <a:p>
            <a:pPr marL="609600" indent="-609600">
              <a:buFontTx/>
              <a:buNone/>
            </a:pPr>
            <a:endParaRPr lang="en-US" altLang="en-US" sz="2400" dirty="0"/>
          </a:p>
        </p:txBody>
      </p:sp>
      <p:sp>
        <p:nvSpPr>
          <p:cNvPr id="106500" name="Rectangle 4">
            <a:extLst>
              <a:ext uri="{FF2B5EF4-FFF2-40B4-BE49-F238E27FC236}">
                <a16:creationId xmlns:a16="http://schemas.microsoft.com/office/drawing/2014/main" id="{898D58CE-D90A-8FD8-977D-53E17AE3A21E}"/>
              </a:ext>
            </a:extLst>
          </p:cNvPr>
          <p:cNvSpPr>
            <a:spLocks noChangeArrowheads="1"/>
          </p:cNvSpPr>
          <p:nvPr/>
        </p:nvSpPr>
        <p:spPr bwMode="auto">
          <a:xfrm>
            <a:off x="282497" y="193675"/>
            <a:ext cx="8779727" cy="762000"/>
          </a:xfrm>
          <a:prstGeom prst="rect">
            <a:avLst/>
          </a:prstGeom>
          <a:noFill/>
          <a:ln>
            <a:noFill/>
          </a:ln>
        </p:spPr>
        <p:txBody>
          <a:bodyPr wrap="none" anchor="ctr"/>
          <a:lstStyle>
            <a:lvl1pPr>
              <a:defRPr sz="2800" b="1">
                <a:solidFill>
                  <a:schemeClr val="tx1"/>
                </a:solidFill>
                <a:latin typeface="Arial" panose="020B0604020202020204" pitchFamily="34" charset="0"/>
              </a:defRPr>
            </a:lvl1pPr>
            <a:lvl2pPr marL="742950" indent="-285750">
              <a:defRPr sz="2800" b="1">
                <a:solidFill>
                  <a:schemeClr val="tx1"/>
                </a:solidFill>
                <a:latin typeface="Arial" panose="020B0604020202020204" pitchFamily="34" charset="0"/>
              </a:defRPr>
            </a:lvl2pPr>
            <a:lvl3pPr marL="1143000" indent="-228600">
              <a:defRPr sz="2800" b="1">
                <a:solidFill>
                  <a:schemeClr val="tx1"/>
                </a:solidFill>
                <a:latin typeface="Arial" panose="020B0604020202020204" pitchFamily="34" charset="0"/>
              </a:defRPr>
            </a:lvl3pPr>
            <a:lvl4pPr marL="1600200" indent="-228600">
              <a:defRPr sz="2800" b="1">
                <a:solidFill>
                  <a:schemeClr val="tx1"/>
                </a:solidFill>
                <a:latin typeface="Arial" panose="020B0604020202020204" pitchFamily="34" charset="0"/>
              </a:defRPr>
            </a:lvl4pPr>
            <a:lvl5pPr marL="2057400" indent="-228600">
              <a:defRPr sz="2800" b="1">
                <a:solidFill>
                  <a:schemeClr val="tx1"/>
                </a:solidFill>
                <a:latin typeface="Arial" panose="020B0604020202020204" pitchFamily="34" charset="0"/>
              </a:defRPr>
            </a:lvl5pPr>
            <a:lvl6pPr marL="2514600" indent="-228600" eaLnBrk="0" fontAlgn="base" hangingPunct="0">
              <a:spcBef>
                <a:spcPct val="0"/>
              </a:spcBef>
              <a:spcAft>
                <a:spcPct val="0"/>
              </a:spcAft>
              <a:defRPr sz="2800" b="1">
                <a:solidFill>
                  <a:schemeClr val="tx1"/>
                </a:solidFill>
                <a:latin typeface="Arial" panose="020B0604020202020204" pitchFamily="34" charset="0"/>
              </a:defRPr>
            </a:lvl6pPr>
            <a:lvl7pPr marL="2971800" indent="-228600" eaLnBrk="0" fontAlgn="base" hangingPunct="0">
              <a:spcBef>
                <a:spcPct val="0"/>
              </a:spcBef>
              <a:spcAft>
                <a:spcPct val="0"/>
              </a:spcAft>
              <a:defRPr sz="2800" b="1">
                <a:solidFill>
                  <a:schemeClr val="tx1"/>
                </a:solidFill>
                <a:latin typeface="Arial" panose="020B0604020202020204" pitchFamily="34" charset="0"/>
              </a:defRPr>
            </a:lvl7pPr>
            <a:lvl8pPr marL="3429000" indent="-228600" eaLnBrk="0" fontAlgn="base" hangingPunct="0">
              <a:spcBef>
                <a:spcPct val="0"/>
              </a:spcBef>
              <a:spcAft>
                <a:spcPct val="0"/>
              </a:spcAft>
              <a:defRPr sz="2800" b="1">
                <a:solidFill>
                  <a:schemeClr val="tx1"/>
                </a:solidFill>
                <a:latin typeface="Arial" panose="020B0604020202020204" pitchFamily="34" charset="0"/>
              </a:defRPr>
            </a:lvl8pPr>
            <a:lvl9pPr marL="3886200" indent="-228600" eaLnBrk="0" fontAlgn="base" hangingPunct="0">
              <a:spcBef>
                <a:spcPct val="0"/>
              </a:spcBef>
              <a:spcAft>
                <a:spcPct val="0"/>
              </a:spcAft>
              <a:defRPr sz="2800" b="1">
                <a:solidFill>
                  <a:schemeClr val="tx1"/>
                </a:solidFill>
                <a:latin typeface="Arial" panose="020B0604020202020204" pitchFamily="34" charset="0"/>
              </a:defRPr>
            </a:lvl9pPr>
          </a:lstStyle>
          <a:p>
            <a:pPr algn="ctr" eaLnBrk="1" hangingPunct="1"/>
            <a:r>
              <a:rPr lang="en-US" altLang="en-US" dirty="0">
                <a:latin typeface="+mj-lt"/>
                <a:cs typeface="Arial" panose="020B0604020202020204" pitchFamily="34" charset="0"/>
              </a:rPr>
              <a:t>THE FORCE OF FRICTION</a:t>
            </a:r>
          </a:p>
          <a:p>
            <a:pPr algn="ctr" eaLnBrk="1" hangingPunct="1"/>
            <a:r>
              <a:rPr lang="en-US" altLang="en-US" dirty="0">
                <a:latin typeface="+mj-lt"/>
                <a:cs typeface="Arial" panose="020B0604020202020204" pitchFamily="34" charset="0"/>
              </a:rPr>
              <a:t>CHECK YOUR ANSWER</a:t>
            </a:r>
            <a:r>
              <a:rPr lang="en-US" altLang="en-US" i="1" dirty="0">
                <a:latin typeface="+mj-lt"/>
                <a:cs typeface="Arial" panose="020B0604020202020204" pitchFamily="34" charset="0"/>
              </a:rPr>
              <a:t> </a:t>
            </a:r>
          </a:p>
        </p:txBody>
      </p:sp>
      <p:pic>
        <p:nvPicPr>
          <p:cNvPr id="2" name="Picture 1" descr="Raji K Physics Logo">
            <a:extLst>
              <a:ext uri="{FF2B5EF4-FFF2-40B4-BE49-F238E27FC236}">
                <a16:creationId xmlns:a16="http://schemas.microsoft.com/office/drawing/2014/main" id="{1ED79A4A-6996-CED4-1CB7-069C93D1E02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65106"/>
            <a:ext cx="8396868" cy="625798"/>
          </a:xfrm>
        </p:spPr>
        <p:txBody>
          <a:bodyPr>
            <a:noAutofit/>
          </a:bodyPr>
          <a:lstStyle/>
          <a:p>
            <a:pPr algn="ctr"/>
            <a:r>
              <a:rPr lang="en-US" sz="2800" b="1" dirty="0">
                <a:solidFill>
                  <a:schemeClr val="tx1"/>
                </a:solidFill>
              </a:rPr>
              <a:t>Static and Kinetic Friction Problem</a:t>
            </a:r>
          </a:p>
        </p:txBody>
      </p:sp>
      <p:pic>
        <p:nvPicPr>
          <p:cNvPr id="2" name="Picture Placeholder 1" descr="Here, may represent either the static or the kinetic frictional force. (a) An illustration of a man pushing a crate on a horizontal floor, exerting a force P directed horizontally to the right. (b) A free body diagram of the crate showing force P directed horizontally to the right, force f directed horizontally to the left, force N directed vertically up, and force w directed vertically down. An x y coordinate system is shown with positive x to the right and positive y up."/>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149" b="-1149"/>
          <a:stretch>
            <a:fillRect/>
          </a:stretch>
        </p:blipFill>
        <p:spPr>
          <a:xfrm>
            <a:off x="1048215" y="569155"/>
            <a:ext cx="7345226" cy="3188527"/>
          </a:xfrm>
        </p:spPr>
      </p:pic>
      <mc:AlternateContent xmlns:mc="http://schemas.openxmlformats.org/markup-compatibility/2006" xmlns:a14="http://schemas.microsoft.com/office/drawing/2010/main">
        <mc:Choice Requires="a14">
          <p:sp>
            <p:nvSpPr>
              <p:cNvPr id="7" name="Text Placeholder 6"/>
              <p:cNvSpPr>
                <a:spLocks noGrp="1"/>
              </p:cNvSpPr>
              <p:nvPr>
                <p:ph type="body" sz="quarter" idx="14"/>
              </p:nvPr>
            </p:nvSpPr>
            <p:spPr>
              <a:xfrm>
                <a:off x="118947" y="3873825"/>
                <a:ext cx="8958146" cy="2746282"/>
              </a:xfrm>
            </p:spPr>
            <p:txBody>
              <a:bodyPr>
                <a:normAutofit/>
              </a:bodyPr>
              <a:lstStyle/>
              <a:p>
                <a:pPr marL="342900" indent="-342900">
                  <a:buClrTx/>
                  <a:buFont typeface="+mj-lt"/>
                  <a:buAutoNum type="alphaLcParenR"/>
                </a:pPr>
                <a:r>
                  <a:rPr lang="en-US" sz="1800" b="1" dirty="0"/>
                  <a:t>A crate on a horizontal surface is pushed with a force </a:t>
                </a:r>
                <a14:m>
                  <m:oMath xmlns:m="http://schemas.openxmlformats.org/officeDocument/2006/math">
                    <m:acc>
                      <m:accPr>
                        <m:chr m:val="⃗"/>
                        <m:ctrlPr>
                          <a:rPr lang="en-US" sz="1800" b="1" i="1">
                            <a:solidFill>
                              <a:schemeClr val="tx1"/>
                            </a:solidFill>
                            <a:latin typeface="Cambria Math" panose="02040503050406030204" pitchFamily="18" charset="0"/>
                          </a:rPr>
                        </m:ctrlPr>
                      </m:accPr>
                      <m:e>
                        <m:r>
                          <a:rPr lang="en-US" sz="1800" b="1" i="0" smtClean="0">
                            <a:solidFill>
                              <a:schemeClr val="tx1"/>
                            </a:solidFill>
                            <a:latin typeface="Cambria Math"/>
                          </a:rPr>
                          <m:t>𝐏</m:t>
                        </m:r>
                      </m:e>
                    </m:acc>
                  </m:oMath>
                </a14:m>
                <a:r>
                  <a:rPr lang="en-US" sz="1800" b="1" dirty="0"/>
                  <a:t>. </a:t>
                </a:r>
              </a:p>
              <a:p>
                <a:pPr marL="342900" indent="-342900">
                  <a:buClrTx/>
                  <a:buFont typeface="+mj-lt"/>
                  <a:buAutoNum type="alphaLcParenR"/>
                </a:pPr>
                <a:r>
                  <a:rPr lang="en-US" sz="1800" b="1" dirty="0"/>
                  <a:t>The forces on the crate. Here, </a:t>
                </a:r>
                <a14:m>
                  <m:oMath xmlns:m="http://schemas.openxmlformats.org/officeDocument/2006/math">
                    <m:acc>
                      <m:accPr>
                        <m:chr m:val="⃗"/>
                        <m:ctrlPr>
                          <a:rPr lang="en-US" sz="1800" b="1" i="1">
                            <a:solidFill>
                              <a:schemeClr val="tx1"/>
                            </a:solidFill>
                            <a:latin typeface="Cambria Math" panose="02040503050406030204" pitchFamily="18" charset="0"/>
                          </a:rPr>
                        </m:ctrlPr>
                      </m:accPr>
                      <m:e>
                        <m:r>
                          <a:rPr lang="en-US" sz="1800" b="1">
                            <a:solidFill>
                              <a:schemeClr val="tx1"/>
                            </a:solidFill>
                            <a:latin typeface="Cambria Math"/>
                          </a:rPr>
                          <m:t>𝐟</m:t>
                        </m:r>
                      </m:e>
                    </m:acc>
                    <m:r>
                      <a:rPr lang="en-US" sz="1800" b="1" i="1">
                        <a:solidFill>
                          <a:schemeClr val="tx1"/>
                        </a:solidFill>
                        <a:latin typeface="Cambria Math"/>
                      </a:rPr>
                      <m:t> </m:t>
                    </m:r>
                    <m:r>
                      <a:rPr lang="en-US" sz="1800" b="1" i="0" smtClean="0">
                        <a:solidFill>
                          <a:schemeClr val="tx1"/>
                        </a:solidFill>
                        <a:latin typeface="Cambria Math"/>
                      </a:rPr>
                      <m:t> </m:t>
                    </m:r>
                  </m:oMath>
                </a14:m>
                <a:r>
                  <a:rPr lang="en-US" sz="1800" b="1" dirty="0"/>
                  <a:t>may represent either the static or the kinetic frictional force.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 20.0-kg crate is at rest on a floor as shown in The coefficient of static friction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between the crate and floor is 0.700 and the coefficient of kinetic friction is 0.600. A horizontal force   </a:t>
                </a:r>
                <a:r>
                  <a:rPr kumimoji="0" lang="en-US" altLang="en-US" sz="1800" b="1" i="0" u="none" strike="noStrike" cap="none" normalizeH="0" baseline="0" dirty="0">
                    <a:ln>
                      <a:noFill/>
                    </a:ln>
                    <a:solidFill>
                      <a:schemeClr val="tx1"/>
                    </a:solidFill>
                    <a:effectLst/>
                    <a:latin typeface="MathJax_Main"/>
                  </a:rPr>
                  <a:t>P⃗ </a:t>
                </a:r>
                <a:r>
                  <a:rPr kumimoji="0" lang="en-US" altLang="en-US" sz="1800" b="1" i="0" u="none" strike="noStrike" cap="none" normalizeH="0" baseline="0" dirty="0">
                    <a:ln>
                      <a:noFill/>
                    </a:ln>
                    <a:solidFill>
                      <a:schemeClr val="tx1"/>
                    </a:solidFill>
                    <a:effectLst/>
                  </a:rPr>
                  <a:t> is applied to the crate. Find the force of friction if (a) </a:t>
                </a:r>
                <a:r>
                  <a:rPr kumimoji="0" lang="en-US" altLang="en-US" sz="1800" b="1" i="0" u="none" strike="noStrike" cap="none" normalizeH="0" baseline="0" dirty="0">
                    <a:ln>
                      <a:noFill/>
                    </a:ln>
                    <a:solidFill>
                      <a:schemeClr val="tx1"/>
                    </a:solidFill>
                    <a:effectLst/>
                    <a:latin typeface="MathJax_Main"/>
                  </a:rPr>
                  <a:t>P⃗ =20.0Niˆ,</a:t>
                </a:r>
                <a:r>
                  <a:rPr kumimoji="0" lang="en-US" altLang="en-US" sz="1800" b="1" i="0" u="none" strike="noStrike" cap="none" normalizeH="0" baseline="0" dirty="0">
                    <a:ln>
                      <a:noFill/>
                    </a:ln>
                    <a:solidFill>
                      <a:schemeClr val="tx1"/>
                    </a:solidFill>
                    <a:effectLst/>
                  </a:rPr>
                  <a:t> (b) </a:t>
                </a:r>
                <a:r>
                  <a:rPr kumimoji="0" lang="en-US" altLang="en-US" sz="1800" b="1" i="0" u="none" strike="noStrike" cap="none" normalizeH="0" baseline="0" dirty="0">
                    <a:ln>
                      <a:noFill/>
                    </a:ln>
                    <a:solidFill>
                      <a:schemeClr val="tx1"/>
                    </a:solidFill>
                    <a:effectLst/>
                    <a:latin typeface="MathJax_Main"/>
                  </a:rPr>
                  <a:t>P⃗ =30.0Niˆ,</a:t>
                </a:r>
                <a:r>
                  <a:rPr kumimoji="0" lang="en-US" altLang="en-US" sz="1800" b="1" i="0" u="none" strike="noStrike" cap="none" normalizeH="0" baseline="0" dirty="0">
                    <a:ln>
                      <a:noFill/>
                    </a:ln>
                    <a:solidFill>
                      <a:schemeClr val="tx1"/>
                    </a:solidFill>
                    <a:effectLst/>
                  </a:rPr>
                  <a:t> (c) </a:t>
                </a:r>
                <a:r>
                  <a:rPr kumimoji="0" lang="en-US" altLang="en-US" sz="1800" b="1" i="0" u="none" strike="noStrike" cap="none" normalizeH="0" baseline="0" dirty="0">
                    <a:ln>
                      <a:noFill/>
                    </a:ln>
                    <a:solidFill>
                      <a:schemeClr val="tx1"/>
                    </a:solidFill>
                    <a:effectLst/>
                    <a:latin typeface="MathJax_Main"/>
                  </a:rPr>
                  <a:t>P⃗ =120.0Niˆ,</a:t>
                </a:r>
                <a:r>
                  <a:rPr kumimoji="0" lang="en-US" altLang="en-US" sz="1800" b="1" i="0" u="none" strike="noStrike" cap="none" normalizeH="0" baseline="0" dirty="0">
                    <a:ln>
                      <a:noFill/>
                    </a:ln>
                    <a:solidFill>
                      <a:schemeClr val="tx1"/>
                    </a:solidFill>
                    <a:effectLst/>
                  </a:rPr>
                  <a:t> and (d) </a:t>
                </a:r>
                <a:r>
                  <a:rPr kumimoji="0" lang="en-US" altLang="en-US" sz="1800" b="1" i="0" u="none" strike="noStrike" cap="none" normalizeH="0" baseline="0" dirty="0">
                    <a:ln>
                      <a:noFill/>
                    </a:ln>
                    <a:solidFill>
                      <a:schemeClr val="tx1"/>
                    </a:solidFill>
                    <a:effectLst/>
                    <a:latin typeface="MathJax_Main"/>
                  </a:rPr>
                  <a:t>P⃗ =180.0Niˆ.</a:t>
                </a:r>
                <a:r>
                  <a:rPr kumimoji="0" lang="en-US" altLang="en-US" sz="1800" b="1" i="0" u="none" strike="noStrike" cap="none" normalizeH="0" baseline="0" dirty="0">
                    <a:ln>
                      <a:noFill/>
                    </a:ln>
                    <a:solidFill>
                      <a:schemeClr val="tx1"/>
                    </a:solidFill>
                    <a:effectLst/>
                  </a:rPr>
                  <a:t> </a:t>
                </a:r>
                <a:endParaRPr kumimoji="0" lang="en-US" altLang="en-US" sz="1800" b="1" i="0" u="none" strike="noStrike" cap="none" normalizeH="0" baseline="0" dirty="0">
                  <a:ln>
                    <a:noFill/>
                  </a:ln>
                  <a:solidFill>
                    <a:schemeClr val="tx1"/>
                  </a:solidFill>
                  <a:effectLst/>
                  <a:latin typeface="Arial" panose="020B0604020202020204" pitchFamily="34" charset="0"/>
                </a:endParaRPr>
              </a:p>
              <a:p>
                <a:r>
                  <a:rPr kumimoji="0" lang="en-US" altLang="en-US" sz="1600" b="1" i="0" u="none" strike="noStrike" cap="none" normalizeH="0" baseline="0" dirty="0">
                    <a:ln>
                      <a:noFill/>
                    </a:ln>
                    <a:solidFill>
                      <a:schemeClr val="tx1"/>
                    </a:solidFill>
                    <a:effectLst/>
                    <a:latin typeface="Arial" panose="020B0604020202020204" pitchFamily="34" charset="0"/>
                    <a:hlinkClick r:id="rId3"/>
                  </a:rPr>
                  <a:t> Click Here for Solution</a:t>
                </a:r>
                <a:r>
                  <a:rPr kumimoji="0" lang="en-US" altLang="en-US" sz="1600" b="1" i="0" u="none" strike="noStrike" cap="none" normalizeH="0" baseline="0" dirty="0">
                    <a:ln>
                      <a:noFill/>
                    </a:ln>
                    <a:solidFill>
                      <a:schemeClr val="tx1"/>
                    </a:solidFill>
                    <a:effectLst/>
                    <a:latin typeface="Arial" panose="020B0604020202020204" pitchFamily="34" charset="0"/>
                  </a:rPr>
                  <a:t>.</a:t>
                </a:r>
                <a:endParaRPr lang="en-US" sz="1600" dirty="0"/>
              </a:p>
            </p:txBody>
          </p:sp>
        </mc:Choice>
        <mc:Fallback xmlns="">
          <p:sp>
            <p:nvSpPr>
              <p:cNvPr id="7" name="Text Placeholder 6"/>
              <p:cNvSpPr>
                <a:spLocks noGrp="1" noRot="1" noChangeAspect="1" noMove="1" noResize="1" noEditPoints="1" noAdjustHandles="1" noChangeArrowheads="1" noChangeShapeType="1" noTextEdit="1"/>
              </p:cNvSpPr>
              <p:nvPr>
                <p:ph type="body" sz="quarter" idx="14"/>
              </p:nvPr>
            </p:nvSpPr>
            <p:spPr>
              <a:xfrm>
                <a:off x="118947" y="3873825"/>
                <a:ext cx="8958146" cy="2746282"/>
              </a:xfrm>
              <a:blipFill>
                <a:blip r:embed="rId4"/>
                <a:stretch>
                  <a:fillRect l="-613"/>
                </a:stretch>
              </a:blipFill>
            </p:spPr>
            <p:txBody>
              <a:bodyPr/>
              <a:lstStyle/>
              <a:p>
                <a:r>
                  <a:rPr lang="en-US">
                    <a:noFill/>
                  </a:rPr>
                  <a:t> </a:t>
                </a:r>
              </a:p>
            </p:txBody>
          </p:sp>
        </mc:Fallback>
      </mc:AlternateContent>
      <p:pic>
        <p:nvPicPr>
          <p:cNvPr id="9" name="Picture 8" descr="OpenStax logo">
            <a:extLst>
              <a:ext uri="{FF2B5EF4-FFF2-40B4-BE49-F238E27FC236}">
                <a16:creationId xmlns:a16="http://schemas.microsoft.com/office/drawing/2014/main" id="{92C4D1F3-D210-0C71-B984-131D5C54BCC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610782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0" y="174625"/>
            <a:ext cx="9144000" cy="728663"/>
          </a:xfrm>
        </p:spPr>
        <p:txBody>
          <a:bodyPr/>
          <a:lstStyle/>
          <a:p>
            <a:pPr algn="ctr"/>
            <a:r>
              <a:rPr lang="en-US" sz="2800" b="1" dirty="0">
                <a:solidFill>
                  <a:schemeClr val="tx1"/>
                </a:solidFill>
              </a:rPr>
              <a:t>FIND COEFFICIENT OF KINETIC FRICTION </a:t>
            </a:r>
            <a:endParaRPr lang="en-US" sz="2800" b="1" dirty="0"/>
          </a:p>
        </p:txBody>
      </p:sp>
      <p:sp>
        <p:nvSpPr>
          <p:cNvPr id="9219" name="Text Placeholder 6"/>
          <p:cNvSpPr>
            <a:spLocks noGrp="1"/>
          </p:cNvSpPr>
          <p:nvPr>
            <p:ph type="body" sz="quarter" idx="4294967295"/>
          </p:nvPr>
        </p:nvSpPr>
        <p:spPr>
          <a:xfrm>
            <a:off x="200818" y="903288"/>
            <a:ext cx="8742363" cy="5661063"/>
          </a:xfrm>
        </p:spPr>
        <p:txBody>
          <a:bodyPr/>
          <a:lstStyle/>
          <a:p>
            <a:pPr marL="0" indent="0">
              <a:buNone/>
            </a:pPr>
            <a:r>
              <a:rPr lang="en-US" sz="2400" b="1" dirty="0">
                <a:solidFill>
                  <a:schemeClr val="tx1"/>
                </a:solidFill>
              </a:rPr>
              <a:t> A skier with a mass of 62 kg is sliding down a snowy slope at an angle 25</a:t>
            </a:r>
            <a:r>
              <a:rPr lang="en-US" sz="2400" b="1" baseline="30000" dirty="0">
                <a:solidFill>
                  <a:schemeClr val="tx1"/>
                </a:solidFill>
              </a:rPr>
              <a:t>0 </a:t>
            </a:r>
            <a:r>
              <a:rPr lang="en-US" sz="2400" b="1" dirty="0">
                <a:solidFill>
                  <a:schemeClr val="tx1"/>
                </a:solidFill>
              </a:rPr>
              <a:t>at a constant speed. Find the coefficient of kinetic friction for the skier.</a:t>
            </a:r>
          </a:p>
          <a:p>
            <a:pPr marL="0" indent="0">
              <a:buNone/>
            </a:pPr>
            <a:r>
              <a:rPr lang="en-US" sz="2400" b="1" dirty="0">
                <a:solidFill>
                  <a:schemeClr val="tx1"/>
                </a:solidFill>
              </a:rPr>
              <a:t> </a:t>
            </a:r>
            <a:r>
              <a:rPr lang="en-US" b="1" dirty="0">
                <a:solidFill>
                  <a:srgbClr val="0000FF"/>
                </a:solidFill>
                <a:hlinkClick r:id="rId3">
                  <a:extLst>
                    <a:ext uri="{A12FA001-AC4F-418D-AE19-62706E023703}">
                      <ahyp:hlinkClr xmlns:ahyp="http://schemas.microsoft.com/office/drawing/2018/hyperlinkcolor" val="tx"/>
                    </a:ext>
                  </a:extLst>
                </a:hlinkClick>
              </a:rPr>
              <a:t>Click Here for solution</a:t>
            </a:r>
            <a:endParaRPr lang="en-US" b="1" dirty="0">
              <a:solidFill>
                <a:srgbClr val="0000FF"/>
              </a:solidFill>
            </a:endParaRPr>
          </a:p>
          <a:p>
            <a:pPr marL="0" indent="0">
              <a:buNone/>
            </a:pPr>
            <a:endParaRPr lang="en-US" sz="2800" b="1" dirty="0">
              <a:solidFill>
                <a:srgbClr val="0000FF"/>
              </a:solidFill>
            </a:endParaRPr>
          </a:p>
          <a:p>
            <a:r>
              <a:rPr lang="en-US" sz="2400" b="1"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Friction on Inclined Plane</a:t>
            </a:r>
            <a:r>
              <a:rPr lang="en-US" sz="2400" b="1"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rPr>
              <a:t> Video</a:t>
            </a:r>
            <a:endParaRPr lang="en-US" sz="2400" b="1" dirty="0">
              <a:solidFill>
                <a:srgbClr val="0000FF"/>
              </a:solidFill>
            </a:endParaRPr>
          </a:p>
          <a:p>
            <a:r>
              <a:rPr lang="en-US" sz="2400" b="1" dirty="0">
                <a:solidFill>
                  <a:srgbClr val="0000FF"/>
                </a:solidFill>
                <a:latin typeface="Arial" charset="0"/>
                <a:hlinkClick r:id="rId5">
                  <a:extLst>
                    <a:ext uri="{A12FA001-AC4F-418D-AE19-62706E023703}">
                      <ahyp:hlinkClr xmlns:ahyp="http://schemas.microsoft.com/office/drawing/2018/hyperlinkcolor" val="tx"/>
                    </a:ext>
                  </a:extLst>
                </a:hlinkClick>
              </a:rPr>
              <a:t>Example -1 Kinetic Friction and Acceleration video</a:t>
            </a:r>
            <a:endParaRPr lang="en-US" sz="2400" b="1" dirty="0">
              <a:solidFill>
                <a:srgbClr val="0000FF"/>
              </a:solidFill>
            </a:endParaRPr>
          </a:p>
          <a:p>
            <a:pPr marL="0" indent="0">
              <a:buNone/>
            </a:pPr>
            <a:r>
              <a:rPr lang="en-US" sz="2400" b="1" dirty="0">
                <a:solidFill>
                  <a:srgbClr val="0000FF"/>
                </a:solidFill>
                <a:hlinkClick r:id="rId6">
                  <a:extLst>
                    <a:ext uri="{A12FA001-AC4F-418D-AE19-62706E023703}">
                      <ahyp:hlinkClr xmlns:ahyp="http://schemas.microsoft.com/office/drawing/2018/hyperlinkcolor" val="tx"/>
                    </a:ext>
                  </a:extLst>
                </a:hlinkClick>
              </a:rPr>
              <a:t>Friction, Two Boxes and a Pulley Example Problem</a:t>
            </a:r>
            <a:endParaRPr lang="en-US" sz="2400" b="1" dirty="0">
              <a:solidFill>
                <a:srgbClr val="0000FF"/>
              </a:solidFill>
            </a:endParaRPr>
          </a:p>
          <a:p>
            <a:pPr marL="0" indent="0">
              <a:buNone/>
            </a:pPr>
            <a:r>
              <a:rPr lang="en-US" sz="2400" b="1" dirty="0">
                <a:solidFill>
                  <a:srgbClr val="0000FF"/>
                </a:solidFill>
                <a:hlinkClick r:id="rId7">
                  <a:extLst>
                    <a:ext uri="{A12FA001-AC4F-418D-AE19-62706E023703}">
                      <ahyp:hlinkClr xmlns:ahyp="http://schemas.microsoft.com/office/drawing/2018/hyperlinkcolor" val="tx"/>
                    </a:ext>
                  </a:extLst>
                </a:hlinkClick>
              </a:rPr>
              <a:t>Friction, Ramp, Pulley and Two Boxes Example Problem</a:t>
            </a:r>
            <a:endParaRPr lang="en-US" sz="2400" b="1" dirty="0">
              <a:solidFill>
                <a:schemeClr val="tx1"/>
              </a:solidFill>
            </a:endParaRPr>
          </a:p>
          <a:p>
            <a:pPr marL="0" indent="0">
              <a:buNone/>
            </a:pPr>
            <a:r>
              <a:rPr lang="en-US" sz="2800" b="1" dirty="0">
                <a:solidFill>
                  <a:schemeClr val="tx1"/>
                </a:solidFill>
                <a:hlinkClick r:id="rId3">
                  <a:extLst>
                    <a:ext uri="{A12FA001-AC4F-418D-AE19-62706E023703}">
                      <ahyp:hlinkClr xmlns:ahyp="http://schemas.microsoft.com/office/drawing/2018/hyperlinkcolor" val="tx"/>
                    </a:ext>
                  </a:extLst>
                </a:hlinkClick>
              </a:rPr>
              <a:t> </a:t>
            </a:r>
          </a:p>
          <a:p>
            <a:pPr marL="0" indent="0">
              <a:buNone/>
            </a:pPr>
            <a:endParaRPr lang="en-US" sz="2800" b="1" dirty="0">
              <a:hlinkClick r:id="rId3">
                <a:extLst>
                  <a:ext uri="{A12FA001-AC4F-418D-AE19-62706E023703}">
                    <ahyp:hlinkClr xmlns:ahyp="http://schemas.microsoft.com/office/drawing/2018/hyperlinkcolor" val="tx"/>
                  </a:ext>
                </a:extLst>
              </a:hlinkClick>
            </a:endParaRPr>
          </a:p>
          <a:p>
            <a:pPr marL="0" indent="0">
              <a:buNone/>
            </a:pPr>
            <a:endParaRPr lang="en-US" sz="2800" b="1" dirty="0">
              <a:solidFill>
                <a:schemeClr val="tx1"/>
              </a:solidFill>
            </a:endParaRPr>
          </a:p>
        </p:txBody>
      </p:sp>
      <p:pic>
        <p:nvPicPr>
          <p:cNvPr id="4" name="Picture 3" descr="OpenStax logo">
            <a:extLst>
              <a:ext uri="{FF2B5EF4-FFF2-40B4-BE49-F238E27FC236}">
                <a16:creationId xmlns:a16="http://schemas.microsoft.com/office/drawing/2014/main" id="{068126B9-4EB9-1250-B7A6-69DE3A1D0531}"/>
              </a:ext>
            </a:extLst>
          </p:cNvPr>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1052741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8531225" cy="781050"/>
          </a:xfrm>
        </p:spPr>
        <p:txBody>
          <a:bodyPr/>
          <a:lstStyle/>
          <a:p>
            <a:pPr marL="0" indent="0" algn="ctr"/>
            <a:r>
              <a:rPr lang="en-US" sz="3200" b="1" dirty="0">
                <a:solidFill>
                  <a:schemeClr val="tx1"/>
                </a:solidFill>
              </a:rPr>
              <a:t>PUSHING OR  PULLING</a:t>
            </a:r>
            <a:endParaRPr lang="en-US" sz="3200" dirty="0"/>
          </a:p>
        </p:txBody>
      </p:sp>
      <p:pic>
        <p:nvPicPr>
          <p:cNvPr id="5" name="Picture Placeholder 1" descr="Which method of sliding a block of ice requires less force— pushing or  pulling at the same angle above the horizontal?&#10;"/>
          <p:cNvPicPr>
            <a:picLocks noGrp="1" noChangeAspect="1"/>
          </p:cNvPicPr>
          <p:nvPr>
            <p:ph type="pic" sz="quarter" idx="4294967295"/>
          </p:nvPr>
        </p:nvPicPr>
        <p:blipFill>
          <a:blip r:embed="rId3" cstate="email">
            <a:extLst>
              <a:ext uri="{28A0092B-C50C-407E-A947-70E740481C1C}">
                <a14:useLocalDpi xmlns:a14="http://schemas.microsoft.com/office/drawing/2010/main" val="0"/>
              </a:ext>
            </a:extLst>
          </a:blip>
          <a:srcRect l="-5373" r="-5373"/>
          <a:stretch>
            <a:fillRect/>
          </a:stretch>
        </p:blipFill>
        <p:spPr>
          <a:xfrm>
            <a:off x="0" y="1289050"/>
            <a:ext cx="4032250" cy="5256213"/>
          </a:xfrm>
        </p:spPr>
      </p:pic>
      <p:sp>
        <p:nvSpPr>
          <p:cNvPr id="6" name="Text Placeholder 13"/>
          <p:cNvSpPr>
            <a:spLocks noGrp="1"/>
          </p:cNvSpPr>
          <p:nvPr>
            <p:ph type="body" sz="quarter" idx="4294967295"/>
          </p:nvPr>
        </p:nvSpPr>
        <p:spPr>
          <a:xfrm>
            <a:off x="4948238" y="1081087"/>
            <a:ext cx="3794318" cy="4851361"/>
          </a:xfrm>
        </p:spPr>
        <p:txBody>
          <a:bodyPr/>
          <a:lstStyle/>
          <a:p>
            <a:pPr marL="0" indent="0">
              <a:buNone/>
            </a:pPr>
            <a:r>
              <a:rPr lang="en-US" sz="2400" b="1" dirty="0">
                <a:solidFill>
                  <a:schemeClr val="tx1"/>
                </a:solidFill>
              </a:rPr>
              <a:t>Which method of sliding a block of ice requires less force—</a:t>
            </a:r>
          </a:p>
          <a:p>
            <a:pPr marL="0" indent="0">
              <a:buNone/>
            </a:pPr>
            <a:r>
              <a:rPr lang="en-US" sz="2400" b="1" dirty="0">
                <a:solidFill>
                  <a:schemeClr val="tx1"/>
                </a:solidFill>
              </a:rPr>
              <a:t>pushing or  pulling at the same angle above the horizontal?</a:t>
            </a:r>
          </a:p>
          <a:p>
            <a:pPr marL="0" indent="0">
              <a:buNone/>
            </a:pPr>
            <a:r>
              <a:rPr lang="en-US" sz="2400" b="1" dirty="0">
                <a:solidFill>
                  <a:schemeClr val="tx1"/>
                </a:solidFill>
              </a:rPr>
              <a:t>Why? </a:t>
            </a:r>
          </a:p>
          <a:p>
            <a:pPr marL="0" indent="0">
              <a:buNone/>
            </a:pPr>
            <a:r>
              <a:rPr lang="en-US" sz="2400" b="1" dirty="0">
                <a:solidFill>
                  <a:schemeClr val="tx1"/>
                </a:solidFill>
              </a:rPr>
              <a:t>When mowing your grass, would it be easier to push or pull your lawn mower?</a:t>
            </a:r>
          </a:p>
        </p:txBody>
      </p:sp>
      <p:pic>
        <p:nvPicPr>
          <p:cNvPr id="7" name="Picture 6" descr="OpenStax logo">
            <a:extLst>
              <a:ext uri="{FF2B5EF4-FFF2-40B4-BE49-F238E27FC236}">
                <a16:creationId xmlns:a16="http://schemas.microsoft.com/office/drawing/2014/main" id="{02F03687-A7D0-014D-6FBC-FC2E784F3465}"/>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2727827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p:cNvSpPr>
            <a:spLocks noGrp="1"/>
          </p:cNvSpPr>
          <p:nvPr>
            <p:ph type="title" idx="4294967295"/>
          </p:nvPr>
        </p:nvSpPr>
        <p:spPr>
          <a:xfrm>
            <a:off x="406400" y="122121"/>
            <a:ext cx="8331200" cy="658813"/>
          </a:xfrm>
        </p:spPr>
        <p:txBody>
          <a:bodyPr>
            <a:normAutofit/>
          </a:bodyPr>
          <a:lstStyle/>
          <a:p>
            <a:pPr algn="ctr" fontAlgn="auto">
              <a:spcAft>
                <a:spcPts val="0"/>
              </a:spcAft>
              <a:defRPr/>
            </a:pPr>
            <a:r>
              <a:rPr lang="en-US" sz="3200" b="1" dirty="0"/>
              <a:t> </a:t>
            </a:r>
            <a:r>
              <a:rPr lang="en-US" sz="2800" b="1" dirty="0">
                <a:solidFill>
                  <a:schemeClr val="tx1"/>
                </a:solidFill>
              </a:rPr>
              <a:t>DRAG FORCES</a:t>
            </a:r>
            <a:endParaRPr lang="en-US" sz="2800" dirty="0">
              <a:solidFill>
                <a:schemeClr val="tx1"/>
              </a:solidFill>
            </a:endParaRPr>
          </a:p>
        </p:txBody>
      </p:sp>
      <p:sp>
        <p:nvSpPr>
          <p:cNvPr id="2" name="Rectangle 1"/>
          <p:cNvSpPr/>
          <p:nvPr/>
        </p:nvSpPr>
        <p:spPr>
          <a:xfrm>
            <a:off x="234175" y="1152085"/>
            <a:ext cx="8776010" cy="5119350"/>
          </a:xfrm>
          <a:prstGeom prst="rect">
            <a:avLst/>
          </a:prstGeom>
        </p:spPr>
        <p:txBody>
          <a:bodyPr wrap="square">
            <a:spAutoFit/>
          </a:bodyPr>
          <a:lstStyle/>
          <a:p>
            <a:pPr marL="0" marR="0" lvl="0" indent="0" algn="l" defTabSz="914400" rtl="0" eaLnBrk="1" fontAlgn="base" latinLnBrk="0" hangingPunct="1">
              <a:lnSpc>
                <a:spcPts val="2800"/>
              </a:lnSpc>
              <a:spcBef>
                <a:spcPct val="0"/>
              </a:spcBef>
              <a:spcAft>
                <a:spcPct val="0"/>
              </a:spcAft>
              <a:buClrTx/>
              <a:buSzTx/>
              <a:buFontTx/>
              <a:buNone/>
              <a:tabLst/>
              <a:defRPr/>
            </a:pPr>
            <a:r>
              <a:rPr kumimoji="0" lang="en-US" sz="2400" b="1" u="none" strike="noStrike" kern="1200" cap="none" spc="0" normalizeH="0" baseline="0" noProof="0" dirty="0">
                <a:ln>
                  <a:noFill/>
                </a:ln>
                <a:effectLst/>
                <a:uLnTx/>
                <a:uFillTx/>
                <a:latin typeface="Arial" charset="0"/>
                <a:ea typeface="+mn-ea"/>
              </a:rPr>
              <a:t>Drag force F</a:t>
            </a:r>
            <a:r>
              <a:rPr kumimoji="0" lang="en-US" sz="2400" b="1" u="none" strike="noStrike" kern="1200" cap="none" spc="0" normalizeH="0" baseline="-25000" noProof="0" dirty="0">
                <a:ln>
                  <a:noFill/>
                </a:ln>
                <a:effectLst/>
                <a:uLnTx/>
                <a:uFillTx/>
                <a:latin typeface="Arial" charset="0"/>
                <a:ea typeface="+mn-ea"/>
              </a:rPr>
              <a:t>D</a:t>
            </a:r>
            <a:r>
              <a:rPr kumimoji="0" lang="en-US" sz="2400" b="1" u="none" strike="noStrike" kern="1200" cap="none" spc="0" normalizeH="0" baseline="0" noProof="0" dirty="0">
                <a:ln>
                  <a:noFill/>
                </a:ln>
                <a:effectLst/>
                <a:uLnTx/>
                <a:uFillTx/>
                <a:latin typeface="Arial" charset="0"/>
                <a:ea typeface="+mn-ea"/>
              </a:rPr>
              <a:t> is found to be proportional to the square of the speed of the object</a:t>
            </a:r>
            <a:r>
              <a:rPr kumimoji="0" lang="en-US" sz="2800" b="1" u="none" strike="noStrike" kern="1200" cap="none" spc="0" normalizeH="0" baseline="0" noProof="0" dirty="0">
                <a:ln>
                  <a:noFill/>
                </a:ln>
                <a:effectLst/>
                <a:uLnTx/>
                <a:uFillTx/>
                <a:latin typeface="Arial" charset="0"/>
                <a:ea typeface="+mn-ea"/>
              </a:rPr>
              <a:t>. </a:t>
            </a:r>
            <a:br>
              <a:rPr kumimoji="0" lang="en-US" sz="2800" b="1" u="none" strike="noStrike" kern="1200" cap="none" spc="0" normalizeH="0" baseline="0" noProof="0" dirty="0">
                <a:ln>
                  <a:noFill/>
                </a:ln>
                <a:effectLst/>
                <a:uLnTx/>
                <a:uFillTx/>
                <a:latin typeface="Arial" charset="0"/>
                <a:ea typeface="+mn-ea"/>
              </a:rPr>
            </a:br>
            <a:endParaRPr kumimoji="0" lang="en-US" sz="2800" b="1" u="none" strike="noStrike" kern="1200" cap="none" spc="0" normalizeH="0" baseline="0" noProof="0" dirty="0">
              <a:ln>
                <a:noFill/>
              </a:ln>
              <a:effectLst/>
              <a:uLnTx/>
              <a:uFillTx/>
              <a:latin typeface="Arial" charset="0"/>
              <a:ea typeface="+mn-ea"/>
            </a:endParaRPr>
          </a:p>
          <a:p>
            <a:pPr marL="0" marR="0" lvl="0" indent="0" algn="ctr" defTabSz="914400" rtl="0" eaLnBrk="1" fontAlgn="base" latinLnBrk="0" hangingPunct="1">
              <a:lnSpc>
                <a:spcPts val="2800"/>
              </a:lnSpc>
              <a:spcBef>
                <a:spcPct val="0"/>
              </a:spcBef>
              <a:spcAft>
                <a:spcPct val="0"/>
              </a:spcAft>
              <a:buClrTx/>
              <a:buSzTx/>
              <a:buFontTx/>
              <a:buNone/>
              <a:tabLst/>
              <a:defRPr/>
            </a:pP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F</a:t>
            </a:r>
            <a:r>
              <a:rPr kumimoji="0" lang="en-US" sz="3200" b="1" u="none" strike="noStrike" kern="1200" cap="none" spc="0" normalizeH="0" baseline="-25000" noProof="0" dirty="0">
                <a:ln>
                  <a:noFill/>
                </a:ln>
                <a:effectLst/>
                <a:uLnTx/>
                <a:uFillTx/>
                <a:latin typeface="Cambria Math" panose="02040503050406030204" pitchFamily="18" charset="0"/>
                <a:ea typeface="Cambria Math" panose="02040503050406030204" pitchFamily="18" charset="0"/>
              </a:rPr>
              <a:t>D</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  v</a:t>
            </a:r>
            <a:r>
              <a:rPr kumimoji="0" lang="en-US" sz="3200" b="1" u="none" strike="noStrike" kern="1200" cap="none" spc="0" normalizeH="0" baseline="30000" noProof="0" dirty="0">
                <a:ln>
                  <a:noFill/>
                </a:ln>
                <a:effectLst/>
                <a:uLnTx/>
                <a:uFillTx/>
                <a:latin typeface="Cambria Math" panose="02040503050406030204" pitchFamily="18" charset="0"/>
                <a:ea typeface="Cambria Math" panose="02040503050406030204" pitchFamily="18" charset="0"/>
              </a:rPr>
              <a:t>2</a:t>
            </a:r>
            <a:br>
              <a:rPr kumimoji="0" lang="en-US" sz="3200" b="1" u="none" strike="noStrike" kern="1200" cap="none" spc="0" normalizeH="0" baseline="30000" noProof="0" dirty="0">
                <a:ln>
                  <a:noFill/>
                </a:ln>
                <a:effectLst/>
                <a:uLnTx/>
                <a:uFillTx/>
                <a:latin typeface="Arial" charset="0"/>
                <a:ea typeface="+mn-ea"/>
              </a:rPr>
            </a:br>
            <a:endParaRPr kumimoji="0" lang="en-US" sz="3200" b="1" u="none" strike="noStrike" kern="1200" cap="none" spc="0" normalizeH="0" baseline="30000" noProof="0" dirty="0">
              <a:ln>
                <a:noFill/>
              </a:ln>
              <a:effectLst/>
              <a:uLnTx/>
              <a:uFillTx/>
              <a:latin typeface="Arial" charset="0"/>
              <a:ea typeface="+mn-ea"/>
            </a:endParaRPr>
          </a:p>
          <a:p>
            <a:pPr marL="0" marR="0" lvl="0" indent="0" algn="ctr" defTabSz="914400" rtl="0" eaLnBrk="1" fontAlgn="base" latinLnBrk="0" hangingPunct="1">
              <a:lnSpc>
                <a:spcPts val="2800"/>
              </a:lnSpc>
              <a:spcBef>
                <a:spcPct val="0"/>
              </a:spcBef>
              <a:spcAft>
                <a:spcPct val="0"/>
              </a:spcAft>
              <a:buClrTx/>
              <a:buSzTx/>
              <a:buFontTx/>
              <a:buNone/>
              <a:tabLst/>
              <a:defRPr/>
            </a:pP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F</a:t>
            </a:r>
            <a:r>
              <a:rPr kumimoji="0" lang="en-US" sz="3200" b="1" u="none" strike="noStrike" kern="1200" cap="none" spc="0" normalizeH="0" baseline="-25000" noProof="0" dirty="0">
                <a:ln>
                  <a:noFill/>
                </a:ln>
                <a:effectLst/>
                <a:uLnTx/>
                <a:uFillTx/>
                <a:latin typeface="Cambria Math" panose="02040503050406030204" pitchFamily="18" charset="0"/>
                <a:ea typeface="Cambria Math" panose="02040503050406030204" pitchFamily="18" charset="0"/>
              </a:rPr>
              <a:t>D  </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cs typeface="Arial"/>
              </a:rPr>
              <a:t>½</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C</a:t>
            </a:r>
            <a:r>
              <a:rPr kumimoji="0" lang="el-GR"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ρ</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Av</a:t>
            </a:r>
            <a:r>
              <a:rPr kumimoji="0" lang="en-US" sz="3200" b="1" u="none" strike="noStrike" kern="1200" cap="none" spc="0" normalizeH="0" baseline="30000" noProof="0" dirty="0">
                <a:ln>
                  <a:noFill/>
                </a:ln>
                <a:effectLst/>
                <a:uLnTx/>
                <a:uFillTx/>
                <a:latin typeface="Cambria Math" panose="02040503050406030204" pitchFamily="18" charset="0"/>
                <a:ea typeface="Cambria Math" panose="02040503050406030204" pitchFamily="18" charset="0"/>
              </a:rPr>
              <a:t>2</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a:t>
            </a:r>
            <a:br>
              <a:rPr kumimoji="0" lang="en-US" sz="2800" b="1" u="none" strike="noStrike" kern="1200" cap="none" spc="0" normalizeH="0" baseline="0" noProof="0" dirty="0">
                <a:ln>
                  <a:noFill/>
                </a:ln>
                <a:effectLst/>
                <a:uLnTx/>
                <a:uFillTx/>
                <a:latin typeface="Arial" charset="0"/>
                <a:ea typeface="+mn-ea"/>
              </a:rPr>
            </a:br>
            <a:endParaRPr kumimoji="0" lang="en-US" sz="2800" b="1" u="none" strike="noStrike" kern="1200" cap="none" spc="0" normalizeH="0" baseline="0" noProof="0" dirty="0">
              <a:ln>
                <a:noFill/>
              </a:ln>
              <a:effectLst/>
              <a:uLnTx/>
              <a:uFillTx/>
              <a:latin typeface="Arial" charset="0"/>
              <a:ea typeface="+mn-ea"/>
            </a:endParaRPr>
          </a:p>
          <a:p>
            <a:pPr marL="0" marR="0" lvl="0" indent="0" algn="l" defTabSz="914400" rtl="0" eaLnBrk="1" fontAlgn="base" latinLnBrk="0" hangingPunct="1">
              <a:lnSpc>
                <a:spcPts val="2800"/>
              </a:lnSpc>
              <a:spcBef>
                <a:spcPct val="0"/>
              </a:spcBef>
              <a:spcAft>
                <a:spcPct val="0"/>
              </a:spcAft>
              <a:buClrTx/>
              <a:buSzTx/>
              <a:buFontTx/>
              <a:buNone/>
              <a:tabLst/>
              <a:defRPr/>
            </a:pPr>
            <a:r>
              <a:rPr kumimoji="0" lang="en-US" sz="2400" b="1" u="none" strike="noStrike" kern="1200" cap="none" spc="0" normalizeH="0" baseline="0" noProof="0" dirty="0">
                <a:ln>
                  <a:noFill/>
                </a:ln>
                <a:effectLst/>
                <a:uLnTx/>
                <a:uFillTx/>
                <a:latin typeface="Arial" charset="0"/>
                <a:ea typeface="+mn-ea"/>
              </a:rPr>
              <a:t>where C is the drag coefficient, A is the area of the object facing the fluid, and ρ is the density of the fluid.</a:t>
            </a:r>
            <a:br>
              <a:rPr kumimoji="0" lang="en-US" sz="2400" b="1" u="none" strike="noStrike" kern="1200" cap="none" spc="0" normalizeH="0" baseline="0" noProof="0" dirty="0">
                <a:ln>
                  <a:noFill/>
                </a:ln>
                <a:effectLst/>
                <a:uLnTx/>
                <a:uFillTx/>
                <a:latin typeface="Arial" charset="0"/>
                <a:ea typeface="+mn-ea"/>
              </a:rPr>
            </a:br>
            <a:br>
              <a:rPr kumimoji="0" lang="en-US" sz="2800" b="1" u="none" strike="noStrike" kern="1200" cap="none" spc="0" normalizeH="0" baseline="0" noProof="0" dirty="0">
                <a:ln>
                  <a:noFill/>
                </a:ln>
                <a:effectLst/>
                <a:uLnTx/>
                <a:uFillTx/>
                <a:latin typeface="Arial" charset="0"/>
                <a:ea typeface="+mn-ea"/>
              </a:rPr>
            </a:br>
            <a:r>
              <a:rPr kumimoji="0" lang="en-US" sz="2400" b="1" u="none" strike="noStrike" kern="1200" cap="none" spc="0" normalizeH="0" baseline="0" noProof="0" dirty="0">
                <a:ln>
                  <a:noFill/>
                </a:ln>
                <a:effectLst/>
                <a:uLnTx/>
                <a:uFillTx/>
                <a:latin typeface="Arial" charset="0"/>
                <a:ea typeface="+mn-ea"/>
              </a:rPr>
              <a:t>Note: F</a:t>
            </a:r>
            <a:r>
              <a:rPr kumimoji="0" lang="en-US" sz="2400" b="1" u="none" strike="noStrike" kern="1200" cap="none" spc="0" normalizeH="0" baseline="-25000" noProof="0" dirty="0">
                <a:ln>
                  <a:noFill/>
                </a:ln>
                <a:effectLst/>
                <a:uLnTx/>
                <a:uFillTx/>
                <a:latin typeface="Arial" charset="0"/>
                <a:ea typeface="+mn-ea"/>
              </a:rPr>
              <a:t>D</a:t>
            </a:r>
            <a:r>
              <a:rPr kumimoji="0" lang="en-US" sz="2400" b="1" u="none" strike="noStrike" kern="1200" cap="none" spc="0" normalizeH="0" baseline="0" noProof="0" dirty="0">
                <a:ln>
                  <a:noFill/>
                </a:ln>
                <a:effectLst/>
                <a:uLnTx/>
                <a:uFillTx/>
                <a:latin typeface="Arial" charset="0"/>
                <a:ea typeface="+mn-ea"/>
              </a:rPr>
              <a:t>∝ v for small, slow objects, or in a dense medium (</a:t>
            </a:r>
            <a:r>
              <a:rPr kumimoji="0" lang="en-US" sz="2400" b="1" u="none" strike="noStrike" kern="1200" cap="none" spc="0" normalizeH="0" baseline="0" noProof="0" dirty="0" err="1">
                <a:ln>
                  <a:noFill/>
                </a:ln>
                <a:effectLst/>
                <a:uLnTx/>
                <a:uFillTx/>
                <a:latin typeface="Arial" charset="0"/>
                <a:ea typeface="+mn-ea"/>
              </a:rPr>
              <a:t>Stoke’s</a:t>
            </a:r>
            <a:r>
              <a:rPr kumimoji="0" lang="en-US" sz="2400" b="1" u="none" strike="noStrike" kern="1200" cap="none" spc="0" normalizeH="0" baseline="0" noProof="0" dirty="0">
                <a:ln>
                  <a:noFill/>
                </a:ln>
                <a:effectLst/>
                <a:uLnTx/>
                <a:uFillTx/>
                <a:latin typeface="Arial" charset="0"/>
                <a:ea typeface="+mn-ea"/>
              </a:rPr>
              <a:t> Law</a:t>
            </a:r>
            <a:r>
              <a:rPr kumimoji="0" lang="en-US" sz="2400" b="0" i="0" u="none" strike="noStrike" kern="1200" cap="none" spc="0" normalizeH="0" baseline="0" noProof="0" dirty="0">
                <a:ln>
                  <a:noFill/>
                </a:ln>
                <a:solidFill>
                  <a:srgbClr val="7030A0"/>
                </a:solidFill>
                <a:effectLst/>
                <a:uLnTx/>
                <a:uFillTx/>
                <a:latin typeface="Arial" charset="0"/>
                <a:ea typeface="+mn-ea"/>
                <a:cs typeface="+mn-cs"/>
              </a:rPr>
              <a:t>)</a:t>
            </a:r>
          </a:p>
          <a:p>
            <a:pPr marL="0" marR="0" lvl="0" indent="0" algn="l" defTabSz="914400" rtl="0" eaLnBrk="1" fontAlgn="base" latinLnBrk="0" hangingPunct="1">
              <a:lnSpc>
                <a:spcPts val="28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7030A0"/>
              </a:solidFill>
              <a:effectLst/>
              <a:uLnTx/>
              <a:uFillTx/>
              <a:latin typeface="Arial" charset="0"/>
              <a:ea typeface="+mn-ea"/>
              <a:cs typeface="+mn-cs"/>
            </a:endParaRPr>
          </a:p>
          <a:p>
            <a:pPr marL="0" marR="0" lvl="0" indent="0" algn="l" defTabSz="914400" rtl="0" eaLnBrk="1" fontAlgn="base" latinLnBrk="0" hangingPunct="1">
              <a:lnSpc>
                <a:spcPts val="28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FF"/>
                </a:solidFill>
                <a:effectLst/>
                <a:uLnTx/>
                <a:uFillTx/>
                <a:latin typeface="Arial" charset="0"/>
                <a:ea typeface="+mn-ea"/>
                <a:cs typeface="+mn-cs"/>
                <a:hlinkClick r:id="rId3">
                  <a:extLst>
                    <a:ext uri="{A12FA001-AC4F-418D-AE19-62706E023703}">
                      <ahyp:hlinkClr xmlns:ahyp="http://schemas.microsoft.com/office/drawing/2018/hyperlinkcolor" val="tx"/>
                    </a:ext>
                  </a:extLst>
                </a:hlinkClick>
              </a:rPr>
              <a:t> </a:t>
            </a:r>
            <a:r>
              <a:rPr kumimoji="0" lang="en-US" sz="2800" b="1" i="0" u="none" strike="noStrike" kern="1200" cap="none" spc="0" normalizeH="0" baseline="0" noProof="0" dirty="0">
                <a:ln>
                  <a:noFill/>
                </a:ln>
                <a:solidFill>
                  <a:srgbClr val="0000FF"/>
                </a:solidFill>
                <a:effectLst/>
                <a:uLnTx/>
                <a:uFillTx/>
                <a:latin typeface="Arial" charset="0"/>
                <a:ea typeface="+mn-ea"/>
                <a:cs typeface="+mn-cs"/>
                <a:hlinkClick r:id="rId3">
                  <a:extLst>
                    <a:ext uri="{A12FA001-AC4F-418D-AE19-62706E023703}">
                      <ahyp:hlinkClr xmlns:ahyp="http://schemas.microsoft.com/office/drawing/2018/hyperlinkcolor" val="tx"/>
                    </a:ext>
                  </a:extLst>
                </a:hlinkClick>
              </a:rPr>
              <a:t>Drag Force and Terminal Velocity Video</a:t>
            </a:r>
            <a:endParaRPr kumimoji="0" lang="en-US" sz="2800" b="1" i="0" u="none" strike="noStrike" kern="1200" cap="none" spc="0" normalizeH="0" baseline="0" noProof="0" dirty="0">
              <a:ln>
                <a:noFill/>
              </a:ln>
              <a:solidFill>
                <a:srgbClr val="0000FF"/>
              </a:solidFill>
              <a:effectLst/>
              <a:uLnTx/>
              <a:uFillTx/>
              <a:latin typeface="Arial" charset="0"/>
              <a:ea typeface="+mn-ea"/>
              <a:cs typeface="+mn-cs"/>
            </a:endParaRPr>
          </a:p>
        </p:txBody>
      </p:sp>
      <p:pic>
        <p:nvPicPr>
          <p:cNvPr id="4" name="Picture 3" descr="OpenStax logo">
            <a:extLst>
              <a:ext uri="{FF2B5EF4-FFF2-40B4-BE49-F238E27FC236}">
                <a16:creationId xmlns:a16="http://schemas.microsoft.com/office/drawing/2014/main" id="{5398B1D1-0815-4320-CD08-78DBFA6667B8}"/>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838296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ctr"/>
            <a:r>
              <a:rPr lang="en-US" sz="2800" b="1" kern="1200" dirty="0">
                <a:solidFill>
                  <a:srgbClr val="000000">
                    <a:lumMod val="50000"/>
                  </a:srgbClr>
                </a:solidFill>
              </a:rPr>
              <a:t>FALLING OBJECT WITH AIR RESISTANCE</a:t>
            </a:r>
            <a:endParaRPr lang="en-US" sz="2800" dirty="0">
              <a:solidFill>
                <a:srgbClr val="6CB255"/>
              </a:solidFill>
            </a:endParaRPr>
          </a:p>
        </p:txBody>
      </p:sp>
      <p:pic>
        <p:nvPicPr>
          <p:cNvPr id="2" name="Picture Placeholder 1" descr="The free body diagram shows forces m times vector g pointing vertically down and b times vector v pointing vertically up. The velocity, vector v, is vertically down. The positive y direction is also vertically down."/>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5058" b="-25058"/>
          <a:stretch>
            <a:fillRect/>
          </a:stretch>
        </p:blipFill>
        <p:spPr>
          <a:xfrm>
            <a:off x="457200" y="1108075"/>
            <a:ext cx="4032250" cy="5256213"/>
          </a:xfrm>
        </p:spPr>
      </p:pic>
      <p:sp>
        <p:nvSpPr>
          <p:cNvPr id="14" name="Text Placeholder 13"/>
          <p:cNvSpPr>
            <a:spLocks noGrp="1"/>
          </p:cNvSpPr>
          <p:nvPr>
            <p:ph type="body" sz="quarter" idx="14"/>
          </p:nvPr>
        </p:nvSpPr>
        <p:spPr>
          <a:xfrm>
            <a:off x="4943706" y="1600164"/>
            <a:ext cx="3624033" cy="3626041"/>
          </a:xfrm>
        </p:spPr>
        <p:txBody>
          <a:bodyPr>
            <a:noAutofit/>
          </a:bodyPr>
          <a:lstStyle/>
          <a:p>
            <a:r>
              <a:rPr lang="en-US" sz="2400" b="1" dirty="0">
                <a:solidFill>
                  <a:srgbClr val="000000"/>
                </a:solidFill>
              </a:rPr>
              <a:t>Free-body diagram of an object falling through a resistive medium.</a:t>
            </a:r>
          </a:p>
          <a:p>
            <a:r>
              <a:rPr kumimoji="0" lang="en-US" sz="2400" b="1" u="none" strike="noStrike" kern="1200" cap="none" spc="0" normalizeH="0" baseline="0" noProof="0" dirty="0">
                <a:ln>
                  <a:noFill/>
                </a:ln>
                <a:solidFill>
                  <a:srgbClr val="000000">
                    <a:lumMod val="50000"/>
                  </a:srgbClr>
                </a:solidFill>
                <a:effectLst/>
                <a:uLnTx/>
                <a:uFillTx/>
                <a:latin typeface="Arial" charset="0"/>
                <a:ea typeface="+mn-ea"/>
                <a:cs typeface="+mn-cs"/>
                <a:hlinkClick r:id="rId3"/>
              </a:rPr>
              <a:t>Terminal Velocity V2: Physics Concept Trailer Video</a:t>
            </a:r>
            <a:endParaRPr kumimoji="0" lang="en-US" sz="2400" b="1" u="none" strike="noStrike" kern="1200" cap="none" spc="0" normalizeH="0" baseline="0" noProof="0" dirty="0">
              <a:ln>
                <a:noFill/>
              </a:ln>
              <a:solidFill>
                <a:srgbClr val="000000">
                  <a:lumMod val="50000"/>
                </a:srgbClr>
              </a:solidFill>
              <a:effectLst/>
              <a:uLnTx/>
              <a:uFillTx/>
              <a:latin typeface="Arial" charset="0"/>
              <a:ea typeface="+mn-ea"/>
              <a:cs typeface="+mn-cs"/>
            </a:endParaRPr>
          </a:p>
        </p:txBody>
      </p:sp>
      <p:pic>
        <p:nvPicPr>
          <p:cNvPr id="6" name="Picture 5" descr="OpenStax logo">
            <a:extLst>
              <a:ext uri="{FF2B5EF4-FFF2-40B4-BE49-F238E27FC236}">
                <a16:creationId xmlns:a16="http://schemas.microsoft.com/office/drawing/2014/main" id="{7AD0DD9E-82B1-DB74-08D4-D562EE8B385A}"/>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3241005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86370" name="Picture 2" descr="ag00362_"/>
          <p:cNvPicPr>
            <a:picLocks noChangeAspect="1" noChangeArrowheads="1" noCrop="1"/>
          </p:cNvPicPr>
          <p:nvPr/>
        </p:nvPicPr>
        <p:blipFill>
          <a:blip r:embed="rId3" cstate="print"/>
          <a:srcRect/>
          <a:stretch>
            <a:fillRect/>
          </a:stretch>
        </p:blipFill>
        <p:spPr bwMode="auto">
          <a:xfrm>
            <a:off x="233363" y="5608638"/>
            <a:ext cx="695325" cy="639762"/>
          </a:xfrm>
          <a:prstGeom prst="rect">
            <a:avLst/>
          </a:prstGeom>
          <a:noFill/>
          <a:ln w="9525">
            <a:noFill/>
            <a:miter lim="800000"/>
            <a:headEnd/>
            <a:tailEnd/>
          </a:ln>
        </p:spPr>
      </p:pic>
      <p:pic>
        <p:nvPicPr>
          <p:cNvPr id="186371" name="Picture 3" descr="ag00362_"/>
          <p:cNvPicPr>
            <a:picLocks noChangeAspect="1" noChangeArrowheads="1" noCrop="1"/>
          </p:cNvPicPr>
          <p:nvPr/>
        </p:nvPicPr>
        <p:blipFill>
          <a:blip r:embed="rId3" cstate="print"/>
          <a:srcRect/>
          <a:stretch>
            <a:fillRect/>
          </a:stretch>
        </p:blipFill>
        <p:spPr bwMode="auto">
          <a:xfrm>
            <a:off x="233363" y="2560638"/>
            <a:ext cx="695325" cy="639762"/>
          </a:xfrm>
          <a:prstGeom prst="rect">
            <a:avLst/>
          </a:prstGeom>
          <a:noFill/>
          <a:ln w="9525">
            <a:noFill/>
            <a:miter lim="800000"/>
            <a:headEnd/>
            <a:tailEnd/>
          </a:ln>
        </p:spPr>
      </p:pic>
      <p:pic>
        <p:nvPicPr>
          <p:cNvPr id="186372" name="Picture 4" descr="ag00362_"/>
          <p:cNvPicPr>
            <a:picLocks noChangeAspect="1" noChangeArrowheads="1" noCrop="1"/>
          </p:cNvPicPr>
          <p:nvPr/>
        </p:nvPicPr>
        <p:blipFill>
          <a:blip r:embed="rId3" cstate="print"/>
          <a:srcRect/>
          <a:stretch>
            <a:fillRect/>
          </a:stretch>
        </p:blipFill>
        <p:spPr bwMode="auto">
          <a:xfrm>
            <a:off x="233363" y="1371600"/>
            <a:ext cx="695325" cy="639763"/>
          </a:xfrm>
          <a:prstGeom prst="rect">
            <a:avLst/>
          </a:prstGeom>
          <a:noFill/>
          <a:ln w="9525">
            <a:noFill/>
            <a:miter lim="800000"/>
            <a:headEnd/>
            <a:tailEnd/>
          </a:ln>
        </p:spPr>
      </p:pic>
      <p:sp>
        <p:nvSpPr>
          <p:cNvPr id="186373" name="AutoShape 5" descr="Terminal Velocity"/>
          <p:cNvSpPr>
            <a:spLocks noChangeArrowheads="1"/>
          </p:cNvSpPr>
          <p:nvPr/>
        </p:nvSpPr>
        <p:spPr bwMode="auto">
          <a:xfrm>
            <a:off x="501650" y="1778000"/>
            <a:ext cx="136525" cy="685800"/>
          </a:xfrm>
          <a:prstGeom prst="downArrow">
            <a:avLst>
              <a:gd name="adj1" fmla="val 50000"/>
              <a:gd name="adj2" fmla="val 12558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74" name="AutoShape 6" descr="Terminal Velocity"/>
          <p:cNvSpPr>
            <a:spLocks noChangeArrowheads="1"/>
          </p:cNvSpPr>
          <p:nvPr/>
        </p:nvSpPr>
        <p:spPr bwMode="auto">
          <a:xfrm>
            <a:off x="501650" y="2971800"/>
            <a:ext cx="136525" cy="685800"/>
          </a:xfrm>
          <a:prstGeom prst="downArrow">
            <a:avLst>
              <a:gd name="adj1" fmla="val 50000"/>
              <a:gd name="adj2" fmla="val 12558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75" name="AutoShape 7" descr="Terminal Velocity"/>
          <p:cNvSpPr>
            <a:spLocks noChangeArrowheads="1"/>
          </p:cNvSpPr>
          <p:nvPr/>
        </p:nvSpPr>
        <p:spPr bwMode="auto">
          <a:xfrm>
            <a:off x="501650" y="6019800"/>
            <a:ext cx="136525" cy="685800"/>
          </a:xfrm>
          <a:prstGeom prst="downArrow">
            <a:avLst>
              <a:gd name="adj1" fmla="val 50000"/>
              <a:gd name="adj2" fmla="val 12558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76" name="AutoShape 8" descr="Terminal Velocity"/>
          <p:cNvSpPr>
            <a:spLocks noChangeArrowheads="1"/>
          </p:cNvSpPr>
          <p:nvPr/>
        </p:nvSpPr>
        <p:spPr bwMode="auto">
          <a:xfrm flipV="1">
            <a:off x="501650" y="5257800"/>
            <a:ext cx="136525" cy="685800"/>
          </a:xfrm>
          <a:prstGeom prst="downArrow">
            <a:avLst>
              <a:gd name="adj1" fmla="val 50000"/>
              <a:gd name="adj2" fmla="val 12558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77" name="Rectangle 9"/>
          <p:cNvSpPr>
            <a:spLocks noGrp="1" noChangeArrowheads="1"/>
          </p:cNvSpPr>
          <p:nvPr>
            <p:ph type="title" idx="4294967295"/>
          </p:nvPr>
        </p:nvSpPr>
        <p:spPr>
          <a:xfrm>
            <a:off x="255588" y="61912"/>
            <a:ext cx="7791450" cy="921029"/>
          </a:xfrm>
        </p:spPr>
        <p:txBody>
          <a:bodyPr>
            <a:noAutofit/>
          </a:bodyPr>
          <a:lstStyle/>
          <a:p>
            <a:pPr algn="ctr"/>
            <a:r>
              <a:rPr lang="en-US" sz="2800" b="1" dirty="0">
                <a:solidFill>
                  <a:schemeClr val="tx1"/>
                </a:solidFill>
              </a:rPr>
              <a:t>TERMINAL VELOCITY</a:t>
            </a:r>
            <a:br>
              <a:rPr lang="en-US" sz="2800" b="1" dirty="0">
                <a:solidFill>
                  <a:schemeClr val="tx1"/>
                </a:solidFill>
              </a:rPr>
            </a:br>
            <a:r>
              <a:rPr lang="en-US" sz="2800" b="1" dirty="0">
                <a:solidFill>
                  <a:schemeClr val="tx1"/>
                </a:solidFill>
              </a:rPr>
              <a:t>(Use slide show mode)</a:t>
            </a:r>
          </a:p>
        </p:txBody>
      </p:sp>
      <p:sp>
        <p:nvSpPr>
          <p:cNvPr id="186378" name="Text Box 10"/>
          <p:cNvSpPr txBox="1">
            <a:spLocks noChangeArrowheads="1"/>
          </p:cNvSpPr>
          <p:nvPr/>
        </p:nvSpPr>
        <p:spPr bwMode="auto">
          <a:xfrm>
            <a:off x="2757488" y="1611313"/>
            <a:ext cx="2195512"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3300"/>
                </a:solidFill>
                <a:effectLst/>
                <a:uLnTx/>
                <a:uFillTx/>
                <a:latin typeface="Frog" pitchFamily="2" charset="0"/>
                <a:ea typeface="+mn-ea"/>
                <a:cs typeface="+mn-cs"/>
              </a:rPr>
              <a:t>Acceleration = g</a:t>
            </a:r>
          </a:p>
        </p:txBody>
      </p:sp>
      <p:sp>
        <p:nvSpPr>
          <p:cNvPr id="186379" name="Text Box 11"/>
          <p:cNvSpPr txBox="1">
            <a:spLocks noChangeArrowheads="1"/>
          </p:cNvSpPr>
          <p:nvPr/>
        </p:nvSpPr>
        <p:spPr bwMode="auto">
          <a:xfrm>
            <a:off x="2586038" y="2830513"/>
            <a:ext cx="2549525"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3300"/>
                </a:solidFill>
                <a:effectLst/>
                <a:uLnTx/>
                <a:uFillTx/>
                <a:latin typeface="Frog" pitchFamily="2" charset="0"/>
                <a:ea typeface="+mn-ea"/>
                <a:cs typeface="+mn-cs"/>
              </a:rPr>
              <a:t>0&lt;Acceleration &lt; g</a:t>
            </a:r>
          </a:p>
        </p:txBody>
      </p:sp>
      <p:sp>
        <p:nvSpPr>
          <p:cNvPr id="186380" name="Text Box 12"/>
          <p:cNvSpPr txBox="1">
            <a:spLocks noChangeArrowheads="1"/>
          </p:cNvSpPr>
          <p:nvPr/>
        </p:nvSpPr>
        <p:spPr bwMode="auto">
          <a:xfrm>
            <a:off x="2514600" y="4205288"/>
            <a:ext cx="2693988"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3300"/>
                </a:solidFill>
                <a:effectLst/>
                <a:uLnTx/>
                <a:uFillTx/>
                <a:latin typeface="Frog" pitchFamily="2" charset="0"/>
                <a:ea typeface="+mn-ea"/>
                <a:cs typeface="+mn-cs"/>
              </a:rPr>
              <a:t>0&lt;Acceleration &lt;&lt; g</a:t>
            </a:r>
          </a:p>
        </p:txBody>
      </p:sp>
      <p:sp>
        <p:nvSpPr>
          <p:cNvPr id="186381" name="Text Box 13"/>
          <p:cNvSpPr txBox="1">
            <a:spLocks noChangeArrowheads="1"/>
          </p:cNvSpPr>
          <p:nvPr/>
        </p:nvSpPr>
        <p:spPr bwMode="auto">
          <a:xfrm>
            <a:off x="2728913" y="5878513"/>
            <a:ext cx="2265362"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FF3300"/>
                </a:solidFill>
                <a:effectLst/>
                <a:uLnTx/>
                <a:uFillTx/>
                <a:latin typeface="Frog" pitchFamily="2" charset="0"/>
                <a:ea typeface="+mn-ea"/>
                <a:cs typeface="+mn-cs"/>
              </a:rPr>
              <a:t>Acceleration = 0</a:t>
            </a:r>
          </a:p>
        </p:txBody>
      </p:sp>
      <p:sp>
        <p:nvSpPr>
          <p:cNvPr id="186382" name="Text Box 14"/>
          <p:cNvSpPr txBox="1">
            <a:spLocks noChangeArrowheads="1"/>
          </p:cNvSpPr>
          <p:nvPr/>
        </p:nvSpPr>
        <p:spPr bwMode="auto">
          <a:xfrm>
            <a:off x="5486400" y="1627188"/>
            <a:ext cx="3657600" cy="641350"/>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366FF"/>
                </a:solidFill>
                <a:effectLst/>
                <a:uLnTx/>
                <a:uFillTx/>
                <a:latin typeface="Frog" pitchFamily="2" charset="0"/>
                <a:ea typeface="+mn-ea"/>
                <a:cs typeface="+mn-cs"/>
              </a:rPr>
              <a:t>Velocity = 0</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366FF"/>
                </a:solidFill>
                <a:effectLst/>
                <a:uLnTx/>
                <a:uFillTx/>
                <a:latin typeface="Frog" pitchFamily="2" charset="0"/>
                <a:ea typeface="+mn-ea"/>
                <a:cs typeface="+mn-cs"/>
              </a:rPr>
              <a:t>but motion is about to begin</a:t>
            </a:r>
          </a:p>
        </p:txBody>
      </p:sp>
      <p:sp>
        <p:nvSpPr>
          <p:cNvPr id="186383" name="Text Box 15"/>
          <p:cNvSpPr txBox="1">
            <a:spLocks noChangeArrowheads="1"/>
          </p:cNvSpPr>
          <p:nvPr/>
        </p:nvSpPr>
        <p:spPr bwMode="auto">
          <a:xfrm>
            <a:off x="5486400" y="2830513"/>
            <a:ext cx="2944813"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366FF"/>
                </a:solidFill>
                <a:effectLst/>
                <a:uLnTx/>
                <a:uFillTx/>
                <a:latin typeface="Frog" pitchFamily="2" charset="0"/>
                <a:ea typeface="+mn-ea"/>
                <a:cs typeface="+mn-cs"/>
              </a:rPr>
              <a:t>v increasing downward</a:t>
            </a:r>
          </a:p>
        </p:txBody>
      </p:sp>
      <p:sp>
        <p:nvSpPr>
          <p:cNvPr id="186384" name="Text Box 16"/>
          <p:cNvSpPr txBox="1">
            <a:spLocks noChangeArrowheads="1"/>
          </p:cNvSpPr>
          <p:nvPr/>
        </p:nvSpPr>
        <p:spPr bwMode="auto">
          <a:xfrm>
            <a:off x="5486400" y="4202113"/>
            <a:ext cx="3584575" cy="641350"/>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366FF"/>
                </a:solidFill>
                <a:effectLst/>
                <a:uLnTx/>
                <a:uFillTx/>
                <a:latin typeface="Frog" pitchFamily="2" charset="0"/>
                <a:ea typeface="+mn-ea"/>
                <a:cs typeface="+mn-cs"/>
              </a:rPr>
              <a:t>v still increasing downward</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366FF"/>
                </a:solidFill>
                <a:effectLst/>
                <a:uLnTx/>
                <a:uFillTx/>
                <a:latin typeface="Frog" pitchFamily="2" charset="0"/>
                <a:ea typeface="+mn-ea"/>
                <a:cs typeface="+mn-cs"/>
              </a:rPr>
              <a:t>just not as rapidly as before</a:t>
            </a:r>
          </a:p>
        </p:txBody>
      </p:sp>
      <p:sp>
        <p:nvSpPr>
          <p:cNvPr id="186385" name="Text Box 17"/>
          <p:cNvSpPr txBox="1">
            <a:spLocks noChangeArrowheads="1"/>
          </p:cNvSpPr>
          <p:nvPr/>
        </p:nvSpPr>
        <p:spPr bwMode="auto">
          <a:xfrm>
            <a:off x="5486400" y="5878513"/>
            <a:ext cx="2274888" cy="366712"/>
          </a:xfrm>
          <a:prstGeom prst="rect">
            <a:avLst/>
          </a:prstGeom>
          <a:noFill/>
          <a:ln w="9525">
            <a:noFill/>
            <a:miter lim="800000"/>
            <a:headEnd/>
            <a:tailEnd/>
          </a:ln>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3366FF"/>
                </a:solidFill>
                <a:effectLst/>
                <a:uLnTx/>
                <a:uFillTx/>
                <a:latin typeface="Frog" pitchFamily="2" charset="0"/>
                <a:ea typeface="+mn-ea"/>
                <a:cs typeface="+mn-cs"/>
              </a:rPr>
              <a:t>Terminal velocity</a:t>
            </a:r>
          </a:p>
        </p:txBody>
      </p:sp>
      <p:sp>
        <p:nvSpPr>
          <p:cNvPr id="186386" name="AutoShape 18" descr="Terminal Velocity"/>
          <p:cNvSpPr>
            <a:spLocks noChangeArrowheads="1"/>
          </p:cNvSpPr>
          <p:nvPr/>
        </p:nvSpPr>
        <p:spPr bwMode="auto">
          <a:xfrm>
            <a:off x="1773238" y="1752600"/>
            <a:ext cx="136525" cy="685800"/>
          </a:xfrm>
          <a:prstGeom prst="downArrow">
            <a:avLst>
              <a:gd name="adj1" fmla="val 50000"/>
              <a:gd name="adj2" fmla="val 12558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87" name="AutoShape 19" descr="Terminal Velocity"/>
          <p:cNvSpPr>
            <a:spLocks noChangeArrowheads="1"/>
          </p:cNvSpPr>
          <p:nvPr/>
        </p:nvSpPr>
        <p:spPr bwMode="auto">
          <a:xfrm>
            <a:off x="1773238" y="2971800"/>
            <a:ext cx="136525" cy="457200"/>
          </a:xfrm>
          <a:prstGeom prst="downArrow">
            <a:avLst>
              <a:gd name="adj1" fmla="val 50000"/>
              <a:gd name="adj2" fmla="val 8372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88" name="AutoShape 20" descr="Terminal Velocity"/>
          <p:cNvSpPr>
            <a:spLocks noChangeArrowheads="1"/>
          </p:cNvSpPr>
          <p:nvPr/>
        </p:nvSpPr>
        <p:spPr bwMode="auto">
          <a:xfrm>
            <a:off x="1773238" y="4343400"/>
            <a:ext cx="136525" cy="228600"/>
          </a:xfrm>
          <a:prstGeom prst="downArrow">
            <a:avLst>
              <a:gd name="adj1" fmla="val 50000"/>
              <a:gd name="adj2" fmla="val 41860"/>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89" name="AutoShape 21" descr="Terminal Velocity"/>
          <p:cNvSpPr>
            <a:spLocks noChangeArrowheads="1"/>
          </p:cNvSpPr>
          <p:nvPr/>
        </p:nvSpPr>
        <p:spPr bwMode="auto">
          <a:xfrm flipV="1">
            <a:off x="501650" y="2692400"/>
            <a:ext cx="136525" cy="228600"/>
          </a:xfrm>
          <a:prstGeom prst="downArrow">
            <a:avLst>
              <a:gd name="adj1" fmla="val 50000"/>
              <a:gd name="adj2" fmla="val 41860"/>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pic>
        <p:nvPicPr>
          <p:cNvPr id="186390" name="Picture 22" descr="ag00362_"/>
          <p:cNvPicPr>
            <a:picLocks noChangeAspect="1" noChangeArrowheads="1" noCrop="1"/>
          </p:cNvPicPr>
          <p:nvPr/>
        </p:nvPicPr>
        <p:blipFill>
          <a:blip r:embed="rId3" cstate="print"/>
          <a:srcRect/>
          <a:stretch>
            <a:fillRect/>
          </a:stretch>
        </p:blipFill>
        <p:spPr bwMode="auto">
          <a:xfrm>
            <a:off x="255588" y="3944938"/>
            <a:ext cx="695325" cy="639762"/>
          </a:xfrm>
          <a:prstGeom prst="rect">
            <a:avLst/>
          </a:prstGeom>
          <a:noFill/>
          <a:ln w="9525">
            <a:noFill/>
            <a:miter lim="800000"/>
            <a:headEnd/>
            <a:tailEnd/>
          </a:ln>
        </p:spPr>
      </p:pic>
      <p:sp>
        <p:nvSpPr>
          <p:cNvPr id="186391" name="AutoShape 23" descr="Terminal Velocity"/>
          <p:cNvSpPr>
            <a:spLocks noChangeArrowheads="1"/>
          </p:cNvSpPr>
          <p:nvPr/>
        </p:nvSpPr>
        <p:spPr bwMode="auto">
          <a:xfrm>
            <a:off x="501650" y="4343400"/>
            <a:ext cx="136525" cy="685800"/>
          </a:xfrm>
          <a:prstGeom prst="downArrow">
            <a:avLst>
              <a:gd name="adj1" fmla="val 50000"/>
              <a:gd name="adj2" fmla="val 12558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92" name="AutoShape 24" descr="Terminal Velocity"/>
          <p:cNvSpPr>
            <a:spLocks noChangeArrowheads="1"/>
          </p:cNvSpPr>
          <p:nvPr/>
        </p:nvSpPr>
        <p:spPr bwMode="auto">
          <a:xfrm flipV="1">
            <a:off x="501650" y="3822700"/>
            <a:ext cx="136525" cy="457200"/>
          </a:xfrm>
          <a:prstGeom prst="downArrow">
            <a:avLst>
              <a:gd name="adj1" fmla="val 50000"/>
              <a:gd name="adj2" fmla="val 83721"/>
            </a:avLst>
          </a:prstGeom>
          <a:solidFill>
            <a:srgbClr val="000000"/>
          </a:solidFill>
          <a:ln w="9525">
            <a:solidFill>
              <a:schemeClr val="bg2"/>
            </a:solidFill>
            <a:miter lim="800000"/>
            <a:headEnd/>
            <a:tailEnd/>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Comic Sans MS" pitchFamily="66" charset="0"/>
              <a:ea typeface="+mn-ea"/>
              <a:cs typeface="+mn-cs"/>
            </a:endParaRPr>
          </a:p>
        </p:txBody>
      </p:sp>
      <p:sp>
        <p:nvSpPr>
          <p:cNvPr id="186393" name="Text Box 25"/>
          <p:cNvSpPr txBox="1">
            <a:spLocks noChangeArrowheads="1"/>
          </p:cNvSpPr>
          <p:nvPr/>
        </p:nvSpPr>
        <p:spPr bwMode="auto">
          <a:xfrm>
            <a:off x="696913" y="2220913"/>
            <a:ext cx="555625" cy="366712"/>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9900"/>
                </a:solidFill>
                <a:effectLst/>
                <a:uLnTx/>
                <a:uFillTx/>
                <a:latin typeface="Frog" pitchFamily="2" charset="0"/>
                <a:ea typeface="+mn-ea"/>
                <a:cs typeface="+mn-cs"/>
              </a:rPr>
              <a:t>mg</a:t>
            </a:r>
          </a:p>
        </p:txBody>
      </p:sp>
      <p:sp>
        <p:nvSpPr>
          <p:cNvPr id="186394" name="Text Box 26"/>
          <p:cNvSpPr txBox="1">
            <a:spLocks noChangeArrowheads="1"/>
          </p:cNvSpPr>
          <p:nvPr/>
        </p:nvSpPr>
        <p:spPr bwMode="auto">
          <a:xfrm>
            <a:off x="690563" y="3389313"/>
            <a:ext cx="555625" cy="366712"/>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9900"/>
                </a:solidFill>
                <a:effectLst/>
                <a:uLnTx/>
                <a:uFillTx/>
                <a:latin typeface="Frog" pitchFamily="2" charset="0"/>
                <a:ea typeface="+mn-ea"/>
                <a:cs typeface="+mn-cs"/>
              </a:rPr>
              <a:t>mg</a:t>
            </a:r>
          </a:p>
        </p:txBody>
      </p:sp>
      <p:sp>
        <p:nvSpPr>
          <p:cNvPr id="186395" name="Text Box 27"/>
          <p:cNvSpPr txBox="1">
            <a:spLocks noChangeArrowheads="1"/>
          </p:cNvSpPr>
          <p:nvPr/>
        </p:nvSpPr>
        <p:spPr bwMode="auto">
          <a:xfrm>
            <a:off x="677863" y="4760913"/>
            <a:ext cx="555625" cy="366712"/>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9900"/>
                </a:solidFill>
                <a:effectLst/>
                <a:uLnTx/>
                <a:uFillTx/>
                <a:latin typeface="Frog" pitchFamily="2" charset="0"/>
                <a:ea typeface="+mn-ea"/>
                <a:cs typeface="+mn-cs"/>
              </a:rPr>
              <a:t>mg</a:t>
            </a:r>
          </a:p>
        </p:txBody>
      </p:sp>
      <p:sp>
        <p:nvSpPr>
          <p:cNvPr id="186396" name="Text Box 28"/>
          <p:cNvSpPr txBox="1">
            <a:spLocks noChangeArrowheads="1"/>
          </p:cNvSpPr>
          <p:nvPr/>
        </p:nvSpPr>
        <p:spPr bwMode="auto">
          <a:xfrm>
            <a:off x="690563" y="6437313"/>
            <a:ext cx="555625" cy="366712"/>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9900"/>
                </a:solidFill>
                <a:effectLst/>
                <a:uLnTx/>
                <a:uFillTx/>
                <a:latin typeface="Frog" pitchFamily="2" charset="0"/>
                <a:ea typeface="+mn-ea"/>
                <a:cs typeface="+mn-cs"/>
              </a:rPr>
              <a:t>mg</a:t>
            </a:r>
          </a:p>
        </p:txBody>
      </p:sp>
      <p:sp>
        <p:nvSpPr>
          <p:cNvPr id="186397" name="Text Box 29"/>
          <p:cNvSpPr txBox="1">
            <a:spLocks noChangeArrowheads="1"/>
          </p:cNvSpPr>
          <p:nvPr/>
        </p:nvSpPr>
        <p:spPr bwMode="auto">
          <a:xfrm>
            <a:off x="868363" y="5281613"/>
            <a:ext cx="325437" cy="366712"/>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996633"/>
                </a:solidFill>
                <a:effectLst/>
                <a:uLnTx/>
                <a:uFillTx/>
                <a:latin typeface="Frog" pitchFamily="2" charset="0"/>
                <a:ea typeface="+mn-ea"/>
                <a:cs typeface="+mn-cs"/>
              </a:rPr>
              <a:t>F</a:t>
            </a:r>
          </a:p>
        </p:txBody>
      </p:sp>
      <p:sp>
        <p:nvSpPr>
          <p:cNvPr id="186398" name="Text Box 30"/>
          <p:cNvSpPr txBox="1">
            <a:spLocks noChangeArrowheads="1"/>
          </p:cNvSpPr>
          <p:nvPr/>
        </p:nvSpPr>
        <p:spPr bwMode="auto">
          <a:xfrm>
            <a:off x="931863" y="3786188"/>
            <a:ext cx="293687" cy="304800"/>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996633"/>
                </a:solidFill>
                <a:effectLst/>
                <a:uLnTx/>
                <a:uFillTx/>
                <a:latin typeface="Frog" pitchFamily="2" charset="0"/>
                <a:ea typeface="+mn-ea"/>
                <a:cs typeface="+mn-cs"/>
              </a:rPr>
              <a:t>F</a:t>
            </a:r>
          </a:p>
        </p:txBody>
      </p:sp>
      <p:sp>
        <p:nvSpPr>
          <p:cNvPr id="186399" name="Text Box 31"/>
          <p:cNvSpPr txBox="1">
            <a:spLocks noChangeArrowheads="1"/>
          </p:cNvSpPr>
          <p:nvPr/>
        </p:nvSpPr>
        <p:spPr bwMode="auto">
          <a:xfrm>
            <a:off x="973138" y="2651125"/>
            <a:ext cx="261937" cy="244475"/>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996633"/>
                </a:solidFill>
                <a:effectLst/>
                <a:uLnTx/>
                <a:uFillTx/>
                <a:latin typeface="Frog" pitchFamily="2" charset="0"/>
                <a:ea typeface="+mn-ea"/>
                <a:cs typeface="+mn-cs"/>
              </a:rPr>
              <a:t>F</a:t>
            </a:r>
          </a:p>
        </p:txBody>
      </p:sp>
      <p:sp>
        <p:nvSpPr>
          <p:cNvPr id="186400" name="Text Box 32"/>
          <p:cNvSpPr txBox="1">
            <a:spLocks noChangeArrowheads="1"/>
          </p:cNvSpPr>
          <p:nvPr/>
        </p:nvSpPr>
        <p:spPr bwMode="auto">
          <a:xfrm>
            <a:off x="1147763" y="1306513"/>
            <a:ext cx="1374775" cy="366712"/>
          </a:xfrm>
          <a:prstGeom prst="rect">
            <a:avLst/>
          </a:prstGeom>
          <a:noFill/>
          <a:ln w="12700">
            <a:noFill/>
            <a:miter lim="800000"/>
            <a:headEnd type="none" w="sm" len="sm"/>
            <a:tailEnd type="none" w="sm" len="sm"/>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CC0066"/>
                </a:solidFill>
                <a:effectLst/>
                <a:uLnTx/>
                <a:uFillTx/>
                <a:latin typeface="Frog" pitchFamily="2" charset="0"/>
                <a:ea typeface="+mn-ea"/>
                <a:cs typeface="+mn-cs"/>
              </a:rPr>
              <a:t>Net Force</a:t>
            </a:r>
          </a:p>
        </p:txBody>
      </p:sp>
      <p:pic>
        <p:nvPicPr>
          <p:cNvPr id="2" name="Picture 1" descr="Raji K Physics Logo">
            <a:extLst>
              <a:ext uri="{FF2B5EF4-FFF2-40B4-BE49-F238E27FC236}">
                <a16:creationId xmlns:a16="http://schemas.microsoft.com/office/drawing/2014/main" id="{B2719C68-D4B4-9712-AC69-741E06B4A6A0}"/>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215314679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86377"/>
                                        </p:tgtEl>
                                        <p:attrNameLst>
                                          <p:attrName>style.visibility</p:attrName>
                                        </p:attrNameLst>
                                      </p:cBhvr>
                                      <p:to>
                                        <p:strVal val="visible"/>
                                      </p:to>
                                    </p:set>
                                    <p:anim calcmode="lin" valueType="num">
                                      <p:cBhvr additive="base">
                                        <p:cTn id="7" dur="500" fill="hold"/>
                                        <p:tgtEl>
                                          <p:spTgt spid="186377"/>
                                        </p:tgtEl>
                                        <p:attrNameLst>
                                          <p:attrName>ppt_x</p:attrName>
                                        </p:attrNameLst>
                                      </p:cBhvr>
                                      <p:tavLst>
                                        <p:tav tm="0">
                                          <p:val>
                                            <p:strVal val="0-#ppt_w/2"/>
                                          </p:val>
                                        </p:tav>
                                        <p:tav tm="100000">
                                          <p:val>
                                            <p:strVal val="#ppt_x"/>
                                          </p:val>
                                        </p:tav>
                                      </p:tavLst>
                                    </p:anim>
                                    <p:anim calcmode="lin" valueType="num">
                                      <p:cBhvr additive="base">
                                        <p:cTn id="8" dur="500" fill="hold"/>
                                        <p:tgtEl>
                                          <p:spTgt spid="18637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186372"/>
                                        </p:tgtEl>
                                        <p:attrNameLst>
                                          <p:attrName>style.visibility</p:attrName>
                                        </p:attrNameLst>
                                      </p:cBhvr>
                                      <p:to>
                                        <p:strVal val="visible"/>
                                      </p:to>
                                    </p:set>
                                  </p:childTnLst>
                                </p:cTn>
                              </p:par>
                            </p:childTnLst>
                          </p:cTn>
                        </p:par>
                        <p:par>
                          <p:cTn id="13" fill="hold" nodeType="afterGroup">
                            <p:stCondLst>
                              <p:cond delay="500"/>
                            </p:stCondLst>
                            <p:childTnLst>
                              <p:par>
                                <p:cTn id="14" presetID="22" presetClass="entr" presetSubtype="1" fill="hold" grpId="0" nodeType="afterEffect">
                                  <p:stCondLst>
                                    <p:cond delay="1000"/>
                                  </p:stCondLst>
                                  <p:childTnLst>
                                    <p:set>
                                      <p:cBhvr>
                                        <p:cTn id="15" dur="1" fill="hold">
                                          <p:stCondLst>
                                            <p:cond delay="0"/>
                                          </p:stCondLst>
                                        </p:cTn>
                                        <p:tgtEl>
                                          <p:spTgt spid="186373"/>
                                        </p:tgtEl>
                                        <p:attrNameLst>
                                          <p:attrName>style.visibility</p:attrName>
                                        </p:attrNameLst>
                                      </p:cBhvr>
                                      <p:to>
                                        <p:strVal val="visible"/>
                                      </p:to>
                                    </p:set>
                                    <p:animEffect transition="in" filter="wipe(up)">
                                      <p:cBhvr>
                                        <p:cTn id="16" dur="500"/>
                                        <p:tgtEl>
                                          <p:spTgt spid="186373"/>
                                        </p:tgtEl>
                                      </p:cBhvr>
                                    </p:animEffect>
                                  </p:childTnLst>
                                </p:cTn>
                              </p:par>
                            </p:childTnLst>
                          </p:cTn>
                        </p:par>
                        <p:par>
                          <p:cTn id="17" fill="hold" nodeType="afterGroup">
                            <p:stCondLst>
                              <p:cond delay="2000"/>
                            </p:stCondLst>
                            <p:childTnLst>
                              <p:par>
                                <p:cTn id="18" presetID="1" presetClass="entr" presetSubtype="0" fill="hold" grpId="0" nodeType="afterEffect">
                                  <p:stCondLst>
                                    <p:cond delay="1000"/>
                                  </p:stCondLst>
                                  <p:childTnLst>
                                    <p:set>
                                      <p:cBhvr>
                                        <p:cTn id="19" dur="1" fill="hold">
                                          <p:stCondLst>
                                            <p:cond delay="499"/>
                                          </p:stCondLst>
                                        </p:cTn>
                                        <p:tgtEl>
                                          <p:spTgt spid="18639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86400"/>
                                        </p:tgtEl>
                                        <p:attrNameLst>
                                          <p:attrName>style.visibility</p:attrName>
                                        </p:attrNameLst>
                                      </p:cBhvr>
                                      <p:to>
                                        <p:strVal val="visible"/>
                                      </p:to>
                                    </p:set>
                                  </p:childTnLst>
                                </p:cTn>
                              </p:par>
                            </p:childTnLst>
                          </p:cTn>
                        </p:par>
                        <p:par>
                          <p:cTn id="24" fill="hold" nodeType="afterGroup">
                            <p:stCondLst>
                              <p:cond delay="500"/>
                            </p:stCondLst>
                            <p:childTnLst>
                              <p:par>
                                <p:cTn id="25" presetID="22" presetClass="entr" presetSubtype="1" fill="hold" grpId="0" nodeType="afterEffect">
                                  <p:stCondLst>
                                    <p:cond delay="1000"/>
                                  </p:stCondLst>
                                  <p:childTnLst>
                                    <p:set>
                                      <p:cBhvr>
                                        <p:cTn id="26" dur="1" fill="hold">
                                          <p:stCondLst>
                                            <p:cond delay="0"/>
                                          </p:stCondLst>
                                        </p:cTn>
                                        <p:tgtEl>
                                          <p:spTgt spid="186386"/>
                                        </p:tgtEl>
                                        <p:attrNameLst>
                                          <p:attrName>style.visibility</p:attrName>
                                        </p:attrNameLst>
                                      </p:cBhvr>
                                      <p:to>
                                        <p:strVal val="visible"/>
                                      </p:to>
                                    </p:set>
                                    <p:animEffect transition="in" filter="wipe(up)">
                                      <p:cBhvr>
                                        <p:cTn id="27" dur="500"/>
                                        <p:tgtEl>
                                          <p:spTgt spid="1863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186378"/>
                                        </p:tgtEl>
                                        <p:attrNameLst>
                                          <p:attrName>style.visibility</p:attrName>
                                        </p:attrNameLst>
                                      </p:cBhvr>
                                      <p:to>
                                        <p:strVal val="visible"/>
                                      </p:to>
                                    </p:set>
                                    <p:anim calcmode="lin" valueType="num">
                                      <p:cBhvr>
                                        <p:cTn id="32" dur="500" fill="hold"/>
                                        <p:tgtEl>
                                          <p:spTgt spid="186378"/>
                                        </p:tgtEl>
                                        <p:attrNameLst>
                                          <p:attrName>ppt_w</p:attrName>
                                        </p:attrNameLst>
                                      </p:cBhvr>
                                      <p:tavLst>
                                        <p:tav tm="0">
                                          <p:val>
                                            <p:fltVal val="0"/>
                                          </p:val>
                                        </p:tav>
                                        <p:tav tm="100000">
                                          <p:val>
                                            <p:strVal val="#ppt_w"/>
                                          </p:val>
                                        </p:tav>
                                      </p:tavLst>
                                    </p:anim>
                                    <p:anim calcmode="lin" valueType="num">
                                      <p:cBhvr>
                                        <p:cTn id="33" dur="500" fill="hold"/>
                                        <p:tgtEl>
                                          <p:spTgt spid="186378"/>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86382">
                                            <p:txEl>
                                              <p:pRg st="0" end="0"/>
                                            </p:txEl>
                                          </p:spTgt>
                                        </p:tgtEl>
                                        <p:attrNameLst>
                                          <p:attrName>style.visibility</p:attrName>
                                        </p:attrNameLst>
                                      </p:cBhvr>
                                      <p:to>
                                        <p:strVal val="visible"/>
                                      </p:to>
                                    </p:set>
                                    <p:animEffect transition="in" filter="wipe(left)">
                                      <p:cBhvr>
                                        <p:cTn id="38" dur="500"/>
                                        <p:tgtEl>
                                          <p:spTgt spid="186382">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86382">
                                            <p:txEl>
                                              <p:pRg st="1" end="1"/>
                                            </p:txEl>
                                          </p:spTgt>
                                        </p:tgtEl>
                                        <p:attrNameLst>
                                          <p:attrName>style.visibility</p:attrName>
                                        </p:attrNameLst>
                                      </p:cBhvr>
                                      <p:to>
                                        <p:strVal val="visible"/>
                                      </p:to>
                                    </p:set>
                                    <p:animEffect transition="in" filter="wipe(left)">
                                      <p:cBhvr>
                                        <p:cTn id="43" dur="500"/>
                                        <p:tgtEl>
                                          <p:spTgt spid="186382">
                                            <p:txEl>
                                              <p:pRg st="1" end="1"/>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nodeType="clickEffect">
                                  <p:stCondLst>
                                    <p:cond delay="0"/>
                                  </p:stCondLst>
                                  <p:childTnLst>
                                    <p:set>
                                      <p:cBhvr>
                                        <p:cTn id="47" dur="1" fill="hold">
                                          <p:stCondLst>
                                            <p:cond delay="499"/>
                                          </p:stCondLst>
                                        </p:cTn>
                                        <p:tgtEl>
                                          <p:spTgt spid="186371"/>
                                        </p:tgtEl>
                                        <p:attrNameLst>
                                          <p:attrName>style.visibility</p:attrName>
                                        </p:attrNameLst>
                                      </p:cBhvr>
                                      <p:to>
                                        <p:strVal val="visible"/>
                                      </p:to>
                                    </p:set>
                                  </p:childTnLst>
                                </p:cTn>
                              </p:par>
                            </p:childTnLst>
                          </p:cTn>
                        </p:par>
                        <p:par>
                          <p:cTn id="48" fill="hold" nodeType="afterGroup">
                            <p:stCondLst>
                              <p:cond delay="500"/>
                            </p:stCondLst>
                            <p:childTnLst>
                              <p:par>
                                <p:cTn id="49" presetID="22" presetClass="entr" presetSubtype="1" fill="hold" grpId="0" nodeType="afterEffect">
                                  <p:stCondLst>
                                    <p:cond delay="1000"/>
                                  </p:stCondLst>
                                  <p:childTnLst>
                                    <p:set>
                                      <p:cBhvr>
                                        <p:cTn id="50" dur="1" fill="hold">
                                          <p:stCondLst>
                                            <p:cond delay="0"/>
                                          </p:stCondLst>
                                        </p:cTn>
                                        <p:tgtEl>
                                          <p:spTgt spid="186374"/>
                                        </p:tgtEl>
                                        <p:attrNameLst>
                                          <p:attrName>style.visibility</p:attrName>
                                        </p:attrNameLst>
                                      </p:cBhvr>
                                      <p:to>
                                        <p:strVal val="visible"/>
                                      </p:to>
                                    </p:set>
                                    <p:animEffect transition="in" filter="wipe(up)">
                                      <p:cBhvr>
                                        <p:cTn id="51" dur="500"/>
                                        <p:tgtEl>
                                          <p:spTgt spid="186374"/>
                                        </p:tgtEl>
                                      </p:cBhvr>
                                    </p:animEffect>
                                  </p:childTnLst>
                                </p:cTn>
                              </p:par>
                            </p:childTnLst>
                          </p:cTn>
                        </p:par>
                        <p:par>
                          <p:cTn id="52" fill="hold" nodeType="afterGroup">
                            <p:stCondLst>
                              <p:cond delay="2000"/>
                            </p:stCondLst>
                            <p:childTnLst>
                              <p:par>
                                <p:cTn id="53" presetID="1" presetClass="entr" presetSubtype="0" fill="hold" grpId="0" nodeType="afterEffect">
                                  <p:stCondLst>
                                    <p:cond delay="1000"/>
                                  </p:stCondLst>
                                  <p:childTnLst>
                                    <p:set>
                                      <p:cBhvr>
                                        <p:cTn id="54" dur="1" fill="hold">
                                          <p:stCondLst>
                                            <p:cond delay="499"/>
                                          </p:stCondLst>
                                        </p:cTn>
                                        <p:tgtEl>
                                          <p:spTgt spid="186394"/>
                                        </p:tgtEl>
                                        <p:attrNameLst>
                                          <p:attrName>style.visibility</p:attrName>
                                        </p:attrNameLst>
                                      </p:cBhvr>
                                      <p:to>
                                        <p:strVal val="visible"/>
                                      </p:to>
                                    </p:set>
                                  </p:childTnLst>
                                </p:cTn>
                              </p:par>
                            </p:childTnLst>
                          </p:cTn>
                        </p:par>
                        <p:par>
                          <p:cTn id="55" fill="hold" nodeType="afterGroup">
                            <p:stCondLst>
                              <p:cond delay="3500"/>
                            </p:stCondLst>
                            <p:childTnLst>
                              <p:par>
                                <p:cTn id="56" presetID="22" presetClass="entr" presetSubtype="4" fill="hold" grpId="0" nodeType="afterEffect">
                                  <p:stCondLst>
                                    <p:cond delay="1000"/>
                                  </p:stCondLst>
                                  <p:childTnLst>
                                    <p:set>
                                      <p:cBhvr>
                                        <p:cTn id="57" dur="1" fill="hold">
                                          <p:stCondLst>
                                            <p:cond delay="0"/>
                                          </p:stCondLst>
                                        </p:cTn>
                                        <p:tgtEl>
                                          <p:spTgt spid="186389"/>
                                        </p:tgtEl>
                                        <p:attrNameLst>
                                          <p:attrName>style.visibility</p:attrName>
                                        </p:attrNameLst>
                                      </p:cBhvr>
                                      <p:to>
                                        <p:strVal val="visible"/>
                                      </p:to>
                                    </p:set>
                                    <p:animEffect transition="in" filter="wipe(down)">
                                      <p:cBhvr>
                                        <p:cTn id="58" dur="500"/>
                                        <p:tgtEl>
                                          <p:spTgt spid="186389"/>
                                        </p:tgtEl>
                                      </p:cBhvr>
                                    </p:animEffect>
                                  </p:childTnLst>
                                </p:cTn>
                              </p:par>
                            </p:childTnLst>
                          </p:cTn>
                        </p:par>
                        <p:par>
                          <p:cTn id="59" fill="hold" nodeType="afterGroup">
                            <p:stCondLst>
                              <p:cond delay="5000"/>
                            </p:stCondLst>
                            <p:childTnLst>
                              <p:par>
                                <p:cTn id="60" presetID="1" presetClass="entr" presetSubtype="0" fill="hold" grpId="0" nodeType="afterEffect">
                                  <p:stCondLst>
                                    <p:cond delay="1000"/>
                                  </p:stCondLst>
                                  <p:childTnLst>
                                    <p:set>
                                      <p:cBhvr>
                                        <p:cTn id="61" dur="1" fill="hold">
                                          <p:stCondLst>
                                            <p:cond delay="499"/>
                                          </p:stCondLst>
                                        </p:cTn>
                                        <p:tgtEl>
                                          <p:spTgt spid="186399"/>
                                        </p:tgtEl>
                                        <p:attrNameLst>
                                          <p:attrName>style.visibility</p:attrName>
                                        </p:attrNameLst>
                                      </p:cBhvr>
                                      <p:to>
                                        <p:strVal val="visible"/>
                                      </p:to>
                                    </p:set>
                                  </p:childTnLst>
                                </p:cTn>
                              </p:par>
                            </p:childTnLst>
                          </p:cTn>
                        </p:par>
                        <p:par>
                          <p:cTn id="62" fill="hold" nodeType="afterGroup">
                            <p:stCondLst>
                              <p:cond delay="6500"/>
                            </p:stCondLst>
                            <p:childTnLst>
                              <p:par>
                                <p:cTn id="63" presetID="22" presetClass="entr" presetSubtype="1" fill="hold" grpId="0" nodeType="afterEffect">
                                  <p:stCondLst>
                                    <p:cond delay="1000"/>
                                  </p:stCondLst>
                                  <p:childTnLst>
                                    <p:set>
                                      <p:cBhvr>
                                        <p:cTn id="64" dur="1" fill="hold">
                                          <p:stCondLst>
                                            <p:cond delay="0"/>
                                          </p:stCondLst>
                                        </p:cTn>
                                        <p:tgtEl>
                                          <p:spTgt spid="186387"/>
                                        </p:tgtEl>
                                        <p:attrNameLst>
                                          <p:attrName>style.visibility</p:attrName>
                                        </p:attrNameLst>
                                      </p:cBhvr>
                                      <p:to>
                                        <p:strVal val="visible"/>
                                      </p:to>
                                    </p:set>
                                    <p:animEffect transition="in" filter="wipe(up)">
                                      <p:cBhvr>
                                        <p:cTn id="65" dur="500"/>
                                        <p:tgtEl>
                                          <p:spTgt spid="18638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7" presetClass="entr" presetSubtype="10" fill="hold" grpId="0" nodeType="clickEffect">
                                  <p:stCondLst>
                                    <p:cond delay="0"/>
                                  </p:stCondLst>
                                  <p:childTnLst>
                                    <p:set>
                                      <p:cBhvr>
                                        <p:cTn id="69" dur="1" fill="hold">
                                          <p:stCondLst>
                                            <p:cond delay="0"/>
                                          </p:stCondLst>
                                        </p:cTn>
                                        <p:tgtEl>
                                          <p:spTgt spid="186379"/>
                                        </p:tgtEl>
                                        <p:attrNameLst>
                                          <p:attrName>style.visibility</p:attrName>
                                        </p:attrNameLst>
                                      </p:cBhvr>
                                      <p:to>
                                        <p:strVal val="visible"/>
                                      </p:to>
                                    </p:set>
                                    <p:anim calcmode="lin" valueType="num">
                                      <p:cBhvr>
                                        <p:cTn id="70" dur="500" fill="hold"/>
                                        <p:tgtEl>
                                          <p:spTgt spid="186379"/>
                                        </p:tgtEl>
                                        <p:attrNameLst>
                                          <p:attrName>ppt_w</p:attrName>
                                        </p:attrNameLst>
                                      </p:cBhvr>
                                      <p:tavLst>
                                        <p:tav tm="0">
                                          <p:val>
                                            <p:fltVal val="0"/>
                                          </p:val>
                                        </p:tav>
                                        <p:tav tm="100000">
                                          <p:val>
                                            <p:strVal val="#ppt_w"/>
                                          </p:val>
                                        </p:tav>
                                      </p:tavLst>
                                    </p:anim>
                                    <p:anim calcmode="lin" valueType="num">
                                      <p:cBhvr>
                                        <p:cTn id="71" dur="500" fill="hold"/>
                                        <p:tgtEl>
                                          <p:spTgt spid="186379"/>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86383"/>
                                        </p:tgtEl>
                                        <p:attrNameLst>
                                          <p:attrName>style.visibility</p:attrName>
                                        </p:attrNameLst>
                                      </p:cBhvr>
                                      <p:to>
                                        <p:strVal val="visible"/>
                                      </p:to>
                                    </p:set>
                                    <p:animEffect transition="in" filter="wipe(left)">
                                      <p:cBhvr>
                                        <p:cTn id="76" dur="500"/>
                                        <p:tgtEl>
                                          <p:spTgt spid="186383"/>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499"/>
                                          </p:stCondLst>
                                        </p:cTn>
                                        <p:tgtEl>
                                          <p:spTgt spid="186390"/>
                                        </p:tgtEl>
                                        <p:attrNameLst>
                                          <p:attrName>style.visibility</p:attrName>
                                        </p:attrNameLst>
                                      </p:cBhvr>
                                      <p:to>
                                        <p:strVal val="visible"/>
                                      </p:to>
                                    </p:set>
                                  </p:childTnLst>
                                </p:cTn>
                              </p:par>
                            </p:childTnLst>
                          </p:cTn>
                        </p:par>
                        <p:par>
                          <p:cTn id="81" fill="hold" nodeType="afterGroup">
                            <p:stCondLst>
                              <p:cond delay="500"/>
                            </p:stCondLst>
                            <p:childTnLst>
                              <p:par>
                                <p:cTn id="82" presetID="22" presetClass="entr" presetSubtype="1" fill="hold" grpId="0" nodeType="afterEffect">
                                  <p:stCondLst>
                                    <p:cond delay="1000"/>
                                  </p:stCondLst>
                                  <p:childTnLst>
                                    <p:set>
                                      <p:cBhvr>
                                        <p:cTn id="83" dur="1" fill="hold">
                                          <p:stCondLst>
                                            <p:cond delay="0"/>
                                          </p:stCondLst>
                                        </p:cTn>
                                        <p:tgtEl>
                                          <p:spTgt spid="186391"/>
                                        </p:tgtEl>
                                        <p:attrNameLst>
                                          <p:attrName>style.visibility</p:attrName>
                                        </p:attrNameLst>
                                      </p:cBhvr>
                                      <p:to>
                                        <p:strVal val="visible"/>
                                      </p:to>
                                    </p:set>
                                    <p:animEffect transition="in" filter="wipe(up)">
                                      <p:cBhvr>
                                        <p:cTn id="84" dur="500"/>
                                        <p:tgtEl>
                                          <p:spTgt spid="186391"/>
                                        </p:tgtEl>
                                      </p:cBhvr>
                                    </p:animEffect>
                                  </p:childTnLst>
                                </p:cTn>
                              </p:par>
                            </p:childTnLst>
                          </p:cTn>
                        </p:par>
                        <p:par>
                          <p:cTn id="85" fill="hold" nodeType="afterGroup">
                            <p:stCondLst>
                              <p:cond delay="2000"/>
                            </p:stCondLst>
                            <p:childTnLst>
                              <p:par>
                                <p:cTn id="86" presetID="1" presetClass="entr" presetSubtype="0" fill="hold" grpId="0" nodeType="afterEffect">
                                  <p:stCondLst>
                                    <p:cond delay="1000"/>
                                  </p:stCondLst>
                                  <p:childTnLst>
                                    <p:set>
                                      <p:cBhvr>
                                        <p:cTn id="87" dur="1" fill="hold">
                                          <p:stCondLst>
                                            <p:cond delay="499"/>
                                          </p:stCondLst>
                                        </p:cTn>
                                        <p:tgtEl>
                                          <p:spTgt spid="186395"/>
                                        </p:tgtEl>
                                        <p:attrNameLst>
                                          <p:attrName>style.visibility</p:attrName>
                                        </p:attrNameLst>
                                      </p:cBhvr>
                                      <p:to>
                                        <p:strVal val="visible"/>
                                      </p:to>
                                    </p:set>
                                  </p:childTnLst>
                                </p:cTn>
                              </p:par>
                            </p:childTnLst>
                          </p:cTn>
                        </p:par>
                        <p:par>
                          <p:cTn id="88" fill="hold" nodeType="afterGroup">
                            <p:stCondLst>
                              <p:cond delay="3500"/>
                            </p:stCondLst>
                            <p:childTnLst>
                              <p:par>
                                <p:cTn id="89" presetID="22" presetClass="entr" presetSubtype="4" fill="hold" grpId="0" nodeType="afterEffect">
                                  <p:stCondLst>
                                    <p:cond delay="1000"/>
                                  </p:stCondLst>
                                  <p:childTnLst>
                                    <p:set>
                                      <p:cBhvr>
                                        <p:cTn id="90" dur="1" fill="hold">
                                          <p:stCondLst>
                                            <p:cond delay="0"/>
                                          </p:stCondLst>
                                        </p:cTn>
                                        <p:tgtEl>
                                          <p:spTgt spid="186392"/>
                                        </p:tgtEl>
                                        <p:attrNameLst>
                                          <p:attrName>style.visibility</p:attrName>
                                        </p:attrNameLst>
                                      </p:cBhvr>
                                      <p:to>
                                        <p:strVal val="visible"/>
                                      </p:to>
                                    </p:set>
                                    <p:animEffect transition="in" filter="wipe(down)">
                                      <p:cBhvr>
                                        <p:cTn id="91" dur="500"/>
                                        <p:tgtEl>
                                          <p:spTgt spid="186392"/>
                                        </p:tgtEl>
                                      </p:cBhvr>
                                    </p:animEffect>
                                  </p:childTnLst>
                                </p:cTn>
                              </p:par>
                            </p:childTnLst>
                          </p:cTn>
                        </p:par>
                        <p:par>
                          <p:cTn id="92" fill="hold" nodeType="afterGroup">
                            <p:stCondLst>
                              <p:cond delay="5000"/>
                            </p:stCondLst>
                            <p:childTnLst>
                              <p:par>
                                <p:cTn id="93" presetID="1" presetClass="entr" presetSubtype="0" fill="hold" grpId="0" nodeType="afterEffect">
                                  <p:stCondLst>
                                    <p:cond delay="1000"/>
                                  </p:stCondLst>
                                  <p:childTnLst>
                                    <p:set>
                                      <p:cBhvr>
                                        <p:cTn id="94" dur="1" fill="hold">
                                          <p:stCondLst>
                                            <p:cond delay="499"/>
                                          </p:stCondLst>
                                        </p:cTn>
                                        <p:tgtEl>
                                          <p:spTgt spid="186398"/>
                                        </p:tgtEl>
                                        <p:attrNameLst>
                                          <p:attrName>style.visibility</p:attrName>
                                        </p:attrNameLst>
                                      </p:cBhvr>
                                      <p:to>
                                        <p:strVal val="visible"/>
                                      </p:to>
                                    </p:set>
                                  </p:childTnLst>
                                </p:cTn>
                              </p:par>
                            </p:childTnLst>
                          </p:cTn>
                        </p:par>
                        <p:par>
                          <p:cTn id="95" fill="hold" nodeType="afterGroup">
                            <p:stCondLst>
                              <p:cond delay="6500"/>
                            </p:stCondLst>
                            <p:childTnLst>
                              <p:par>
                                <p:cTn id="96" presetID="22" presetClass="entr" presetSubtype="1" fill="hold" grpId="0" nodeType="afterEffect">
                                  <p:stCondLst>
                                    <p:cond delay="1000"/>
                                  </p:stCondLst>
                                  <p:childTnLst>
                                    <p:set>
                                      <p:cBhvr>
                                        <p:cTn id="97" dur="1" fill="hold">
                                          <p:stCondLst>
                                            <p:cond delay="0"/>
                                          </p:stCondLst>
                                        </p:cTn>
                                        <p:tgtEl>
                                          <p:spTgt spid="186388"/>
                                        </p:tgtEl>
                                        <p:attrNameLst>
                                          <p:attrName>style.visibility</p:attrName>
                                        </p:attrNameLst>
                                      </p:cBhvr>
                                      <p:to>
                                        <p:strVal val="visible"/>
                                      </p:to>
                                    </p:set>
                                    <p:animEffect transition="in" filter="wipe(up)">
                                      <p:cBhvr>
                                        <p:cTn id="98" dur="500"/>
                                        <p:tgtEl>
                                          <p:spTgt spid="18638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10" fill="hold" grpId="0" nodeType="clickEffect">
                                  <p:stCondLst>
                                    <p:cond delay="0"/>
                                  </p:stCondLst>
                                  <p:childTnLst>
                                    <p:set>
                                      <p:cBhvr>
                                        <p:cTn id="102" dur="1" fill="hold">
                                          <p:stCondLst>
                                            <p:cond delay="0"/>
                                          </p:stCondLst>
                                        </p:cTn>
                                        <p:tgtEl>
                                          <p:spTgt spid="186380"/>
                                        </p:tgtEl>
                                        <p:attrNameLst>
                                          <p:attrName>style.visibility</p:attrName>
                                        </p:attrNameLst>
                                      </p:cBhvr>
                                      <p:to>
                                        <p:strVal val="visible"/>
                                      </p:to>
                                    </p:set>
                                    <p:anim calcmode="lin" valueType="num">
                                      <p:cBhvr>
                                        <p:cTn id="103" dur="500" fill="hold"/>
                                        <p:tgtEl>
                                          <p:spTgt spid="186380"/>
                                        </p:tgtEl>
                                        <p:attrNameLst>
                                          <p:attrName>ppt_w</p:attrName>
                                        </p:attrNameLst>
                                      </p:cBhvr>
                                      <p:tavLst>
                                        <p:tav tm="0">
                                          <p:val>
                                            <p:fltVal val="0"/>
                                          </p:val>
                                        </p:tav>
                                        <p:tav tm="100000">
                                          <p:val>
                                            <p:strVal val="#ppt_w"/>
                                          </p:val>
                                        </p:tav>
                                      </p:tavLst>
                                    </p:anim>
                                    <p:anim calcmode="lin" valueType="num">
                                      <p:cBhvr>
                                        <p:cTn id="104" dur="500" fill="hold"/>
                                        <p:tgtEl>
                                          <p:spTgt spid="186380"/>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86384">
                                            <p:txEl>
                                              <p:pRg st="0" end="0"/>
                                            </p:txEl>
                                          </p:spTgt>
                                        </p:tgtEl>
                                        <p:attrNameLst>
                                          <p:attrName>style.visibility</p:attrName>
                                        </p:attrNameLst>
                                      </p:cBhvr>
                                      <p:to>
                                        <p:strVal val="visible"/>
                                      </p:to>
                                    </p:set>
                                    <p:animEffect transition="in" filter="wipe(left)">
                                      <p:cBhvr>
                                        <p:cTn id="109" dur="500"/>
                                        <p:tgtEl>
                                          <p:spTgt spid="186384">
                                            <p:txEl>
                                              <p:pRg st="0" end="0"/>
                                            </p:txEl>
                                          </p:spTgt>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186384">
                                            <p:txEl>
                                              <p:pRg st="1" end="1"/>
                                            </p:txEl>
                                          </p:spTgt>
                                        </p:tgtEl>
                                        <p:attrNameLst>
                                          <p:attrName>style.visibility</p:attrName>
                                        </p:attrNameLst>
                                      </p:cBhvr>
                                      <p:to>
                                        <p:strVal val="visible"/>
                                      </p:to>
                                    </p:set>
                                    <p:animEffect transition="in" filter="wipe(left)">
                                      <p:cBhvr>
                                        <p:cTn id="114" dur="500"/>
                                        <p:tgtEl>
                                          <p:spTgt spid="186384">
                                            <p:txEl>
                                              <p:pRg st="1" end="1"/>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499"/>
                                          </p:stCondLst>
                                        </p:cTn>
                                        <p:tgtEl>
                                          <p:spTgt spid="186370"/>
                                        </p:tgtEl>
                                        <p:attrNameLst>
                                          <p:attrName>style.visibility</p:attrName>
                                        </p:attrNameLst>
                                      </p:cBhvr>
                                      <p:to>
                                        <p:strVal val="visible"/>
                                      </p:to>
                                    </p:set>
                                  </p:childTnLst>
                                </p:cTn>
                              </p:par>
                            </p:childTnLst>
                          </p:cTn>
                        </p:par>
                        <p:par>
                          <p:cTn id="119" fill="hold" nodeType="afterGroup">
                            <p:stCondLst>
                              <p:cond delay="500"/>
                            </p:stCondLst>
                            <p:childTnLst>
                              <p:par>
                                <p:cTn id="120" presetID="22" presetClass="entr" presetSubtype="1" fill="hold" grpId="0" nodeType="afterEffect">
                                  <p:stCondLst>
                                    <p:cond delay="1000"/>
                                  </p:stCondLst>
                                  <p:childTnLst>
                                    <p:set>
                                      <p:cBhvr>
                                        <p:cTn id="121" dur="1" fill="hold">
                                          <p:stCondLst>
                                            <p:cond delay="0"/>
                                          </p:stCondLst>
                                        </p:cTn>
                                        <p:tgtEl>
                                          <p:spTgt spid="186375"/>
                                        </p:tgtEl>
                                        <p:attrNameLst>
                                          <p:attrName>style.visibility</p:attrName>
                                        </p:attrNameLst>
                                      </p:cBhvr>
                                      <p:to>
                                        <p:strVal val="visible"/>
                                      </p:to>
                                    </p:set>
                                    <p:animEffect transition="in" filter="wipe(up)">
                                      <p:cBhvr>
                                        <p:cTn id="122" dur="500"/>
                                        <p:tgtEl>
                                          <p:spTgt spid="186375"/>
                                        </p:tgtEl>
                                      </p:cBhvr>
                                    </p:animEffect>
                                  </p:childTnLst>
                                </p:cTn>
                              </p:par>
                            </p:childTnLst>
                          </p:cTn>
                        </p:par>
                        <p:par>
                          <p:cTn id="123" fill="hold" nodeType="afterGroup">
                            <p:stCondLst>
                              <p:cond delay="2000"/>
                            </p:stCondLst>
                            <p:childTnLst>
                              <p:par>
                                <p:cTn id="124" presetID="1" presetClass="entr" presetSubtype="0" fill="hold" grpId="0" nodeType="afterEffect">
                                  <p:stCondLst>
                                    <p:cond delay="1000"/>
                                  </p:stCondLst>
                                  <p:childTnLst>
                                    <p:set>
                                      <p:cBhvr>
                                        <p:cTn id="125" dur="1" fill="hold">
                                          <p:stCondLst>
                                            <p:cond delay="499"/>
                                          </p:stCondLst>
                                        </p:cTn>
                                        <p:tgtEl>
                                          <p:spTgt spid="186396"/>
                                        </p:tgtEl>
                                        <p:attrNameLst>
                                          <p:attrName>style.visibility</p:attrName>
                                        </p:attrNameLst>
                                      </p:cBhvr>
                                      <p:to>
                                        <p:strVal val="visible"/>
                                      </p:to>
                                    </p:set>
                                  </p:childTnLst>
                                </p:cTn>
                              </p:par>
                            </p:childTnLst>
                          </p:cTn>
                        </p:par>
                        <p:par>
                          <p:cTn id="126" fill="hold" nodeType="afterGroup">
                            <p:stCondLst>
                              <p:cond delay="3500"/>
                            </p:stCondLst>
                            <p:childTnLst>
                              <p:par>
                                <p:cTn id="127" presetID="22" presetClass="entr" presetSubtype="4" fill="hold" grpId="0" nodeType="afterEffect">
                                  <p:stCondLst>
                                    <p:cond delay="1000"/>
                                  </p:stCondLst>
                                  <p:childTnLst>
                                    <p:set>
                                      <p:cBhvr>
                                        <p:cTn id="128" dur="1" fill="hold">
                                          <p:stCondLst>
                                            <p:cond delay="0"/>
                                          </p:stCondLst>
                                        </p:cTn>
                                        <p:tgtEl>
                                          <p:spTgt spid="186376"/>
                                        </p:tgtEl>
                                        <p:attrNameLst>
                                          <p:attrName>style.visibility</p:attrName>
                                        </p:attrNameLst>
                                      </p:cBhvr>
                                      <p:to>
                                        <p:strVal val="visible"/>
                                      </p:to>
                                    </p:set>
                                    <p:animEffect transition="in" filter="wipe(down)">
                                      <p:cBhvr>
                                        <p:cTn id="129" dur="500"/>
                                        <p:tgtEl>
                                          <p:spTgt spid="186376"/>
                                        </p:tgtEl>
                                      </p:cBhvr>
                                    </p:animEffect>
                                  </p:childTnLst>
                                </p:cTn>
                              </p:par>
                            </p:childTnLst>
                          </p:cTn>
                        </p:par>
                        <p:par>
                          <p:cTn id="130" fill="hold" nodeType="afterGroup">
                            <p:stCondLst>
                              <p:cond delay="5000"/>
                            </p:stCondLst>
                            <p:childTnLst>
                              <p:par>
                                <p:cTn id="131" presetID="1" presetClass="entr" presetSubtype="0" fill="hold" grpId="0" nodeType="afterEffect">
                                  <p:stCondLst>
                                    <p:cond delay="1000"/>
                                  </p:stCondLst>
                                  <p:childTnLst>
                                    <p:set>
                                      <p:cBhvr>
                                        <p:cTn id="132" dur="1" fill="hold">
                                          <p:stCondLst>
                                            <p:cond delay="499"/>
                                          </p:stCondLst>
                                        </p:cTn>
                                        <p:tgtEl>
                                          <p:spTgt spid="186397"/>
                                        </p:tgtEl>
                                        <p:attrNameLst>
                                          <p:attrName>style.visibility</p:attrName>
                                        </p:attrNameLst>
                                      </p:cBhvr>
                                      <p:to>
                                        <p:strVal val="visible"/>
                                      </p:to>
                                    </p:se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7" presetClass="entr" presetSubtype="10" fill="hold" grpId="0" nodeType="clickEffect">
                                  <p:stCondLst>
                                    <p:cond delay="0"/>
                                  </p:stCondLst>
                                  <p:childTnLst>
                                    <p:set>
                                      <p:cBhvr>
                                        <p:cTn id="136" dur="1" fill="hold">
                                          <p:stCondLst>
                                            <p:cond delay="0"/>
                                          </p:stCondLst>
                                        </p:cTn>
                                        <p:tgtEl>
                                          <p:spTgt spid="186381"/>
                                        </p:tgtEl>
                                        <p:attrNameLst>
                                          <p:attrName>style.visibility</p:attrName>
                                        </p:attrNameLst>
                                      </p:cBhvr>
                                      <p:to>
                                        <p:strVal val="visible"/>
                                      </p:to>
                                    </p:set>
                                    <p:anim calcmode="lin" valueType="num">
                                      <p:cBhvr>
                                        <p:cTn id="137" dur="500" fill="hold"/>
                                        <p:tgtEl>
                                          <p:spTgt spid="186381"/>
                                        </p:tgtEl>
                                        <p:attrNameLst>
                                          <p:attrName>ppt_w</p:attrName>
                                        </p:attrNameLst>
                                      </p:cBhvr>
                                      <p:tavLst>
                                        <p:tav tm="0">
                                          <p:val>
                                            <p:fltVal val="0"/>
                                          </p:val>
                                        </p:tav>
                                        <p:tav tm="100000">
                                          <p:val>
                                            <p:strVal val="#ppt_w"/>
                                          </p:val>
                                        </p:tav>
                                      </p:tavLst>
                                    </p:anim>
                                    <p:anim calcmode="lin" valueType="num">
                                      <p:cBhvr>
                                        <p:cTn id="138" dur="500" fill="hold"/>
                                        <p:tgtEl>
                                          <p:spTgt spid="186381"/>
                                        </p:tgtEl>
                                        <p:attrNameLst>
                                          <p:attrName>ppt_h</p:attrName>
                                        </p:attrNameLst>
                                      </p:cBhvr>
                                      <p:tavLst>
                                        <p:tav tm="0">
                                          <p:val>
                                            <p:strVal val="#ppt_h"/>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186385"/>
                                        </p:tgtEl>
                                        <p:attrNameLst>
                                          <p:attrName>style.visibility</p:attrName>
                                        </p:attrNameLst>
                                      </p:cBhvr>
                                      <p:to>
                                        <p:strVal val="visible"/>
                                      </p:to>
                                    </p:set>
                                    <p:animEffect transition="in" filter="wipe(left)">
                                      <p:cBhvr>
                                        <p:cTn id="143" dur="500"/>
                                        <p:tgtEl>
                                          <p:spTgt spid="186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3" grpId="0" animBg="1"/>
      <p:bldP spid="186374" grpId="0" animBg="1"/>
      <p:bldP spid="186375" grpId="0" animBg="1"/>
      <p:bldP spid="186376" grpId="0" animBg="1"/>
      <p:bldP spid="186377" grpId="0" autoUpdateAnimBg="0"/>
      <p:bldP spid="186378" grpId="0" autoUpdateAnimBg="0"/>
      <p:bldP spid="186379" grpId="0" autoUpdateAnimBg="0"/>
      <p:bldP spid="186380" grpId="0" autoUpdateAnimBg="0"/>
      <p:bldP spid="186381" grpId="0" autoUpdateAnimBg="0"/>
      <p:bldP spid="186382" grpId="0" build="p" autoUpdateAnimBg="0"/>
      <p:bldP spid="186383" grpId="0" autoUpdateAnimBg="0"/>
      <p:bldP spid="186384" grpId="0" build="p" autoUpdateAnimBg="0"/>
      <p:bldP spid="186385" grpId="0" autoUpdateAnimBg="0"/>
      <p:bldP spid="186386" grpId="0" animBg="1"/>
      <p:bldP spid="186387" grpId="0" animBg="1"/>
      <p:bldP spid="186388" grpId="0" animBg="1"/>
      <p:bldP spid="186389" grpId="0" animBg="1"/>
      <p:bldP spid="186391" grpId="0" animBg="1"/>
      <p:bldP spid="186392" grpId="0" animBg="1"/>
      <p:bldP spid="186393" grpId="0" autoUpdateAnimBg="0"/>
      <p:bldP spid="186394" grpId="0" autoUpdateAnimBg="0"/>
      <p:bldP spid="186395" grpId="0" autoUpdateAnimBg="0"/>
      <p:bldP spid="186396" grpId="0" autoUpdateAnimBg="0"/>
      <p:bldP spid="186397" grpId="0" autoUpdateAnimBg="0"/>
      <p:bldP spid="186398" grpId="0" autoUpdateAnimBg="0"/>
      <p:bldP spid="186399" grpId="0" autoUpdateAnimBg="0"/>
      <p:bldP spid="18640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0413" y="184924"/>
            <a:ext cx="8229600" cy="512763"/>
          </a:xfrm>
        </p:spPr>
        <p:txBody>
          <a:bodyPr>
            <a:noAutofit/>
          </a:bodyPr>
          <a:lstStyle/>
          <a:p>
            <a:pPr algn="ctr"/>
            <a:r>
              <a:rPr lang="en-US" sz="2800" b="1" dirty="0">
                <a:solidFill>
                  <a:schemeClr val="tx1"/>
                </a:solidFill>
              </a:rPr>
              <a:t>TERMINAL VELOCITY EQUATION</a:t>
            </a:r>
            <a:endParaRPr lang="en-US" sz="2800" dirty="0"/>
          </a:p>
        </p:txBody>
      </p:sp>
      <mc:AlternateContent xmlns:mc="http://schemas.openxmlformats.org/markup-compatibility/2006" xmlns:a14="http://schemas.microsoft.com/office/drawing/2010/main">
        <mc:Choice Requires="a14">
          <p:sp>
            <p:nvSpPr>
              <p:cNvPr id="5" name="Rectangle 4"/>
              <p:cNvSpPr/>
              <p:nvPr/>
            </p:nvSpPr>
            <p:spPr>
              <a:xfrm>
                <a:off x="148682" y="681279"/>
                <a:ext cx="8863661" cy="5757282"/>
              </a:xfrm>
              <a:prstGeom prst="rect">
                <a:avLst/>
              </a:prstGeom>
            </p:spPr>
            <p:txBody>
              <a:bodyPr wrap="square">
                <a:spAutoFit/>
              </a:bodyPr>
              <a:lstStyle/>
              <a:p>
                <a:pPr marL="0" marR="0" lvl="0" indent="0" algn="l" defTabSz="914400" rtl="0" eaLnBrk="1" fontAlgn="base" latinLnBrk="0" hangingPunct="1">
                  <a:lnSpc>
                    <a:spcPts val="2500"/>
                  </a:lnSpc>
                  <a:spcBef>
                    <a:spcPct val="0"/>
                  </a:spcBef>
                  <a:spcAft>
                    <a:spcPct val="0"/>
                  </a:spcAft>
                  <a:buClrTx/>
                  <a:buSzTx/>
                  <a:buFontTx/>
                  <a:buNone/>
                  <a:tabLst/>
                  <a:defRPr/>
                </a:pPr>
                <a:r>
                  <a:rPr kumimoji="0" lang="en-US" sz="2000" b="1" i="0" u="none" strike="noStrike" kern="1200" cap="none" spc="0" normalizeH="0" baseline="0" noProof="0" dirty="0">
                    <a:ln>
                      <a:noFill/>
                    </a:ln>
                    <a:effectLst/>
                    <a:uLnTx/>
                    <a:uFillTx/>
                    <a:latin typeface="Arial" charset="0"/>
                    <a:ea typeface="+mn-ea"/>
                    <a:cs typeface="+mn-cs"/>
                  </a:rPr>
                  <a:t>As an object’s velocity increases, the magnitude of the drag force increases until the magnitude of the drag force is equal to the gravitational force, thus producing a </a:t>
                </a:r>
                <a:r>
                  <a:rPr kumimoji="0" lang="en-US" sz="2000" b="1" i="1" u="none" strike="noStrike" kern="1200" cap="none" spc="0" normalizeH="0" baseline="0" noProof="0" dirty="0">
                    <a:ln>
                      <a:noFill/>
                    </a:ln>
                    <a:effectLst/>
                    <a:uLnTx/>
                    <a:uFillTx/>
                    <a:latin typeface="Arial" charset="0"/>
                    <a:ea typeface="+mn-ea"/>
                    <a:cs typeface="+mn-cs"/>
                  </a:rPr>
                  <a:t>net force of zero</a:t>
                </a:r>
                <a:r>
                  <a:rPr kumimoji="0" lang="en-US" sz="2000" b="1" i="0" u="none" strike="noStrike" kern="1200" cap="none" spc="0" normalizeH="0" baseline="0" noProof="0" dirty="0">
                    <a:ln>
                      <a:noFill/>
                    </a:ln>
                    <a:effectLst/>
                    <a:uLnTx/>
                    <a:uFillTx/>
                    <a:latin typeface="Arial" charset="0"/>
                    <a:ea typeface="+mn-ea"/>
                    <a:cs typeface="+mn-cs"/>
                  </a:rPr>
                  <a:t>. A zero net force means that there is no acceleration, as given by Newton’s second law. At this point, the object’s velocity remains constant, and we say that it has reached </a:t>
                </a:r>
                <a:r>
                  <a:rPr kumimoji="0" lang="en-US" sz="2000" b="1" i="1" u="none" strike="noStrike" kern="1200" cap="none" spc="0" normalizeH="0" baseline="0" noProof="0" dirty="0">
                    <a:ln>
                      <a:noFill/>
                    </a:ln>
                    <a:effectLst/>
                    <a:uLnTx/>
                    <a:uFillTx/>
                    <a:latin typeface="Arial" charset="0"/>
                    <a:ea typeface="+mn-ea"/>
                    <a:cs typeface="+mn-cs"/>
                  </a:rPr>
                  <a:t>terminal velocity. </a:t>
                </a:r>
              </a:p>
              <a:p>
                <a:pPr marL="0" marR="0" lvl="0" indent="0" algn="l" defTabSz="914400" rtl="0" eaLnBrk="1" fontAlgn="base" latinLnBrk="0" hangingPunct="1">
                  <a:lnSpc>
                    <a:spcPts val="2500"/>
                  </a:lnSpc>
                  <a:spcBef>
                    <a:spcPct val="0"/>
                  </a:spcBef>
                  <a:spcAft>
                    <a:spcPct val="0"/>
                  </a:spcAft>
                  <a:buClrTx/>
                  <a:buSzTx/>
                  <a:buFontTx/>
                  <a:buNone/>
                  <a:tabLst/>
                  <a:defRPr/>
                </a:pPr>
                <a:endParaRPr kumimoji="0" lang="en-US" sz="2000" b="1" i="1" u="none" strike="noStrike" kern="1200" cap="none" spc="0" normalizeH="0" baseline="0" noProof="0" dirty="0">
                  <a:ln>
                    <a:noFill/>
                  </a:ln>
                  <a:effectLst/>
                  <a:uLnTx/>
                  <a:uFillTx/>
                  <a:latin typeface="Arial" charset="0"/>
                  <a:ea typeface="+mn-ea"/>
                  <a:cs typeface="+mn-cs"/>
                </a:endParaRPr>
              </a:p>
              <a:p>
                <a:pPr marL="0" marR="0" lvl="0" indent="0" defTabSz="914400" rtl="0" eaLnBrk="1" fontAlgn="base" latinLnBrk="0" hangingPunct="1">
                  <a:lnSpc>
                    <a:spcPts val="2500"/>
                  </a:lnSpc>
                  <a:spcBef>
                    <a:spcPct val="0"/>
                  </a:spcBef>
                  <a:spcAft>
                    <a:spcPct val="0"/>
                  </a:spcAft>
                  <a:buClrTx/>
                  <a:buSzTx/>
                  <a:buFontTx/>
                  <a:buNone/>
                  <a:tabLst/>
                  <a:defRPr/>
                </a:pPr>
                <a:r>
                  <a:rPr kumimoji="0" lang="de-DE"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F</a:t>
                </a:r>
                <a:r>
                  <a:rPr kumimoji="0" lang="de-DE" sz="3200" b="1" u="none" strike="noStrike" kern="1200" cap="none" spc="0" normalizeH="0" baseline="-25000" noProof="0" dirty="0">
                    <a:ln>
                      <a:noFill/>
                    </a:ln>
                    <a:effectLst/>
                    <a:uLnTx/>
                    <a:uFillTx/>
                    <a:latin typeface="Cambria Math" panose="02040503050406030204" pitchFamily="18" charset="0"/>
                    <a:ea typeface="Cambria Math" panose="02040503050406030204" pitchFamily="18" charset="0"/>
                  </a:rPr>
                  <a:t>net</a:t>
                </a:r>
                <a:r>
                  <a:rPr kumimoji="0" lang="de-DE"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 mg − F</a:t>
                </a:r>
                <a:r>
                  <a:rPr kumimoji="0" lang="de-DE" sz="3200" b="1" u="none" strike="noStrike" kern="1200" cap="none" spc="0" normalizeH="0" baseline="-25000" noProof="0" dirty="0">
                    <a:ln>
                      <a:noFill/>
                    </a:ln>
                    <a:effectLst/>
                    <a:uLnTx/>
                    <a:uFillTx/>
                    <a:latin typeface="Cambria Math" panose="02040503050406030204" pitchFamily="18" charset="0"/>
                    <a:ea typeface="Cambria Math" panose="02040503050406030204" pitchFamily="18" charset="0"/>
                  </a:rPr>
                  <a:t>D</a:t>
                </a:r>
                <a:r>
                  <a:rPr kumimoji="0" lang="de-DE"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 = ma = 0</a:t>
                </a:r>
                <a:r>
                  <a:rPr kumimoji="0" lang="de-DE" sz="3200" b="1" u="none" strike="noStrike" kern="1200" cap="none" spc="0" normalizeH="0" noProof="0" dirty="0">
                    <a:ln>
                      <a:noFill/>
                    </a:ln>
                    <a:effectLst/>
                    <a:uLnTx/>
                    <a:uFillTx/>
                    <a:latin typeface="Cambria Math" panose="02040503050406030204" pitchFamily="18" charset="0"/>
                    <a:ea typeface="Cambria Math" panose="02040503050406030204" pitchFamily="18" charset="0"/>
                  </a:rPr>
                  <a:t>   </a:t>
                </a:r>
              </a:p>
              <a:p>
                <a:pPr marL="0" marR="0" lvl="0" indent="0" defTabSz="914400" rtl="0" eaLnBrk="1" fontAlgn="base" latinLnBrk="0" hangingPunct="1">
                  <a:lnSpc>
                    <a:spcPts val="2500"/>
                  </a:lnSpc>
                  <a:spcBef>
                    <a:spcPct val="0"/>
                  </a:spcBef>
                  <a:spcAft>
                    <a:spcPct val="0"/>
                  </a:spcAft>
                  <a:buClrTx/>
                  <a:buSzTx/>
                  <a:buFontTx/>
                  <a:buNone/>
                  <a:tabLst/>
                  <a:defRPr/>
                </a:pPr>
                <a:endParaRPr kumimoji="0" lang="en-US" sz="28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endParaRPr>
              </a:p>
              <a:p>
                <a:pPr marL="0" marR="0" lvl="0" indent="0" defTabSz="914400" rtl="0" eaLnBrk="1" fontAlgn="base" latinLnBrk="0" hangingPunct="1">
                  <a:lnSpc>
                    <a:spcPts val="2500"/>
                  </a:lnSpc>
                  <a:spcBef>
                    <a:spcPct val="0"/>
                  </a:spcBef>
                  <a:spcAft>
                    <a:spcPct val="0"/>
                  </a:spcAft>
                  <a:buClrTx/>
                  <a:buSzTx/>
                  <a:buFontTx/>
                  <a:buNone/>
                  <a:tabLst/>
                  <a:defRPr/>
                </a:pPr>
                <a:r>
                  <a:rPr kumimoji="0" lang="en-US" sz="2000" b="1" u="none" strike="noStrike" kern="1200" cap="none" spc="0" normalizeH="0" baseline="0" noProof="0" dirty="0">
                    <a:ln>
                      <a:noFill/>
                    </a:ln>
                    <a:effectLst/>
                    <a:uLnTx/>
                    <a:uFillTx/>
                    <a:latin typeface="Arial" charset="0"/>
                    <a:ea typeface="+mn-ea"/>
                    <a:cs typeface="+mn-cs"/>
                  </a:rPr>
                  <a:t>Thus, </a:t>
                </a:r>
                <a:r>
                  <a:rPr kumimoji="0" lang="en-US" sz="3200" b="1" u="none" strike="noStrike" kern="1200" cap="none" spc="0" normalizeH="0" baseline="0" noProof="0" dirty="0">
                    <a:ln>
                      <a:noFill/>
                    </a:ln>
                    <a:effectLst/>
                    <a:uLnTx/>
                    <a:uFillTx/>
                    <a:latin typeface="Cambria Math" panose="02040503050406030204" pitchFamily="18" charset="0"/>
                    <a:ea typeface="Cambria Math" panose="02040503050406030204" pitchFamily="18" charset="0"/>
                  </a:rPr>
                  <a:t>mg = F</a:t>
                </a:r>
                <a:r>
                  <a:rPr kumimoji="0" lang="de-DE" sz="3200" b="1" u="none" strike="noStrike" kern="1200" cap="none" spc="0" normalizeH="0" baseline="-25000" noProof="0" dirty="0">
                    <a:ln>
                      <a:noFill/>
                    </a:ln>
                    <a:effectLst/>
                    <a:uLnTx/>
                    <a:uFillTx/>
                    <a:latin typeface="Cambria Math" panose="02040503050406030204" pitchFamily="18" charset="0"/>
                    <a:ea typeface="Cambria Math" panose="02040503050406030204" pitchFamily="18" charset="0"/>
                  </a:rPr>
                  <a:t>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0000">
                        <a:lumMod val="50000"/>
                      </a:srgbClr>
                    </a:solidFill>
                    <a:effectLst/>
                    <a:uLnTx/>
                    <a:uFillTx/>
                    <a:latin typeface="Arial" charset="0"/>
                    <a:ea typeface="+mn-ea"/>
                    <a:cs typeface="+mn-cs"/>
                  </a:rPr>
                  <a:t>Using the equation for drag force,</a:t>
                </a:r>
                <a:br>
                  <a:rPr kumimoji="0" lang="en-US" sz="2000" b="1" i="0" u="none" strike="noStrike" kern="1200" cap="none" spc="0" normalizeH="0" baseline="0" noProof="0" dirty="0">
                    <a:ln>
                      <a:noFill/>
                    </a:ln>
                    <a:solidFill>
                      <a:srgbClr val="000000">
                        <a:lumMod val="50000"/>
                      </a:srgbClr>
                    </a:solidFill>
                    <a:effectLst/>
                    <a:uLnTx/>
                    <a:uFillTx/>
                    <a:latin typeface="Arial" charset="0"/>
                    <a:ea typeface="+mn-ea"/>
                    <a:cs typeface="+mn-cs"/>
                  </a:rPr>
                </a:br>
                <a:r>
                  <a:rPr kumimoji="0" lang="en-US" sz="2000" b="0" i="0" u="none" strike="noStrike" kern="1200" cap="none" spc="0" normalizeH="0" baseline="0" noProof="0" dirty="0">
                    <a:ln>
                      <a:noFill/>
                    </a:ln>
                    <a:solidFill>
                      <a:srgbClr val="000000">
                        <a:lumMod val="50000"/>
                      </a:srgbClr>
                    </a:solidFill>
                    <a:effectLst/>
                    <a:uLnTx/>
                    <a:uFillTx/>
                    <a:latin typeface="Arial" charset="0"/>
                    <a:ea typeface="+mn-ea"/>
                    <a:cs typeface="+mn-cs"/>
                  </a:rPr>
                  <a:t>          </a:t>
                </a:r>
                <a:r>
                  <a:rPr kumimoji="0" lang="en-US" sz="3200" b="1" u="none" strike="noStrike" kern="1200" cap="none" spc="0" normalizeH="0" baseline="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t>mg =</a:t>
                </a:r>
                <a:r>
                  <a:rPr kumimoji="0" lang="en-US" sz="3200" b="1" u="none" strike="noStrike" kern="1200" cap="none" spc="0" normalizeH="0" baseline="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cs typeface="Arial"/>
                  </a:rPr>
                  <a:t> ½</a:t>
                </a:r>
                <a:r>
                  <a:rPr kumimoji="0" lang="en-US" sz="3200" b="1" u="none" strike="noStrike" kern="1200" cap="none" spc="0" normalizeH="0" baseline="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t>C</a:t>
                </a:r>
                <a:r>
                  <a:rPr kumimoji="0" lang="el-GR" sz="3200" b="1" u="none" strike="noStrike" kern="1200" cap="none" spc="0" normalizeH="0" baseline="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t>ρ</a:t>
                </a:r>
                <a:r>
                  <a:rPr kumimoji="0" lang="en-US" sz="3200" b="1" u="none" strike="noStrike" kern="1200" cap="none" spc="0" normalizeH="0" baseline="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t>Av</a:t>
                </a:r>
                <a:r>
                  <a:rPr kumimoji="0" lang="en-US" sz="3200" b="1" u="none" strike="noStrike" kern="1200" cap="none" spc="0" normalizeH="0" baseline="3000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t>2 </a:t>
                </a:r>
                <a:br>
                  <a:rPr kumimoji="0" lang="en-US" sz="2800" b="1" u="none" strike="noStrike" kern="1200" cap="none" spc="0" normalizeH="0" baseline="3000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br>
                <a:br>
                  <a:rPr kumimoji="0" lang="en-US" sz="2800" b="1" u="none" strike="noStrike" kern="1200" cap="none" spc="0" normalizeH="0" baseline="30000" noProof="0" dirty="0">
                    <a:ln>
                      <a:noFill/>
                    </a:ln>
                    <a:solidFill>
                      <a:srgbClr val="000000">
                        <a:lumMod val="50000"/>
                      </a:srgbClr>
                    </a:solidFill>
                    <a:effectLst/>
                    <a:uLnTx/>
                    <a:uFillTx/>
                    <a:latin typeface="Cambria Math" panose="02040503050406030204" pitchFamily="18" charset="0"/>
                    <a:ea typeface="Cambria Math" panose="02040503050406030204" pitchFamily="18" charset="0"/>
                  </a:rPr>
                </a:br>
                <a:r>
                  <a:rPr kumimoji="0" lang="en-US" sz="2400" b="1" i="0" u="none" strike="noStrike" kern="1200" cap="none" spc="0" normalizeH="0" baseline="0" noProof="0" dirty="0">
                    <a:ln>
                      <a:noFill/>
                    </a:ln>
                    <a:solidFill>
                      <a:srgbClr val="000000">
                        <a:lumMod val="50000"/>
                      </a:srgbClr>
                    </a:solidFill>
                    <a:effectLst/>
                    <a:uLnTx/>
                    <a:uFillTx/>
                    <a:latin typeface="Arial" charset="0"/>
                    <a:ea typeface="+mn-ea"/>
                    <a:cs typeface="+mn-cs"/>
                  </a:rPr>
                  <a:t>Solving for the terminal velocity</a:t>
                </a:r>
                <a:r>
                  <a:rPr kumimoji="0" lang="en-US" sz="2400" b="0" i="0" u="none" strike="noStrike" kern="1200" cap="none" spc="0" normalizeH="0" baseline="0" noProof="0" dirty="0">
                    <a:ln>
                      <a:noFill/>
                    </a:ln>
                    <a:solidFill>
                      <a:srgbClr val="000000">
                        <a:lumMod val="50000"/>
                      </a:srgbClr>
                    </a:solidFill>
                    <a:effectLst/>
                    <a:uLnTx/>
                    <a:uFillTx/>
                    <a:latin typeface="Arial"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000000">
                        <a:lumMod val="50000"/>
                      </a:srgbClr>
                    </a:solidFill>
                    <a:effectLst/>
                    <a:uLnTx/>
                    <a:uFillTx/>
                    <a:latin typeface="Arial" charset="0"/>
                    <a:ea typeface="+mn-ea"/>
                    <a:cs typeface="+mn-cs"/>
                  </a:rPr>
                  <a:t> </a:t>
                </a:r>
                <a14:m>
                  <m:oMath xmlns:m="http://schemas.openxmlformats.org/officeDocument/2006/math">
                    <m:r>
                      <a:rPr lang="en-US" sz="3200" b="1" i="1" smtClean="0">
                        <a:solidFill>
                          <a:srgbClr val="000000"/>
                        </a:solidFill>
                        <a:latin typeface="Cambria Math" panose="02040503050406030204" pitchFamily="18" charset="0"/>
                      </a:rPr>
                      <m:t>𝒗</m:t>
                    </m:r>
                    <m:r>
                      <a:rPr lang="en-US" sz="3200" b="1" i="1" smtClean="0">
                        <a:solidFill>
                          <a:srgbClr val="000000"/>
                        </a:solidFill>
                        <a:latin typeface="Cambria Math" panose="02040503050406030204" pitchFamily="18" charset="0"/>
                      </a:rPr>
                      <m:t>=</m:t>
                    </m:r>
                    <m:rad>
                      <m:radPr>
                        <m:degHide m:val="on"/>
                        <m:ctrlPr>
                          <a:rPr lang="en-US" sz="3200" b="1" i="1">
                            <a:solidFill>
                              <a:srgbClr val="000000"/>
                            </a:solidFill>
                            <a:latin typeface="Cambria Math" panose="02040503050406030204" pitchFamily="18" charset="0"/>
                          </a:rPr>
                        </m:ctrlPr>
                      </m:radPr>
                      <m:deg/>
                      <m:e>
                        <m:f>
                          <m:fPr>
                            <m:ctrlPr>
                              <a:rPr lang="en-US" sz="3200" b="1" i="1">
                                <a:solidFill>
                                  <a:srgbClr val="000000"/>
                                </a:solidFill>
                                <a:latin typeface="Cambria Math" panose="02040503050406030204" pitchFamily="18" charset="0"/>
                              </a:rPr>
                            </m:ctrlPr>
                          </m:fPr>
                          <m:num>
                            <m:r>
                              <a:rPr lang="en-US" sz="3200" b="1" i="1">
                                <a:solidFill>
                                  <a:srgbClr val="000000"/>
                                </a:solidFill>
                                <a:latin typeface="Cambria Math" panose="02040503050406030204" pitchFamily="18" charset="0"/>
                              </a:rPr>
                              <m:t>𝟐</m:t>
                            </m:r>
                            <m:r>
                              <a:rPr lang="en-US" sz="3200" b="1" i="1">
                                <a:solidFill>
                                  <a:srgbClr val="000000"/>
                                </a:solidFill>
                                <a:latin typeface="Cambria Math" panose="02040503050406030204" pitchFamily="18" charset="0"/>
                              </a:rPr>
                              <m:t>𝒎𝒈</m:t>
                            </m:r>
                          </m:num>
                          <m:den>
                            <m:r>
                              <a:rPr lang="en-US" sz="3200" b="1" i="1">
                                <a:solidFill>
                                  <a:srgbClr val="000000"/>
                                </a:solidFill>
                                <a:latin typeface="Cambria Math" panose="02040503050406030204" pitchFamily="18" charset="0"/>
                              </a:rPr>
                              <m:t>𝝆</m:t>
                            </m:r>
                            <m:r>
                              <a:rPr lang="en-US" sz="3200" b="1" i="1">
                                <a:solidFill>
                                  <a:srgbClr val="000000"/>
                                </a:solidFill>
                                <a:latin typeface="Cambria Math" panose="02040503050406030204" pitchFamily="18" charset="0"/>
                              </a:rPr>
                              <m:t>𝑪𝑨</m:t>
                            </m:r>
                          </m:den>
                        </m:f>
                      </m:e>
                    </m:rad>
                  </m:oMath>
                </a14:m>
                <a:endParaRPr kumimoji="0" lang="en-US" sz="3200" b="0" i="0" u="none" strike="noStrike" kern="1200" cap="none" spc="0" normalizeH="0" baseline="0" noProof="0" dirty="0">
                  <a:ln>
                    <a:noFill/>
                  </a:ln>
                  <a:solidFill>
                    <a:srgbClr val="000000">
                      <a:lumMod val="50000"/>
                    </a:srgbClr>
                  </a:solidFill>
                  <a:effectLst/>
                  <a:uLnTx/>
                  <a:uFillTx/>
                  <a:latin typeface="Arial"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148682" y="681279"/>
                <a:ext cx="8863661" cy="5757282"/>
              </a:xfrm>
              <a:prstGeom prst="rect">
                <a:avLst/>
              </a:prstGeom>
              <a:blipFill>
                <a:blip r:embed="rId3"/>
                <a:stretch>
                  <a:fillRect l="-1719" t="-742"/>
                </a:stretch>
              </a:blipFill>
            </p:spPr>
            <p:txBody>
              <a:bodyPr/>
              <a:lstStyle/>
              <a:p>
                <a:r>
                  <a:rPr lang="en-US">
                    <a:noFill/>
                  </a:rPr>
                  <a:t> </a:t>
                </a:r>
              </a:p>
            </p:txBody>
          </p:sp>
        </mc:Fallback>
      </mc:AlternateContent>
      <p:pic>
        <p:nvPicPr>
          <p:cNvPr id="31748" name="Picture 4" descr=" Skydiving"/>
          <p:cNvPicPr>
            <a:picLocks noChangeAspect="1" noChangeArrowheads="1"/>
          </p:cNvPicPr>
          <p:nvPr/>
        </p:nvPicPr>
        <p:blipFill>
          <a:blip r:embed="rId4" cstate="print"/>
          <a:srcRect/>
          <a:stretch>
            <a:fillRect/>
          </a:stretch>
        </p:blipFill>
        <p:spPr bwMode="auto">
          <a:xfrm>
            <a:off x="5152477" y="3000436"/>
            <a:ext cx="3611182" cy="2947162"/>
          </a:xfrm>
          <a:prstGeom prst="rect">
            <a:avLst/>
          </a:prstGeom>
          <a:noFill/>
          <a:ln>
            <a:solidFill>
              <a:schemeClr val="accent1"/>
            </a:solidFill>
          </a:ln>
        </p:spPr>
      </p:pic>
      <p:pic>
        <p:nvPicPr>
          <p:cNvPr id="8" name="Picture 7" descr="OpenStax logo">
            <a:extLst>
              <a:ext uri="{FF2B5EF4-FFF2-40B4-BE49-F238E27FC236}">
                <a16:creationId xmlns:a16="http://schemas.microsoft.com/office/drawing/2014/main" id="{F251D12D-139C-4045-7AC5-48E009D6908F}"/>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550013" y="6284889"/>
            <a:ext cx="495965" cy="337101"/>
          </a:xfrm>
          <a:prstGeom prst="rect">
            <a:avLst/>
          </a:prstGeom>
        </p:spPr>
      </p:pic>
    </p:spTree>
    <p:extLst>
      <p:ext uri="{BB962C8B-B14F-4D97-AF65-F5344CB8AC3E}">
        <p14:creationId xmlns:p14="http://schemas.microsoft.com/office/powerpoint/2010/main" val="9904794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F4E-5CFE-412C-B91F-F3563AFFE66E}"/>
              </a:ext>
            </a:extLst>
          </p:cNvPr>
          <p:cNvSpPr>
            <a:spLocks noGrp="1"/>
          </p:cNvSpPr>
          <p:nvPr>
            <p:ph type="title"/>
          </p:nvPr>
        </p:nvSpPr>
        <p:spPr/>
        <p:txBody>
          <a:bodyPr>
            <a:normAutofit/>
          </a:bodyPr>
          <a:lstStyle/>
          <a:p>
            <a:pPr algn="ctr"/>
            <a:r>
              <a:rPr lang="en-US" sz="2800" dirty="0">
                <a:solidFill>
                  <a:schemeClr val="tx1"/>
                </a:solidFill>
              </a:rPr>
              <a:t>Chapter 6 Review</a:t>
            </a:r>
          </a:p>
        </p:txBody>
      </p:sp>
      <p:sp>
        <p:nvSpPr>
          <p:cNvPr id="4" name="Text Placeholder 3">
            <a:extLst>
              <a:ext uri="{FF2B5EF4-FFF2-40B4-BE49-F238E27FC236}">
                <a16:creationId xmlns:a16="http://schemas.microsoft.com/office/drawing/2014/main" id="{8ACF2BEB-4CD7-4206-AF5F-C4652726325D}"/>
              </a:ext>
            </a:extLst>
          </p:cNvPr>
          <p:cNvSpPr>
            <a:spLocks noGrp="1"/>
          </p:cNvSpPr>
          <p:nvPr>
            <p:ph type="body" sz="quarter" idx="14"/>
          </p:nvPr>
        </p:nvSpPr>
        <p:spPr>
          <a:xfrm>
            <a:off x="457200" y="1277296"/>
            <a:ext cx="8062912" cy="3370904"/>
          </a:xfrm>
        </p:spPr>
        <p:txBody>
          <a:bodyPr>
            <a:normAutofit fontScale="92500" lnSpcReduction="10000"/>
          </a:bodyPr>
          <a:lstStyle/>
          <a:p>
            <a:r>
              <a:rPr lang="en-US" sz="3000" b="1" dirty="0"/>
              <a:t> </a:t>
            </a:r>
            <a:r>
              <a:rPr lang="en-US" sz="2800" dirty="0"/>
              <a:t> </a:t>
            </a:r>
          </a:p>
          <a:p>
            <a:r>
              <a:rPr lang="en-US" sz="2400" dirty="0"/>
              <a:t> </a:t>
            </a:r>
          </a:p>
          <a:p>
            <a:pPr marL="0" marR="0" lvl="0" indent="0" algn="l" defTabSz="914400" rtl="0" eaLnBrk="0" fontAlgn="base" latinLnBrk="0" hangingPunct="0">
              <a:lnSpc>
                <a:spcPct val="200000"/>
              </a:lnSpc>
              <a:spcBef>
                <a:spcPct val="0"/>
              </a:spcBef>
              <a:spcAft>
                <a:spcPct val="0"/>
              </a:spcAft>
              <a:buClr>
                <a:srgbClr val="0000FF"/>
              </a:buClr>
              <a:buSzTx/>
              <a:buFontTx/>
              <a:buChar char="•"/>
              <a:tabLst/>
            </a:pPr>
            <a:r>
              <a:rPr kumimoji="0" lang="en-US" altLang="en-US" sz="2800" b="1" i="0" u="none" strike="noStrike" cap="none" normalizeH="0" baseline="0" dirty="0">
                <a:ln>
                  <a:noFill/>
                </a:ln>
                <a:solidFill>
                  <a:srgbClr val="3333FF"/>
                </a:solidFill>
                <a:effectLst/>
                <a:latin typeface="Arial" panose="020B0604020202020204" pitchFamily="34" charset="0"/>
              </a:rPr>
              <a:t> </a:t>
            </a:r>
            <a:r>
              <a:rPr kumimoji="0" lang="en-US" altLang="en-US" sz="2800" b="1" i="0" u="none" strike="noStrike" cap="none" normalizeH="0" baseline="0" dirty="0">
                <a:ln>
                  <a:noFill/>
                </a:ln>
                <a:solidFill>
                  <a:schemeClr val="tx1"/>
                </a:solidFill>
                <a:effectLst/>
                <a:latin typeface="Arial" panose="020B0604020202020204" pitchFamily="34" charset="0"/>
                <a:hlinkClick r:id="rId2"/>
              </a:rPr>
              <a:t>Key Terms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
                <a:srgbClr val="0000FF"/>
              </a:buClr>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3"/>
              </a:rPr>
              <a:t>Key Equations</a:t>
            </a: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
                <a:srgbClr val="0000FF"/>
              </a:buClr>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hlinkClick r:id="rId4"/>
              </a:rPr>
              <a:t>Summary</a:t>
            </a:r>
            <a:r>
              <a:rPr kumimoji="0" lang="en-US" altLang="en-US" sz="28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2800" b="1" i="0" u="none" strike="noStrike" cap="none" normalizeH="0" baseline="0" dirty="0">
              <a:ln>
                <a:noFill/>
              </a:ln>
              <a:solidFill>
                <a:srgbClr val="3333FF"/>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
                <a:srgbClr val="0066FF"/>
              </a:buClr>
              <a:buSzTx/>
              <a:buFontTx/>
              <a:buChar char="•"/>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a:buClrTx/>
              <a:buFont typeface="+mj-lt"/>
              <a:buAutoNum type="arabicPeriod"/>
            </a:pPr>
            <a:endParaRPr lang="en-US" sz="2800" b="1" dirty="0">
              <a:solidFill>
                <a:srgbClr val="3333FF"/>
              </a:solidFill>
            </a:endParaRPr>
          </a:p>
          <a:p>
            <a:endParaRPr lang="en-US" sz="3000" b="1" dirty="0"/>
          </a:p>
          <a:p>
            <a:endParaRPr lang="en-US" dirty="0"/>
          </a:p>
        </p:txBody>
      </p:sp>
      <p:pic>
        <p:nvPicPr>
          <p:cNvPr id="3" name="Picture 2" descr="Raji K Physics Logo">
            <a:extLst>
              <a:ext uri="{FF2B5EF4-FFF2-40B4-BE49-F238E27FC236}">
                <a16:creationId xmlns:a16="http://schemas.microsoft.com/office/drawing/2014/main" id="{A7A06C89-1A4E-F029-ABE7-E783A9FC9AE4}"/>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253572" y="6431370"/>
            <a:ext cx="738028" cy="304800"/>
          </a:xfrm>
          <a:prstGeom prst="rect">
            <a:avLst/>
          </a:prstGeom>
        </p:spPr>
      </p:pic>
    </p:spTree>
    <p:extLst>
      <p:ext uri="{BB962C8B-B14F-4D97-AF65-F5344CB8AC3E}">
        <p14:creationId xmlns:p14="http://schemas.microsoft.com/office/powerpoint/2010/main" val="41759395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2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3.xml><?xml version="1.0" encoding="utf-8"?>
<a:theme xmlns:a="http://schemas.openxmlformats.org/drawingml/2006/main" name="4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4.xml><?xml version="1.0" encoding="utf-8"?>
<a:theme xmlns:a="http://schemas.openxmlformats.org/drawingml/2006/main" name="5_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5.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fa5be20-dc39-4186-a780-7e1bcec99d18}" enabled="1" method="Standard" siteId="{c5063431-d7f2-48db-ac62-eaeaa2e0bffc}" removed="0"/>
</clbl:labelList>
</file>

<file path=docProps/app.xml><?xml version="1.0" encoding="utf-8"?>
<Properties xmlns="http://schemas.openxmlformats.org/officeDocument/2006/extended-properties" xmlns:vt="http://schemas.openxmlformats.org/officeDocument/2006/docPropsVTypes">
  <Template/>
  <TotalTime>6292</TotalTime>
  <Words>1957</Words>
  <Application>Microsoft Office PowerPoint</Application>
  <PresentationFormat>On-screen Show (4:3)</PresentationFormat>
  <Paragraphs>262</Paragraphs>
  <Slides>30</Slides>
  <Notes>17</Notes>
  <HiddenSlides>0</HiddenSlides>
  <MMClips>0</MMClips>
  <ScaleCrop>false</ScaleCrop>
  <HeadingPairs>
    <vt:vector size="6" baseType="variant">
      <vt:variant>
        <vt:lpstr>Fonts Used</vt:lpstr>
      </vt:variant>
      <vt:variant>
        <vt:i4>15</vt:i4>
      </vt:variant>
      <vt:variant>
        <vt:lpstr>Theme</vt:lpstr>
      </vt:variant>
      <vt:variant>
        <vt:i4>6</vt:i4>
      </vt:variant>
      <vt:variant>
        <vt:lpstr>Slide Titles</vt:lpstr>
      </vt:variant>
      <vt:variant>
        <vt:i4>30</vt:i4>
      </vt:variant>
    </vt:vector>
  </HeadingPairs>
  <TitlesOfParts>
    <vt:vector size="51" baseType="lpstr">
      <vt:lpstr>Batang</vt:lpstr>
      <vt:lpstr>Arial</vt:lpstr>
      <vt:lpstr>Arial Black</vt:lpstr>
      <vt:lpstr>Calibri</vt:lpstr>
      <vt:lpstr>Cambria Math</vt:lpstr>
      <vt:lpstr>Canva Sans</vt:lpstr>
      <vt:lpstr>Comic Sans MS</vt:lpstr>
      <vt:lpstr>Frog</vt:lpstr>
      <vt:lpstr>Glacial Indifference Bold</vt:lpstr>
      <vt:lpstr>MathJax_Main</vt:lpstr>
      <vt:lpstr>MathJax_Math</vt:lpstr>
      <vt:lpstr>MathJax_Math-italic</vt:lpstr>
      <vt:lpstr>Neue Helvetica W01</vt:lpstr>
      <vt:lpstr>Times New Roman</vt:lpstr>
      <vt:lpstr>Wingdings</vt:lpstr>
      <vt:lpstr>1_Essential</vt:lpstr>
      <vt:lpstr>2_Essential</vt:lpstr>
      <vt:lpstr>4_Essential</vt:lpstr>
      <vt:lpstr>5_Essential</vt:lpstr>
      <vt:lpstr>1_Default Design</vt:lpstr>
      <vt:lpstr>Essential</vt:lpstr>
      <vt:lpstr>UNIVERSITY PHYSICS I Lecture Slides  CHAPTER 6 Applications of Newton's Laws </vt:lpstr>
      <vt:lpstr>CHAPTER 6 Applications of Newton's Laws</vt:lpstr>
      <vt:lpstr>Connected masses problem</vt:lpstr>
      <vt:lpstr>Connected masses problem - solution</vt:lpstr>
      <vt:lpstr>Sliding and Hanging mass</vt:lpstr>
      <vt:lpstr>Free body diagram</vt:lpstr>
      <vt:lpstr>Sliding and Hanging mass Solution</vt:lpstr>
      <vt:lpstr>Free-Body Diagrams of  an Object on an Inclined Plane</vt:lpstr>
      <vt:lpstr>  Free-Body Diagrams of  an Object on an Inclined Plane  </vt:lpstr>
      <vt:lpstr>ATWOOD MACHINE</vt:lpstr>
      <vt:lpstr>Bathroom Scale in an Elevator </vt:lpstr>
      <vt:lpstr>  FRICTION FORCE</vt:lpstr>
      <vt:lpstr>TYPES OF FRICTION </vt:lpstr>
      <vt:lpstr>COEFFICIENT OF   FRICTION</vt:lpstr>
      <vt:lpstr> FRICTION WITH APPLIED FORCE</vt:lpstr>
      <vt:lpstr>APPLIED FORCE VS FRICTION (Use slide show mode)</vt:lpstr>
      <vt:lpstr>Table 6.1 Approximate Coefficients of Static and Kinetic Friction</vt:lpstr>
      <vt:lpstr>  FRICTION FOR ROLLING MOTION</vt:lpstr>
      <vt:lpstr>FORCE OF FRICTION can occur</vt:lpstr>
      <vt:lpstr>The Force of Friction-ANSWER</vt:lpstr>
      <vt:lpstr>When Sam pushes a refrigerator across a kitchen floor at a constant speed, the force of friction between the refrigerator and the floor is</vt:lpstr>
      <vt:lpstr>When Sam pushes a refrigerator across a kitchen floor at a constant speed, the force of friction between the refrigerator and the floor is</vt:lpstr>
      <vt:lpstr>Static and Kinetic Friction Problem</vt:lpstr>
      <vt:lpstr>FIND COEFFICIENT OF KINETIC FRICTION </vt:lpstr>
      <vt:lpstr>PUSHING OR  PULLING</vt:lpstr>
      <vt:lpstr> DRAG FORCES</vt:lpstr>
      <vt:lpstr>FALLING OBJECT WITH AIR RESISTANCE</vt:lpstr>
      <vt:lpstr>TERMINAL VELOCITY (Use slide show mode)</vt:lpstr>
      <vt:lpstr>TERMINAL VELOCITY EQUATION</vt:lpstr>
      <vt:lpstr>Chapter 6 Review</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Dr. Raji Kannampuzha</dc:creator>
  <cp:lastModifiedBy>Dr.Raji</cp:lastModifiedBy>
  <cp:revision>170</cp:revision>
  <dcterms:created xsi:type="dcterms:W3CDTF">2012-06-04T02:13:36Z</dcterms:created>
  <dcterms:modified xsi:type="dcterms:W3CDTF">2025-10-24T04:43:14Z</dcterms:modified>
</cp:coreProperties>
</file>