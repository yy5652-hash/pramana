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4.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5.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 id="2147483921" r:id="rId2"/>
    <p:sldMasterId id="2147483928" r:id="rId3"/>
    <p:sldMasterId id="2147483935" r:id="rId4"/>
    <p:sldMasterId id="2147483942" r:id="rId5"/>
    <p:sldMasterId id="2147484027" r:id="rId6"/>
  </p:sldMasterIdLst>
  <p:notesMasterIdLst>
    <p:notesMasterId r:id="rId44"/>
  </p:notesMasterIdLst>
  <p:handoutMasterIdLst>
    <p:handoutMasterId r:id="rId45"/>
  </p:handoutMasterIdLst>
  <p:sldIdLst>
    <p:sldId id="374" r:id="rId7"/>
    <p:sldId id="411" r:id="rId8"/>
    <p:sldId id="277" r:id="rId9"/>
    <p:sldId id="416" r:id="rId10"/>
    <p:sldId id="273" r:id="rId11"/>
    <p:sldId id="280" r:id="rId12"/>
    <p:sldId id="409" r:id="rId13"/>
    <p:sldId id="417" r:id="rId14"/>
    <p:sldId id="419" r:id="rId15"/>
    <p:sldId id="401" r:id="rId16"/>
    <p:sldId id="287" r:id="rId17"/>
    <p:sldId id="353" r:id="rId18"/>
    <p:sldId id="354" r:id="rId19"/>
    <p:sldId id="420" r:id="rId20"/>
    <p:sldId id="422" r:id="rId21"/>
    <p:sldId id="346" r:id="rId22"/>
    <p:sldId id="290" r:id="rId23"/>
    <p:sldId id="347" r:id="rId24"/>
    <p:sldId id="423" r:id="rId25"/>
    <p:sldId id="358" r:id="rId26"/>
    <p:sldId id="348" r:id="rId27"/>
    <p:sldId id="298" r:id="rId28"/>
    <p:sldId id="424" r:id="rId29"/>
    <p:sldId id="404" r:id="rId30"/>
    <p:sldId id="405" r:id="rId31"/>
    <p:sldId id="292" r:id="rId32"/>
    <p:sldId id="310" r:id="rId33"/>
    <p:sldId id="304" r:id="rId34"/>
    <p:sldId id="282" r:id="rId35"/>
    <p:sldId id="363" r:id="rId36"/>
    <p:sldId id="368" r:id="rId37"/>
    <p:sldId id="369" r:id="rId38"/>
    <p:sldId id="371" r:id="rId39"/>
    <p:sldId id="372" r:id="rId40"/>
    <p:sldId id="410" r:id="rId41"/>
    <p:sldId id="427" r:id="rId42"/>
    <p:sldId id="378"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257DFF"/>
    <a:srgbClr val="6CB255"/>
    <a:srgbClr val="E5D419"/>
    <a:srgbClr val="212F62"/>
    <a:srgbClr val="72A510"/>
    <a:srgbClr val="A4EC1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9" autoAdjust="0"/>
    <p:restoredTop sz="86456" autoAdjust="0"/>
  </p:normalViewPr>
  <p:slideViewPr>
    <p:cSldViewPr snapToGrid="0" snapToObjects="1">
      <p:cViewPr varScale="1">
        <p:scale>
          <a:sx n="89" d="100"/>
          <a:sy n="89" d="100"/>
        </p:scale>
        <p:origin x="118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sree Kannampuzha" userId="S::rkannampuzha@collin.edu::94045377-cf84-4a1c-b9ee-8be93f9e6e89" providerId="AD" clId="Web-{433A0113-83F8-0881-C6E0-3A1873DE85A3}"/>
    <pc:docChg chg="modSld">
      <pc:chgData name="Rajasree Kannampuzha" userId="S::rkannampuzha@collin.edu::94045377-cf84-4a1c-b9ee-8be93f9e6e89" providerId="AD" clId="Web-{433A0113-83F8-0881-C6E0-3A1873DE85A3}" dt="2025-10-14T23:03:12.192" v="4" actId="14100"/>
      <pc:docMkLst>
        <pc:docMk/>
      </pc:docMkLst>
      <pc:sldChg chg="modSp">
        <pc:chgData name="Rajasree Kannampuzha" userId="S::rkannampuzha@collin.edu::94045377-cf84-4a1c-b9ee-8be93f9e6e89" providerId="AD" clId="Web-{433A0113-83F8-0881-C6E0-3A1873DE85A3}" dt="2025-10-14T23:03:12.192" v="4" actId="14100"/>
        <pc:sldMkLst>
          <pc:docMk/>
          <pc:sldMk cId="201616528" sldId="374"/>
        </pc:sldMkLst>
        <pc:spChg chg="mod">
          <ac:chgData name="Rajasree Kannampuzha" userId="S::rkannampuzha@collin.edu::94045377-cf84-4a1c-b9ee-8be93f9e6e89" providerId="AD" clId="Web-{433A0113-83F8-0881-C6E0-3A1873DE85A3}" dt="2025-10-14T23:03:12.192" v="4" actId="14100"/>
          <ac:spMkLst>
            <pc:docMk/>
            <pc:sldMk cId="201616528" sldId="374"/>
            <ac:spMk id="4" creationId="{69AF53B8-AEA0-124B-F7E7-DB21550AB102}"/>
          </ac:spMkLst>
        </pc:spChg>
      </pc:sldChg>
    </pc:docChg>
  </pc:docChgLst>
  <pc:docChgLst>
    <pc:chgData clId="Web-{2A64C568-2C3D-BA47-6B4A-BB48701D5FCC}"/>
    <pc:docChg chg="modSld">
      <pc:chgData name="" userId="" providerId="" clId="Web-{2A64C568-2C3D-BA47-6B4A-BB48701D5FCC}" dt="2025-10-14T23:02:15.045" v="0" actId="20577"/>
      <pc:docMkLst>
        <pc:docMk/>
      </pc:docMkLst>
      <pc:sldChg chg="modSp">
        <pc:chgData name="" userId="" providerId="" clId="Web-{2A64C568-2C3D-BA47-6B4A-BB48701D5FCC}" dt="2025-10-14T23:02:15.045" v="0" actId="20577"/>
        <pc:sldMkLst>
          <pc:docMk/>
          <pc:sldMk cId="201616528" sldId="374"/>
        </pc:sldMkLst>
        <pc:spChg chg="mod">
          <ac:chgData name="" userId="" providerId="" clId="Web-{2A64C568-2C3D-BA47-6B4A-BB48701D5FCC}" dt="2025-10-14T23:02:15.045" v="0" actId="20577"/>
          <ac:spMkLst>
            <pc:docMk/>
            <pc:sldMk cId="201616528" sldId="374"/>
            <ac:spMk id="4" creationId="{69AF53B8-AEA0-124B-F7E7-DB21550AB102}"/>
          </ac:spMkLst>
        </pc:spChg>
      </pc:sldChg>
    </pc:docChg>
  </pc:docChgLst>
  <pc:docChgLst>
    <pc:chgData clId="Web-{433A0113-83F8-0881-C6E0-3A1873DE85A3}"/>
    <pc:docChg chg="modSld">
      <pc:chgData name="" userId="" providerId="" clId="Web-{433A0113-83F8-0881-C6E0-3A1873DE85A3}" dt="2025-10-14T23:02:53.645" v="0" actId="14100"/>
      <pc:docMkLst>
        <pc:docMk/>
      </pc:docMkLst>
      <pc:sldChg chg="modSp">
        <pc:chgData name="" userId="" providerId="" clId="Web-{433A0113-83F8-0881-C6E0-3A1873DE85A3}" dt="2025-10-14T23:02:53.645" v="0" actId="14100"/>
        <pc:sldMkLst>
          <pc:docMk/>
          <pc:sldMk cId="201616528" sldId="374"/>
        </pc:sldMkLst>
        <pc:spChg chg="mod">
          <ac:chgData name="" userId="" providerId="" clId="Web-{433A0113-83F8-0881-C6E0-3A1873DE85A3}" dt="2025-10-14T23:02:53.645" v="0" actId="14100"/>
          <ac:spMkLst>
            <pc:docMk/>
            <pc:sldMk cId="201616528" sldId="374"/>
            <ac:spMk id="4" creationId="{69AF53B8-AEA0-124B-F7E7-DB21550AB102}"/>
          </ac:spMkLst>
        </pc:spChg>
      </pc:sldChg>
    </pc:docChg>
  </pc:docChgLst>
  <pc:docChgLst>
    <pc:chgData name="Rajasree Kannampuzha" userId="S::rkannampuzha@collin.edu::94045377-cf84-4a1c-b9ee-8be93f9e6e89" providerId="AD" clId="Web-{0373E006-EDCA-EE89-27C6-DF5CBB2CC6FC}"/>
    <pc:docChg chg="modSld">
      <pc:chgData name="Rajasree Kannampuzha" userId="S::rkannampuzha@collin.edu::94045377-cf84-4a1c-b9ee-8be93f9e6e89" providerId="AD" clId="Web-{0373E006-EDCA-EE89-27C6-DF5CBB2CC6FC}" dt="2025-10-14T21:43:40.449" v="32" actId="1076"/>
      <pc:docMkLst>
        <pc:docMk/>
      </pc:docMkLst>
      <pc:sldChg chg="modSp">
        <pc:chgData name="Rajasree Kannampuzha" userId="S::rkannampuzha@collin.edu::94045377-cf84-4a1c-b9ee-8be93f9e6e89" providerId="AD" clId="Web-{0373E006-EDCA-EE89-27C6-DF5CBB2CC6FC}" dt="2025-10-14T21:43:40.449" v="32" actId="1076"/>
        <pc:sldMkLst>
          <pc:docMk/>
          <pc:sldMk cId="201616528" sldId="374"/>
        </pc:sldMkLst>
        <pc:spChg chg="mod">
          <ac:chgData name="Rajasree Kannampuzha" userId="S::rkannampuzha@collin.edu::94045377-cf84-4a1c-b9ee-8be93f9e6e89" providerId="AD" clId="Web-{0373E006-EDCA-EE89-27C6-DF5CBB2CC6FC}" dt="2025-10-14T21:41:12.166" v="30" actId="20577"/>
          <ac:spMkLst>
            <pc:docMk/>
            <pc:sldMk cId="201616528" sldId="374"/>
            <ac:spMk id="4" creationId="{69AF53B8-AEA0-124B-F7E7-DB21550AB102}"/>
          </ac:spMkLst>
        </pc:spChg>
        <pc:spChg chg="mod">
          <ac:chgData name="Rajasree Kannampuzha" userId="S::rkannampuzha@collin.edu::94045377-cf84-4a1c-b9ee-8be93f9e6e89" providerId="AD" clId="Web-{0373E006-EDCA-EE89-27C6-DF5CBB2CC6FC}" dt="2025-10-14T21:43:40.449" v="32" actId="1076"/>
          <ac:spMkLst>
            <pc:docMk/>
            <pc:sldMk cId="201616528" sldId="374"/>
            <ac:spMk id="9" creationId="{0A064A47-CEA7-59B0-0459-E9AEF9D147E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8D041A-73BB-E643-A8C7-50D88C2F22F5}" type="datetimeFigureOut">
              <a:rPr lang="en-US" smtClean="0"/>
              <a:t>10/23/2025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36EFEC5-3018-A548-B247-453C6EC1EC1A}" type="slidenum">
              <a:rPr lang="en-US" smtClean="0"/>
              <a:t>‹#›</a:t>
            </a:fld>
            <a:endParaRPr lang="en-US"/>
          </a:p>
        </p:txBody>
      </p:sp>
    </p:spTree>
    <p:extLst>
      <p:ext uri="{BB962C8B-B14F-4D97-AF65-F5344CB8AC3E}">
        <p14:creationId xmlns:p14="http://schemas.microsoft.com/office/powerpoint/2010/main" val="13300572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1094BF-2DB4-4938-868A-B336FD0148DD}" type="datetimeFigureOut">
              <a:rPr lang="en-US" smtClean="0"/>
              <a:t>10/23/2025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406B1F-EA70-4684-95F9-5AA175060A0C}" type="slidenum">
              <a:rPr lang="en-US" smtClean="0"/>
              <a:t>‹#›</a:t>
            </a:fld>
            <a:endParaRPr lang="en-US"/>
          </a:p>
        </p:txBody>
      </p:sp>
    </p:spTree>
    <p:extLst>
      <p:ext uri="{BB962C8B-B14F-4D97-AF65-F5344CB8AC3E}">
        <p14:creationId xmlns:p14="http://schemas.microsoft.com/office/powerpoint/2010/main" val="707998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r" eaLnBrk="0" fontAlgn="base" hangingPunct="0">
              <a:spcBef>
                <a:spcPct val="0"/>
              </a:spcBef>
              <a:spcAft>
                <a:spcPct val="0"/>
              </a:spcAft>
              <a:defRPr sz="2400">
                <a:solidFill>
                  <a:schemeClr val="tx1"/>
                </a:solidFill>
                <a:latin typeface="Arial" panose="020B0604020202020204" pitchFamily="34" charset="0"/>
              </a:defRPr>
            </a:lvl6pPr>
            <a:lvl7pPr marL="2971800" indent="-228600" algn="r" eaLnBrk="0" fontAlgn="base" hangingPunct="0">
              <a:spcBef>
                <a:spcPct val="0"/>
              </a:spcBef>
              <a:spcAft>
                <a:spcPct val="0"/>
              </a:spcAft>
              <a:defRPr sz="2400">
                <a:solidFill>
                  <a:schemeClr val="tx1"/>
                </a:solidFill>
                <a:latin typeface="Arial" panose="020B0604020202020204" pitchFamily="34" charset="0"/>
              </a:defRPr>
            </a:lvl7pPr>
            <a:lvl8pPr marL="3429000" indent="-228600" algn="r" eaLnBrk="0" fontAlgn="base" hangingPunct="0">
              <a:spcBef>
                <a:spcPct val="0"/>
              </a:spcBef>
              <a:spcAft>
                <a:spcPct val="0"/>
              </a:spcAft>
              <a:defRPr sz="2400">
                <a:solidFill>
                  <a:schemeClr val="tx1"/>
                </a:solidFill>
                <a:latin typeface="Arial" panose="020B0604020202020204" pitchFamily="34" charset="0"/>
              </a:defRPr>
            </a:lvl8pPr>
            <a:lvl9pPr marL="3886200" indent="-228600" algn="r"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3D917B4-2C58-46CD-BB32-3FCA4BE117B7}"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32564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09C63DDC-56CD-4604-A9C9-F6092C07759A}" type="slidenum">
              <a:rPr lang="en-US" smtClean="0">
                <a:solidFill>
                  <a:prstClr val="black"/>
                </a:solidFill>
              </a:rPr>
              <a:pPr/>
              <a:t>12</a:t>
            </a:fld>
            <a:endParaRPr lang="en-US">
              <a:solidFill>
                <a:prstClr val="black"/>
              </a:solidFill>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09393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495412-69F8-4244-8191-820F78B7E056}"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2330183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495412-69F8-4244-8191-820F78B7E056}" type="slidenum">
              <a:rPr lang="en-US" smtClean="0"/>
              <a:pPr/>
              <a:t>20</a:t>
            </a:fld>
            <a:endParaRPr lang="en-US"/>
          </a:p>
        </p:txBody>
      </p:sp>
    </p:spTree>
    <p:extLst>
      <p:ext uri="{BB962C8B-B14F-4D97-AF65-F5344CB8AC3E}">
        <p14:creationId xmlns:p14="http://schemas.microsoft.com/office/powerpoint/2010/main" val="3236484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r" eaLnBrk="0" fontAlgn="base" hangingPunct="0">
              <a:spcBef>
                <a:spcPct val="0"/>
              </a:spcBef>
              <a:spcAft>
                <a:spcPct val="0"/>
              </a:spcAft>
              <a:defRPr sz="2400">
                <a:solidFill>
                  <a:schemeClr val="tx1"/>
                </a:solidFill>
                <a:latin typeface="Arial" panose="020B0604020202020204" pitchFamily="34" charset="0"/>
              </a:defRPr>
            </a:lvl6pPr>
            <a:lvl7pPr marL="2971800" indent="-228600" algn="r" eaLnBrk="0" fontAlgn="base" hangingPunct="0">
              <a:spcBef>
                <a:spcPct val="0"/>
              </a:spcBef>
              <a:spcAft>
                <a:spcPct val="0"/>
              </a:spcAft>
              <a:defRPr sz="2400">
                <a:solidFill>
                  <a:schemeClr val="tx1"/>
                </a:solidFill>
                <a:latin typeface="Arial" panose="020B0604020202020204" pitchFamily="34" charset="0"/>
              </a:defRPr>
            </a:lvl7pPr>
            <a:lvl8pPr marL="3429000" indent="-228600" algn="r" eaLnBrk="0" fontAlgn="base" hangingPunct="0">
              <a:spcBef>
                <a:spcPct val="0"/>
              </a:spcBef>
              <a:spcAft>
                <a:spcPct val="0"/>
              </a:spcAft>
              <a:defRPr sz="2400">
                <a:solidFill>
                  <a:schemeClr val="tx1"/>
                </a:solidFill>
                <a:latin typeface="Arial" panose="020B0604020202020204" pitchFamily="34" charset="0"/>
              </a:defRPr>
            </a:lvl8pPr>
            <a:lvl9pPr marL="3886200" indent="-228600" algn="r" eaLnBrk="0" fontAlgn="base" hangingPunct="0">
              <a:spcBef>
                <a:spcPct val="0"/>
              </a:spcBef>
              <a:spcAft>
                <a:spcPct val="0"/>
              </a:spcAft>
              <a:defRPr sz="2400">
                <a:solidFill>
                  <a:schemeClr val="tx1"/>
                </a:solidFill>
                <a:latin typeface="Arial" panose="020B0604020202020204" pitchFamily="34" charset="0"/>
              </a:defRPr>
            </a:lvl9pPr>
          </a:lstStyle>
          <a:p>
            <a:fld id="{537BFAD4-7BBC-40BC-9D6B-8DFC2D52DCEF}" type="slidenum">
              <a:rPr lang="en-US" altLang="en-US" sz="1200">
                <a:latin typeface="Times New Roman" panose="02020603050405020304" pitchFamily="18" charset="0"/>
              </a:rPr>
              <a:pPr/>
              <a:t>24</a:t>
            </a:fld>
            <a:endParaRPr lang="en-US" altLang="en-US" sz="1200">
              <a:latin typeface="Times New Roman" panose="02020603050405020304" pitchFamily="18"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63826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r" eaLnBrk="0" fontAlgn="base" hangingPunct="0">
              <a:spcBef>
                <a:spcPct val="0"/>
              </a:spcBef>
              <a:spcAft>
                <a:spcPct val="0"/>
              </a:spcAft>
              <a:defRPr sz="2400">
                <a:solidFill>
                  <a:schemeClr val="tx1"/>
                </a:solidFill>
                <a:latin typeface="Arial" panose="020B0604020202020204" pitchFamily="34" charset="0"/>
              </a:defRPr>
            </a:lvl6pPr>
            <a:lvl7pPr marL="2971800" indent="-228600" algn="r" eaLnBrk="0" fontAlgn="base" hangingPunct="0">
              <a:spcBef>
                <a:spcPct val="0"/>
              </a:spcBef>
              <a:spcAft>
                <a:spcPct val="0"/>
              </a:spcAft>
              <a:defRPr sz="2400">
                <a:solidFill>
                  <a:schemeClr val="tx1"/>
                </a:solidFill>
                <a:latin typeface="Arial" panose="020B0604020202020204" pitchFamily="34" charset="0"/>
              </a:defRPr>
            </a:lvl7pPr>
            <a:lvl8pPr marL="3429000" indent="-228600" algn="r" eaLnBrk="0" fontAlgn="base" hangingPunct="0">
              <a:spcBef>
                <a:spcPct val="0"/>
              </a:spcBef>
              <a:spcAft>
                <a:spcPct val="0"/>
              </a:spcAft>
              <a:defRPr sz="2400">
                <a:solidFill>
                  <a:schemeClr val="tx1"/>
                </a:solidFill>
                <a:latin typeface="Arial" panose="020B0604020202020204" pitchFamily="34" charset="0"/>
              </a:defRPr>
            </a:lvl8pPr>
            <a:lvl9pPr marL="3886200" indent="-228600" algn="r" eaLnBrk="0" fontAlgn="base" hangingPunct="0">
              <a:spcBef>
                <a:spcPct val="0"/>
              </a:spcBef>
              <a:spcAft>
                <a:spcPct val="0"/>
              </a:spcAft>
              <a:defRPr sz="2400">
                <a:solidFill>
                  <a:schemeClr val="tx1"/>
                </a:solidFill>
                <a:latin typeface="Arial" panose="020B0604020202020204" pitchFamily="34" charset="0"/>
              </a:defRPr>
            </a:lvl9pPr>
          </a:lstStyle>
          <a:p>
            <a:fld id="{3A2DF682-BD98-4CFC-9CEA-D5B3459025C4}" type="slidenum">
              <a:rPr lang="en-US" altLang="en-US" sz="1200">
                <a:latin typeface="Times New Roman" panose="02020603050405020304" pitchFamily="18" charset="0"/>
              </a:rPr>
              <a:pPr/>
              <a:t>25</a:t>
            </a:fld>
            <a:endParaRPr lang="en-US" altLang="en-US" sz="1200">
              <a:latin typeface="Times New Roman" panose="02020603050405020304" pitchFamily="18"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71672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B495412-69F8-4244-8191-820F78B7E056}"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4049729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B495412-69F8-4244-8191-820F78B7E056}"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2762438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marL="0" marR="0" lvl="0" indent="0" algn="r" defTabSz="914400" rtl="0" eaLnBrk="1" fontAlgn="base" latinLnBrk="0" hangingPunct="1">
              <a:lnSpc>
                <a:spcPct val="100000"/>
              </a:lnSpc>
              <a:spcBef>
                <a:spcPct val="0"/>
              </a:spcBef>
              <a:spcAft>
                <a:spcPct val="0"/>
              </a:spcAft>
              <a:buClrTx/>
              <a:buSzTx/>
              <a:buFontTx/>
              <a:buNone/>
              <a:tabLst/>
              <a:defRPr/>
            </a:pPr>
            <a:fld id="{C0D233B9-AA88-43E8-942D-3EA92014BFAE}"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15374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B495412-69F8-4244-8191-820F78B7E056}"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904141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B495412-69F8-4244-8191-820F78B7E056}"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897829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p>
            <a:fld id="{79B19C71-EC74-44AF-B27E-FC7DC3C3A61D}" type="datetime4">
              <a:rPr lang="en-US" smtClean="0"/>
              <a:pPr/>
              <a:t>October 23,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Picture Placeholder 8"/>
          <p:cNvSpPr>
            <a:spLocks noGrp="1"/>
          </p:cNvSpPr>
          <p:nvPr>
            <p:ph type="pic" sz="quarter" idx="13"/>
          </p:nvPr>
        </p:nvSpPr>
        <p:spPr>
          <a:xfrm>
            <a:off x="457199" y="1107618"/>
            <a:ext cx="4031619" cy="4607689"/>
          </a:xfrm>
        </p:spPr>
        <p:txBody>
          <a:bodyPr/>
          <a:lstStyle/>
          <a:p>
            <a:endParaRPr lang="en-US"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333F43-3E86-47E4-BFBB-2476D384E1C6}" type="datetime4">
              <a:rPr lang="en-US" smtClean="0"/>
              <a:pPr/>
              <a:t>October 23,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a:lstStyle/>
          <a:p>
            <a:endParaRPr lang="en-US"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6EAD5615-7F4F-4584-84D5-CC95918C321F}" type="datetime4">
              <a:rPr lang="en-US" smtClean="0"/>
              <a:pPr/>
              <a:t>October 23,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1DEABC-D766-4322-8E78-B830FAE35C72}" type="datetime4">
              <a:rPr lang="en-US" smtClean="0"/>
              <a:pPr/>
              <a:t>October 23,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Title 1"/>
          <p:cNvSpPr txBox="1">
            <a:spLocks/>
          </p:cNvSpPr>
          <p:nvPr userDrawn="1"/>
        </p:nvSpPr>
        <p:spPr>
          <a:xfrm>
            <a:off x="0" y="789677"/>
            <a:ext cx="9144000" cy="709154"/>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r>
              <a:rPr lang="en-US" sz="3500" dirty="0"/>
              <a:t>College Physics</a:t>
            </a:r>
          </a:p>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 Chapter Title</a:t>
            </a:r>
          </a:p>
          <a:p>
            <a:pPr algn="ctr"/>
            <a:r>
              <a:rPr lang="en-US" sz="1600" cap="none" dirty="0">
                <a:solidFill>
                  <a:schemeClr val="tx1"/>
                </a:solidFill>
                <a:latin typeface="+mn-lt"/>
              </a:rPr>
              <a:t>PowerPoint Image Slideshow</a:t>
            </a:r>
          </a:p>
        </p:txBody>
      </p:sp>
      <p:pic>
        <p:nvPicPr>
          <p:cNvPr id="9" name="Picture 8" descr="medium_covers_Page_2.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4505036"/>
          </a:xfrm>
        </p:spPr>
        <p:txBody>
          <a:bodyPr/>
          <a:lstStyle>
            <a:lvl1pPr marL="89154" indent="-89154">
              <a:buClr>
                <a:srgbClr val="007FA3"/>
              </a:buClr>
              <a:buSzPct val="25000"/>
              <a:defRPr sz="1200"/>
            </a:lvl1pPr>
            <a:lvl2pPr marL="427435" indent="-214313">
              <a:buClr>
                <a:srgbClr val="007FA3"/>
              </a:buClr>
              <a:defRPr sz="1200"/>
            </a:lvl2pPr>
            <a:lvl3pPr>
              <a:buClr>
                <a:srgbClr val="007FA3"/>
              </a:buClr>
              <a:defRPr sz="1200"/>
            </a:lvl3pPr>
            <a:lvl4pPr>
              <a:buClr>
                <a:srgbClr val="007FA3"/>
              </a:buClr>
              <a:defRPr sz="1200"/>
            </a:lvl4pPr>
            <a:lvl5pPr>
              <a:buClr>
                <a:srgbClr val="007FA3"/>
              </a:buClr>
              <a:defRPr sz="1200"/>
            </a:lvl5pPr>
            <a:lvl6pPr>
              <a:buClr>
                <a:srgbClr val="007FA3"/>
              </a:buClr>
              <a:defRPr sz="1200"/>
            </a:lvl6pPr>
            <a:lvl7pPr>
              <a:buClr>
                <a:srgbClr val="007FA3"/>
              </a:buClr>
              <a:defRPr sz="1200"/>
            </a:lvl7pPr>
            <a:lvl8pPr>
              <a:buClr>
                <a:srgbClr val="007FA3"/>
              </a:buClr>
              <a:defRPr sz="1200"/>
            </a:lvl8pPr>
            <a:lvl9pPr>
              <a:buClr>
                <a:srgbClr val="007FA3"/>
              </a:buCl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2"/>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10/23/2025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4083416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9" name="Picture Placeholder 8"/>
          <p:cNvSpPr>
            <a:spLocks noGrp="1"/>
          </p:cNvSpPr>
          <p:nvPr>
            <p:ph type="pic" sz="quarter" idx="13"/>
          </p:nvPr>
        </p:nvSpPr>
        <p:spPr>
          <a:xfrm>
            <a:off x="457199" y="1107618"/>
            <a:ext cx="4031619" cy="4607689"/>
          </a:xfrm>
        </p:spPr>
        <p:txBody>
          <a:bodyPr rtlCol="0">
            <a:normAutofit/>
          </a:bodyPr>
          <a:lstStyle/>
          <a:p>
            <a:pPr lvl="0"/>
            <a:endParaRPr lang="en-US" noProof="0"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5"/>
          </p:nvPr>
        </p:nvSpPr>
        <p:spPr/>
        <p:txBody>
          <a:bodyPr/>
          <a:lstStyle>
            <a:lvl1pPr>
              <a:defRPr/>
            </a:lvl1pPr>
          </a:lstStyle>
          <a:p>
            <a:pPr>
              <a:defRPr/>
            </a:pPr>
            <a:fld id="{2AF5D7D9-81E5-4EEC-85C7-A3D8780B97A4}" type="datetime4">
              <a:rPr lang="en-US">
                <a:solidFill>
                  <a:prstClr val="black"/>
                </a:solidFill>
              </a:rPr>
              <a:pPr>
                <a:defRPr/>
              </a:pPr>
              <a:t>October 23, 2025</a:t>
            </a:fld>
            <a:endParaRPr lang="en-US">
              <a:solidFill>
                <a:prstClr val="black"/>
              </a:solidFill>
            </a:endParaRPr>
          </a:p>
        </p:txBody>
      </p:sp>
      <p:sp>
        <p:nvSpPr>
          <p:cNvPr id="6" name="Footer Placeholder 5"/>
          <p:cNvSpPr>
            <a:spLocks noGrp="1"/>
          </p:cNvSpPr>
          <p:nvPr>
            <p:ph type="ftr" sz="quarter" idx="16"/>
          </p:nvPr>
        </p:nvSpPr>
        <p:spPr/>
        <p:txBody>
          <a:bodyPr/>
          <a:lstStyle>
            <a:lvl1pPr>
              <a:defRPr/>
            </a:lvl1pPr>
          </a:lstStyle>
          <a:p>
            <a:pPr>
              <a:defRPr/>
            </a:pPr>
            <a:endParaRPr lang="en-US">
              <a:solidFill>
                <a:prstClr val="black"/>
              </a:solidFill>
            </a:endParaRPr>
          </a:p>
        </p:txBody>
      </p:sp>
      <p:sp>
        <p:nvSpPr>
          <p:cNvPr id="7" name="Slide Number Placeholder 6"/>
          <p:cNvSpPr>
            <a:spLocks noGrp="1"/>
          </p:cNvSpPr>
          <p:nvPr>
            <p:ph type="sldNum" sz="quarter" idx="17"/>
          </p:nvPr>
        </p:nvSpPr>
        <p:spPr/>
        <p:txBody>
          <a:bodyPr/>
          <a:lstStyle>
            <a:lvl1pPr>
              <a:defRPr/>
            </a:lvl1pPr>
          </a:lstStyle>
          <a:p>
            <a:pPr>
              <a:defRPr/>
            </a:pPr>
            <a:fld id="{76124547-4185-4266-B4E4-2581C1A87319}" type="slidenum">
              <a:rPr lang="en-US"/>
              <a:pPr>
                <a:defRPr/>
              </a:pPr>
              <a:t>‹#›</a:t>
            </a:fld>
            <a:endParaRPr lang="en-US"/>
          </a:p>
        </p:txBody>
      </p:sp>
    </p:spTree>
    <p:extLst>
      <p:ext uri="{BB962C8B-B14F-4D97-AF65-F5344CB8AC3E}">
        <p14:creationId xmlns:p14="http://schemas.microsoft.com/office/powerpoint/2010/main" val="758306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rtlCol="0">
            <a:normAutofit/>
          </a:bodyPr>
          <a:lstStyle/>
          <a:p>
            <a:pPr lvl="0"/>
            <a:endParaRPr lang="en-US" noProof="0"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5"/>
          </p:nvPr>
        </p:nvSpPr>
        <p:spPr/>
        <p:txBody>
          <a:bodyPr/>
          <a:lstStyle>
            <a:lvl1pPr>
              <a:defRPr/>
            </a:lvl1pPr>
          </a:lstStyle>
          <a:p>
            <a:pPr>
              <a:defRPr/>
            </a:pPr>
            <a:fld id="{A1DBDB5D-5956-4717-B2E0-D781475071B8}" type="datetime4">
              <a:rPr lang="en-US">
                <a:solidFill>
                  <a:prstClr val="black"/>
                </a:solidFill>
              </a:rPr>
              <a:pPr>
                <a:defRPr/>
              </a:pPr>
              <a:t>October 23, 2025</a:t>
            </a:fld>
            <a:endParaRPr lang="en-US">
              <a:solidFill>
                <a:prstClr val="black"/>
              </a:solidFill>
            </a:endParaRPr>
          </a:p>
        </p:txBody>
      </p:sp>
      <p:sp>
        <p:nvSpPr>
          <p:cNvPr id="6" name="Footer Placeholder 4"/>
          <p:cNvSpPr>
            <a:spLocks noGrp="1"/>
          </p:cNvSpPr>
          <p:nvPr>
            <p:ph type="ftr" sz="quarter" idx="16"/>
          </p:nvPr>
        </p:nvSpPr>
        <p:spPr/>
        <p:txBody>
          <a:bodyPr/>
          <a:lstStyle>
            <a:lvl1pPr>
              <a:defRPr/>
            </a:lvl1pPr>
          </a:lstStyle>
          <a:p>
            <a:pPr>
              <a:defRPr/>
            </a:pPr>
            <a:endParaRPr lang="en-US">
              <a:solidFill>
                <a:prstClr val="black"/>
              </a:solidFill>
            </a:endParaRPr>
          </a:p>
        </p:txBody>
      </p:sp>
      <p:sp>
        <p:nvSpPr>
          <p:cNvPr id="10" name="Slide Number Placeholder 5"/>
          <p:cNvSpPr>
            <a:spLocks noGrp="1"/>
          </p:cNvSpPr>
          <p:nvPr>
            <p:ph type="sldNum" sz="quarter" idx="17"/>
          </p:nvPr>
        </p:nvSpPr>
        <p:spPr/>
        <p:txBody>
          <a:bodyPr/>
          <a:lstStyle>
            <a:lvl1pPr>
              <a:defRPr/>
            </a:lvl1pPr>
          </a:lstStyle>
          <a:p>
            <a:pPr>
              <a:defRPr/>
            </a:pPr>
            <a:fld id="{2C3785B0-FE98-4A5B-9A50-1292CD97EBC4}" type="slidenum">
              <a:rPr lang="en-US"/>
              <a:pPr>
                <a:defRPr/>
              </a:pPr>
              <a:t>‹#›</a:t>
            </a:fld>
            <a:endParaRPr lang="en-US"/>
          </a:p>
        </p:txBody>
      </p:sp>
    </p:spTree>
    <p:extLst>
      <p:ext uri="{BB962C8B-B14F-4D97-AF65-F5344CB8AC3E}">
        <p14:creationId xmlns:p14="http://schemas.microsoft.com/office/powerpoint/2010/main" val="1274039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lvl1pPr>
              <a:defRPr/>
            </a:lvl1pPr>
          </a:lstStyle>
          <a:p>
            <a:pPr>
              <a:defRPr/>
            </a:pPr>
            <a:fld id="{A5939DFD-AF57-4C83-8053-60D32C84DF7C}" type="datetime4">
              <a:rPr lang="en-US">
                <a:solidFill>
                  <a:prstClr val="black"/>
                </a:solidFill>
              </a:rPr>
              <a:pPr>
                <a:defRPr/>
              </a:pPr>
              <a:t>October 23, 2025</a:t>
            </a:fld>
            <a:endParaRPr lang="en-US">
              <a:solidFill>
                <a:prstClr val="black"/>
              </a:solidFill>
            </a:endParaRPr>
          </a:p>
        </p:txBody>
      </p:sp>
      <p:sp>
        <p:nvSpPr>
          <p:cNvPr id="6" name="Footer Placeholder 5"/>
          <p:cNvSpPr>
            <a:spLocks noGrp="1"/>
          </p:cNvSpPr>
          <p:nvPr>
            <p:ph type="ftr" sz="quarter" idx="11"/>
          </p:nvPr>
        </p:nvSpPr>
        <p:spPr/>
        <p:txBody>
          <a:bodyPr/>
          <a:lstStyle>
            <a:lvl1pPr>
              <a:defRPr/>
            </a:lvl1pPr>
          </a:lstStyle>
          <a:p>
            <a:pPr>
              <a:defRPr/>
            </a:pPr>
            <a:endParaRPr lang="en-US">
              <a:solidFill>
                <a:prstClr val="black"/>
              </a:solidFill>
            </a:endParaRPr>
          </a:p>
        </p:txBody>
      </p:sp>
      <p:sp>
        <p:nvSpPr>
          <p:cNvPr id="7" name="Slide Number Placeholder 6"/>
          <p:cNvSpPr>
            <a:spLocks noGrp="1"/>
          </p:cNvSpPr>
          <p:nvPr>
            <p:ph type="sldNum" sz="quarter" idx="12"/>
          </p:nvPr>
        </p:nvSpPr>
        <p:spPr/>
        <p:txBody>
          <a:bodyPr/>
          <a:lstStyle>
            <a:lvl1pPr>
              <a:defRPr/>
            </a:lvl1pPr>
          </a:lstStyle>
          <a:p>
            <a:pPr>
              <a:defRPr/>
            </a:pPr>
            <a:fld id="{6158F162-EC8D-4B5B-975F-B8B0EEBB18C6}" type="slidenum">
              <a:rPr lang="en-US"/>
              <a:pPr>
                <a:defRPr/>
              </a:pPr>
              <a:t>‹#›</a:t>
            </a:fld>
            <a:endParaRPr lang="en-US"/>
          </a:p>
        </p:txBody>
      </p:sp>
    </p:spTree>
    <p:extLst>
      <p:ext uri="{BB962C8B-B14F-4D97-AF65-F5344CB8AC3E}">
        <p14:creationId xmlns:p14="http://schemas.microsoft.com/office/powerpoint/2010/main" val="660419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txBox="1">
            <a:spLocks/>
          </p:cNvSpPr>
          <p:nvPr userDrawn="1"/>
        </p:nvSpPr>
        <p:spPr>
          <a:xfrm>
            <a:off x="0" y="788988"/>
            <a:ext cx="9144000" cy="709612"/>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defRPr/>
            </a:pPr>
            <a:r>
              <a:rPr lang="en-US" sz="3500" dirty="0"/>
              <a:t>College Physics</a:t>
            </a:r>
          </a:p>
          <a:p>
            <a:pPr algn="ctr">
              <a:defRPr/>
            </a:pPr>
            <a:endParaRPr lang="en-US" sz="1800" cap="none" dirty="0">
              <a:solidFill>
                <a:srgbClr val="9BBB59">
                  <a:lumMod val="20000"/>
                  <a:lumOff val="80000"/>
                </a:srgbClr>
              </a:solidFill>
              <a:latin typeface="Arial"/>
            </a:endParaRPr>
          </a:p>
          <a:p>
            <a:pPr algn="ctr">
              <a:defRPr/>
            </a:pPr>
            <a:r>
              <a:rPr lang="en-US" sz="2000" b="1" cap="none" dirty="0">
                <a:solidFill>
                  <a:srgbClr val="212F62"/>
                </a:solidFill>
                <a:latin typeface="Arial"/>
              </a:rPr>
              <a:t>Chapter # Chapter Title</a:t>
            </a:r>
          </a:p>
          <a:p>
            <a:pPr algn="ctr">
              <a:defRPr/>
            </a:pPr>
            <a:r>
              <a:rPr lang="en-US" sz="1600" cap="none" dirty="0">
                <a:solidFill>
                  <a:prstClr val="black"/>
                </a:solidFill>
                <a:latin typeface="Arial"/>
              </a:rPr>
              <a:t>PowerPoint Image Slideshow</a:t>
            </a:r>
          </a:p>
        </p:txBody>
      </p:sp>
      <p:pic>
        <p:nvPicPr>
          <p:cNvPr id="3" name="Picture 8" descr="medium_covers_Page_2.png"/>
          <p:cNvPicPr>
            <a:picLocks noChangeAspect="1"/>
          </p:cNvPicPr>
          <p:nvPr userDrawn="1"/>
        </p:nvPicPr>
        <p:blipFill>
          <a:blip r:embed="rId2" cstate="print"/>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
        <p:nvSpPr>
          <p:cNvPr id="4" name="Date Placeholder 3"/>
          <p:cNvSpPr>
            <a:spLocks noGrp="1"/>
          </p:cNvSpPr>
          <p:nvPr>
            <p:ph type="dt" sz="half" idx="10"/>
          </p:nvPr>
        </p:nvSpPr>
        <p:spPr/>
        <p:txBody>
          <a:bodyPr/>
          <a:lstStyle>
            <a:lvl1pPr>
              <a:defRPr/>
            </a:lvl1pPr>
          </a:lstStyle>
          <a:p>
            <a:pPr>
              <a:defRPr/>
            </a:pPr>
            <a:fld id="{E6933B52-B7B0-4435-A810-D5A8ECCD14B8}" type="datetime4">
              <a:rPr lang="en-US">
                <a:solidFill>
                  <a:prstClr val="black"/>
                </a:solidFill>
              </a:rPr>
              <a:pPr>
                <a:defRPr/>
              </a:pPr>
              <a:t>October 23, 2025</a:t>
            </a:fld>
            <a:endParaRPr lang="en-US" dirty="0">
              <a:solidFill>
                <a:prstClr val="black"/>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solidFill>
            </a:endParaRPr>
          </a:p>
        </p:txBody>
      </p:sp>
    </p:spTree>
    <p:extLst>
      <p:ext uri="{BB962C8B-B14F-4D97-AF65-F5344CB8AC3E}">
        <p14:creationId xmlns:p14="http://schemas.microsoft.com/office/powerpoint/2010/main" val="297723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prstClr val="black"/>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prstClr val="black"/>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B46E12A8-FCF3-4B75-B501-AABBD79EE37F}" type="slidenum">
              <a:rPr lang="en-US"/>
              <a:pPr>
                <a:defRPr/>
              </a:pPr>
              <a:t>‹#›</a:t>
            </a:fld>
            <a:endParaRPr lang="en-US"/>
          </a:p>
        </p:txBody>
      </p:sp>
    </p:spTree>
    <p:extLst>
      <p:ext uri="{BB962C8B-B14F-4D97-AF65-F5344CB8AC3E}">
        <p14:creationId xmlns:p14="http://schemas.microsoft.com/office/powerpoint/2010/main" val="263456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prstClr val="black"/>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prstClr val="black"/>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08663F8-B91E-468D-8FBD-D85EBFC765C1}" type="slidenum">
              <a:rPr lang="en-US"/>
              <a:pPr>
                <a:defRPr/>
              </a:pPr>
              <a:t>‹#›</a:t>
            </a:fld>
            <a:endParaRPr lang="en-US"/>
          </a:p>
        </p:txBody>
      </p:sp>
    </p:spTree>
    <p:extLst>
      <p:ext uri="{BB962C8B-B14F-4D97-AF65-F5344CB8AC3E}">
        <p14:creationId xmlns:p14="http://schemas.microsoft.com/office/powerpoint/2010/main" val="4252443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9" name="Picture Placeholder 8"/>
          <p:cNvSpPr>
            <a:spLocks noGrp="1"/>
          </p:cNvSpPr>
          <p:nvPr>
            <p:ph type="pic" sz="quarter" idx="13"/>
          </p:nvPr>
        </p:nvSpPr>
        <p:spPr>
          <a:xfrm>
            <a:off x="457199" y="1107618"/>
            <a:ext cx="4031619" cy="4607689"/>
          </a:xfrm>
        </p:spPr>
        <p:txBody>
          <a:bodyPr rtlCol="0">
            <a:normAutofit/>
          </a:bodyPr>
          <a:lstStyle/>
          <a:p>
            <a:pPr lvl="0"/>
            <a:endParaRPr lang="en-US" noProof="0"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5"/>
          </p:nvPr>
        </p:nvSpPr>
        <p:spPr/>
        <p:txBody>
          <a:bodyPr/>
          <a:lstStyle>
            <a:lvl1pPr>
              <a:defRPr/>
            </a:lvl1pPr>
          </a:lstStyle>
          <a:p>
            <a:pPr>
              <a:defRPr/>
            </a:pPr>
            <a:fld id="{2AF5D7D9-81E5-4EEC-85C7-A3D8780B97A4}" type="datetime4">
              <a:rPr lang="en-US">
                <a:solidFill>
                  <a:prstClr val="black"/>
                </a:solidFill>
              </a:rPr>
              <a:pPr>
                <a:defRPr/>
              </a:pPr>
              <a:t>October 23, 2025</a:t>
            </a:fld>
            <a:endParaRPr lang="en-US">
              <a:solidFill>
                <a:prstClr val="black"/>
              </a:solidFill>
            </a:endParaRPr>
          </a:p>
        </p:txBody>
      </p:sp>
      <p:sp>
        <p:nvSpPr>
          <p:cNvPr id="6" name="Footer Placeholder 5"/>
          <p:cNvSpPr>
            <a:spLocks noGrp="1"/>
          </p:cNvSpPr>
          <p:nvPr>
            <p:ph type="ftr" sz="quarter" idx="16"/>
          </p:nvPr>
        </p:nvSpPr>
        <p:spPr/>
        <p:txBody>
          <a:bodyPr/>
          <a:lstStyle>
            <a:lvl1pPr>
              <a:defRPr/>
            </a:lvl1pPr>
          </a:lstStyle>
          <a:p>
            <a:pPr>
              <a:defRPr/>
            </a:pPr>
            <a:endParaRPr lang="en-US">
              <a:solidFill>
                <a:prstClr val="black"/>
              </a:solidFill>
            </a:endParaRPr>
          </a:p>
        </p:txBody>
      </p:sp>
      <p:sp>
        <p:nvSpPr>
          <p:cNvPr id="7" name="Slide Number Placeholder 6"/>
          <p:cNvSpPr>
            <a:spLocks noGrp="1"/>
          </p:cNvSpPr>
          <p:nvPr>
            <p:ph type="sldNum" sz="quarter" idx="17"/>
          </p:nvPr>
        </p:nvSpPr>
        <p:spPr/>
        <p:txBody>
          <a:bodyPr/>
          <a:lstStyle>
            <a:lvl1pPr>
              <a:defRPr/>
            </a:lvl1pPr>
          </a:lstStyle>
          <a:p>
            <a:pPr>
              <a:defRPr/>
            </a:pPr>
            <a:fld id="{76124547-4185-4266-B4E4-2581C1A87319}" type="slidenum">
              <a:rPr lang="en-US"/>
              <a:pPr>
                <a:defRPr/>
              </a:pPr>
              <a:t>‹#›</a:t>
            </a:fld>
            <a:endParaRPr lang="en-US"/>
          </a:p>
        </p:txBody>
      </p:sp>
    </p:spTree>
    <p:extLst>
      <p:ext uri="{BB962C8B-B14F-4D97-AF65-F5344CB8AC3E}">
        <p14:creationId xmlns:p14="http://schemas.microsoft.com/office/powerpoint/2010/main" val="1325128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rtlCol="0">
            <a:normAutofit/>
          </a:bodyPr>
          <a:lstStyle/>
          <a:p>
            <a:pPr lvl="0"/>
            <a:endParaRPr lang="en-US" noProof="0"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5"/>
          </p:nvPr>
        </p:nvSpPr>
        <p:spPr/>
        <p:txBody>
          <a:bodyPr/>
          <a:lstStyle>
            <a:lvl1pPr>
              <a:defRPr/>
            </a:lvl1pPr>
          </a:lstStyle>
          <a:p>
            <a:pPr>
              <a:defRPr/>
            </a:pPr>
            <a:fld id="{A1DBDB5D-5956-4717-B2E0-D781475071B8}" type="datetime4">
              <a:rPr lang="en-US">
                <a:solidFill>
                  <a:prstClr val="black"/>
                </a:solidFill>
              </a:rPr>
              <a:pPr>
                <a:defRPr/>
              </a:pPr>
              <a:t>October 23, 2025</a:t>
            </a:fld>
            <a:endParaRPr lang="en-US">
              <a:solidFill>
                <a:prstClr val="black"/>
              </a:solidFill>
            </a:endParaRPr>
          </a:p>
        </p:txBody>
      </p:sp>
      <p:sp>
        <p:nvSpPr>
          <p:cNvPr id="6" name="Footer Placeholder 4"/>
          <p:cNvSpPr>
            <a:spLocks noGrp="1"/>
          </p:cNvSpPr>
          <p:nvPr>
            <p:ph type="ftr" sz="quarter" idx="16"/>
          </p:nvPr>
        </p:nvSpPr>
        <p:spPr/>
        <p:txBody>
          <a:bodyPr/>
          <a:lstStyle>
            <a:lvl1pPr>
              <a:defRPr/>
            </a:lvl1pPr>
          </a:lstStyle>
          <a:p>
            <a:pPr>
              <a:defRPr/>
            </a:pPr>
            <a:endParaRPr lang="en-US">
              <a:solidFill>
                <a:prstClr val="black"/>
              </a:solidFill>
            </a:endParaRPr>
          </a:p>
        </p:txBody>
      </p:sp>
      <p:sp>
        <p:nvSpPr>
          <p:cNvPr id="10" name="Slide Number Placeholder 5"/>
          <p:cNvSpPr>
            <a:spLocks noGrp="1"/>
          </p:cNvSpPr>
          <p:nvPr>
            <p:ph type="sldNum" sz="quarter" idx="17"/>
          </p:nvPr>
        </p:nvSpPr>
        <p:spPr/>
        <p:txBody>
          <a:bodyPr/>
          <a:lstStyle>
            <a:lvl1pPr>
              <a:defRPr/>
            </a:lvl1pPr>
          </a:lstStyle>
          <a:p>
            <a:pPr>
              <a:defRPr/>
            </a:pPr>
            <a:fld id="{2C3785B0-FE98-4A5B-9A50-1292CD97EBC4}" type="slidenum">
              <a:rPr lang="en-US"/>
              <a:pPr>
                <a:defRPr/>
              </a:pPr>
              <a:t>‹#›</a:t>
            </a:fld>
            <a:endParaRPr lang="en-US"/>
          </a:p>
        </p:txBody>
      </p:sp>
    </p:spTree>
    <p:extLst>
      <p:ext uri="{BB962C8B-B14F-4D97-AF65-F5344CB8AC3E}">
        <p14:creationId xmlns:p14="http://schemas.microsoft.com/office/powerpoint/2010/main" val="3957612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lvl1pPr>
              <a:defRPr/>
            </a:lvl1pPr>
          </a:lstStyle>
          <a:p>
            <a:pPr>
              <a:defRPr/>
            </a:pPr>
            <a:fld id="{A5939DFD-AF57-4C83-8053-60D32C84DF7C}" type="datetime4">
              <a:rPr lang="en-US">
                <a:solidFill>
                  <a:prstClr val="black"/>
                </a:solidFill>
              </a:rPr>
              <a:pPr>
                <a:defRPr/>
              </a:pPr>
              <a:t>October 23, 2025</a:t>
            </a:fld>
            <a:endParaRPr lang="en-US">
              <a:solidFill>
                <a:prstClr val="black"/>
              </a:solidFill>
            </a:endParaRPr>
          </a:p>
        </p:txBody>
      </p:sp>
      <p:sp>
        <p:nvSpPr>
          <p:cNvPr id="6" name="Footer Placeholder 5"/>
          <p:cNvSpPr>
            <a:spLocks noGrp="1"/>
          </p:cNvSpPr>
          <p:nvPr>
            <p:ph type="ftr" sz="quarter" idx="11"/>
          </p:nvPr>
        </p:nvSpPr>
        <p:spPr/>
        <p:txBody>
          <a:bodyPr/>
          <a:lstStyle>
            <a:lvl1pPr>
              <a:defRPr/>
            </a:lvl1pPr>
          </a:lstStyle>
          <a:p>
            <a:pPr>
              <a:defRPr/>
            </a:pPr>
            <a:endParaRPr lang="en-US">
              <a:solidFill>
                <a:prstClr val="black"/>
              </a:solidFill>
            </a:endParaRPr>
          </a:p>
        </p:txBody>
      </p:sp>
      <p:sp>
        <p:nvSpPr>
          <p:cNvPr id="7" name="Slide Number Placeholder 6"/>
          <p:cNvSpPr>
            <a:spLocks noGrp="1"/>
          </p:cNvSpPr>
          <p:nvPr>
            <p:ph type="sldNum" sz="quarter" idx="12"/>
          </p:nvPr>
        </p:nvSpPr>
        <p:spPr/>
        <p:txBody>
          <a:bodyPr/>
          <a:lstStyle>
            <a:lvl1pPr>
              <a:defRPr/>
            </a:lvl1pPr>
          </a:lstStyle>
          <a:p>
            <a:pPr>
              <a:defRPr/>
            </a:pPr>
            <a:fld id="{6158F162-EC8D-4B5B-975F-B8B0EEBB18C6}" type="slidenum">
              <a:rPr lang="en-US"/>
              <a:pPr>
                <a:defRPr/>
              </a:pPr>
              <a:t>‹#›</a:t>
            </a:fld>
            <a:endParaRPr lang="en-US"/>
          </a:p>
        </p:txBody>
      </p:sp>
    </p:spTree>
    <p:extLst>
      <p:ext uri="{BB962C8B-B14F-4D97-AF65-F5344CB8AC3E}">
        <p14:creationId xmlns:p14="http://schemas.microsoft.com/office/powerpoint/2010/main" val="18753587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txBox="1">
            <a:spLocks/>
          </p:cNvSpPr>
          <p:nvPr userDrawn="1"/>
        </p:nvSpPr>
        <p:spPr>
          <a:xfrm>
            <a:off x="0" y="788988"/>
            <a:ext cx="9144000" cy="709612"/>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defRPr/>
            </a:pPr>
            <a:r>
              <a:rPr lang="en-US" sz="3500" dirty="0"/>
              <a:t>College Physics</a:t>
            </a:r>
          </a:p>
          <a:p>
            <a:pPr algn="ctr">
              <a:defRPr/>
            </a:pPr>
            <a:endParaRPr lang="en-US" sz="1800" cap="none" dirty="0">
              <a:solidFill>
                <a:srgbClr val="9BBB59">
                  <a:lumMod val="20000"/>
                  <a:lumOff val="80000"/>
                </a:srgbClr>
              </a:solidFill>
              <a:latin typeface="Arial"/>
            </a:endParaRPr>
          </a:p>
          <a:p>
            <a:pPr algn="ctr">
              <a:defRPr/>
            </a:pPr>
            <a:r>
              <a:rPr lang="en-US" sz="2000" b="1" cap="none" dirty="0">
                <a:solidFill>
                  <a:srgbClr val="212F62"/>
                </a:solidFill>
                <a:latin typeface="Arial"/>
              </a:rPr>
              <a:t>Chapter # Chapter Title</a:t>
            </a:r>
          </a:p>
          <a:p>
            <a:pPr algn="ctr">
              <a:defRPr/>
            </a:pPr>
            <a:r>
              <a:rPr lang="en-US" sz="1600" cap="none" dirty="0">
                <a:solidFill>
                  <a:prstClr val="black"/>
                </a:solidFill>
                <a:latin typeface="Arial"/>
              </a:rPr>
              <a:t>PowerPoint Image Slideshow</a:t>
            </a:r>
          </a:p>
        </p:txBody>
      </p:sp>
      <p:pic>
        <p:nvPicPr>
          <p:cNvPr id="3" name="Picture 8" descr="medium_covers_Page_2.png"/>
          <p:cNvPicPr>
            <a:picLocks noChangeAspect="1"/>
          </p:cNvPicPr>
          <p:nvPr userDrawn="1"/>
        </p:nvPicPr>
        <p:blipFill>
          <a:blip r:embed="rId2" cstate="print"/>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
        <p:nvSpPr>
          <p:cNvPr id="4" name="Date Placeholder 3"/>
          <p:cNvSpPr>
            <a:spLocks noGrp="1"/>
          </p:cNvSpPr>
          <p:nvPr>
            <p:ph type="dt" sz="half" idx="10"/>
          </p:nvPr>
        </p:nvSpPr>
        <p:spPr/>
        <p:txBody>
          <a:bodyPr/>
          <a:lstStyle>
            <a:lvl1pPr>
              <a:defRPr/>
            </a:lvl1pPr>
          </a:lstStyle>
          <a:p>
            <a:pPr>
              <a:defRPr/>
            </a:pPr>
            <a:fld id="{E6933B52-B7B0-4435-A810-D5A8ECCD14B8}" type="datetime4">
              <a:rPr lang="en-US">
                <a:solidFill>
                  <a:prstClr val="black"/>
                </a:solidFill>
              </a:rPr>
              <a:pPr>
                <a:defRPr/>
              </a:pPr>
              <a:t>October 23, 2025</a:t>
            </a:fld>
            <a:endParaRPr lang="en-US" dirty="0">
              <a:solidFill>
                <a:prstClr val="black"/>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solidFill>
            </a:endParaRPr>
          </a:p>
        </p:txBody>
      </p:sp>
    </p:spTree>
    <p:extLst>
      <p:ext uri="{BB962C8B-B14F-4D97-AF65-F5344CB8AC3E}">
        <p14:creationId xmlns:p14="http://schemas.microsoft.com/office/powerpoint/2010/main" val="7479737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prstClr val="black"/>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prstClr val="black"/>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B46E12A8-FCF3-4B75-B501-AABBD79EE37F}" type="slidenum">
              <a:rPr lang="en-US"/>
              <a:pPr>
                <a:defRPr/>
              </a:pPr>
              <a:t>‹#›</a:t>
            </a:fld>
            <a:endParaRPr lang="en-US"/>
          </a:p>
        </p:txBody>
      </p:sp>
    </p:spTree>
    <p:extLst>
      <p:ext uri="{BB962C8B-B14F-4D97-AF65-F5344CB8AC3E}">
        <p14:creationId xmlns:p14="http://schemas.microsoft.com/office/powerpoint/2010/main" val="4153055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prstClr val="black"/>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prstClr val="black"/>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08663F8-B91E-468D-8FBD-D85EBFC765C1}" type="slidenum">
              <a:rPr lang="en-US"/>
              <a:pPr>
                <a:defRPr/>
              </a:pPr>
              <a:t>‹#›</a:t>
            </a:fld>
            <a:endParaRPr lang="en-US"/>
          </a:p>
        </p:txBody>
      </p:sp>
    </p:spTree>
    <p:extLst>
      <p:ext uri="{BB962C8B-B14F-4D97-AF65-F5344CB8AC3E}">
        <p14:creationId xmlns:p14="http://schemas.microsoft.com/office/powerpoint/2010/main" val="33812764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9" name="Picture Placeholder 8"/>
          <p:cNvSpPr>
            <a:spLocks noGrp="1"/>
          </p:cNvSpPr>
          <p:nvPr>
            <p:ph type="pic" sz="quarter" idx="13"/>
          </p:nvPr>
        </p:nvSpPr>
        <p:spPr>
          <a:xfrm>
            <a:off x="457199" y="1107618"/>
            <a:ext cx="4031619" cy="4607689"/>
          </a:xfrm>
        </p:spPr>
        <p:txBody>
          <a:bodyPr rtlCol="0">
            <a:normAutofit/>
          </a:bodyPr>
          <a:lstStyle/>
          <a:p>
            <a:pPr lvl="0"/>
            <a:endParaRPr lang="en-US" noProof="0"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5"/>
          </p:nvPr>
        </p:nvSpPr>
        <p:spPr/>
        <p:txBody>
          <a:bodyPr/>
          <a:lstStyle>
            <a:lvl1pPr>
              <a:defRPr/>
            </a:lvl1pPr>
          </a:lstStyle>
          <a:p>
            <a:pPr>
              <a:defRPr/>
            </a:pPr>
            <a:fld id="{2AF5D7D9-81E5-4EEC-85C7-A3D8780B97A4}" type="datetime4">
              <a:rPr lang="en-US">
                <a:solidFill>
                  <a:prstClr val="black"/>
                </a:solidFill>
              </a:rPr>
              <a:pPr>
                <a:defRPr/>
              </a:pPr>
              <a:t>October 23, 2025</a:t>
            </a:fld>
            <a:endParaRPr lang="en-US">
              <a:solidFill>
                <a:prstClr val="black"/>
              </a:solidFill>
            </a:endParaRPr>
          </a:p>
        </p:txBody>
      </p:sp>
      <p:sp>
        <p:nvSpPr>
          <p:cNvPr id="6" name="Footer Placeholder 5"/>
          <p:cNvSpPr>
            <a:spLocks noGrp="1"/>
          </p:cNvSpPr>
          <p:nvPr>
            <p:ph type="ftr" sz="quarter" idx="16"/>
          </p:nvPr>
        </p:nvSpPr>
        <p:spPr/>
        <p:txBody>
          <a:bodyPr/>
          <a:lstStyle>
            <a:lvl1pPr>
              <a:defRPr/>
            </a:lvl1pPr>
          </a:lstStyle>
          <a:p>
            <a:pPr>
              <a:defRPr/>
            </a:pPr>
            <a:endParaRPr lang="en-US">
              <a:solidFill>
                <a:prstClr val="black"/>
              </a:solidFill>
            </a:endParaRPr>
          </a:p>
        </p:txBody>
      </p:sp>
      <p:sp>
        <p:nvSpPr>
          <p:cNvPr id="7" name="Slide Number Placeholder 6"/>
          <p:cNvSpPr>
            <a:spLocks noGrp="1"/>
          </p:cNvSpPr>
          <p:nvPr>
            <p:ph type="sldNum" sz="quarter" idx="17"/>
          </p:nvPr>
        </p:nvSpPr>
        <p:spPr/>
        <p:txBody>
          <a:bodyPr/>
          <a:lstStyle>
            <a:lvl1pPr>
              <a:defRPr/>
            </a:lvl1pPr>
          </a:lstStyle>
          <a:p>
            <a:pPr>
              <a:defRPr/>
            </a:pPr>
            <a:fld id="{76124547-4185-4266-B4E4-2581C1A87319}" type="slidenum">
              <a:rPr lang="en-US"/>
              <a:pPr>
                <a:defRPr/>
              </a:pPr>
              <a:t>‹#›</a:t>
            </a:fld>
            <a:endParaRPr lang="en-US"/>
          </a:p>
        </p:txBody>
      </p:sp>
    </p:spTree>
    <p:extLst>
      <p:ext uri="{BB962C8B-B14F-4D97-AF65-F5344CB8AC3E}">
        <p14:creationId xmlns:p14="http://schemas.microsoft.com/office/powerpoint/2010/main" val="28776887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rtlCol="0">
            <a:normAutofit/>
          </a:bodyPr>
          <a:lstStyle/>
          <a:p>
            <a:pPr lvl="0"/>
            <a:endParaRPr lang="en-US" noProof="0"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5"/>
          </p:nvPr>
        </p:nvSpPr>
        <p:spPr/>
        <p:txBody>
          <a:bodyPr/>
          <a:lstStyle>
            <a:lvl1pPr>
              <a:defRPr/>
            </a:lvl1pPr>
          </a:lstStyle>
          <a:p>
            <a:pPr>
              <a:defRPr/>
            </a:pPr>
            <a:fld id="{A1DBDB5D-5956-4717-B2E0-D781475071B8}" type="datetime4">
              <a:rPr lang="en-US">
                <a:solidFill>
                  <a:prstClr val="black"/>
                </a:solidFill>
              </a:rPr>
              <a:pPr>
                <a:defRPr/>
              </a:pPr>
              <a:t>October 23, 2025</a:t>
            </a:fld>
            <a:endParaRPr lang="en-US">
              <a:solidFill>
                <a:prstClr val="black"/>
              </a:solidFill>
            </a:endParaRPr>
          </a:p>
        </p:txBody>
      </p:sp>
      <p:sp>
        <p:nvSpPr>
          <p:cNvPr id="6" name="Footer Placeholder 4"/>
          <p:cNvSpPr>
            <a:spLocks noGrp="1"/>
          </p:cNvSpPr>
          <p:nvPr>
            <p:ph type="ftr" sz="quarter" idx="16"/>
          </p:nvPr>
        </p:nvSpPr>
        <p:spPr/>
        <p:txBody>
          <a:bodyPr/>
          <a:lstStyle>
            <a:lvl1pPr>
              <a:defRPr/>
            </a:lvl1pPr>
          </a:lstStyle>
          <a:p>
            <a:pPr>
              <a:defRPr/>
            </a:pPr>
            <a:endParaRPr lang="en-US">
              <a:solidFill>
                <a:prstClr val="black"/>
              </a:solidFill>
            </a:endParaRPr>
          </a:p>
        </p:txBody>
      </p:sp>
      <p:sp>
        <p:nvSpPr>
          <p:cNvPr id="10" name="Slide Number Placeholder 5"/>
          <p:cNvSpPr>
            <a:spLocks noGrp="1"/>
          </p:cNvSpPr>
          <p:nvPr>
            <p:ph type="sldNum" sz="quarter" idx="17"/>
          </p:nvPr>
        </p:nvSpPr>
        <p:spPr/>
        <p:txBody>
          <a:bodyPr/>
          <a:lstStyle>
            <a:lvl1pPr>
              <a:defRPr/>
            </a:lvl1pPr>
          </a:lstStyle>
          <a:p>
            <a:pPr>
              <a:defRPr/>
            </a:pPr>
            <a:fld id="{2C3785B0-FE98-4A5B-9A50-1292CD97EBC4}" type="slidenum">
              <a:rPr lang="en-US"/>
              <a:pPr>
                <a:defRPr/>
              </a:pPr>
              <a:t>‹#›</a:t>
            </a:fld>
            <a:endParaRPr lang="en-US"/>
          </a:p>
        </p:txBody>
      </p:sp>
    </p:spTree>
    <p:extLst>
      <p:ext uri="{BB962C8B-B14F-4D97-AF65-F5344CB8AC3E}">
        <p14:creationId xmlns:p14="http://schemas.microsoft.com/office/powerpoint/2010/main" val="8594842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lvl1pPr>
              <a:defRPr/>
            </a:lvl1pPr>
          </a:lstStyle>
          <a:p>
            <a:pPr>
              <a:defRPr/>
            </a:pPr>
            <a:fld id="{A5939DFD-AF57-4C83-8053-60D32C84DF7C}" type="datetime4">
              <a:rPr lang="en-US">
                <a:solidFill>
                  <a:prstClr val="black"/>
                </a:solidFill>
              </a:rPr>
              <a:pPr>
                <a:defRPr/>
              </a:pPr>
              <a:t>October 23, 2025</a:t>
            </a:fld>
            <a:endParaRPr lang="en-US">
              <a:solidFill>
                <a:prstClr val="black"/>
              </a:solidFill>
            </a:endParaRPr>
          </a:p>
        </p:txBody>
      </p:sp>
      <p:sp>
        <p:nvSpPr>
          <p:cNvPr id="6" name="Footer Placeholder 5"/>
          <p:cNvSpPr>
            <a:spLocks noGrp="1"/>
          </p:cNvSpPr>
          <p:nvPr>
            <p:ph type="ftr" sz="quarter" idx="11"/>
          </p:nvPr>
        </p:nvSpPr>
        <p:spPr/>
        <p:txBody>
          <a:bodyPr/>
          <a:lstStyle>
            <a:lvl1pPr>
              <a:defRPr/>
            </a:lvl1pPr>
          </a:lstStyle>
          <a:p>
            <a:pPr>
              <a:defRPr/>
            </a:pPr>
            <a:endParaRPr lang="en-US">
              <a:solidFill>
                <a:prstClr val="black"/>
              </a:solidFill>
            </a:endParaRPr>
          </a:p>
        </p:txBody>
      </p:sp>
      <p:sp>
        <p:nvSpPr>
          <p:cNvPr id="7" name="Slide Number Placeholder 6"/>
          <p:cNvSpPr>
            <a:spLocks noGrp="1"/>
          </p:cNvSpPr>
          <p:nvPr>
            <p:ph type="sldNum" sz="quarter" idx="12"/>
          </p:nvPr>
        </p:nvSpPr>
        <p:spPr/>
        <p:txBody>
          <a:bodyPr/>
          <a:lstStyle>
            <a:lvl1pPr>
              <a:defRPr/>
            </a:lvl1pPr>
          </a:lstStyle>
          <a:p>
            <a:pPr>
              <a:defRPr/>
            </a:pPr>
            <a:fld id="{6158F162-EC8D-4B5B-975F-B8B0EEBB18C6}" type="slidenum">
              <a:rPr lang="en-US"/>
              <a:pPr>
                <a:defRPr/>
              </a:pPr>
              <a:t>‹#›</a:t>
            </a:fld>
            <a:endParaRPr lang="en-US"/>
          </a:p>
        </p:txBody>
      </p:sp>
    </p:spTree>
    <p:extLst>
      <p:ext uri="{BB962C8B-B14F-4D97-AF65-F5344CB8AC3E}">
        <p14:creationId xmlns:p14="http://schemas.microsoft.com/office/powerpoint/2010/main" val="5397202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txBox="1">
            <a:spLocks/>
          </p:cNvSpPr>
          <p:nvPr userDrawn="1"/>
        </p:nvSpPr>
        <p:spPr>
          <a:xfrm>
            <a:off x="0" y="788988"/>
            <a:ext cx="9144000" cy="709612"/>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defRPr/>
            </a:pPr>
            <a:r>
              <a:rPr lang="en-US" sz="3500" dirty="0"/>
              <a:t>College Physics</a:t>
            </a:r>
          </a:p>
          <a:p>
            <a:pPr algn="ctr">
              <a:defRPr/>
            </a:pPr>
            <a:endParaRPr lang="en-US" sz="1800" cap="none" dirty="0">
              <a:solidFill>
                <a:srgbClr val="9BBB59">
                  <a:lumMod val="20000"/>
                  <a:lumOff val="80000"/>
                </a:srgbClr>
              </a:solidFill>
              <a:latin typeface="Arial"/>
            </a:endParaRPr>
          </a:p>
          <a:p>
            <a:pPr algn="ctr">
              <a:defRPr/>
            </a:pPr>
            <a:r>
              <a:rPr lang="en-US" sz="2000" b="1" cap="none" dirty="0">
                <a:solidFill>
                  <a:srgbClr val="212F62"/>
                </a:solidFill>
                <a:latin typeface="Arial"/>
              </a:rPr>
              <a:t>Chapter # Chapter Title</a:t>
            </a:r>
          </a:p>
          <a:p>
            <a:pPr algn="ctr">
              <a:defRPr/>
            </a:pPr>
            <a:r>
              <a:rPr lang="en-US" sz="1600" cap="none" dirty="0">
                <a:solidFill>
                  <a:prstClr val="black"/>
                </a:solidFill>
                <a:latin typeface="Arial"/>
              </a:rPr>
              <a:t>PowerPoint Image Slideshow</a:t>
            </a:r>
          </a:p>
        </p:txBody>
      </p:sp>
      <p:pic>
        <p:nvPicPr>
          <p:cNvPr id="3" name="Picture 8" descr="medium_covers_Page_2.png"/>
          <p:cNvPicPr>
            <a:picLocks noChangeAspect="1"/>
          </p:cNvPicPr>
          <p:nvPr userDrawn="1"/>
        </p:nvPicPr>
        <p:blipFill>
          <a:blip r:embed="rId2" cstate="print"/>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
        <p:nvSpPr>
          <p:cNvPr id="4" name="Date Placeholder 3"/>
          <p:cNvSpPr>
            <a:spLocks noGrp="1"/>
          </p:cNvSpPr>
          <p:nvPr>
            <p:ph type="dt" sz="half" idx="10"/>
          </p:nvPr>
        </p:nvSpPr>
        <p:spPr/>
        <p:txBody>
          <a:bodyPr/>
          <a:lstStyle>
            <a:lvl1pPr>
              <a:defRPr/>
            </a:lvl1pPr>
          </a:lstStyle>
          <a:p>
            <a:pPr>
              <a:defRPr/>
            </a:pPr>
            <a:fld id="{E6933B52-B7B0-4435-A810-D5A8ECCD14B8}" type="datetime4">
              <a:rPr lang="en-US">
                <a:solidFill>
                  <a:prstClr val="black"/>
                </a:solidFill>
              </a:rPr>
              <a:pPr>
                <a:defRPr/>
              </a:pPr>
              <a:t>October 23, 2025</a:t>
            </a:fld>
            <a:endParaRPr lang="en-US" dirty="0">
              <a:solidFill>
                <a:prstClr val="black"/>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solidFill>
            </a:endParaRPr>
          </a:p>
        </p:txBody>
      </p:sp>
    </p:spTree>
    <p:extLst>
      <p:ext uri="{BB962C8B-B14F-4D97-AF65-F5344CB8AC3E}">
        <p14:creationId xmlns:p14="http://schemas.microsoft.com/office/powerpoint/2010/main" val="7545879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prstClr val="black"/>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prstClr val="black"/>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B46E12A8-FCF3-4B75-B501-AABBD79EE37F}" type="slidenum">
              <a:rPr lang="en-US"/>
              <a:pPr>
                <a:defRPr/>
              </a:pPr>
              <a:t>‹#›</a:t>
            </a:fld>
            <a:endParaRPr lang="en-US"/>
          </a:p>
        </p:txBody>
      </p:sp>
    </p:spTree>
    <p:extLst>
      <p:ext uri="{BB962C8B-B14F-4D97-AF65-F5344CB8AC3E}">
        <p14:creationId xmlns:p14="http://schemas.microsoft.com/office/powerpoint/2010/main" val="20051177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prstClr val="black"/>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prstClr val="black"/>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08663F8-B91E-468D-8FBD-D85EBFC765C1}" type="slidenum">
              <a:rPr lang="en-US"/>
              <a:pPr>
                <a:defRPr/>
              </a:pPr>
              <a:t>‹#›</a:t>
            </a:fld>
            <a:endParaRPr lang="en-US"/>
          </a:p>
        </p:txBody>
      </p:sp>
    </p:spTree>
    <p:extLst>
      <p:ext uri="{BB962C8B-B14F-4D97-AF65-F5344CB8AC3E}">
        <p14:creationId xmlns:p14="http://schemas.microsoft.com/office/powerpoint/2010/main" val="40037079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9" name="Picture Placeholder 8"/>
          <p:cNvSpPr>
            <a:spLocks noGrp="1"/>
          </p:cNvSpPr>
          <p:nvPr>
            <p:ph type="pic" sz="quarter" idx="13"/>
          </p:nvPr>
        </p:nvSpPr>
        <p:spPr>
          <a:xfrm>
            <a:off x="457199" y="1107618"/>
            <a:ext cx="4031619" cy="4607689"/>
          </a:xfrm>
        </p:spPr>
        <p:txBody>
          <a:bodyPr rtlCol="0">
            <a:normAutofit/>
          </a:bodyPr>
          <a:lstStyle/>
          <a:p>
            <a:pPr lvl="0"/>
            <a:endParaRPr lang="en-US" noProof="0"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5"/>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AF5D7D9-81E5-4EEC-85C7-A3D8780B97A4}"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Footer Placeholder 5"/>
          <p:cNvSpPr>
            <a:spLocks noGrp="1"/>
          </p:cNvSpPr>
          <p:nvPr>
            <p:ph type="ftr" sz="quarter" idx="16"/>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7" name="Slide Number Placeholder 6"/>
          <p:cNvSpPr>
            <a:spLocks noGrp="1"/>
          </p:cNvSpPr>
          <p:nvPr>
            <p:ph type="sldNum" sz="quarter" idx="17"/>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6124547-4185-4266-B4E4-2581C1A87319}"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7956636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rtlCol="0">
            <a:normAutofit/>
          </a:bodyPr>
          <a:lstStyle/>
          <a:p>
            <a:pPr lvl="0"/>
            <a:endParaRPr lang="en-US" noProof="0"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5"/>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DBDB5D-5956-4717-B2E0-D781475071B8}"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Footer Placeholder 4"/>
          <p:cNvSpPr>
            <a:spLocks noGrp="1"/>
          </p:cNvSpPr>
          <p:nvPr>
            <p:ph type="ftr" sz="quarter" idx="16"/>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0" name="Slide Number Placeholder 5"/>
          <p:cNvSpPr>
            <a:spLocks noGrp="1"/>
          </p:cNvSpPr>
          <p:nvPr>
            <p:ph type="sldNum" sz="quarter" idx="17"/>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C3785B0-FE98-4A5B-9A50-1292CD97EBC4}"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6398864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5939DFD-AF57-4C83-8053-60D32C84DF7C}"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158F162-EC8D-4B5B-975F-B8B0EEBB18C6}"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5007065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txBox="1">
            <a:spLocks/>
          </p:cNvSpPr>
          <p:nvPr userDrawn="1"/>
        </p:nvSpPr>
        <p:spPr>
          <a:xfrm>
            <a:off x="0" y="788988"/>
            <a:ext cx="9144000" cy="709612"/>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500" b="0" i="0" u="none" strike="noStrike" kern="1200" cap="all" spc="-60" normalizeH="0" baseline="0" noProof="0" dirty="0">
                <a:ln>
                  <a:noFill/>
                </a:ln>
                <a:solidFill>
                  <a:srgbClr val="6CB255"/>
                </a:solidFill>
                <a:effectLst/>
                <a:uLnTx/>
                <a:uFillTx/>
                <a:latin typeface="Arial Black"/>
                <a:ea typeface="+mj-ea"/>
                <a:cs typeface="+mj-cs"/>
              </a:rPr>
              <a:t>College Physics</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800" b="0" i="0" u="none" strike="noStrike" kern="1200" cap="none" spc="-60" normalizeH="0" baseline="0" noProof="0" dirty="0">
              <a:ln>
                <a:noFill/>
              </a:ln>
              <a:solidFill>
                <a:srgbClr val="9BBB59">
                  <a:lumMod val="20000"/>
                  <a:lumOff val="80000"/>
                </a:srgbClr>
              </a:solidFill>
              <a:effectLst/>
              <a:uLnTx/>
              <a:uFillTx/>
              <a:latin typeface="Arial"/>
              <a:ea typeface="+mj-ea"/>
              <a:cs typeface="+mj-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60" normalizeH="0" baseline="0" noProof="0" dirty="0">
                <a:ln>
                  <a:noFill/>
                </a:ln>
                <a:solidFill>
                  <a:srgbClr val="212F62"/>
                </a:solidFill>
                <a:effectLst/>
                <a:uLnTx/>
                <a:uFillTx/>
                <a:latin typeface="Arial"/>
                <a:ea typeface="+mj-ea"/>
                <a:cs typeface="+mj-cs"/>
              </a:rPr>
              <a:t>Chapter # Chapter Title</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60" normalizeH="0" baseline="0" noProof="0" dirty="0">
                <a:ln>
                  <a:noFill/>
                </a:ln>
                <a:solidFill>
                  <a:prstClr val="black"/>
                </a:solidFill>
                <a:effectLst/>
                <a:uLnTx/>
                <a:uFillTx/>
                <a:latin typeface="Arial"/>
                <a:ea typeface="+mj-ea"/>
                <a:cs typeface="+mj-cs"/>
              </a:rPr>
              <a:t>PowerPoint Image Slideshow</a:t>
            </a:r>
          </a:p>
        </p:txBody>
      </p:sp>
      <p:pic>
        <p:nvPicPr>
          <p:cNvPr id="3" name="Picture 8" descr="medium_covers_Page_2.png"/>
          <p:cNvPicPr>
            <a:picLocks noChangeAspect="1"/>
          </p:cNvPicPr>
          <p:nvPr userDrawn="1"/>
        </p:nvPicPr>
        <p:blipFill>
          <a:blip r:embed="rId2" cstate="print"/>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6933B52-B7B0-4435-A810-D5A8ECCD14B8}"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0381795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46E12A8-FCF3-4B75-B501-AABBD79EE37F}"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8996915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08663F8-B91E-468D-8FBD-D85EBFC765C1}"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41901565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9" name="Picture Placeholder 8"/>
          <p:cNvSpPr>
            <a:spLocks noGrp="1"/>
          </p:cNvSpPr>
          <p:nvPr>
            <p:ph type="pic" sz="quarter" idx="13"/>
          </p:nvPr>
        </p:nvSpPr>
        <p:spPr>
          <a:xfrm>
            <a:off x="457199" y="1107618"/>
            <a:ext cx="4031619" cy="4607689"/>
          </a:xfrm>
        </p:spPr>
        <p:txBody>
          <a:bodyPr rtlCol="0">
            <a:normAutofit/>
          </a:bodyPr>
          <a:lstStyle/>
          <a:p>
            <a:pPr lvl="0"/>
            <a:endParaRPr lang="en-US" noProof="0"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5"/>
          </p:nvPr>
        </p:nvSpPr>
        <p:spPr/>
        <p:txBody>
          <a:bodyPr/>
          <a:lstStyle>
            <a:lvl1pPr>
              <a:defRPr/>
            </a:lvl1pPr>
          </a:lstStyle>
          <a:p>
            <a:pPr>
              <a:defRPr/>
            </a:pPr>
            <a:fld id="{2AF5D7D9-81E5-4EEC-85C7-A3D8780B97A4}" type="datetime4">
              <a:rPr lang="en-US"/>
              <a:pPr>
                <a:defRPr/>
              </a:pPr>
              <a:t>October 23, 2025</a:t>
            </a:fld>
            <a:endParaRPr lang="en-US"/>
          </a:p>
        </p:txBody>
      </p:sp>
      <p:sp>
        <p:nvSpPr>
          <p:cNvPr id="6" name="Footer Placeholder 5"/>
          <p:cNvSpPr>
            <a:spLocks noGrp="1"/>
          </p:cNvSpPr>
          <p:nvPr>
            <p:ph type="ftr" sz="quarter" idx="16"/>
          </p:nvPr>
        </p:nvSpPr>
        <p:spPr/>
        <p:txBody>
          <a:bodyPr/>
          <a:lstStyle>
            <a:lvl1pPr>
              <a:defRPr/>
            </a:lvl1pPr>
          </a:lstStyle>
          <a:p>
            <a:pPr>
              <a:defRPr/>
            </a:pPr>
            <a:endParaRPr lang="en-US"/>
          </a:p>
        </p:txBody>
      </p:sp>
      <p:sp>
        <p:nvSpPr>
          <p:cNvPr id="7" name="Slide Number Placeholder 6"/>
          <p:cNvSpPr>
            <a:spLocks noGrp="1"/>
          </p:cNvSpPr>
          <p:nvPr>
            <p:ph type="sldNum" sz="quarter" idx="17"/>
          </p:nvPr>
        </p:nvSpPr>
        <p:spPr/>
        <p:txBody>
          <a:bodyPr/>
          <a:lstStyle>
            <a:lvl1pPr>
              <a:defRPr/>
            </a:lvl1pPr>
          </a:lstStyle>
          <a:p>
            <a:pPr>
              <a:defRPr/>
            </a:pPr>
            <a:fld id="{76124547-4185-4266-B4E4-2581C1A87319}" type="slidenum">
              <a:rPr lang="en-US"/>
              <a:pPr>
                <a:defRPr/>
              </a:pPr>
              <a:t>‹#›</a:t>
            </a:fld>
            <a:endParaRPr lang="en-US"/>
          </a:p>
        </p:txBody>
      </p:sp>
    </p:spTree>
    <p:extLst>
      <p:ext uri="{BB962C8B-B14F-4D97-AF65-F5344CB8AC3E}">
        <p14:creationId xmlns:p14="http://schemas.microsoft.com/office/powerpoint/2010/main" val="12729926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rtlCol="0">
            <a:normAutofit/>
          </a:bodyPr>
          <a:lstStyle/>
          <a:p>
            <a:pPr lvl="0"/>
            <a:endParaRPr lang="en-US" noProof="0"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5"/>
          </p:nvPr>
        </p:nvSpPr>
        <p:spPr/>
        <p:txBody>
          <a:bodyPr/>
          <a:lstStyle>
            <a:lvl1pPr>
              <a:defRPr/>
            </a:lvl1pPr>
          </a:lstStyle>
          <a:p>
            <a:pPr>
              <a:defRPr/>
            </a:pPr>
            <a:fld id="{A1DBDB5D-5956-4717-B2E0-D781475071B8}" type="datetime4">
              <a:rPr lang="en-US"/>
              <a:pPr>
                <a:defRPr/>
              </a:pPr>
              <a:t>October 23, 2025</a:t>
            </a:fld>
            <a:endParaRPr lang="en-US"/>
          </a:p>
        </p:txBody>
      </p:sp>
      <p:sp>
        <p:nvSpPr>
          <p:cNvPr id="6" name="Footer Placeholder 4"/>
          <p:cNvSpPr>
            <a:spLocks noGrp="1"/>
          </p:cNvSpPr>
          <p:nvPr>
            <p:ph type="ftr" sz="quarter" idx="16"/>
          </p:nvPr>
        </p:nvSpPr>
        <p:spPr/>
        <p:txBody>
          <a:bodyPr/>
          <a:lstStyle>
            <a:lvl1pPr>
              <a:defRPr/>
            </a:lvl1pPr>
          </a:lstStyle>
          <a:p>
            <a:pPr>
              <a:defRPr/>
            </a:pPr>
            <a:endParaRPr lang="en-US"/>
          </a:p>
        </p:txBody>
      </p:sp>
      <p:sp>
        <p:nvSpPr>
          <p:cNvPr id="10" name="Slide Number Placeholder 5"/>
          <p:cNvSpPr>
            <a:spLocks noGrp="1"/>
          </p:cNvSpPr>
          <p:nvPr>
            <p:ph type="sldNum" sz="quarter" idx="17"/>
          </p:nvPr>
        </p:nvSpPr>
        <p:spPr/>
        <p:txBody>
          <a:bodyPr/>
          <a:lstStyle>
            <a:lvl1pPr>
              <a:defRPr/>
            </a:lvl1pPr>
          </a:lstStyle>
          <a:p>
            <a:pPr>
              <a:defRPr/>
            </a:pPr>
            <a:fld id="{2C3785B0-FE98-4A5B-9A50-1292CD97EBC4}" type="slidenum">
              <a:rPr lang="en-US"/>
              <a:pPr>
                <a:defRPr/>
              </a:pPr>
              <a:t>‹#›</a:t>
            </a:fld>
            <a:endParaRPr lang="en-US"/>
          </a:p>
        </p:txBody>
      </p:sp>
    </p:spTree>
    <p:extLst>
      <p:ext uri="{BB962C8B-B14F-4D97-AF65-F5344CB8AC3E}">
        <p14:creationId xmlns:p14="http://schemas.microsoft.com/office/powerpoint/2010/main" val="18755076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lvl1pPr>
              <a:defRPr/>
            </a:lvl1pPr>
          </a:lstStyle>
          <a:p>
            <a:pPr>
              <a:defRPr/>
            </a:pPr>
            <a:fld id="{A5939DFD-AF57-4C83-8053-60D32C84DF7C}" type="datetime4">
              <a:rPr lang="en-US"/>
              <a:pPr>
                <a:defRPr/>
              </a:pPr>
              <a:t>October 23, 2025</a:t>
            </a:fld>
            <a:endParaRPr lang="en-US"/>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6158F162-EC8D-4B5B-975F-B8B0EEBB18C6}" type="slidenum">
              <a:rPr lang="en-US"/>
              <a:pPr>
                <a:defRPr/>
              </a:pPr>
              <a:t>‹#›</a:t>
            </a:fld>
            <a:endParaRPr lang="en-US"/>
          </a:p>
        </p:txBody>
      </p:sp>
    </p:spTree>
    <p:extLst>
      <p:ext uri="{BB962C8B-B14F-4D97-AF65-F5344CB8AC3E}">
        <p14:creationId xmlns:p14="http://schemas.microsoft.com/office/powerpoint/2010/main" val="33784865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txBox="1">
            <a:spLocks/>
          </p:cNvSpPr>
          <p:nvPr userDrawn="1"/>
        </p:nvSpPr>
        <p:spPr>
          <a:xfrm>
            <a:off x="0" y="788988"/>
            <a:ext cx="9144000" cy="709612"/>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fontAlgn="auto">
              <a:spcAft>
                <a:spcPts val="0"/>
              </a:spcAft>
              <a:defRPr/>
            </a:pPr>
            <a:r>
              <a:rPr lang="en-US" sz="3500" dirty="0"/>
              <a:t>College Physics</a:t>
            </a:r>
          </a:p>
          <a:p>
            <a:pPr algn="ctr" fontAlgn="auto">
              <a:spcAft>
                <a:spcPts val="0"/>
              </a:spcAft>
              <a:defRPr/>
            </a:pPr>
            <a:endParaRPr lang="en-US" sz="1800" cap="none" dirty="0">
              <a:solidFill>
                <a:schemeClr val="accent3">
                  <a:lumMod val="20000"/>
                  <a:lumOff val="80000"/>
                </a:schemeClr>
              </a:solidFill>
              <a:latin typeface="+mn-lt"/>
            </a:endParaRPr>
          </a:p>
          <a:p>
            <a:pPr algn="ctr" fontAlgn="auto">
              <a:spcAft>
                <a:spcPts val="0"/>
              </a:spcAft>
              <a:defRPr/>
            </a:pPr>
            <a:r>
              <a:rPr lang="en-US" sz="2000" b="1" cap="none" dirty="0">
                <a:solidFill>
                  <a:srgbClr val="212F62"/>
                </a:solidFill>
                <a:latin typeface="+mn-lt"/>
              </a:rPr>
              <a:t>Chapter # Chapter Title</a:t>
            </a:r>
          </a:p>
          <a:p>
            <a:pPr algn="ctr" fontAlgn="auto">
              <a:spcAft>
                <a:spcPts val="0"/>
              </a:spcAft>
              <a:defRPr/>
            </a:pPr>
            <a:r>
              <a:rPr lang="en-US" sz="1600" cap="none" dirty="0">
                <a:solidFill>
                  <a:schemeClr val="tx1"/>
                </a:solidFill>
                <a:latin typeface="+mn-lt"/>
              </a:rPr>
              <a:t>PowerPoint Image Slideshow</a:t>
            </a:r>
          </a:p>
        </p:txBody>
      </p:sp>
      <p:pic>
        <p:nvPicPr>
          <p:cNvPr id="3" name="Picture 8" descr="medium_covers_Page_2.png"/>
          <p:cNvPicPr>
            <a:picLocks noChangeAspect="1"/>
          </p:cNvPicPr>
          <p:nvPr userDrawn="1"/>
        </p:nvPicPr>
        <p:blipFill>
          <a:blip r:embed="rId2" cstate="print"/>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
        <p:nvSpPr>
          <p:cNvPr id="4" name="Date Placeholder 3"/>
          <p:cNvSpPr>
            <a:spLocks noGrp="1"/>
          </p:cNvSpPr>
          <p:nvPr>
            <p:ph type="dt" sz="half" idx="10"/>
          </p:nvPr>
        </p:nvSpPr>
        <p:spPr/>
        <p:txBody>
          <a:bodyPr/>
          <a:lstStyle>
            <a:lvl1pPr>
              <a:defRPr/>
            </a:lvl1pPr>
          </a:lstStyle>
          <a:p>
            <a:pPr>
              <a:defRPr/>
            </a:pPr>
            <a:fld id="{E6933B52-B7B0-4435-A810-D5A8ECCD14B8}" type="datetime4">
              <a:rPr lang="en-US"/>
              <a:pPr>
                <a:defRPr/>
              </a:pPr>
              <a:t>October 23, 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40079645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20.xml"/><Relationship Id="rId7" Type="http://schemas.openxmlformats.org/officeDocument/2006/relationships/theme" Target="../theme/theme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26.xml"/><Relationship Id="rId7" Type="http://schemas.openxmlformats.org/officeDocument/2006/relationships/theme" Target="../theme/theme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image" Target="../media/image2.jpg"/><Relationship Id="rId5" Type="http://schemas.openxmlformats.org/officeDocument/2006/relationships/theme" Target="../theme/theme6.xml"/><Relationship Id="rId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17D0EFEE-2756-4A20-BF2A-63F0A94F99AC}" type="datetime4">
              <a:rPr lang="en-US" smtClean="0"/>
              <a:pPr/>
              <a:t>October 23, 2025</a:t>
            </a:fld>
            <a:endParaRPr lang="en-US" dirty="0"/>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rot="16200000">
            <a:off x="8044814" y="683895"/>
            <a:ext cx="1315721" cy="365125"/>
          </a:xfrm>
          <a:prstGeom prst="rect">
            <a:avLst/>
          </a:prstGeom>
        </p:spPr>
        <p:txBody>
          <a:bodyPr vert="horz" lIns="91440" tIns="45720" rIns="91440" bIns="45720" rtlCol="0" anchor="ctr"/>
          <a:lstStyle>
            <a:lvl1pPr algn="r">
              <a:defRPr sz="2400" b="1">
                <a:solidFill>
                  <a:srgbClr val="FFFFFF"/>
                </a:solidFill>
              </a:defRPr>
            </a:lvl1pPr>
          </a:lstStyle>
          <a:p>
            <a:fld id="{F38DF745-7D3F-47F4-83A3-874385CFAA6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916" r:id="rId1"/>
    <p:sldLayoutId id="2147483914" r:id="rId2"/>
    <p:sldLayoutId id="2147483920" r:id="rId3"/>
    <p:sldLayoutId id="2147483913" r:id="rId4"/>
    <p:sldLayoutId id="2147484032" r:id="rId5"/>
  </p:sldLayoutIdLst>
  <p:hf sldNum="0" hdr="0" ftr="0" dt="0"/>
  <p:txStyles>
    <p:titleStyle>
      <a:lvl1pPr algn="l" defTabSz="914400" rtl="0" eaLnBrk="1" latinLnBrk="0" hangingPunct="1">
        <a:spcBef>
          <a:spcPct val="0"/>
        </a:spcBef>
        <a:buNone/>
        <a:defRPr sz="2400" kern="1200" cap="all" spc="-60" baseline="0">
          <a:solidFill>
            <a:srgbClr val="6CB255"/>
          </a:solidFill>
          <a:latin typeface="+mj-lt"/>
          <a:ea typeface="+mj-ea"/>
          <a:cs typeface="+mj-cs"/>
        </a:defRPr>
      </a:lvl1pPr>
    </p:titleStyle>
    <p:bodyStyle>
      <a:lvl1pPr marL="0" indent="0" algn="l" defTabSz="914400" rtl="0" eaLnBrk="1" latinLnBrk="0" hangingPunct="1">
        <a:spcBef>
          <a:spcPct val="20000"/>
        </a:spcBef>
        <a:spcAft>
          <a:spcPts val="600"/>
        </a:spcAft>
        <a:buClr>
          <a:srgbClr val="6CB255"/>
        </a:buClr>
        <a:buFont typeface="Arial" pitchFamily="34" charset="0"/>
        <a:buNone/>
        <a:defRPr sz="2000" b="0" kern="1200">
          <a:solidFill>
            <a:schemeClr val="tx1"/>
          </a:solidFill>
          <a:latin typeface="+mn-lt"/>
          <a:ea typeface="+mn-ea"/>
          <a:cs typeface="+mn-cs"/>
        </a:defRPr>
      </a:lvl1pPr>
      <a:lvl2pPr marL="457200" indent="-182880" algn="l" defTabSz="914400" rtl="0" eaLnBrk="1" latinLnBrk="0" hangingPunct="1">
        <a:spcBef>
          <a:spcPct val="20000"/>
        </a:spcBef>
        <a:buClr>
          <a:srgbClr val="6CB255"/>
        </a:buClr>
        <a:buFont typeface="Arial" pitchFamily="34" charset="0"/>
        <a:buChar char="•"/>
        <a:defRPr sz="2000" kern="1200">
          <a:solidFill>
            <a:srgbClr val="000000"/>
          </a:solidFill>
          <a:latin typeface="+mn-lt"/>
          <a:ea typeface="+mn-ea"/>
          <a:cs typeface="+mn-cs"/>
        </a:defRPr>
      </a:lvl2pPr>
      <a:lvl3pPr marL="11430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3pPr>
      <a:lvl4pPr marL="16002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4pPr>
      <a:lvl5pPr marL="2057400" indent="-228600" algn="l" defTabSz="914400" rtl="0" eaLnBrk="1" latinLnBrk="0" hangingPunct="1">
        <a:spcBef>
          <a:spcPct val="20000"/>
        </a:spcBef>
        <a:buClr>
          <a:srgbClr val="6CB255"/>
        </a:buClr>
        <a:buFont typeface="Arial" pitchFamily="34" charset="0"/>
        <a:buChar char="•"/>
        <a:defRPr sz="1800" kern="1200" baseline="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8"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7" name="Text Placeholder 2"/>
          <p:cNvSpPr>
            <a:spLocks noGrp="1"/>
          </p:cNvSpPr>
          <p:nvPr>
            <p:ph type="body" idx="1"/>
          </p:nvPr>
        </p:nvSpPr>
        <p:spPr bwMode="auto">
          <a:xfrm>
            <a:off x="457200" y="1752600"/>
            <a:ext cx="7620000" cy="437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fontAlgn="auto">
              <a:spcBef>
                <a:spcPts val="0"/>
              </a:spcBef>
              <a:spcAft>
                <a:spcPts val="0"/>
              </a:spcAft>
              <a:defRPr sz="1000" smtClean="0">
                <a:solidFill>
                  <a:schemeClr val="tx1"/>
                </a:solidFill>
                <a:latin typeface="+mn-lt"/>
              </a:defRPr>
            </a:lvl1pPr>
          </a:lstStyle>
          <a:p>
            <a:pPr>
              <a:defRPr/>
            </a:pPr>
            <a:fld id="{7D8C27C6-00DF-4890-8154-3F9BE9A134E3}" type="datetime4">
              <a:rPr lang="en-US">
                <a:solidFill>
                  <a:prstClr val="black"/>
                </a:solidFill>
              </a:rPr>
              <a:pPr>
                <a:defRPr/>
              </a:pPr>
              <a:t>October 23, 2025</a:t>
            </a:fld>
            <a:endParaRPr lang="en-US" dirty="0">
              <a:solidFill>
                <a:prstClr val="black"/>
              </a:solidFill>
            </a:endParaRPr>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fontAlgn="auto">
              <a:spcBef>
                <a:spcPts val="0"/>
              </a:spcBef>
              <a:spcAft>
                <a:spcPts val="0"/>
              </a:spcAft>
              <a:defRPr sz="1000" dirty="0">
                <a:solidFill>
                  <a:schemeClr val="tx1"/>
                </a:solidFill>
                <a:latin typeface="+mn-lt"/>
              </a:defRPr>
            </a:lvl1pPr>
          </a:lstStyle>
          <a:p>
            <a:pPr>
              <a:defRPr/>
            </a:pPr>
            <a:endParaRPr lang="en-US">
              <a:solidFill>
                <a:prstClr val="black"/>
              </a:solidFill>
            </a:endParaRPr>
          </a:p>
        </p:txBody>
      </p:sp>
      <p:sp>
        <p:nvSpPr>
          <p:cNvPr id="6" name="Slide Number Placeholder 5"/>
          <p:cNvSpPr>
            <a:spLocks noGrp="1"/>
          </p:cNvSpPr>
          <p:nvPr>
            <p:ph type="sldNum" sz="quarter" idx="4"/>
          </p:nvPr>
        </p:nvSpPr>
        <p:spPr>
          <a:xfrm rot="16200000">
            <a:off x="8044657" y="683419"/>
            <a:ext cx="1316037" cy="365125"/>
          </a:xfrm>
          <a:prstGeom prst="rect">
            <a:avLst/>
          </a:prstGeom>
        </p:spPr>
        <p:txBody>
          <a:bodyPr vert="horz" lIns="91440" tIns="45720" rIns="91440" bIns="45720" rtlCol="0" anchor="ctr"/>
          <a:lstStyle>
            <a:lvl1pPr algn="r" fontAlgn="auto">
              <a:spcBef>
                <a:spcPts val="0"/>
              </a:spcBef>
              <a:spcAft>
                <a:spcPts val="0"/>
              </a:spcAft>
              <a:defRPr sz="2400" b="1" smtClean="0">
                <a:solidFill>
                  <a:srgbClr val="FFFFFF"/>
                </a:solidFill>
                <a:latin typeface="+mn-lt"/>
              </a:defRPr>
            </a:lvl1pPr>
          </a:lstStyle>
          <a:p>
            <a:pPr>
              <a:defRPr/>
            </a:pPr>
            <a:fld id="{C56169A9-3380-4EA0-9DA0-2D35F2C8DA18}" type="slidenum">
              <a:rPr lang="en-US"/>
              <a:pPr>
                <a:defRPr/>
              </a:pPr>
              <a:t>‹#›</a:t>
            </a:fld>
            <a:endParaRPr lang="en-US" dirty="0"/>
          </a:p>
        </p:txBody>
      </p:sp>
    </p:spTree>
    <p:extLst>
      <p:ext uri="{BB962C8B-B14F-4D97-AF65-F5344CB8AC3E}">
        <p14:creationId xmlns:p14="http://schemas.microsoft.com/office/powerpoint/2010/main" val="1612815411"/>
      </p:ext>
    </p:extLst>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Lst>
  <p:hf sldNum="0" hdr="0" ftr="0" dt="0"/>
  <p:txStyles>
    <p:titleStyle>
      <a:lvl1pPr algn="l" rtl="0" fontAlgn="base">
        <a:spcBef>
          <a:spcPct val="0"/>
        </a:spcBef>
        <a:spcAft>
          <a:spcPct val="0"/>
        </a:spcAft>
        <a:defRPr sz="2400" kern="1200" cap="all" spc="-60">
          <a:solidFill>
            <a:srgbClr val="6CB255"/>
          </a:solidFill>
          <a:latin typeface="+mj-lt"/>
          <a:ea typeface="+mj-ea"/>
          <a:cs typeface="+mj-cs"/>
        </a:defRPr>
      </a:lvl1pPr>
      <a:lvl2pPr algn="l" rtl="0" fontAlgn="base">
        <a:spcBef>
          <a:spcPct val="0"/>
        </a:spcBef>
        <a:spcAft>
          <a:spcPct val="0"/>
        </a:spcAft>
        <a:defRPr sz="2400">
          <a:solidFill>
            <a:srgbClr val="6CB255"/>
          </a:solidFill>
          <a:latin typeface="Arial Black" pitchFamily="34" charset="0"/>
        </a:defRPr>
      </a:lvl2pPr>
      <a:lvl3pPr algn="l" rtl="0" fontAlgn="base">
        <a:spcBef>
          <a:spcPct val="0"/>
        </a:spcBef>
        <a:spcAft>
          <a:spcPct val="0"/>
        </a:spcAft>
        <a:defRPr sz="2400">
          <a:solidFill>
            <a:srgbClr val="6CB255"/>
          </a:solidFill>
          <a:latin typeface="Arial Black" pitchFamily="34" charset="0"/>
        </a:defRPr>
      </a:lvl3pPr>
      <a:lvl4pPr algn="l" rtl="0" fontAlgn="base">
        <a:spcBef>
          <a:spcPct val="0"/>
        </a:spcBef>
        <a:spcAft>
          <a:spcPct val="0"/>
        </a:spcAft>
        <a:defRPr sz="2400">
          <a:solidFill>
            <a:srgbClr val="6CB255"/>
          </a:solidFill>
          <a:latin typeface="Arial Black" pitchFamily="34" charset="0"/>
        </a:defRPr>
      </a:lvl4pPr>
      <a:lvl5pPr algn="l" rtl="0" fontAlgn="base">
        <a:spcBef>
          <a:spcPct val="0"/>
        </a:spcBef>
        <a:spcAft>
          <a:spcPct val="0"/>
        </a:spcAft>
        <a:defRPr sz="2400">
          <a:solidFill>
            <a:srgbClr val="6CB255"/>
          </a:solidFill>
          <a:latin typeface="Arial Black" pitchFamily="34" charset="0"/>
        </a:defRPr>
      </a:lvl5pPr>
      <a:lvl6pPr marL="457200" algn="l" rtl="0" fontAlgn="base">
        <a:spcBef>
          <a:spcPct val="0"/>
        </a:spcBef>
        <a:spcAft>
          <a:spcPct val="0"/>
        </a:spcAft>
        <a:defRPr sz="2400">
          <a:solidFill>
            <a:srgbClr val="6CB255"/>
          </a:solidFill>
          <a:latin typeface="Arial Black" pitchFamily="34" charset="0"/>
        </a:defRPr>
      </a:lvl6pPr>
      <a:lvl7pPr marL="914400" algn="l" rtl="0" fontAlgn="base">
        <a:spcBef>
          <a:spcPct val="0"/>
        </a:spcBef>
        <a:spcAft>
          <a:spcPct val="0"/>
        </a:spcAft>
        <a:defRPr sz="2400">
          <a:solidFill>
            <a:srgbClr val="6CB255"/>
          </a:solidFill>
          <a:latin typeface="Arial Black" pitchFamily="34" charset="0"/>
        </a:defRPr>
      </a:lvl7pPr>
      <a:lvl8pPr marL="1371600" algn="l" rtl="0" fontAlgn="base">
        <a:spcBef>
          <a:spcPct val="0"/>
        </a:spcBef>
        <a:spcAft>
          <a:spcPct val="0"/>
        </a:spcAft>
        <a:defRPr sz="2400">
          <a:solidFill>
            <a:srgbClr val="6CB255"/>
          </a:solidFill>
          <a:latin typeface="Arial Black" pitchFamily="34" charset="0"/>
        </a:defRPr>
      </a:lvl8pPr>
      <a:lvl9pPr marL="1828800" algn="l" rtl="0" fontAlgn="base">
        <a:spcBef>
          <a:spcPct val="0"/>
        </a:spcBef>
        <a:spcAft>
          <a:spcPct val="0"/>
        </a:spcAft>
        <a:defRPr sz="2400">
          <a:solidFill>
            <a:srgbClr val="6CB255"/>
          </a:solidFill>
          <a:latin typeface="Arial Black" pitchFamily="34" charset="0"/>
        </a:defRPr>
      </a:lvl9pPr>
    </p:titleStyle>
    <p:bodyStyle>
      <a:lvl1pPr algn="l" rtl="0" fontAlgn="base">
        <a:spcBef>
          <a:spcPct val="20000"/>
        </a:spcBef>
        <a:spcAft>
          <a:spcPts val="600"/>
        </a:spcAft>
        <a:buClr>
          <a:srgbClr val="6CB255"/>
        </a:buClr>
        <a:buFont typeface="Arial" charset="0"/>
        <a:defRPr sz="2000" kern="1200">
          <a:solidFill>
            <a:schemeClr val="tx1"/>
          </a:solidFill>
          <a:latin typeface="+mn-lt"/>
          <a:ea typeface="+mn-ea"/>
          <a:cs typeface="+mn-cs"/>
        </a:defRPr>
      </a:lvl1pPr>
      <a:lvl2pPr marL="457200" indent="-182563" algn="l" rtl="0" fontAlgn="base">
        <a:spcBef>
          <a:spcPct val="20000"/>
        </a:spcBef>
        <a:spcAft>
          <a:spcPct val="0"/>
        </a:spcAft>
        <a:buClr>
          <a:srgbClr val="6CB255"/>
        </a:buClr>
        <a:buFont typeface="Arial" charset="0"/>
        <a:buChar char="•"/>
        <a:defRPr sz="2000" kern="1200">
          <a:solidFill>
            <a:srgbClr val="000000"/>
          </a:solidFill>
          <a:latin typeface="+mn-lt"/>
          <a:ea typeface="+mn-ea"/>
          <a:cs typeface="+mn-cs"/>
        </a:defRPr>
      </a:lvl2pPr>
      <a:lvl3pPr marL="11430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3pPr>
      <a:lvl4pPr marL="16002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4pPr>
      <a:lvl5pPr marL="20574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8"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7" name="Text Placeholder 2"/>
          <p:cNvSpPr>
            <a:spLocks noGrp="1"/>
          </p:cNvSpPr>
          <p:nvPr>
            <p:ph type="body" idx="1"/>
          </p:nvPr>
        </p:nvSpPr>
        <p:spPr bwMode="auto">
          <a:xfrm>
            <a:off x="457200" y="1752600"/>
            <a:ext cx="7620000" cy="437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fontAlgn="auto">
              <a:spcBef>
                <a:spcPts val="0"/>
              </a:spcBef>
              <a:spcAft>
                <a:spcPts val="0"/>
              </a:spcAft>
              <a:defRPr sz="1000" smtClean="0">
                <a:solidFill>
                  <a:schemeClr val="tx1"/>
                </a:solidFill>
                <a:latin typeface="+mn-lt"/>
              </a:defRPr>
            </a:lvl1pPr>
          </a:lstStyle>
          <a:p>
            <a:pPr>
              <a:defRPr/>
            </a:pPr>
            <a:fld id="{7D8C27C6-00DF-4890-8154-3F9BE9A134E3}" type="datetime4">
              <a:rPr lang="en-US">
                <a:solidFill>
                  <a:prstClr val="black"/>
                </a:solidFill>
              </a:rPr>
              <a:pPr>
                <a:defRPr/>
              </a:pPr>
              <a:t>October 23, 2025</a:t>
            </a:fld>
            <a:endParaRPr lang="en-US" dirty="0">
              <a:solidFill>
                <a:prstClr val="black"/>
              </a:solidFill>
            </a:endParaRPr>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fontAlgn="auto">
              <a:spcBef>
                <a:spcPts val="0"/>
              </a:spcBef>
              <a:spcAft>
                <a:spcPts val="0"/>
              </a:spcAft>
              <a:defRPr sz="1000" dirty="0">
                <a:solidFill>
                  <a:schemeClr val="tx1"/>
                </a:solidFill>
                <a:latin typeface="+mn-lt"/>
              </a:defRPr>
            </a:lvl1pPr>
          </a:lstStyle>
          <a:p>
            <a:pPr>
              <a:defRPr/>
            </a:pPr>
            <a:endParaRPr lang="en-US">
              <a:solidFill>
                <a:prstClr val="black"/>
              </a:solidFill>
            </a:endParaRPr>
          </a:p>
        </p:txBody>
      </p:sp>
      <p:sp>
        <p:nvSpPr>
          <p:cNvPr id="6" name="Slide Number Placeholder 5"/>
          <p:cNvSpPr>
            <a:spLocks noGrp="1"/>
          </p:cNvSpPr>
          <p:nvPr>
            <p:ph type="sldNum" sz="quarter" idx="4"/>
          </p:nvPr>
        </p:nvSpPr>
        <p:spPr>
          <a:xfrm rot="16200000">
            <a:off x="8044657" y="683419"/>
            <a:ext cx="1316037" cy="365125"/>
          </a:xfrm>
          <a:prstGeom prst="rect">
            <a:avLst/>
          </a:prstGeom>
        </p:spPr>
        <p:txBody>
          <a:bodyPr vert="horz" lIns="91440" tIns="45720" rIns="91440" bIns="45720" rtlCol="0" anchor="ctr"/>
          <a:lstStyle>
            <a:lvl1pPr algn="r" fontAlgn="auto">
              <a:spcBef>
                <a:spcPts val="0"/>
              </a:spcBef>
              <a:spcAft>
                <a:spcPts val="0"/>
              </a:spcAft>
              <a:defRPr sz="2400" b="1" smtClean="0">
                <a:solidFill>
                  <a:srgbClr val="FFFFFF"/>
                </a:solidFill>
                <a:latin typeface="+mn-lt"/>
              </a:defRPr>
            </a:lvl1pPr>
          </a:lstStyle>
          <a:p>
            <a:pPr>
              <a:defRPr/>
            </a:pPr>
            <a:fld id="{C56169A9-3380-4EA0-9DA0-2D35F2C8DA18}" type="slidenum">
              <a:rPr lang="en-US"/>
              <a:pPr>
                <a:defRPr/>
              </a:pPr>
              <a:t>‹#›</a:t>
            </a:fld>
            <a:endParaRPr lang="en-US" dirty="0"/>
          </a:p>
        </p:txBody>
      </p:sp>
    </p:spTree>
    <p:extLst>
      <p:ext uri="{BB962C8B-B14F-4D97-AF65-F5344CB8AC3E}">
        <p14:creationId xmlns:p14="http://schemas.microsoft.com/office/powerpoint/2010/main" val="3764208966"/>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Lst>
  <p:hf sldNum="0" hdr="0" ftr="0" dt="0"/>
  <p:txStyles>
    <p:titleStyle>
      <a:lvl1pPr algn="l" rtl="0" fontAlgn="base">
        <a:spcBef>
          <a:spcPct val="0"/>
        </a:spcBef>
        <a:spcAft>
          <a:spcPct val="0"/>
        </a:spcAft>
        <a:defRPr sz="2400" kern="1200" cap="all" spc="-60">
          <a:solidFill>
            <a:srgbClr val="6CB255"/>
          </a:solidFill>
          <a:latin typeface="+mj-lt"/>
          <a:ea typeface="+mj-ea"/>
          <a:cs typeface="+mj-cs"/>
        </a:defRPr>
      </a:lvl1pPr>
      <a:lvl2pPr algn="l" rtl="0" fontAlgn="base">
        <a:spcBef>
          <a:spcPct val="0"/>
        </a:spcBef>
        <a:spcAft>
          <a:spcPct val="0"/>
        </a:spcAft>
        <a:defRPr sz="2400">
          <a:solidFill>
            <a:srgbClr val="6CB255"/>
          </a:solidFill>
          <a:latin typeface="Arial Black" pitchFamily="34" charset="0"/>
        </a:defRPr>
      </a:lvl2pPr>
      <a:lvl3pPr algn="l" rtl="0" fontAlgn="base">
        <a:spcBef>
          <a:spcPct val="0"/>
        </a:spcBef>
        <a:spcAft>
          <a:spcPct val="0"/>
        </a:spcAft>
        <a:defRPr sz="2400">
          <a:solidFill>
            <a:srgbClr val="6CB255"/>
          </a:solidFill>
          <a:latin typeface="Arial Black" pitchFamily="34" charset="0"/>
        </a:defRPr>
      </a:lvl3pPr>
      <a:lvl4pPr algn="l" rtl="0" fontAlgn="base">
        <a:spcBef>
          <a:spcPct val="0"/>
        </a:spcBef>
        <a:spcAft>
          <a:spcPct val="0"/>
        </a:spcAft>
        <a:defRPr sz="2400">
          <a:solidFill>
            <a:srgbClr val="6CB255"/>
          </a:solidFill>
          <a:latin typeface="Arial Black" pitchFamily="34" charset="0"/>
        </a:defRPr>
      </a:lvl4pPr>
      <a:lvl5pPr algn="l" rtl="0" fontAlgn="base">
        <a:spcBef>
          <a:spcPct val="0"/>
        </a:spcBef>
        <a:spcAft>
          <a:spcPct val="0"/>
        </a:spcAft>
        <a:defRPr sz="2400">
          <a:solidFill>
            <a:srgbClr val="6CB255"/>
          </a:solidFill>
          <a:latin typeface="Arial Black" pitchFamily="34" charset="0"/>
        </a:defRPr>
      </a:lvl5pPr>
      <a:lvl6pPr marL="457200" algn="l" rtl="0" fontAlgn="base">
        <a:spcBef>
          <a:spcPct val="0"/>
        </a:spcBef>
        <a:spcAft>
          <a:spcPct val="0"/>
        </a:spcAft>
        <a:defRPr sz="2400">
          <a:solidFill>
            <a:srgbClr val="6CB255"/>
          </a:solidFill>
          <a:latin typeface="Arial Black" pitchFamily="34" charset="0"/>
        </a:defRPr>
      </a:lvl6pPr>
      <a:lvl7pPr marL="914400" algn="l" rtl="0" fontAlgn="base">
        <a:spcBef>
          <a:spcPct val="0"/>
        </a:spcBef>
        <a:spcAft>
          <a:spcPct val="0"/>
        </a:spcAft>
        <a:defRPr sz="2400">
          <a:solidFill>
            <a:srgbClr val="6CB255"/>
          </a:solidFill>
          <a:latin typeface="Arial Black" pitchFamily="34" charset="0"/>
        </a:defRPr>
      </a:lvl7pPr>
      <a:lvl8pPr marL="1371600" algn="l" rtl="0" fontAlgn="base">
        <a:spcBef>
          <a:spcPct val="0"/>
        </a:spcBef>
        <a:spcAft>
          <a:spcPct val="0"/>
        </a:spcAft>
        <a:defRPr sz="2400">
          <a:solidFill>
            <a:srgbClr val="6CB255"/>
          </a:solidFill>
          <a:latin typeface="Arial Black" pitchFamily="34" charset="0"/>
        </a:defRPr>
      </a:lvl8pPr>
      <a:lvl9pPr marL="1828800" algn="l" rtl="0" fontAlgn="base">
        <a:spcBef>
          <a:spcPct val="0"/>
        </a:spcBef>
        <a:spcAft>
          <a:spcPct val="0"/>
        </a:spcAft>
        <a:defRPr sz="2400">
          <a:solidFill>
            <a:srgbClr val="6CB255"/>
          </a:solidFill>
          <a:latin typeface="Arial Black" pitchFamily="34" charset="0"/>
        </a:defRPr>
      </a:lvl9pPr>
    </p:titleStyle>
    <p:bodyStyle>
      <a:lvl1pPr algn="l" rtl="0" fontAlgn="base">
        <a:spcBef>
          <a:spcPct val="20000"/>
        </a:spcBef>
        <a:spcAft>
          <a:spcPts val="600"/>
        </a:spcAft>
        <a:buClr>
          <a:srgbClr val="6CB255"/>
        </a:buClr>
        <a:buFont typeface="Arial" charset="0"/>
        <a:defRPr sz="2000" kern="1200">
          <a:solidFill>
            <a:schemeClr val="tx1"/>
          </a:solidFill>
          <a:latin typeface="+mn-lt"/>
          <a:ea typeface="+mn-ea"/>
          <a:cs typeface="+mn-cs"/>
        </a:defRPr>
      </a:lvl1pPr>
      <a:lvl2pPr marL="457200" indent="-182563" algn="l" rtl="0" fontAlgn="base">
        <a:spcBef>
          <a:spcPct val="20000"/>
        </a:spcBef>
        <a:spcAft>
          <a:spcPct val="0"/>
        </a:spcAft>
        <a:buClr>
          <a:srgbClr val="6CB255"/>
        </a:buClr>
        <a:buFont typeface="Arial" charset="0"/>
        <a:buChar char="•"/>
        <a:defRPr sz="2000" kern="1200">
          <a:solidFill>
            <a:srgbClr val="000000"/>
          </a:solidFill>
          <a:latin typeface="+mn-lt"/>
          <a:ea typeface="+mn-ea"/>
          <a:cs typeface="+mn-cs"/>
        </a:defRPr>
      </a:lvl2pPr>
      <a:lvl3pPr marL="11430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3pPr>
      <a:lvl4pPr marL="16002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4pPr>
      <a:lvl5pPr marL="20574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8"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7" name="Text Placeholder 2"/>
          <p:cNvSpPr>
            <a:spLocks noGrp="1"/>
          </p:cNvSpPr>
          <p:nvPr>
            <p:ph type="body" idx="1"/>
          </p:nvPr>
        </p:nvSpPr>
        <p:spPr bwMode="auto">
          <a:xfrm>
            <a:off x="457200" y="1752600"/>
            <a:ext cx="7620000" cy="437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fontAlgn="auto">
              <a:spcBef>
                <a:spcPts val="0"/>
              </a:spcBef>
              <a:spcAft>
                <a:spcPts val="0"/>
              </a:spcAft>
              <a:defRPr sz="1000" smtClean="0">
                <a:solidFill>
                  <a:schemeClr val="tx1"/>
                </a:solidFill>
                <a:latin typeface="+mn-lt"/>
              </a:defRPr>
            </a:lvl1pPr>
          </a:lstStyle>
          <a:p>
            <a:pPr>
              <a:defRPr/>
            </a:pPr>
            <a:fld id="{7D8C27C6-00DF-4890-8154-3F9BE9A134E3}" type="datetime4">
              <a:rPr lang="en-US">
                <a:solidFill>
                  <a:prstClr val="black"/>
                </a:solidFill>
              </a:rPr>
              <a:pPr>
                <a:defRPr/>
              </a:pPr>
              <a:t>October 23, 2025</a:t>
            </a:fld>
            <a:endParaRPr lang="en-US" dirty="0">
              <a:solidFill>
                <a:prstClr val="black"/>
              </a:solidFill>
            </a:endParaRPr>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fontAlgn="auto">
              <a:spcBef>
                <a:spcPts val="0"/>
              </a:spcBef>
              <a:spcAft>
                <a:spcPts val="0"/>
              </a:spcAft>
              <a:defRPr sz="1000" dirty="0">
                <a:solidFill>
                  <a:schemeClr val="tx1"/>
                </a:solidFill>
                <a:latin typeface="+mn-lt"/>
              </a:defRPr>
            </a:lvl1pPr>
          </a:lstStyle>
          <a:p>
            <a:pPr>
              <a:defRPr/>
            </a:pPr>
            <a:endParaRPr lang="en-US">
              <a:solidFill>
                <a:prstClr val="black"/>
              </a:solidFill>
            </a:endParaRPr>
          </a:p>
        </p:txBody>
      </p:sp>
      <p:sp>
        <p:nvSpPr>
          <p:cNvPr id="6" name="Slide Number Placeholder 5"/>
          <p:cNvSpPr>
            <a:spLocks noGrp="1"/>
          </p:cNvSpPr>
          <p:nvPr>
            <p:ph type="sldNum" sz="quarter" idx="4"/>
          </p:nvPr>
        </p:nvSpPr>
        <p:spPr>
          <a:xfrm rot="16200000">
            <a:off x="8044657" y="683419"/>
            <a:ext cx="1316037" cy="365125"/>
          </a:xfrm>
          <a:prstGeom prst="rect">
            <a:avLst/>
          </a:prstGeom>
        </p:spPr>
        <p:txBody>
          <a:bodyPr vert="horz" lIns="91440" tIns="45720" rIns="91440" bIns="45720" rtlCol="0" anchor="ctr"/>
          <a:lstStyle>
            <a:lvl1pPr algn="r" fontAlgn="auto">
              <a:spcBef>
                <a:spcPts val="0"/>
              </a:spcBef>
              <a:spcAft>
                <a:spcPts val="0"/>
              </a:spcAft>
              <a:defRPr sz="2400" b="1" smtClean="0">
                <a:solidFill>
                  <a:srgbClr val="FFFFFF"/>
                </a:solidFill>
                <a:latin typeface="+mn-lt"/>
              </a:defRPr>
            </a:lvl1pPr>
          </a:lstStyle>
          <a:p>
            <a:pPr>
              <a:defRPr/>
            </a:pPr>
            <a:fld id="{C56169A9-3380-4EA0-9DA0-2D35F2C8DA18}" type="slidenum">
              <a:rPr lang="en-US"/>
              <a:pPr>
                <a:defRPr/>
              </a:pPr>
              <a:t>‹#›</a:t>
            </a:fld>
            <a:endParaRPr lang="en-US" dirty="0"/>
          </a:p>
        </p:txBody>
      </p:sp>
    </p:spTree>
    <p:extLst>
      <p:ext uri="{BB962C8B-B14F-4D97-AF65-F5344CB8AC3E}">
        <p14:creationId xmlns:p14="http://schemas.microsoft.com/office/powerpoint/2010/main" val="3768729932"/>
      </p:ext>
    </p:extLst>
  </p:cSld>
  <p:clrMap bg1="lt1" tx1="dk1" bg2="lt2" tx2="dk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Lst>
  <p:hf sldNum="0" hdr="0" ftr="0" dt="0"/>
  <p:txStyles>
    <p:titleStyle>
      <a:lvl1pPr algn="l" rtl="0" fontAlgn="base">
        <a:spcBef>
          <a:spcPct val="0"/>
        </a:spcBef>
        <a:spcAft>
          <a:spcPct val="0"/>
        </a:spcAft>
        <a:defRPr sz="2400" kern="1200" cap="all" spc="-60">
          <a:solidFill>
            <a:srgbClr val="6CB255"/>
          </a:solidFill>
          <a:latin typeface="+mj-lt"/>
          <a:ea typeface="+mj-ea"/>
          <a:cs typeface="+mj-cs"/>
        </a:defRPr>
      </a:lvl1pPr>
      <a:lvl2pPr algn="l" rtl="0" fontAlgn="base">
        <a:spcBef>
          <a:spcPct val="0"/>
        </a:spcBef>
        <a:spcAft>
          <a:spcPct val="0"/>
        </a:spcAft>
        <a:defRPr sz="2400">
          <a:solidFill>
            <a:srgbClr val="6CB255"/>
          </a:solidFill>
          <a:latin typeface="Arial Black" pitchFamily="34" charset="0"/>
        </a:defRPr>
      </a:lvl2pPr>
      <a:lvl3pPr algn="l" rtl="0" fontAlgn="base">
        <a:spcBef>
          <a:spcPct val="0"/>
        </a:spcBef>
        <a:spcAft>
          <a:spcPct val="0"/>
        </a:spcAft>
        <a:defRPr sz="2400">
          <a:solidFill>
            <a:srgbClr val="6CB255"/>
          </a:solidFill>
          <a:latin typeface="Arial Black" pitchFamily="34" charset="0"/>
        </a:defRPr>
      </a:lvl3pPr>
      <a:lvl4pPr algn="l" rtl="0" fontAlgn="base">
        <a:spcBef>
          <a:spcPct val="0"/>
        </a:spcBef>
        <a:spcAft>
          <a:spcPct val="0"/>
        </a:spcAft>
        <a:defRPr sz="2400">
          <a:solidFill>
            <a:srgbClr val="6CB255"/>
          </a:solidFill>
          <a:latin typeface="Arial Black" pitchFamily="34" charset="0"/>
        </a:defRPr>
      </a:lvl4pPr>
      <a:lvl5pPr algn="l" rtl="0" fontAlgn="base">
        <a:spcBef>
          <a:spcPct val="0"/>
        </a:spcBef>
        <a:spcAft>
          <a:spcPct val="0"/>
        </a:spcAft>
        <a:defRPr sz="2400">
          <a:solidFill>
            <a:srgbClr val="6CB255"/>
          </a:solidFill>
          <a:latin typeface="Arial Black" pitchFamily="34" charset="0"/>
        </a:defRPr>
      </a:lvl5pPr>
      <a:lvl6pPr marL="457200" algn="l" rtl="0" fontAlgn="base">
        <a:spcBef>
          <a:spcPct val="0"/>
        </a:spcBef>
        <a:spcAft>
          <a:spcPct val="0"/>
        </a:spcAft>
        <a:defRPr sz="2400">
          <a:solidFill>
            <a:srgbClr val="6CB255"/>
          </a:solidFill>
          <a:latin typeface="Arial Black" pitchFamily="34" charset="0"/>
        </a:defRPr>
      </a:lvl6pPr>
      <a:lvl7pPr marL="914400" algn="l" rtl="0" fontAlgn="base">
        <a:spcBef>
          <a:spcPct val="0"/>
        </a:spcBef>
        <a:spcAft>
          <a:spcPct val="0"/>
        </a:spcAft>
        <a:defRPr sz="2400">
          <a:solidFill>
            <a:srgbClr val="6CB255"/>
          </a:solidFill>
          <a:latin typeface="Arial Black" pitchFamily="34" charset="0"/>
        </a:defRPr>
      </a:lvl7pPr>
      <a:lvl8pPr marL="1371600" algn="l" rtl="0" fontAlgn="base">
        <a:spcBef>
          <a:spcPct val="0"/>
        </a:spcBef>
        <a:spcAft>
          <a:spcPct val="0"/>
        </a:spcAft>
        <a:defRPr sz="2400">
          <a:solidFill>
            <a:srgbClr val="6CB255"/>
          </a:solidFill>
          <a:latin typeface="Arial Black" pitchFamily="34" charset="0"/>
        </a:defRPr>
      </a:lvl8pPr>
      <a:lvl9pPr marL="1828800" algn="l" rtl="0" fontAlgn="base">
        <a:spcBef>
          <a:spcPct val="0"/>
        </a:spcBef>
        <a:spcAft>
          <a:spcPct val="0"/>
        </a:spcAft>
        <a:defRPr sz="2400">
          <a:solidFill>
            <a:srgbClr val="6CB255"/>
          </a:solidFill>
          <a:latin typeface="Arial Black" pitchFamily="34" charset="0"/>
        </a:defRPr>
      </a:lvl9pPr>
    </p:titleStyle>
    <p:bodyStyle>
      <a:lvl1pPr algn="l" rtl="0" fontAlgn="base">
        <a:spcBef>
          <a:spcPct val="20000"/>
        </a:spcBef>
        <a:spcAft>
          <a:spcPts val="600"/>
        </a:spcAft>
        <a:buClr>
          <a:srgbClr val="6CB255"/>
        </a:buClr>
        <a:buFont typeface="Arial" charset="0"/>
        <a:defRPr sz="2000" kern="1200">
          <a:solidFill>
            <a:schemeClr val="tx1"/>
          </a:solidFill>
          <a:latin typeface="+mn-lt"/>
          <a:ea typeface="+mn-ea"/>
          <a:cs typeface="+mn-cs"/>
        </a:defRPr>
      </a:lvl1pPr>
      <a:lvl2pPr marL="457200" indent="-182563" algn="l" rtl="0" fontAlgn="base">
        <a:spcBef>
          <a:spcPct val="20000"/>
        </a:spcBef>
        <a:spcAft>
          <a:spcPct val="0"/>
        </a:spcAft>
        <a:buClr>
          <a:srgbClr val="6CB255"/>
        </a:buClr>
        <a:buFont typeface="Arial" charset="0"/>
        <a:buChar char="•"/>
        <a:defRPr sz="2000" kern="1200">
          <a:solidFill>
            <a:srgbClr val="000000"/>
          </a:solidFill>
          <a:latin typeface="+mn-lt"/>
          <a:ea typeface="+mn-ea"/>
          <a:cs typeface="+mn-cs"/>
        </a:defRPr>
      </a:lvl2pPr>
      <a:lvl3pPr marL="11430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3pPr>
      <a:lvl4pPr marL="16002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4pPr>
      <a:lvl5pPr marL="20574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8"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7" name="Text Placeholder 2"/>
          <p:cNvSpPr>
            <a:spLocks noGrp="1"/>
          </p:cNvSpPr>
          <p:nvPr>
            <p:ph type="body" idx="1"/>
          </p:nvPr>
        </p:nvSpPr>
        <p:spPr bwMode="auto">
          <a:xfrm>
            <a:off x="457200" y="1752600"/>
            <a:ext cx="7620000" cy="437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fontAlgn="auto">
              <a:spcBef>
                <a:spcPts val="0"/>
              </a:spcBef>
              <a:spcAft>
                <a:spcPts val="0"/>
              </a:spcAft>
              <a:defRPr sz="1000" smtClean="0">
                <a:solidFill>
                  <a:schemeClr val="tx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D8C27C6-00DF-4890-8154-3F9BE9A134E3}"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fontAlgn="auto">
              <a:spcBef>
                <a:spcPts val="0"/>
              </a:spcBef>
              <a:spcAft>
                <a:spcPts val="0"/>
              </a:spcAft>
              <a:defRPr sz="1000" dirty="0">
                <a:solidFill>
                  <a:schemeClr val="tx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Slide Number Placeholder 5"/>
          <p:cNvSpPr>
            <a:spLocks noGrp="1"/>
          </p:cNvSpPr>
          <p:nvPr>
            <p:ph type="sldNum" sz="quarter" idx="4"/>
          </p:nvPr>
        </p:nvSpPr>
        <p:spPr>
          <a:xfrm rot="16200000">
            <a:off x="8044657" y="683419"/>
            <a:ext cx="1316037" cy="365125"/>
          </a:xfrm>
          <a:prstGeom prst="rect">
            <a:avLst/>
          </a:prstGeom>
        </p:spPr>
        <p:txBody>
          <a:bodyPr vert="horz" lIns="91440" tIns="45720" rIns="91440" bIns="45720" rtlCol="0" anchor="ctr"/>
          <a:lstStyle>
            <a:lvl1pPr algn="r" fontAlgn="auto">
              <a:spcBef>
                <a:spcPts val="0"/>
              </a:spcBef>
              <a:spcAft>
                <a:spcPts val="0"/>
              </a:spcAft>
              <a:defRPr sz="2400" b="1" smtClean="0">
                <a:solidFill>
                  <a:srgbClr val="FFFFFF"/>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56169A9-3380-4EA0-9DA0-2D35F2C8DA18}"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591263889"/>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Lst>
  <p:hf sldNum="0" hdr="0" ftr="0" dt="0"/>
  <p:txStyles>
    <p:titleStyle>
      <a:lvl1pPr algn="l" rtl="0" fontAlgn="base">
        <a:spcBef>
          <a:spcPct val="0"/>
        </a:spcBef>
        <a:spcAft>
          <a:spcPct val="0"/>
        </a:spcAft>
        <a:defRPr sz="2400" kern="1200" cap="all" spc="-60">
          <a:solidFill>
            <a:srgbClr val="6CB255"/>
          </a:solidFill>
          <a:latin typeface="+mj-lt"/>
          <a:ea typeface="+mj-ea"/>
          <a:cs typeface="+mj-cs"/>
        </a:defRPr>
      </a:lvl1pPr>
      <a:lvl2pPr algn="l" rtl="0" fontAlgn="base">
        <a:spcBef>
          <a:spcPct val="0"/>
        </a:spcBef>
        <a:spcAft>
          <a:spcPct val="0"/>
        </a:spcAft>
        <a:defRPr sz="2400">
          <a:solidFill>
            <a:srgbClr val="6CB255"/>
          </a:solidFill>
          <a:latin typeface="Arial Black" pitchFamily="34" charset="0"/>
        </a:defRPr>
      </a:lvl2pPr>
      <a:lvl3pPr algn="l" rtl="0" fontAlgn="base">
        <a:spcBef>
          <a:spcPct val="0"/>
        </a:spcBef>
        <a:spcAft>
          <a:spcPct val="0"/>
        </a:spcAft>
        <a:defRPr sz="2400">
          <a:solidFill>
            <a:srgbClr val="6CB255"/>
          </a:solidFill>
          <a:latin typeface="Arial Black" pitchFamily="34" charset="0"/>
        </a:defRPr>
      </a:lvl3pPr>
      <a:lvl4pPr algn="l" rtl="0" fontAlgn="base">
        <a:spcBef>
          <a:spcPct val="0"/>
        </a:spcBef>
        <a:spcAft>
          <a:spcPct val="0"/>
        </a:spcAft>
        <a:defRPr sz="2400">
          <a:solidFill>
            <a:srgbClr val="6CB255"/>
          </a:solidFill>
          <a:latin typeface="Arial Black" pitchFamily="34" charset="0"/>
        </a:defRPr>
      </a:lvl4pPr>
      <a:lvl5pPr algn="l" rtl="0" fontAlgn="base">
        <a:spcBef>
          <a:spcPct val="0"/>
        </a:spcBef>
        <a:spcAft>
          <a:spcPct val="0"/>
        </a:spcAft>
        <a:defRPr sz="2400">
          <a:solidFill>
            <a:srgbClr val="6CB255"/>
          </a:solidFill>
          <a:latin typeface="Arial Black" pitchFamily="34" charset="0"/>
        </a:defRPr>
      </a:lvl5pPr>
      <a:lvl6pPr marL="457200" algn="l" rtl="0" fontAlgn="base">
        <a:spcBef>
          <a:spcPct val="0"/>
        </a:spcBef>
        <a:spcAft>
          <a:spcPct val="0"/>
        </a:spcAft>
        <a:defRPr sz="2400">
          <a:solidFill>
            <a:srgbClr val="6CB255"/>
          </a:solidFill>
          <a:latin typeface="Arial Black" pitchFamily="34" charset="0"/>
        </a:defRPr>
      </a:lvl6pPr>
      <a:lvl7pPr marL="914400" algn="l" rtl="0" fontAlgn="base">
        <a:spcBef>
          <a:spcPct val="0"/>
        </a:spcBef>
        <a:spcAft>
          <a:spcPct val="0"/>
        </a:spcAft>
        <a:defRPr sz="2400">
          <a:solidFill>
            <a:srgbClr val="6CB255"/>
          </a:solidFill>
          <a:latin typeface="Arial Black" pitchFamily="34" charset="0"/>
        </a:defRPr>
      </a:lvl7pPr>
      <a:lvl8pPr marL="1371600" algn="l" rtl="0" fontAlgn="base">
        <a:spcBef>
          <a:spcPct val="0"/>
        </a:spcBef>
        <a:spcAft>
          <a:spcPct val="0"/>
        </a:spcAft>
        <a:defRPr sz="2400">
          <a:solidFill>
            <a:srgbClr val="6CB255"/>
          </a:solidFill>
          <a:latin typeface="Arial Black" pitchFamily="34" charset="0"/>
        </a:defRPr>
      </a:lvl8pPr>
      <a:lvl9pPr marL="1828800" algn="l" rtl="0" fontAlgn="base">
        <a:spcBef>
          <a:spcPct val="0"/>
        </a:spcBef>
        <a:spcAft>
          <a:spcPct val="0"/>
        </a:spcAft>
        <a:defRPr sz="2400">
          <a:solidFill>
            <a:srgbClr val="6CB255"/>
          </a:solidFill>
          <a:latin typeface="Arial Black" pitchFamily="34" charset="0"/>
        </a:defRPr>
      </a:lvl9pPr>
    </p:titleStyle>
    <p:bodyStyle>
      <a:lvl1pPr algn="l" rtl="0" fontAlgn="base">
        <a:spcBef>
          <a:spcPct val="20000"/>
        </a:spcBef>
        <a:spcAft>
          <a:spcPts val="600"/>
        </a:spcAft>
        <a:buClr>
          <a:srgbClr val="6CB255"/>
        </a:buClr>
        <a:buFont typeface="Arial" charset="0"/>
        <a:defRPr sz="2000" kern="1200">
          <a:solidFill>
            <a:schemeClr val="tx1"/>
          </a:solidFill>
          <a:latin typeface="+mn-lt"/>
          <a:ea typeface="+mn-ea"/>
          <a:cs typeface="+mn-cs"/>
        </a:defRPr>
      </a:lvl1pPr>
      <a:lvl2pPr marL="457200" indent="-182563" algn="l" rtl="0" fontAlgn="base">
        <a:spcBef>
          <a:spcPct val="20000"/>
        </a:spcBef>
        <a:spcAft>
          <a:spcPct val="0"/>
        </a:spcAft>
        <a:buClr>
          <a:srgbClr val="6CB255"/>
        </a:buClr>
        <a:buFont typeface="Arial" charset="0"/>
        <a:buChar char="•"/>
        <a:defRPr sz="2000" kern="1200">
          <a:solidFill>
            <a:srgbClr val="000000"/>
          </a:solidFill>
          <a:latin typeface="+mn-lt"/>
          <a:ea typeface="+mn-ea"/>
          <a:cs typeface="+mn-cs"/>
        </a:defRPr>
      </a:lvl2pPr>
      <a:lvl3pPr marL="11430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3pPr>
      <a:lvl4pPr marL="16002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4pPr>
      <a:lvl5pPr marL="20574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7" name="Text Placeholder 2"/>
          <p:cNvSpPr>
            <a:spLocks noGrp="1"/>
          </p:cNvSpPr>
          <p:nvPr>
            <p:ph type="body" idx="1"/>
          </p:nvPr>
        </p:nvSpPr>
        <p:spPr bwMode="auto">
          <a:xfrm>
            <a:off x="457200" y="1752600"/>
            <a:ext cx="7620000" cy="437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fontAlgn="auto">
              <a:spcBef>
                <a:spcPts val="0"/>
              </a:spcBef>
              <a:spcAft>
                <a:spcPts val="0"/>
              </a:spcAft>
              <a:defRPr sz="1000" smtClean="0">
                <a:solidFill>
                  <a:schemeClr val="tx1"/>
                </a:solidFill>
                <a:latin typeface="+mn-lt"/>
              </a:defRPr>
            </a:lvl1pPr>
          </a:lstStyle>
          <a:p>
            <a:pPr>
              <a:defRPr/>
            </a:pPr>
            <a:fld id="{7D8C27C6-00DF-4890-8154-3F9BE9A134E3}" type="datetime4">
              <a:rPr lang="en-US"/>
              <a:pPr>
                <a:defRPr/>
              </a:pPr>
              <a:t>October 23, 2025</a:t>
            </a:fld>
            <a:endParaRPr lang="en-US" dirty="0"/>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fontAlgn="auto">
              <a:spcBef>
                <a:spcPts val="0"/>
              </a:spcBef>
              <a:spcAft>
                <a:spcPts val="0"/>
              </a:spcAft>
              <a:defRPr sz="1000" dirty="0">
                <a:solidFill>
                  <a:schemeClr val="tx1"/>
                </a:solidFill>
                <a:latin typeface="+mn-lt"/>
              </a:defRPr>
            </a:lvl1pPr>
          </a:lstStyle>
          <a:p>
            <a:pPr>
              <a:defRPr/>
            </a:pPr>
            <a:endParaRPr lang="en-US"/>
          </a:p>
        </p:txBody>
      </p:sp>
      <p:sp>
        <p:nvSpPr>
          <p:cNvPr id="6" name="Slide Number Placeholder 5"/>
          <p:cNvSpPr>
            <a:spLocks noGrp="1"/>
          </p:cNvSpPr>
          <p:nvPr>
            <p:ph type="sldNum" sz="quarter" idx="4"/>
          </p:nvPr>
        </p:nvSpPr>
        <p:spPr>
          <a:xfrm rot="16200000">
            <a:off x="8044657" y="683419"/>
            <a:ext cx="1316037" cy="365125"/>
          </a:xfrm>
          <a:prstGeom prst="rect">
            <a:avLst/>
          </a:prstGeom>
        </p:spPr>
        <p:txBody>
          <a:bodyPr vert="horz" lIns="91440" tIns="45720" rIns="91440" bIns="45720" rtlCol="0" anchor="ctr"/>
          <a:lstStyle>
            <a:lvl1pPr algn="r" fontAlgn="auto">
              <a:spcBef>
                <a:spcPts val="0"/>
              </a:spcBef>
              <a:spcAft>
                <a:spcPts val="0"/>
              </a:spcAft>
              <a:defRPr sz="2400" b="1" smtClean="0">
                <a:solidFill>
                  <a:srgbClr val="FFFFFF"/>
                </a:solidFill>
                <a:latin typeface="+mn-lt"/>
              </a:defRPr>
            </a:lvl1pPr>
          </a:lstStyle>
          <a:p>
            <a:pPr>
              <a:defRPr/>
            </a:pPr>
            <a:fld id="{C56169A9-3380-4EA0-9DA0-2D35F2C8DA18}" type="slidenum">
              <a:rPr lang="en-US"/>
              <a:pPr>
                <a:defRPr/>
              </a:pPr>
              <a:t>‹#›</a:t>
            </a:fld>
            <a:endParaRPr lang="en-US" dirty="0"/>
          </a:p>
        </p:txBody>
      </p:sp>
    </p:spTree>
    <p:extLst>
      <p:ext uri="{BB962C8B-B14F-4D97-AF65-F5344CB8AC3E}">
        <p14:creationId xmlns:p14="http://schemas.microsoft.com/office/powerpoint/2010/main" val="829296833"/>
      </p:ext>
    </p:extLst>
  </p:cSld>
  <p:clrMap bg1="lt1" tx1="dk1" bg2="lt2" tx2="dk2" accent1="accent1" accent2="accent2" accent3="accent3" accent4="accent4" accent5="accent5" accent6="accent6" hlink="hlink" folHlink="folHlink"/>
  <p:sldLayoutIdLst>
    <p:sldLayoutId id="2147484028" r:id="rId1"/>
    <p:sldLayoutId id="2147484029" r:id="rId2"/>
    <p:sldLayoutId id="2147484030" r:id="rId3"/>
    <p:sldLayoutId id="2147484031" r:id="rId4"/>
  </p:sldLayoutIdLst>
  <p:hf sldNum="0" hdr="0" ftr="0" dt="0"/>
  <p:txStyles>
    <p:titleStyle>
      <a:lvl1pPr algn="l" rtl="0" fontAlgn="base">
        <a:spcBef>
          <a:spcPct val="0"/>
        </a:spcBef>
        <a:spcAft>
          <a:spcPct val="0"/>
        </a:spcAft>
        <a:defRPr sz="2400" kern="1200" cap="all" spc="-60">
          <a:solidFill>
            <a:srgbClr val="6CB255"/>
          </a:solidFill>
          <a:latin typeface="+mj-lt"/>
          <a:ea typeface="+mj-ea"/>
          <a:cs typeface="+mj-cs"/>
        </a:defRPr>
      </a:lvl1pPr>
      <a:lvl2pPr algn="l" rtl="0" fontAlgn="base">
        <a:spcBef>
          <a:spcPct val="0"/>
        </a:spcBef>
        <a:spcAft>
          <a:spcPct val="0"/>
        </a:spcAft>
        <a:defRPr sz="2400">
          <a:solidFill>
            <a:srgbClr val="6CB255"/>
          </a:solidFill>
          <a:latin typeface="Arial Black" pitchFamily="34" charset="0"/>
        </a:defRPr>
      </a:lvl2pPr>
      <a:lvl3pPr algn="l" rtl="0" fontAlgn="base">
        <a:spcBef>
          <a:spcPct val="0"/>
        </a:spcBef>
        <a:spcAft>
          <a:spcPct val="0"/>
        </a:spcAft>
        <a:defRPr sz="2400">
          <a:solidFill>
            <a:srgbClr val="6CB255"/>
          </a:solidFill>
          <a:latin typeface="Arial Black" pitchFamily="34" charset="0"/>
        </a:defRPr>
      </a:lvl3pPr>
      <a:lvl4pPr algn="l" rtl="0" fontAlgn="base">
        <a:spcBef>
          <a:spcPct val="0"/>
        </a:spcBef>
        <a:spcAft>
          <a:spcPct val="0"/>
        </a:spcAft>
        <a:defRPr sz="2400">
          <a:solidFill>
            <a:srgbClr val="6CB255"/>
          </a:solidFill>
          <a:latin typeface="Arial Black" pitchFamily="34" charset="0"/>
        </a:defRPr>
      </a:lvl4pPr>
      <a:lvl5pPr algn="l" rtl="0" fontAlgn="base">
        <a:spcBef>
          <a:spcPct val="0"/>
        </a:spcBef>
        <a:spcAft>
          <a:spcPct val="0"/>
        </a:spcAft>
        <a:defRPr sz="2400">
          <a:solidFill>
            <a:srgbClr val="6CB255"/>
          </a:solidFill>
          <a:latin typeface="Arial Black" pitchFamily="34" charset="0"/>
        </a:defRPr>
      </a:lvl5pPr>
      <a:lvl6pPr marL="457200" algn="l" rtl="0" fontAlgn="base">
        <a:spcBef>
          <a:spcPct val="0"/>
        </a:spcBef>
        <a:spcAft>
          <a:spcPct val="0"/>
        </a:spcAft>
        <a:defRPr sz="2400">
          <a:solidFill>
            <a:srgbClr val="6CB255"/>
          </a:solidFill>
          <a:latin typeface="Arial Black" pitchFamily="34" charset="0"/>
        </a:defRPr>
      </a:lvl6pPr>
      <a:lvl7pPr marL="914400" algn="l" rtl="0" fontAlgn="base">
        <a:spcBef>
          <a:spcPct val="0"/>
        </a:spcBef>
        <a:spcAft>
          <a:spcPct val="0"/>
        </a:spcAft>
        <a:defRPr sz="2400">
          <a:solidFill>
            <a:srgbClr val="6CB255"/>
          </a:solidFill>
          <a:latin typeface="Arial Black" pitchFamily="34" charset="0"/>
        </a:defRPr>
      </a:lvl7pPr>
      <a:lvl8pPr marL="1371600" algn="l" rtl="0" fontAlgn="base">
        <a:spcBef>
          <a:spcPct val="0"/>
        </a:spcBef>
        <a:spcAft>
          <a:spcPct val="0"/>
        </a:spcAft>
        <a:defRPr sz="2400">
          <a:solidFill>
            <a:srgbClr val="6CB255"/>
          </a:solidFill>
          <a:latin typeface="Arial Black" pitchFamily="34" charset="0"/>
        </a:defRPr>
      </a:lvl8pPr>
      <a:lvl9pPr marL="1828800" algn="l" rtl="0" fontAlgn="base">
        <a:spcBef>
          <a:spcPct val="0"/>
        </a:spcBef>
        <a:spcAft>
          <a:spcPct val="0"/>
        </a:spcAft>
        <a:defRPr sz="2400">
          <a:solidFill>
            <a:srgbClr val="6CB255"/>
          </a:solidFill>
          <a:latin typeface="Arial Black" pitchFamily="34" charset="0"/>
        </a:defRPr>
      </a:lvl9pPr>
    </p:titleStyle>
    <p:bodyStyle>
      <a:lvl1pPr algn="l" rtl="0" fontAlgn="base">
        <a:spcBef>
          <a:spcPct val="20000"/>
        </a:spcBef>
        <a:spcAft>
          <a:spcPts val="600"/>
        </a:spcAft>
        <a:buClr>
          <a:srgbClr val="6CB255"/>
        </a:buClr>
        <a:buFont typeface="Arial" charset="0"/>
        <a:defRPr sz="2000" kern="1200">
          <a:solidFill>
            <a:schemeClr val="tx1"/>
          </a:solidFill>
          <a:latin typeface="+mn-lt"/>
          <a:ea typeface="+mn-ea"/>
          <a:cs typeface="+mn-cs"/>
        </a:defRPr>
      </a:lvl1pPr>
      <a:lvl2pPr marL="457200" indent="-182563" algn="l" rtl="0" fontAlgn="base">
        <a:spcBef>
          <a:spcPct val="20000"/>
        </a:spcBef>
        <a:spcAft>
          <a:spcPct val="0"/>
        </a:spcAft>
        <a:buClr>
          <a:srgbClr val="6CB255"/>
        </a:buClr>
        <a:buFont typeface="Arial" charset="0"/>
        <a:buChar char="•"/>
        <a:defRPr sz="2000" kern="1200">
          <a:solidFill>
            <a:srgbClr val="000000"/>
          </a:solidFill>
          <a:latin typeface="+mn-lt"/>
          <a:ea typeface="+mn-ea"/>
          <a:cs typeface="+mn-cs"/>
        </a:defRPr>
      </a:lvl2pPr>
      <a:lvl3pPr marL="11430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3pPr>
      <a:lvl4pPr marL="16002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4pPr>
      <a:lvl5pPr marL="20574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29.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hyperlink" Target="https://openstax.org/books/university-physics-volume-1/pages/5-7-drawing-free-body-diagrams#0" TargetMode="External"/><Relationship Id="rId3" Type="http://schemas.openxmlformats.org/officeDocument/2006/relationships/hyperlink" Target="https://openstax.org/books/university-physics-volume-1/pages/5-2-newtons-first-law#0" TargetMode="External"/><Relationship Id="rId7" Type="http://schemas.openxmlformats.org/officeDocument/2006/relationships/hyperlink" Target="https://openstax.org/books/university-physics-volume-1/pages/5-6-common-forces#0" TargetMode="External"/><Relationship Id="rId2" Type="http://schemas.openxmlformats.org/officeDocument/2006/relationships/hyperlink" Target="https://openstax.org/books/university-physics-volume-1/pages/5-1-forces#0" TargetMode="External"/><Relationship Id="rId1" Type="http://schemas.openxmlformats.org/officeDocument/2006/relationships/slideLayout" Target="../slideLayouts/slideLayout28.xml"/><Relationship Id="rId6" Type="http://schemas.openxmlformats.org/officeDocument/2006/relationships/hyperlink" Target="https://openstax.org/books/university-physics-volume-1/pages/5-5-newtons-third-law#0" TargetMode="External"/><Relationship Id="rId5" Type="http://schemas.openxmlformats.org/officeDocument/2006/relationships/hyperlink" Target="https://openstax.org/books/university-physics-volume-1/pages/5-4-mass-and-weight#0" TargetMode="External"/><Relationship Id="rId4" Type="http://schemas.openxmlformats.org/officeDocument/2006/relationships/hyperlink" Target="https://openstax.org/books/university-physics-volume-1/pages/5-3-newtons-second-law#0" TargetMode="External"/><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youtu.be/v8GSjQGDqpo" TargetMode="External"/><Relationship Id="rId2" Type="http://schemas.openxmlformats.org/officeDocument/2006/relationships/image" Target="../media/image7.jp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jpe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hyperlink" Target="https://openstax.org/books/university-physics-volume-1/pages/5-2-newtons-first-law" TargetMode="External"/><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hyperlink" Target="https://youtu.be/XUmnUSgz60c" TargetMode="External"/><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6.jpeg"/><Relationship Id="rId4" Type="http://schemas.openxmlformats.org/officeDocument/2006/relationships/hyperlink" Target="https://youtu.be/SrY9rmE07n8"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youtu.be/rODDZ63-x98"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6.jpe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youtu.be/aMt1hKeZ3Hc"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openstax.org/books/university-physics-volume-1/pages/5-3-newtons-second-law" TargetMode="External"/><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8.xml.rels><?xml version="1.0" encoding="UTF-8" standalone="yes"?>
<Relationships xmlns="http://schemas.openxmlformats.org/package/2006/relationships"><Relationship Id="rId3" Type="http://schemas.openxmlformats.org/officeDocument/2006/relationships/hyperlink" Target="https://openstax.org/books/university-physics-volume-1/pages/5-3-newtons-second-law" TargetMode="External"/><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9.xml.rels><?xml version="1.0" encoding="UTF-8" standalone="yes"?>
<Relationships xmlns="http://schemas.openxmlformats.org/package/2006/relationships"><Relationship Id="rId2" Type="http://schemas.openxmlformats.org/officeDocument/2006/relationships/hyperlink" Target="https://openstax.org/books/university-physics-volume-1/pages/5-3-newtons-second-law" TargetMode="Externa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15.jpe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hyperlink" Target="https://youtu.be/SfZYuKpQyws"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6.jpe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3" Type="http://schemas.openxmlformats.org/officeDocument/2006/relationships/hyperlink" Target="https://youtu.be/_OmpsSgmdo4" TargetMode="External"/><Relationship Id="rId2" Type="http://schemas.openxmlformats.org/officeDocument/2006/relationships/notesSlide" Target="../notesSlides/notesSlide6.xml"/><Relationship Id="rId1" Type="http://schemas.openxmlformats.org/officeDocument/2006/relationships/slideLayout" Target="../slideLayouts/slideLayout23.xml"/><Relationship Id="rId5" Type="http://schemas.openxmlformats.org/officeDocument/2006/relationships/image" Target="../media/image4.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hyperlink" Target="https://youtu.be/9sbo-bYk-Is" TargetMode="External"/><Relationship Id="rId2" Type="http://schemas.openxmlformats.org/officeDocument/2006/relationships/image" Target="../media/image18.jpeg"/><Relationship Id="rId1" Type="http://schemas.openxmlformats.org/officeDocument/2006/relationships/slideLayout" Target="../slideLayouts/slideLayout31.xml"/><Relationship Id="rId5" Type="http://schemas.openxmlformats.org/officeDocument/2006/relationships/image" Target="../media/image6.jpe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hyperlink" Target="https://youtu.be/C-1DzXM2o4U" TargetMode="External"/><Relationship Id="rId2" Type="http://schemas.openxmlformats.org/officeDocument/2006/relationships/image" Target="../media/image19.jpg"/><Relationship Id="rId1" Type="http://schemas.openxmlformats.org/officeDocument/2006/relationships/slideLayout" Target="../slideLayouts/slideLayout31.xml"/><Relationship Id="rId4" Type="http://schemas.openxmlformats.org/officeDocument/2006/relationships/image" Target="../media/image6.jpeg"/></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youtu.be/Np_wqlUXrNY" TargetMode="External"/><Relationship Id="rId2" Type="http://schemas.openxmlformats.org/officeDocument/2006/relationships/image" Target="../media/image21.jp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21.png"/><Relationship Id="rId4" Type="http://schemas.openxmlformats.org/officeDocument/2006/relationships/hyperlink" Target="https://youtu.be/X9RcBTbzfIg"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25.xml"/><Relationship Id="rId5" Type="http://schemas.openxmlformats.org/officeDocument/2006/relationships/image" Target="../media/image6.jpeg"/><Relationship Id="rId4" Type="http://schemas.openxmlformats.org/officeDocument/2006/relationships/hyperlink" Target="https://openstax.org/books/university-physics-volume-1/pages/5-6-common-forces"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6.jpe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0.xml"/><Relationship Id="rId1" Type="http://schemas.openxmlformats.org/officeDocument/2006/relationships/slideLayout" Target="../slideLayouts/slideLayout16.xml"/><Relationship Id="rId5" Type="http://schemas.openxmlformats.org/officeDocument/2006/relationships/image" Target="../media/image6.jpeg"/><Relationship Id="rId4" Type="http://schemas.openxmlformats.org/officeDocument/2006/relationships/hyperlink" Target="https://openstax.org/books/university-physics-volume-1/pages/5-6-common-forces#CNX_UPhysics_05_06_Tightrope"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6.jpeg"/></Relationships>
</file>

<file path=ppt/slides/_rels/slide3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openstax.org/books/university-physics-volume-1/pages/6-1-solving-problems-with-newtons-laws" TargetMode="Externa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6.jpeg"/><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3" Type="http://schemas.openxmlformats.org/officeDocument/2006/relationships/hyperlink" Target="https://openstax.org/books/university-physics-volume-1/pages/5-key-equations" TargetMode="External"/><Relationship Id="rId2" Type="http://schemas.openxmlformats.org/officeDocument/2006/relationships/hyperlink" Target="https://openstax.org/books/university-physics-volume-1/pages/5-key-terms" TargetMode="External"/><Relationship Id="rId1" Type="http://schemas.openxmlformats.org/officeDocument/2006/relationships/slideLayout" Target="../slideLayouts/slideLayout31.xml"/><Relationship Id="rId5" Type="http://schemas.openxmlformats.org/officeDocument/2006/relationships/image" Target="../media/image4.png"/><Relationship Id="rId4" Type="http://schemas.openxmlformats.org/officeDocument/2006/relationships/hyperlink" Target="https://openstax.org/books/university-physics-volume-1/pages/5-summa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63384-4A7E-3033-2AB7-CD8EC3C2ED67}"/>
            </a:ext>
          </a:extLst>
        </p:cNvPr>
        <p:cNvGrpSpPr/>
        <p:nvPr/>
      </p:nvGrpSpPr>
      <p:grpSpPr>
        <a:xfrm>
          <a:off x="0" y="0"/>
          <a:ext cx="0" cy="0"/>
          <a:chOff x="0" y="0"/>
          <a:chExt cx="0" cy="0"/>
        </a:xfrm>
      </p:grpSpPr>
      <p:sp>
        <p:nvSpPr>
          <p:cNvPr id="4" name="TextBox 7">
            <a:extLst>
              <a:ext uri="{FF2B5EF4-FFF2-40B4-BE49-F238E27FC236}">
                <a16:creationId xmlns:a16="http://schemas.microsoft.com/office/drawing/2014/main" id="{69AF53B8-AEA0-124B-F7E7-DB21550AB102}"/>
              </a:ext>
            </a:extLst>
          </p:cNvPr>
          <p:cNvSpPr txBox="1">
            <a:spLocks noGrp="1"/>
          </p:cNvSpPr>
          <p:nvPr>
            <p:ph type="title"/>
          </p:nvPr>
        </p:nvSpPr>
        <p:spPr>
          <a:xfrm>
            <a:off x="98474" y="391551"/>
            <a:ext cx="8893124" cy="86177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defRPr/>
            </a:pPr>
            <a:r>
              <a:rPr lang="en-US" sz="2800" b="1" spc="0">
                <a:solidFill>
                  <a:srgbClr val="000000"/>
                </a:solidFill>
                <a:ea typeface="Glacial Indifference Bold"/>
                <a:cs typeface="Glacial Indifference Bold"/>
                <a:sym typeface="Glacial Indifference Bold"/>
              </a:rPr>
              <a:t>UNIVERSITY PHYSICS </a:t>
            </a:r>
            <a:r>
              <a:rPr kumimoji="0" lang="en-US" sz="2800" b="1" i="0" u="none" strike="noStrike" kern="1200" spc="0" normalizeH="0" baseline="0" noProof="0">
                <a:ln>
                  <a:noFill/>
                </a:ln>
                <a:solidFill>
                  <a:srgbClr val="000000"/>
                </a:solidFill>
                <a:effectLst/>
                <a:uLnTx/>
                <a:uFillTx/>
                <a:latin typeface="+mj-lt"/>
                <a:ea typeface="Glacial Indifference Bold"/>
                <a:cs typeface="Glacial Indifference Bold"/>
                <a:sym typeface="Glacial Indifference Bold"/>
              </a:rPr>
              <a:t>I</a:t>
            </a:r>
            <a:r>
              <a:rPr lang="en-US" sz="2800" b="1" spc="0">
                <a:solidFill>
                  <a:srgbClr val="000000"/>
                </a:solidFill>
                <a:ea typeface="Glacial Indifference Bold"/>
                <a:cs typeface="Glacial Indifference Bold"/>
                <a:sym typeface="Glacial Indifference Bold"/>
              </a:rPr>
              <a:t> </a:t>
            </a:r>
            <a:r>
              <a:rPr kumimoji="0" lang="en-US" sz="2800" b="1" i="0" u="none" strike="noStrike" kern="1200" spc="0" normalizeH="0" baseline="0" noProof="0">
                <a:ln>
                  <a:noFill/>
                </a:ln>
                <a:solidFill>
                  <a:srgbClr val="000000"/>
                </a:solidFill>
                <a:effectLst/>
                <a:uLnTx/>
                <a:uFillTx/>
                <a:latin typeface="+mj-lt"/>
                <a:ea typeface="Glacial Indifference Bold"/>
                <a:cs typeface="Glacial Indifference Bold"/>
                <a:sym typeface="Glacial Indifference Bold"/>
              </a:rPr>
              <a:t>Lecture Slides</a:t>
            </a:r>
            <a:r>
              <a:rPr lang="en-US" sz="2800" b="1" spc="0">
                <a:solidFill>
                  <a:srgbClr val="000000"/>
                </a:solidFill>
                <a:ea typeface="Glacial Indifference Bold"/>
                <a:cs typeface="Glacial Indifference Bold"/>
                <a:sym typeface="Glacial Indifference Bold"/>
              </a:rPr>
              <a:t> </a:t>
            </a:r>
            <a:br>
              <a:rPr lang="en-US" sz="2800" b="1" spc="0" dirty="0">
                <a:solidFill>
                  <a:srgbClr val="000000"/>
                </a:solidFill>
                <a:ea typeface="Glacial Indifference Bold"/>
                <a:cs typeface="Glacial Indifference Bold"/>
              </a:rPr>
            </a:br>
            <a:r>
              <a:rPr lang="en-US" sz="2800" spc="0" dirty="0">
                <a:solidFill>
                  <a:schemeClr val="tx1"/>
                </a:solidFill>
                <a:ea typeface="Glacial Indifference Bold"/>
                <a:cs typeface="Glacial Indifference Bold"/>
                <a:sym typeface="Glacial Indifference Bold"/>
              </a:rPr>
              <a:t>CHAPTERS 5 NEWTON’S LAWS OF MOTION</a:t>
            </a:r>
            <a:endParaRPr lang="en-US">
              <a:solidFill>
                <a:schemeClr val="tx1"/>
              </a:solidFill>
            </a:endParaRPr>
          </a:p>
        </p:txBody>
      </p:sp>
      <p:sp>
        <p:nvSpPr>
          <p:cNvPr id="9" name="Content Placeholder 8">
            <a:extLst>
              <a:ext uri="{FF2B5EF4-FFF2-40B4-BE49-F238E27FC236}">
                <a16:creationId xmlns:a16="http://schemas.microsoft.com/office/drawing/2014/main" id="{0A064A47-CEA7-59B0-0459-E9AEF9D147EC}"/>
              </a:ext>
            </a:extLst>
          </p:cNvPr>
          <p:cNvSpPr txBox="1">
            <a:spLocks noGrp="1"/>
          </p:cNvSpPr>
          <p:nvPr>
            <p:ph idx="1"/>
          </p:nvPr>
        </p:nvSpPr>
        <p:spPr>
          <a:xfrm>
            <a:off x="456027" y="1715846"/>
            <a:ext cx="8229600" cy="4220386"/>
          </a:xfrm>
          <a:prstGeom prst="rect">
            <a:avLst/>
          </a:prstGeom>
          <a:ln>
            <a:noFill/>
            <a:headEnd type="none" w="med" len="med"/>
            <a:tailEnd type="none" w="med" len="med"/>
          </a:ln>
          <a:effectLst>
            <a:outerShdw blurRad="50800" dist="38100" dir="5400000" algn="t"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3"/>
          </a:lnRef>
          <a:fillRef idx="1">
            <a:schemeClr val="lt1"/>
          </a:fillRef>
          <a:effectRef idx="0">
            <a:schemeClr val="accent3"/>
          </a:effectRef>
          <a:fontRef idx="minor">
            <a:schemeClr val="dk1"/>
          </a:fontRef>
        </p:style>
        <p:txBody>
          <a:bodyPr wrap="square" lIns="0" tIns="0" rIns="0" bIns="0" rtlCol="0" anchor="t">
            <a:spAutoFit/>
          </a:bodyPr>
          <a:lstStyle/>
          <a:p>
            <a:r>
              <a:rPr lang="en-US" b="1" dirty="0"/>
              <a:t>  </a:t>
            </a:r>
          </a:p>
          <a:p>
            <a:r>
              <a:rPr lang="en-US" b="1" dirty="0"/>
              <a:t> Author: Dr. Raji Kannampuzha</a:t>
            </a:r>
          </a:p>
          <a:p>
            <a:endParaRPr lang="en-US" b="1" dirty="0"/>
          </a:p>
          <a:p>
            <a:r>
              <a:rPr lang="en-US" b="1" dirty="0">
                <a:ea typeface="Canva Sans"/>
                <a:cs typeface="Canva Sans"/>
                <a:sym typeface="Canva Sans"/>
              </a:rPr>
              <a:t> This work, "University Physics I Lecture Slides, </a:t>
            </a:r>
            <a:r>
              <a:rPr lang="en-US" b="1" dirty="0">
                <a:ea typeface="+mn-lt"/>
                <a:cs typeface="+mn-lt"/>
                <a:sym typeface="Canva Sans"/>
              </a:rPr>
              <a:t>Chapters 5 Newton’s Laws Of Motion</a:t>
            </a:r>
            <a:r>
              <a:rPr lang="en-US" b="1" dirty="0">
                <a:ea typeface="Canva Sans"/>
                <a:cs typeface="Canva Sans"/>
                <a:sym typeface="Canva Sans"/>
              </a:rPr>
              <a:t>" is adapted from </a:t>
            </a:r>
            <a:r>
              <a:rPr lang="en-US" b="1" u="sng" dirty="0">
                <a:ea typeface="Canva Sans"/>
                <a:cs typeface="Canva Sans"/>
                <a:sym typeface="Canva Sans"/>
                <a:hlinkClick r:id="rId2" tooltip="https://openstax.org/details/books/university-physics-volume-1">
                  <a:extLst>
                    <a:ext uri="{A12FA001-AC4F-418D-AE19-62706E023703}">
                      <ahyp:hlinkClr xmlns:ahyp="http://schemas.microsoft.com/office/drawing/2018/hyperlinkcolor" val="tx"/>
                    </a:ext>
                  </a:extLst>
                </a:hlinkClick>
              </a:rPr>
              <a:t>"</a:t>
            </a:r>
            <a:r>
              <a:rPr lang="en-US" b="1" u="sng" dirty="0">
                <a:solidFill>
                  <a:srgbClr val="3333FF"/>
                </a:solidFill>
                <a:ea typeface="Canva Sans"/>
                <a:cs typeface="Canva Sans"/>
                <a:sym typeface="Canva Sans"/>
                <a:hlinkClick r:id="rId2" tooltip="https://openstax.org/details/books/university-physics-volume-1">
                  <a:extLst>
                    <a:ext uri="{A12FA001-AC4F-418D-AE19-62706E023703}">
                      <ahyp:hlinkClr xmlns:ahyp="http://schemas.microsoft.com/office/drawing/2018/hyperlinkcolor" val="tx"/>
                    </a:ext>
                  </a:extLst>
                </a:hlinkClick>
              </a:rPr>
              <a:t>University Physics Volume 1</a:t>
            </a:r>
            <a:r>
              <a:rPr lang="en-US" b="1" u="sng" dirty="0">
                <a:ea typeface="Canva Sans"/>
                <a:cs typeface="Canva Sans"/>
                <a:sym typeface="Canva Sans"/>
                <a:hlinkClick r:id="rId2" tooltip="https://openstax.org/details/books/university-physics-volume-1">
                  <a:extLst>
                    <a:ext uri="{A12FA001-AC4F-418D-AE19-62706E023703}">
                      <ahyp:hlinkClr xmlns:ahyp="http://schemas.microsoft.com/office/drawing/2018/hyperlinkcolor" val="tx"/>
                    </a:ext>
                  </a:extLst>
                </a:hlinkClick>
              </a:rPr>
              <a:t>"</a:t>
            </a:r>
            <a:r>
              <a:rPr lang="en-US" b="1" dirty="0">
                <a:ea typeface="Canva Sans"/>
                <a:cs typeface="Canva Sans"/>
                <a:sym typeface="Canva Sans"/>
              </a:rPr>
              <a:t>  by William Moebs, Samuel J. Ling, Jeff   Sanny, et al., used under </a:t>
            </a:r>
            <a:r>
              <a:rPr lang="en-US" b="1" u="sng" dirty="0">
                <a:solidFill>
                  <a:srgbClr val="3333FF"/>
                </a:solidFill>
                <a:ea typeface="Canva Sans"/>
                <a:cs typeface="Canva Sans"/>
                <a:sym typeface="Canva Sans"/>
                <a:hlinkClick r:id="rId3" tooltip="https://creativecommons.org/licenses/by/4.0/">
                  <a:extLst>
                    <a:ext uri="{A12FA001-AC4F-418D-AE19-62706E023703}">
                      <ahyp:hlinkClr xmlns:ahyp="http://schemas.microsoft.com/office/drawing/2018/hyperlinkcolor" val="tx"/>
                    </a:ext>
                  </a:extLst>
                </a:hlinkClick>
              </a:rPr>
              <a:t>CC BY 4.0</a:t>
            </a:r>
            <a:r>
              <a:rPr lang="en-US" b="1" dirty="0">
                <a:ea typeface="Canva Sans"/>
                <a:cs typeface="Canva Sans"/>
                <a:sym typeface="Canva Sans"/>
              </a:rPr>
              <a:t> </a:t>
            </a:r>
            <a:endParaRPr lang="en-US"/>
          </a:p>
          <a:p>
            <a:pPr>
              <a:lnSpc>
                <a:spcPts val="1750"/>
              </a:lnSpc>
            </a:pPr>
            <a:endParaRPr lang="en-US" b="1" dirty="0">
              <a:latin typeface="+mn-lt"/>
              <a:ea typeface="Canva Sans"/>
              <a:cs typeface="Canva Sans"/>
              <a:sym typeface="Canva Sans"/>
            </a:endParaRPr>
          </a:p>
          <a:p>
            <a:r>
              <a:rPr lang="en-US" b="1" dirty="0">
                <a:latin typeface="+mn-lt"/>
                <a:ea typeface="Canva Sans"/>
                <a:cs typeface="Canva Sans"/>
                <a:sym typeface="Canva Sans"/>
              </a:rPr>
              <a:t>"University Physics I Lecture Slides" is licensed under </a:t>
            </a:r>
            <a:r>
              <a:rPr lang="en-US" b="1" u="sng" dirty="0">
                <a:solidFill>
                  <a:srgbClr val="3333FF"/>
                </a:solidFill>
                <a:ea typeface="Canva Sans"/>
                <a:cs typeface="Canva Sans"/>
                <a:sym typeface="Canva Sans"/>
                <a:hlinkClick r:id="rId3" tooltip="https://creativecommons.org/licenses/by/4.0/">
                  <a:extLst>
                    <a:ext uri="{A12FA001-AC4F-418D-AE19-62706E023703}">
                      <ahyp:hlinkClr xmlns:ahyp="http://schemas.microsoft.com/office/drawing/2018/hyperlinkcolor" val="tx"/>
                    </a:ext>
                  </a:extLst>
                </a:hlinkClick>
              </a:rPr>
              <a:t>CC BY 4.0</a:t>
            </a:r>
            <a:r>
              <a:rPr lang="en-US" b="1" dirty="0">
                <a:ea typeface="Canva Sans"/>
                <a:cs typeface="Canva Sans"/>
                <a:sym typeface="Canva Sans"/>
              </a:rPr>
              <a:t> </a:t>
            </a:r>
            <a:r>
              <a:rPr lang="en-US" b="1" dirty="0">
                <a:latin typeface="+mn-lt"/>
                <a:ea typeface="Canva Sans"/>
                <a:cs typeface="Canva Sans"/>
                <a:sym typeface="Canva Sans"/>
              </a:rPr>
              <a:t>by Raji Kannampuzha</a:t>
            </a:r>
          </a:p>
          <a:p>
            <a:pPr>
              <a:lnSpc>
                <a:spcPts val="2380"/>
              </a:lnSpc>
            </a:pPr>
            <a:endParaRPr lang="en-US" sz="1250" dirty="0">
              <a:solidFill>
                <a:srgbClr val="623A2A"/>
              </a:solidFill>
              <a:latin typeface="Canva Sans"/>
              <a:ea typeface="Canva Sans"/>
              <a:cs typeface="Canva Sans"/>
              <a:sym typeface="Canva Sans"/>
            </a:endParaRPr>
          </a:p>
        </p:txBody>
      </p:sp>
      <p:pic>
        <p:nvPicPr>
          <p:cNvPr id="10" name="Picture 9" descr="Raji K Physics Logo">
            <a:extLst>
              <a:ext uri="{FF2B5EF4-FFF2-40B4-BE49-F238E27FC236}">
                <a16:creationId xmlns:a16="http://schemas.microsoft.com/office/drawing/2014/main" id="{328515F0-B276-8FE4-D89F-5A561458C7EC}"/>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01616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28F0F-D780-40C2-81A1-0E628E89726D}"/>
              </a:ext>
            </a:extLst>
          </p:cNvPr>
          <p:cNvSpPr>
            <a:spLocks noGrp="1"/>
          </p:cNvSpPr>
          <p:nvPr>
            <p:ph type="title" idx="4294967295"/>
          </p:nvPr>
        </p:nvSpPr>
        <p:spPr>
          <a:xfrm>
            <a:off x="221411" y="202172"/>
            <a:ext cx="8701178" cy="677417"/>
          </a:xfrm>
        </p:spPr>
        <p:txBody>
          <a:bodyPr>
            <a:normAutofit/>
          </a:bodyPr>
          <a:lstStyle/>
          <a:p>
            <a:pPr algn="ctr"/>
            <a:r>
              <a:rPr kumimoji="0" lang="en-US" sz="2800" i="0" strike="noStrike" kern="1200" cap="none" spc="0" normalizeH="0" baseline="0" noProof="0" dirty="0">
                <a:ln>
                  <a:noFill/>
                </a:ln>
                <a:solidFill>
                  <a:schemeClr val="tx1"/>
                </a:solidFill>
                <a:effectLst/>
                <a:uLnTx/>
                <a:uFillTx/>
                <a:latin typeface="Arial Black" panose="020B0A04020102020204" pitchFamily="34" charset="0"/>
                <a:ea typeface="+mn-ea"/>
                <a:cs typeface="+mn-cs"/>
              </a:rPr>
              <a:t>CHAPTERS 5 NEWTON’S LAWS OF MOTION</a:t>
            </a:r>
            <a:endParaRPr lang="en-US" dirty="0">
              <a:solidFill>
                <a:schemeClr val="tx1"/>
              </a:solidFill>
              <a:latin typeface="Arial Black" panose="020B0A04020102020204" pitchFamily="34" charset="0"/>
            </a:endParaRPr>
          </a:p>
        </p:txBody>
      </p:sp>
      <p:sp>
        <p:nvSpPr>
          <p:cNvPr id="3" name="TextBox 2">
            <a:extLst>
              <a:ext uri="{FF2B5EF4-FFF2-40B4-BE49-F238E27FC236}">
                <a16:creationId xmlns:a16="http://schemas.microsoft.com/office/drawing/2014/main" id="{0EC287A1-1825-48F4-B209-6AC6179CF1A8}"/>
              </a:ext>
            </a:extLst>
          </p:cNvPr>
          <p:cNvSpPr txBox="1"/>
          <p:nvPr/>
        </p:nvSpPr>
        <p:spPr>
          <a:xfrm>
            <a:off x="788474" y="1235602"/>
            <a:ext cx="7119699" cy="5447645"/>
          </a:xfrm>
          <a:prstGeom prst="rect">
            <a:avLst/>
          </a:prstGeom>
          <a:noFill/>
        </p:spPr>
        <p:txBody>
          <a:bodyPr wrap="square" rtlCol="0">
            <a:spAutoFit/>
          </a:bodyPr>
          <a:lstStyle/>
          <a:p>
            <a:r>
              <a:rPr lang="en-US" b="1" dirty="0"/>
              <a:t>Chapter 5 Outline</a:t>
            </a:r>
          </a:p>
          <a:p>
            <a:pPr>
              <a:lnSpc>
                <a:spcPct val="150000"/>
              </a:lnSpc>
            </a:pPr>
            <a:r>
              <a:rPr lang="en-US" sz="2400" b="1" dirty="0">
                <a:hlinkClick r:id="rId2"/>
              </a:rPr>
              <a:t>5.1 Forces</a:t>
            </a:r>
            <a:endParaRPr lang="en-US" sz="2400" b="1" dirty="0"/>
          </a:p>
          <a:p>
            <a:pPr>
              <a:lnSpc>
                <a:spcPct val="150000"/>
              </a:lnSpc>
            </a:pPr>
            <a:r>
              <a:rPr lang="en-US" sz="2400" b="1" dirty="0">
                <a:hlinkClick r:id="rId3"/>
              </a:rPr>
              <a:t>5.2 Newton's First Law</a:t>
            </a:r>
            <a:endParaRPr lang="en-US" sz="2400" b="1" dirty="0"/>
          </a:p>
          <a:p>
            <a:pPr>
              <a:lnSpc>
                <a:spcPct val="150000"/>
              </a:lnSpc>
            </a:pPr>
            <a:r>
              <a:rPr lang="en-US" sz="2400" b="1" dirty="0">
                <a:hlinkClick r:id="rId4"/>
              </a:rPr>
              <a:t>5.3 Newton's Second Law</a:t>
            </a:r>
            <a:endParaRPr lang="en-US" sz="2400" b="1" dirty="0"/>
          </a:p>
          <a:p>
            <a:pPr>
              <a:lnSpc>
                <a:spcPct val="150000"/>
              </a:lnSpc>
            </a:pPr>
            <a:r>
              <a:rPr lang="en-US" sz="2400" b="1" dirty="0">
                <a:hlinkClick r:id="rId5"/>
              </a:rPr>
              <a:t>5.4 Mass and Weight</a:t>
            </a:r>
            <a:endParaRPr lang="en-US" sz="2400" b="1" dirty="0"/>
          </a:p>
          <a:p>
            <a:pPr>
              <a:lnSpc>
                <a:spcPct val="150000"/>
              </a:lnSpc>
            </a:pPr>
            <a:r>
              <a:rPr lang="en-US" sz="2400" b="1" dirty="0">
                <a:hlinkClick r:id="rId6"/>
              </a:rPr>
              <a:t>5.5 Newton’s Third Law</a:t>
            </a:r>
            <a:endParaRPr lang="en-US" sz="2400" b="1" dirty="0"/>
          </a:p>
          <a:p>
            <a:pPr>
              <a:lnSpc>
                <a:spcPct val="150000"/>
              </a:lnSpc>
            </a:pPr>
            <a:r>
              <a:rPr lang="en-US" sz="2400" b="1" dirty="0">
                <a:hlinkClick r:id="rId7"/>
              </a:rPr>
              <a:t>5.6 Common Forces</a:t>
            </a:r>
            <a:endParaRPr lang="en-US" sz="2400" b="1" dirty="0"/>
          </a:p>
          <a:p>
            <a:pPr>
              <a:lnSpc>
                <a:spcPct val="150000"/>
              </a:lnSpc>
            </a:pPr>
            <a:r>
              <a:rPr lang="en-US" sz="2400" b="1" dirty="0">
                <a:hlinkClick r:id="rId8"/>
              </a:rPr>
              <a:t>5.7 Drawing Free-Body Diagrams</a:t>
            </a:r>
            <a:endParaRPr lang="en-US" sz="2400" b="1" dirty="0"/>
          </a:p>
          <a:p>
            <a:pPr>
              <a:lnSpc>
                <a:spcPct val="150000"/>
              </a:lnSpc>
            </a:pPr>
            <a:endParaRPr lang="en-US" sz="2400" b="1" dirty="0"/>
          </a:p>
          <a:p>
            <a:r>
              <a:rPr lang="en-US" sz="2400" b="1" dirty="0"/>
              <a:t> </a:t>
            </a:r>
          </a:p>
          <a:p>
            <a:endParaRPr lang="en-US" dirty="0"/>
          </a:p>
        </p:txBody>
      </p:sp>
      <p:pic>
        <p:nvPicPr>
          <p:cNvPr id="5" name="Picture 4" descr="Raji K Physics Logo">
            <a:extLst>
              <a:ext uri="{FF2B5EF4-FFF2-40B4-BE49-F238E27FC236}">
                <a16:creationId xmlns:a16="http://schemas.microsoft.com/office/drawing/2014/main" id="{0742C07E-8231-FEC4-8C6B-4794534AA737}"/>
              </a:ext>
            </a:extLst>
          </p:cNvPr>
          <p:cNvPicPr>
            <a:picLocks noChangeAspect="1"/>
          </p:cNvPicPr>
          <p:nvPr/>
        </p:nvPicPr>
        <p:blipFill>
          <a:blip r:embed="rId9"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6262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11512" y="118663"/>
            <a:ext cx="8062912" cy="659535"/>
          </a:xfrm>
        </p:spPr>
        <p:txBody>
          <a:bodyPr/>
          <a:lstStyle/>
          <a:p>
            <a:pPr algn="ctr"/>
            <a:r>
              <a:rPr lang="en-US" dirty="0"/>
              <a:t> </a:t>
            </a:r>
            <a:r>
              <a:rPr lang="en-US" sz="2800" dirty="0">
                <a:solidFill>
                  <a:schemeClr val="tx1"/>
                </a:solidFill>
              </a:rPr>
              <a:t>forces acting on the bridge</a:t>
            </a:r>
          </a:p>
        </p:txBody>
      </p:sp>
      <p:pic>
        <p:nvPicPr>
          <p:cNvPr id="3" name="Picture Placeholder 2" descr=" The Golden Gate Bridge"/>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161" r="-3161"/>
          <a:stretch>
            <a:fillRect/>
          </a:stretch>
        </p:blipFill>
        <p:spPr>
          <a:xfrm>
            <a:off x="529391" y="778198"/>
            <a:ext cx="8062913" cy="3048170"/>
          </a:xfrm>
        </p:spPr>
      </p:pic>
      <p:sp>
        <p:nvSpPr>
          <p:cNvPr id="7" name="Text Placeholder 6"/>
          <p:cNvSpPr>
            <a:spLocks noGrp="1"/>
          </p:cNvSpPr>
          <p:nvPr>
            <p:ph type="body" sz="quarter" idx="14"/>
          </p:nvPr>
        </p:nvSpPr>
        <p:spPr>
          <a:xfrm>
            <a:off x="352996" y="3988417"/>
            <a:ext cx="8444999" cy="2465022"/>
          </a:xfrm>
        </p:spPr>
        <p:txBody>
          <a:bodyPr>
            <a:noAutofit/>
          </a:bodyPr>
          <a:lstStyle/>
          <a:p>
            <a:r>
              <a:rPr lang="en-US" sz="1800" b="1" dirty="0"/>
              <a:t>The Golden Gate Bridge, one of the greatest works of modern engineering, was the longest suspension bridge in the world in the year it opened, 1937. It is still among the 10 longest suspension bridges as of this writing.</a:t>
            </a:r>
          </a:p>
          <a:p>
            <a:pPr marL="285750" indent="-285750">
              <a:buClrTx/>
              <a:buFont typeface="Wingdings" panose="05000000000000000000" pitchFamily="2" charset="2"/>
              <a:buChar char="Ø"/>
            </a:pPr>
            <a:r>
              <a:rPr lang="en-US" sz="1800" b="1" dirty="0"/>
              <a:t> In designing and building a bridge, what physics must we consider?</a:t>
            </a:r>
          </a:p>
          <a:p>
            <a:pPr marL="285750" indent="-285750">
              <a:buClrTx/>
              <a:buFont typeface="Wingdings" panose="05000000000000000000" pitchFamily="2" charset="2"/>
              <a:buChar char="Ø"/>
            </a:pPr>
            <a:r>
              <a:rPr lang="en-US" sz="1800" b="1" dirty="0"/>
              <a:t> What forces act on the bridge? </a:t>
            </a:r>
          </a:p>
          <a:p>
            <a:pPr marL="285750" indent="-285750">
              <a:buClrTx/>
              <a:buFont typeface="Wingdings" panose="05000000000000000000" pitchFamily="2" charset="2"/>
              <a:buChar char="Ø"/>
            </a:pPr>
            <a:r>
              <a:rPr lang="en-US" sz="1800" b="1" dirty="0"/>
              <a:t>What forces keep the bridge from falling? </a:t>
            </a:r>
          </a:p>
          <a:p>
            <a:pPr marL="285750" indent="-285750">
              <a:buClrTx/>
              <a:buFont typeface="Wingdings" panose="05000000000000000000" pitchFamily="2" charset="2"/>
              <a:buChar char="Ø"/>
            </a:pPr>
            <a:r>
              <a:rPr lang="en-US" sz="1800" b="1" dirty="0"/>
              <a:t>How do the towers, cables, and ground interact to maintain stability?</a:t>
            </a:r>
          </a:p>
        </p:txBody>
      </p:sp>
      <p:pic>
        <p:nvPicPr>
          <p:cNvPr id="6" name="Picture 5" descr="OpenStax logo">
            <a:extLst>
              <a:ext uri="{FF2B5EF4-FFF2-40B4-BE49-F238E27FC236}">
                <a16:creationId xmlns:a16="http://schemas.microsoft.com/office/drawing/2014/main" id="{04B4A31F-97A5-314B-9445-5E460E818748}"/>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039996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743" y="272225"/>
            <a:ext cx="8927614" cy="679720"/>
          </a:xfrm>
        </p:spPr>
        <p:txBody>
          <a:bodyPr>
            <a:normAutofit/>
          </a:bodyPr>
          <a:lstStyle/>
          <a:p>
            <a:pPr algn="ctr"/>
            <a:r>
              <a:rPr lang="en-US" altLang="en-US" sz="2800" dirty="0">
                <a:solidFill>
                  <a:schemeClr val="tx1"/>
                </a:solidFill>
              </a:rPr>
              <a:t>Introduction</a:t>
            </a:r>
            <a:endParaRPr lang="en-US" sz="2800" dirty="0">
              <a:solidFill>
                <a:schemeClr val="tx1"/>
              </a:solidFill>
            </a:endParaRPr>
          </a:p>
        </p:txBody>
      </p:sp>
      <p:sp>
        <p:nvSpPr>
          <p:cNvPr id="4" name="TextBox 3">
            <a:extLst>
              <a:ext uri="{FF2B5EF4-FFF2-40B4-BE49-F238E27FC236}">
                <a16:creationId xmlns:a16="http://schemas.microsoft.com/office/drawing/2014/main" id="{5D48BBC3-FADD-0EA2-3BFD-F3385FE6F3D4}"/>
              </a:ext>
            </a:extLst>
          </p:cNvPr>
          <p:cNvSpPr txBox="1"/>
          <p:nvPr/>
        </p:nvSpPr>
        <p:spPr>
          <a:xfrm>
            <a:off x="90743" y="1524010"/>
            <a:ext cx="8459944" cy="4062651"/>
          </a:xfrm>
          <a:prstGeom prst="rect">
            <a:avLst/>
          </a:prstGeom>
          <a:noFill/>
        </p:spPr>
        <p:txBody>
          <a:bodyPr wrap="square" rtlCol="0">
            <a:spAutoFit/>
          </a:bodyPr>
          <a:lstStyle/>
          <a:p>
            <a:pPr marL="342900" marR="0" indent="-342900">
              <a:spcBef>
                <a:spcPts val="0"/>
              </a:spcBef>
              <a:spcAft>
                <a:spcPts val="0"/>
              </a:spcAft>
              <a:buFont typeface="Wingdings" panose="05000000000000000000" pitchFamily="2" charset="2"/>
              <a:buChar char="Ø"/>
            </a:pPr>
            <a:r>
              <a:rPr lang="en-US" sz="2000" b="1" dirty="0">
                <a:effectLst/>
                <a:ea typeface="Calibri" panose="020F0502020204030204" pitchFamily="34" charset="0"/>
                <a:cs typeface="Times New Roman" panose="02020603050405020304" pitchFamily="18" charset="0"/>
              </a:rPr>
              <a:t>We’ve seen how to use kinematics to describe motion in one, two, or three dimensions. </a:t>
            </a:r>
          </a:p>
          <a:p>
            <a:pPr marL="342900" marR="0" indent="-342900">
              <a:spcBef>
                <a:spcPts val="0"/>
              </a:spcBef>
              <a:spcAft>
                <a:spcPts val="0"/>
              </a:spcAft>
              <a:buFont typeface="Wingdings" panose="05000000000000000000" pitchFamily="2" charset="2"/>
              <a:buChar char="Ø"/>
            </a:pPr>
            <a:endParaRPr lang="en-US" sz="2000" b="1" dirty="0">
              <a:effectLst/>
              <a:ea typeface="Calibri" panose="020F0502020204030204" pitchFamily="34" charset="0"/>
              <a:cs typeface="Times New Roman" panose="02020603050405020304" pitchFamily="18" charset="0"/>
            </a:endParaRPr>
          </a:p>
          <a:p>
            <a:pPr marL="342900" marR="0" indent="-342900">
              <a:spcBef>
                <a:spcPts val="0"/>
              </a:spcBef>
              <a:spcAft>
                <a:spcPts val="0"/>
              </a:spcAft>
              <a:buFont typeface="Wingdings" panose="05000000000000000000" pitchFamily="2" charset="2"/>
              <a:buChar char="Ø"/>
            </a:pPr>
            <a:r>
              <a:rPr lang="en-US" sz="2000" b="1" dirty="0">
                <a:effectLst/>
                <a:ea typeface="Calibri" panose="020F0502020204030204" pitchFamily="34" charset="0"/>
                <a:cs typeface="Times New Roman" panose="02020603050405020304" pitchFamily="18" charset="0"/>
              </a:rPr>
              <a:t>But what causes objects to move the way that they do?</a:t>
            </a:r>
          </a:p>
          <a:p>
            <a:pPr marL="342900" marR="0" indent="-342900">
              <a:spcBef>
                <a:spcPts val="0"/>
              </a:spcBef>
              <a:spcAft>
                <a:spcPts val="0"/>
              </a:spcAft>
              <a:buFont typeface="Wingdings" panose="05000000000000000000" pitchFamily="2" charset="2"/>
              <a:buChar char="Ø"/>
            </a:pPr>
            <a:endParaRPr lang="en-US" sz="2000" b="1" dirty="0">
              <a:effectLst/>
              <a:ea typeface="Calibri" panose="020F0502020204030204" pitchFamily="34" charset="0"/>
              <a:cs typeface="Times New Roman" panose="02020603050405020304" pitchFamily="18" charset="0"/>
            </a:endParaRPr>
          </a:p>
          <a:p>
            <a:pPr marR="0">
              <a:spcBef>
                <a:spcPts val="0"/>
              </a:spcBef>
              <a:spcAft>
                <a:spcPts val="0"/>
              </a:spcAft>
            </a:pPr>
            <a:r>
              <a:rPr lang="en-US" sz="2000" b="1" dirty="0">
                <a:effectLst/>
                <a:ea typeface="Calibri" panose="020F0502020204030204" pitchFamily="34" charset="0"/>
                <a:cs typeface="Times New Roman" panose="02020603050405020304" pitchFamily="18" charset="0"/>
              </a:rPr>
              <a:t>The answer takes us into the subject of dynamics, the relationship of motion to the forces that cause it.</a:t>
            </a:r>
          </a:p>
          <a:p>
            <a:pPr marL="342900" marR="0" indent="-342900">
              <a:spcBef>
                <a:spcPts val="0"/>
              </a:spcBef>
              <a:spcAft>
                <a:spcPts val="0"/>
              </a:spcAft>
              <a:buFont typeface="Wingdings" panose="05000000000000000000" pitchFamily="2" charset="2"/>
              <a:buChar char="Ø"/>
            </a:pPr>
            <a:endParaRPr lang="en-US" sz="2000" b="1" dirty="0">
              <a:effectLst/>
              <a:ea typeface="Calibri" panose="020F0502020204030204" pitchFamily="34" charset="0"/>
              <a:cs typeface="Times New Roman" panose="02020603050405020304" pitchFamily="18" charset="0"/>
            </a:endParaRPr>
          </a:p>
          <a:p>
            <a:pPr marL="342900" marR="0" indent="-342900">
              <a:spcBef>
                <a:spcPts val="0"/>
              </a:spcBef>
              <a:spcAft>
                <a:spcPts val="0"/>
              </a:spcAft>
              <a:buFont typeface="Wingdings" panose="05000000000000000000" pitchFamily="2" charset="2"/>
              <a:buChar char="Ø"/>
            </a:pPr>
            <a:r>
              <a:rPr lang="en-US" sz="2000" b="1" dirty="0">
                <a:effectLst/>
                <a:ea typeface="Calibri" panose="020F0502020204030204" pitchFamily="34" charset="0"/>
                <a:cs typeface="Times New Roman" panose="02020603050405020304" pitchFamily="18" charset="0"/>
              </a:rPr>
              <a:t>The principles of dynamics were clearly stated for the first time by Sir Isaac Newton; today we call them Newton’s laws of motion. </a:t>
            </a:r>
          </a:p>
          <a:p>
            <a:pPr marL="342900" marR="0" indent="-342900">
              <a:spcBef>
                <a:spcPts val="0"/>
              </a:spcBef>
              <a:spcAft>
                <a:spcPts val="0"/>
              </a:spcAft>
              <a:buFont typeface="Wingdings" panose="05000000000000000000" pitchFamily="2" charset="2"/>
              <a:buChar char="Ø"/>
            </a:pPr>
            <a:r>
              <a:rPr lang="en-US" sz="2000" b="1" dirty="0">
                <a:effectLst/>
                <a:ea typeface="Calibri" panose="020F0502020204030204" pitchFamily="34" charset="0"/>
                <a:cs typeface="Times New Roman" panose="02020603050405020304" pitchFamily="18" charset="0"/>
              </a:rPr>
              <a:t>Newton did not derive these laws, but rather deduced them from a multitude of experiments performed by other scientists.</a:t>
            </a:r>
          </a:p>
          <a:p>
            <a:endParaRPr lang="en-US" dirty="0"/>
          </a:p>
        </p:txBody>
      </p:sp>
      <p:pic>
        <p:nvPicPr>
          <p:cNvPr id="3" name="Picture 2" descr="Raji K Physics Logo">
            <a:extLst>
              <a:ext uri="{FF2B5EF4-FFF2-40B4-BE49-F238E27FC236}">
                <a16:creationId xmlns:a16="http://schemas.microsoft.com/office/drawing/2014/main" id="{BFD365EA-618B-3785-3891-9669D655F3C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3964900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a:xfrm>
            <a:off x="211873" y="241325"/>
            <a:ext cx="8806483" cy="659535"/>
          </a:xfrm>
        </p:spPr>
        <p:txBody>
          <a:bodyPr>
            <a:normAutofit/>
          </a:bodyPr>
          <a:lstStyle/>
          <a:p>
            <a:pPr algn="ctr"/>
            <a:r>
              <a:rPr lang="en-US" sz="2800" dirty="0">
                <a:solidFill>
                  <a:srgbClr val="6CB255"/>
                </a:solidFill>
              </a:rPr>
              <a:t> </a:t>
            </a:r>
            <a:r>
              <a:rPr lang="en-US" sz="2800" dirty="0">
                <a:solidFill>
                  <a:schemeClr val="tx1"/>
                </a:solidFill>
              </a:rPr>
              <a:t>Isaac Newton</a:t>
            </a:r>
            <a:endParaRPr lang="en-US" sz="2800" dirty="0">
              <a:solidFill>
                <a:srgbClr val="6CB255"/>
              </a:solidFill>
            </a:endParaRPr>
          </a:p>
        </p:txBody>
      </p:sp>
      <p:pic>
        <p:nvPicPr>
          <p:cNvPr id="2" name="Picture Placeholder 1" descr="  Isaac Newton "/>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3327" b="-3327"/>
          <a:stretch>
            <a:fillRect/>
          </a:stretch>
        </p:blipFill>
        <p:spPr>
          <a:xfrm>
            <a:off x="387398" y="1108075"/>
            <a:ext cx="4032250" cy="5256213"/>
          </a:xfrm>
        </p:spPr>
      </p:pic>
      <p:sp>
        <p:nvSpPr>
          <p:cNvPr id="14" name="Text Placeholder 13"/>
          <p:cNvSpPr>
            <a:spLocks noGrp="1"/>
          </p:cNvSpPr>
          <p:nvPr>
            <p:ph type="body" sz="quarter" idx="14"/>
          </p:nvPr>
        </p:nvSpPr>
        <p:spPr>
          <a:xfrm>
            <a:off x="4572000" y="1217843"/>
            <a:ext cx="4392109" cy="5181672"/>
          </a:xfrm>
        </p:spPr>
        <p:txBody>
          <a:bodyPr>
            <a:noAutofit/>
          </a:bodyPr>
          <a:lstStyle/>
          <a:p>
            <a:r>
              <a:rPr lang="en-US" b="1" dirty="0">
                <a:solidFill>
                  <a:schemeClr val="tx1"/>
                </a:solidFill>
              </a:rPr>
              <a:t>Isaac Newton (1642–1727) published his amazing work, </a:t>
            </a:r>
            <a:r>
              <a:rPr lang="en-US" b="1" i="1" dirty="0">
                <a:solidFill>
                  <a:schemeClr val="tx1"/>
                </a:solidFill>
              </a:rPr>
              <a:t>Philosophiae Naturalis Principia Mathematica</a:t>
            </a:r>
            <a:r>
              <a:rPr lang="en-US" b="1" dirty="0">
                <a:solidFill>
                  <a:schemeClr val="tx1"/>
                </a:solidFill>
              </a:rPr>
              <a:t>, in 1687. It proposed scientific laws that still apply today to describe the motion of objects (the laws of motion). Newton also discovered the law of gravity, invented calculus, and made great contributions to the theories of light and color.</a:t>
            </a:r>
            <a:endParaRPr lang="en-US" b="1" dirty="0">
              <a:solidFill>
                <a:schemeClr val="tx1"/>
              </a:solidFill>
              <a:hlinkClick r:id="rId3"/>
            </a:endParaRPr>
          </a:p>
          <a:p>
            <a:endParaRPr lang="en-US" sz="2400" b="1" dirty="0">
              <a:solidFill>
                <a:schemeClr val="tx1"/>
              </a:solidFill>
              <a:hlinkClick r:id="rId3"/>
            </a:endParaRPr>
          </a:p>
          <a:p>
            <a:r>
              <a:rPr lang="en-US" sz="2400" b="1" dirty="0">
                <a:solidFill>
                  <a:schemeClr val="tx1"/>
                </a:solidFill>
                <a:hlinkClick r:id="rId3"/>
              </a:rPr>
              <a:t>Click Here to watch Force video</a:t>
            </a:r>
            <a:endParaRPr lang="en-US" sz="2400" b="1" dirty="0">
              <a:solidFill>
                <a:schemeClr val="tx1"/>
              </a:solidFill>
            </a:endParaRPr>
          </a:p>
        </p:txBody>
      </p:sp>
      <p:pic>
        <p:nvPicPr>
          <p:cNvPr id="6" name="Picture 5" descr="OpenStax logo">
            <a:extLst>
              <a:ext uri="{FF2B5EF4-FFF2-40B4-BE49-F238E27FC236}">
                <a16:creationId xmlns:a16="http://schemas.microsoft.com/office/drawing/2014/main" id="{9924A891-2390-0F1C-19D7-9DE43B1E4D95}"/>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285096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0" y="20638"/>
            <a:ext cx="8494846" cy="681037"/>
          </a:xfrm>
        </p:spPr>
        <p:txBody>
          <a:bodyPr>
            <a:normAutofit/>
          </a:bodyPr>
          <a:lstStyle/>
          <a:p>
            <a:pPr algn="ctr"/>
            <a:r>
              <a:rPr lang="en-US" sz="3200" b="1" dirty="0">
                <a:solidFill>
                  <a:schemeClr val="tx1"/>
                </a:solidFill>
              </a:rPr>
              <a:t> </a:t>
            </a:r>
            <a:r>
              <a:rPr lang="en-US" sz="2800" b="1" dirty="0">
                <a:solidFill>
                  <a:schemeClr val="tx1"/>
                </a:solidFill>
              </a:rPr>
              <a:t>Dynamics</a:t>
            </a:r>
            <a:endParaRPr lang="en-US" sz="2800" dirty="0">
              <a:solidFill>
                <a:schemeClr val="tx1"/>
              </a:solidFill>
            </a:endParaRPr>
          </a:p>
        </p:txBody>
      </p:sp>
      <p:sp>
        <p:nvSpPr>
          <p:cNvPr id="6" name="TextBox 5"/>
          <p:cNvSpPr txBox="1"/>
          <p:nvPr/>
        </p:nvSpPr>
        <p:spPr>
          <a:xfrm>
            <a:off x="0" y="686512"/>
            <a:ext cx="9144000" cy="707886"/>
          </a:xfrm>
          <a:prstGeom prst="rect">
            <a:avLst/>
          </a:prstGeom>
          <a:noFill/>
        </p:spPr>
        <p:txBody>
          <a:bodyPr wrap="square" rtlCol="0">
            <a:spAutoFit/>
          </a:bodyPr>
          <a:lstStyle/>
          <a:p>
            <a:r>
              <a:rPr lang="en-US" sz="2000" b="1" dirty="0"/>
              <a:t>Dynamics is the study of the forces that cause objects and systems to move. A force is a push or a pull.</a:t>
            </a:r>
          </a:p>
        </p:txBody>
      </p:sp>
      <p:pic>
        <p:nvPicPr>
          <p:cNvPr id="2" name="Picture Placeholder 1" descr=" a) IceSkaters.jpg &#10;b)  Free body diagram"/>
          <p:cNvPicPr>
            <a:picLocks noGrp="1" noChangeAspect="1"/>
          </p:cNvPicPr>
          <p:nvPr>
            <p:ph type="pic" sz="quarter" idx="4294967295"/>
          </p:nvPr>
        </p:nvPicPr>
        <p:blipFill>
          <a:blip r:embed="rId2" cstate="email">
            <a:extLst>
              <a:ext uri="{28A0092B-C50C-407E-A947-70E740481C1C}">
                <a14:useLocalDpi xmlns:a14="http://schemas.microsoft.com/office/drawing/2010/main" val="0"/>
              </a:ext>
            </a:extLst>
          </a:blip>
          <a:srcRect l="-23298" r="-23298"/>
          <a:stretch>
            <a:fillRect/>
          </a:stretch>
        </p:blipFill>
        <p:spPr>
          <a:xfrm>
            <a:off x="1873404" y="1695450"/>
            <a:ext cx="6524555" cy="2433059"/>
          </a:xfrm>
        </p:spPr>
      </p:pic>
      <p:sp>
        <p:nvSpPr>
          <p:cNvPr id="7" name="Text Placeholder 6"/>
          <p:cNvSpPr>
            <a:spLocks noGrp="1"/>
          </p:cNvSpPr>
          <p:nvPr>
            <p:ph type="body" sz="quarter" idx="4294967295"/>
          </p:nvPr>
        </p:nvSpPr>
        <p:spPr>
          <a:xfrm>
            <a:off x="205772" y="4452509"/>
            <a:ext cx="8515785" cy="1768284"/>
          </a:xfrm>
        </p:spPr>
        <p:txBody>
          <a:bodyPr>
            <a:noAutofit/>
          </a:bodyPr>
          <a:lstStyle/>
          <a:p>
            <a:pPr marL="457200" indent="-457200">
              <a:buClrTx/>
              <a:buFont typeface="+mj-lt"/>
              <a:buAutoNum type="alphaLcParenR"/>
            </a:pPr>
            <a:r>
              <a:rPr lang="en-US" b="1" dirty="0"/>
              <a:t>An overhead view of two ice skaters pushing on a third skater. Forces are vectors and add like other vectors, so the total force on the third skater is in the direction shown. </a:t>
            </a:r>
          </a:p>
          <a:p>
            <a:pPr marL="457200" indent="-457200">
              <a:buClrTx/>
              <a:buFont typeface="+mj-lt"/>
              <a:buAutoNum type="alphaLcParenR"/>
            </a:pPr>
            <a:r>
              <a:rPr lang="en-US" b="1" dirty="0"/>
              <a:t>A free-body diagram representing the forces acting on the third skater.</a:t>
            </a:r>
          </a:p>
        </p:txBody>
      </p:sp>
      <p:pic>
        <p:nvPicPr>
          <p:cNvPr id="8" name="Picture 7" descr="OpenStax logo">
            <a:extLst>
              <a:ext uri="{FF2B5EF4-FFF2-40B4-BE49-F238E27FC236}">
                <a16:creationId xmlns:a16="http://schemas.microsoft.com/office/drawing/2014/main" id="{7B532E4F-C005-1AB5-2FB1-BDBC07E116F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295347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3025" y="0"/>
            <a:ext cx="8620828" cy="659535"/>
          </a:xfrm>
        </p:spPr>
        <p:txBody>
          <a:bodyPr>
            <a:normAutofit/>
          </a:bodyPr>
          <a:lstStyle/>
          <a:p>
            <a:pPr algn="ctr"/>
            <a:r>
              <a:rPr lang="en-US" sz="2800" b="1" dirty="0">
                <a:solidFill>
                  <a:schemeClr val="tx1"/>
                </a:solidFill>
              </a:rPr>
              <a:t>Inertia</a:t>
            </a:r>
            <a:endParaRPr lang="en-US" sz="2800" dirty="0"/>
          </a:p>
        </p:txBody>
      </p:sp>
      <p:pic>
        <p:nvPicPr>
          <p:cNvPr id="2" name="Picture Placeholder 1" descr=" HockeyPuck "/>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5072" r="-15072"/>
          <a:stretch>
            <a:fillRect/>
          </a:stretch>
        </p:blipFill>
        <p:spPr>
          <a:xfrm>
            <a:off x="1996323" y="1346829"/>
            <a:ext cx="5338355" cy="2317354"/>
          </a:xfrm>
        </p:spPr>
      </p:pic>
      <p:sp>
        <p:nvSpPr>
          <p:cNvPr id="7" name="Text Placeholder 6"/>
          <p:cNvSpPr>
            <a:spLocks noGrp="1"/>
          </p:cNvSpPr>
          <p:nvPr>
            <p:ph type="body" sz="quarter" idx="14"/>
          </p:nvPr>
        </p:nvSpPr>
        <p:spPr>
          <a:xfrm>
            <a:off x="348799" y="4444538"/>
            <a:ext cx="8446402" cy="2133266"/>
          </a:xfrm>
        </p:spPr>
        <p:txBody>
          <a:bodyPr>
            <a:noAutofit/>
          </a:bodyPr>
          <a:lstStyle/>
          <a:p>
            <a:pPr marL="342900" indent="-342900">
              <a:buClrTx/>
              <a:buFont typeface="+mj-lt"/>
              <a:buAutoNum type="alphaLcParenR"/>
            </a:pPr>
            <a:r>
              <a:rPr lang="en-US" b="1" dirty="0">
                <a:solidFill>
                  <a:schemeClr val="tx1"/>
                </a:solidFill>
              </a:rPr>
              <a:t>A hockey puck is shown at rest; it remains at rest until an outside force such as a hockey stick changes its state of rest;</a:t>
            </a:r>
          </a:p>
          <a:p>
            <a:pPr marL="342900" indent="-342900">
              <a:buClrTx/>
              <a:buFont typeface="+mj-lt"/>
              <a:buAutoNum type="alphaLcParenR"/>
            </a:pPr>
            <a:r>
              <a:rPr lang="en-US" b="1" dirty="0">
                <a:solidFill>
                  <a:schemeClr val="tx1"/>
                </a:solidFill>
              </a:rPr>
              <a:t>a hockey puck is shown in motion; it continues in motion in a straight line until an outside force causes it to change its state of motion. Although it is slick, an ice surface provides some friction that slows the puck.</a:t>
            </a:r>
          </a:p>
        </p:txBody>
      </p:sp>
      <p:pic>
        <p:nvPicPr>
          <p:cNvPr id="6" name="Picture 5" descr="OpenStax logo">
            <a:extLst>
              <a:ext uri="{FF2B5EF4-FFF2-40B4-BE49-F238E27FC236}">
                <a16:creationId xmlns:a16="http://schemas.microsoft.com/office/drawing/2014/main" id="{B4CF25CA-B366-C0F9-47F4-FC7545139A03}"/>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731458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pPr algn="ctr"/>
            <a:r>
              <a:rPr lang="en-US" sz="2800" b="1" dirty="0">
                <a:solidFill>
                  <a:schemeClr val="tx1"/>
                </a:solidFill>
              </a:rPr>
              <a:t>air hockey table</a:t>
            </a:r>
            <a:endParaRPr lang="en-US" sz="2800" dirty="0">
              <a:solidFill>
                <a:schemeClr val="tx1"/>
              </a:solidFill>
            </a:endParaRPr>
          </a:p>
        </p:txBody>
      </p:sp>
      <p:pic>
        <p:nvPicPr>
          <p:cNvPr id="2" name="Picture Placeholder 1" descr="Figure shows the cross section of an air hockey table. There is a hole in the table surface from which air flows out. The puck is suspended above the table, with a layer of air between it and the table. A free-body diagram shows the upward force of air and downward weight to be of equal magnitude. Net vertical force is equal to 0 and therefore, the friction is equal to 0."/>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0883" b="-20883"/>
          <a:stretch>
            <a:fillRect/>
          </a:stretch>
        </p:blipFill>
        <p:spPr/>
      </p:pic>
      <p:sp>
        <p:nvSpPr>
          <p:cNvPr id="7" name="Text Placeholder 6"/>
          <p:cNvSpPr>
            <a:spLocks noGrp="1"/>
          </p:cNvSpPr>
          <p:nvPr>
            <p:ph type="body" sz="quarter" idx="14"/>
          </p:nvPr>
        </p:nvSpPr>
        <p:spPr>
          <a:xfrm>
            <a:off x="472649" y="4825310"/>
            <a:ext cx="8032014" cy="1538320"/>
          </a:xfrm>
        </p:spPr>
        <p:txBody>
          <a:bodyPr>
            <a:noAutofit/>
          </a:bodyPr>
          <a:lstStyle/>
          <a:p>
            <a:r>
              <a:rPr lang="en-US" b="1" dirty="0"/>
              <a:t>An air hockey table is useful in illustrating Newton’s laws. When the air is off, friction quickly slows the puck; but when the air is on, it minimizes contact between the puck and the hockey table, and the puck glides far down the table.</a:t>
            </a:r>
          </a:p>
        </p:txBody>
      </p:sp>
      <p:pic>
        <p:nvPicPr>
          <p:cNvPr id="6" name="Picture 5" descr="OpenStax logo">
            <a:extLst>
              <a:ext uri="{FF2B5EF4-FFF2-40B4-BE49-F238E27FC236}">
                <a16:creationId xmlns:a16="http://schemas.microsoft.com/office/drawing/2014/main" id="{09DC9BA0-68FB-597E-9671-08C0B087822B}"/>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683036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31921"/>
            <a:ext cx="8062912" cy="659535"/>
          </a:xfrm>
        </p:spPr>
        <p:txBody>
          <a:bodyPr>
            <a:normAutofit/>
          </a:bodyPr>
          <a:lstStyle/>
          <a:p>
            <a:pPr algn="ctr"/>
            <a:r>
              <a:rPr lang="en-US" sz="2800" dirty="0">
                <a:solidFill>
                  <a:schemeClr val="tx1"/>
                </a:solidFill>
              </a:rPr>
              <a:t>NET FORCE</a:t>
            </a:r>
            <a:endParaRPr lang="en-US" sz="2800" dirty="0">
              <a:solidFill>
                <a:srgbClr val="6CB255"/>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6C56FAC-47C7-AB21-0A1F-51C7A772A42D}"/>
                  </a:ext>
                </a:extLst>
              </p:cNvPr>
              <p:cNvSpPr txBox="1"/>
              <p:nvPr/>
            </p:nvSpPr>
            <p:spPr>
              <a:xfrm>
                <a:off x="394566" y="1290543"/>
                <a:ext cx="8354867" cy="1725344"/>
              </a:xfrm>
              <a:prstGeom prst="rect">
                <a:avLst/>
              </a:prstGeom>
              <a:noFill/>
            </p:spPr>
            <p:txBody>
              <a:bodyPr wrap="square">
                <a:spAutoFit/>
              </a:bodyPr>
              <a:lstStyle/>
              <a:p>
                <a:r>
                  <a:rPr lang="en-US" altLang="en-US" sz="2400" b="1" dirty="0"/>
                  <a:t>The vector sum of all the forces on an object is called the resultant of the forces or the net force:</a:t>
                </a:r>
              </a:p>
              <a:p>
                <a:pPr/>
                <a14:m>
                  <m:oMathPara xmlns:m="http://schemas.openxmlformats.org/officeDocument/2006/math">
                    <m:oMathParaPr>
                      <m:jc m:val="centerGroup"/>
                    </m:oMathParaPr>
                    <m:oMath xmlns:m="http://schemas.openxmlformats.org/officeDocument/2006/math">
                      <m:acc>
                        <m:accPr>
                          <m:chr m:val="⃗"/>
                          <m:ctrlP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2400" b="1" i="1">
                              <a:effectLst/>
                              <a:latin typeface="Cambria Math" panose="02040503050406030204" pitchFamily="18" charset="0"/>
                              <a:ea typeface="Calibri" panose="020F0502020204030204" pitchFamily="34" charset="0"/>
                              <a:cs typeface="Times New Roman" panose="02020603050405020304" pitchFamily="18" charset="0"/>
                            </a:rPr>
                            <m:t>𝑹</m:t>
                          </m:r>
                        </m:e>
                      </m:acc>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𝑭</m:t>
                              </m:r>
                            </m:e>
                            <m:sub>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𝟏</m:t>
                              </m:r>
                            </m:sub>
                          </m:sSub>
                        </m:e>
                      </m:acc>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𝑭</m:t>
                              </m:r>
                            </m:e>
                            <m:sub>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𝟐</m:t>
                              </m:r>
                            </m:sub>
                          </m:sSub>
                        </m:e>
                      </m:acc>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𝑭</m:t>
                              </m:r>
                            </m:e>
                            <m:sub>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𝟑</m:t>
                              </m:r>
                            </m:sub>
                          </m:sSub>
                        </m:e>
                      </m:acc>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subHide m:val="on"/>
                          <m:supHide m:val="on"/>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acc>
                            <m:accPr>
                              <m:chr m:val="⃗"/>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𝑭</m:t>
                              </m:r>
                            </m:e>
                          </m:acc>
                        </m:e>
                      </m:nary>
                    </m:oMath>
                  </m:oMathPara>
                </a14:m>
                <a:endParaRPr lang="en-US" sz="2400" b="1" dirty="0"/>
              </a:p>
            </p:txBody>
          </p:sp>
        </mc:Choice>
        <mc:Fallback xmlns="">
          <p:sp>
            <p:nvSpPr>
              <p:cNvPr id="7" name="TextBox 6">
                <a:extLst>
                  <a:ext uri="{FF2B5EF4-FFF2-40B4-BE49-F238E27FC236}">
                    <a16:creationId xmlns:a16="http://schemas.microsoft.com/office/drawing/2014/main" id="{26C56FAC-47C7-AB21-0A1F-51C7A772A42D}"/>
                  </a:ext>
                </a:extLst>
              </p:cNvPr>
              <p:cNvSpPr txBox="1">
                <a:spLocks noRot="1" noChangeAspect="1" noMove="1" noResize="1" noEditPoints="1" noAdjustHandles="1" noChangeArrowheads="1" noChangeShapeType="1" noTextEdit="1"/>
              </p:cNvSpPr>
              <p:nvPr/>
            </p:nvSpPr>
            <p:spPr>
              <a:xfrm>
                <a:off x="394566" y="1290543"/>
                <a:ext cx="8354867" cy="1725344"/>
              </a:xfrm>
              <a:prstGeom prst="rect">
                <a:avLst/>
              </a:prstGeom>
              <a:blipFill>
                <a:blip r:embed="rId2"/>
                <a:stretch>
                  <a:fillRect l="-1168" t="-2473"/>
                </a:stretch>
              </a:blipFill>
            </p:spPr>
            <p:txBody>
              <a:bodyPr/>
              <a:lstStyle/>
              <a:p>
                <a:r>
                  <a:rPr lang="en-US">
                    <a:noFill/>
                  </a:rPr>
                  <a:t> </a:t>
                </a:r>
              </a:p>
            </p:txBody>
          </p:sp>
        </mc:Fallback>
      </mc:AlternateContent>
      <p:pic>
        <p:nvPicPr>
          <p:cNvPr id="2" name="Picture 1" descr="Raji K Physics Logo">
            <a:extLst>
              <a:ext uri="{FF2B5EF4-FFF2-40B4-BE49-F238E27FC236}">
                <a16:creationId xmlns:a16="http://schemas.microsoft.com/office/drawing/2014/main" id="{762812E6-2C83-F52C-B04B-F73523C766F3}"/>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420687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228453" y="108469"/>
            <a:ext cx="8534400" cy="738188"/>
          </a:xfrm>
        </p:spPr>
        <p:txBody>
          <a:bodyPr>
            <a:normAutofit/>
          </a:bodyPr>
          <a:lstStyle/>
          <a:p>
            <a:pPr algn="ctr"/>
            <a:r>
              <a:rPr lang="en-US" altLang="en-US" sz="2800" dirty="0">
                <a:solidFill>
                  <a:schemeClr val="tx1"/>
                </a:solidFill>
              </a:rPr>
              <a:t>Net force and equilibrium</a:t>
            </a:r>
            <a:r>
              <a:rPr lang="en-US" altLang="en-US" sz="2800" dirty="0"/>
              <a:t>	</a:t>
            </a:r>
          </a:p>
        </p:txBody>
      </p:sp>
      <mc:AlternateContent xmlns:mc="http://schemas.openxmlformats.org/markup-compatibility/2006" xmlns:a14="http://schemas.microsoft.com/office/drawing/2010/main">
        <mc:Choice Requires="a14">
          <p:sp>
            <p:nvSpPr>
              <p:cNvPr id="16387" name="Rectangle 3"/>
              <p:cNvSpPr>
                <a:spLocks noGrp="1" noChangeArrowheads="1"/>
              </p:cNvSpPr>
              <p:nvPr>
                <p:ph idx="4294967295"/>
              </p:nvPr>
            </p:nvSpPr>
            <p:spPr>
              <a:xfrm>
                <a:off x="495079" y="1153736"/>
                <a:ext cx="8001147" cy="4741541"/>
              </a:xfrm>
            </p:spPr>
            <p:txBody>
              <a:bodyPr/>
              <a:lstStyle/>
              <a:p>
                <a:pPr marL="342900" indent="-342900">
                  <a:buClrTx/>
                  <a:buFont typeface="Wingdings" panose="05000000000000000000" pitchFamily="2" charset="2"/>
                  <a:buChar char="Ø"/>
                </a:pPr>
                <a:r>
                  <a:rPr lang="en-CA" altLang="en-US" sz="2400" b="1" dirty="0">
                    <a:latin typeface="+mn-lt"/>
                  </a:rPr>
                  <a:t>For a body to be in equilibrium, it must be acted on by no forces, or </a:t>
                </a:r>
              </a:p>
              <a:p>
                <a:pPr marL="274637" lvl="1" indent="0">
                  <a:buClrTx/>
                  <a:buNone/>
                </a:pPr>
                <a:r>
                  <a:rPr lang="en-CA" altLang="en-US" sz="2400" b="1" dirty="0">
                    <a:latin typeface="+mn-lt"/>
                  </a:rPr>
                  <a:t>by several forces such that their vector sum—that   is, the net force is zero</a:t>
                </a:r>
              </a:p>
              <a:p>
                <a:pPr marL="342900" indent="-342900">
                  <a:buClrTx/>
                  <a:buFont typeface="Wingdings" panose="05000000000000000000" pitchFamily="2" charset="2"/>
                  <a:buChar char="Ø"/>
                </a:pPr>
                <a:r>
                  <a:rPr lang="en-CA" altLang="en-US" sz="2400" b="1" dirty="0">
                    <a:latin typeface="+mn-lt"/>
                  </a:rPr>
                  <a:t>When a body is either at rest or </a:t>
                </a:r>
              </a:p>
              <a:p>
                <a:pPr marL="274637" lvl="1" indent="0">
                  <a:buClrTx/>
                  <a:buNone/>
                </a:pPr>
                <a:r>
                  <a:rPr lang="en-CA" altLang="en-US" sz="2400" b="1" dirty="0">
                    <a:latin typeface="+mn-lt"/>
                  </a:rPr>
                  <a:t>moving with constant velocity (in a straight line with constant speed), we say that the body is in equilibrium. </a:t>
                </a:r>
              </a:p>
              <a:p>
                <a:pPr marL="342900" indent="-342900">
                  <a:buClrTx/>
                  <a:buFont typeface="Wingdings" panose="05000000000000000000" pitchFamily="2" charset="2"/>
                  <a:buChar char="Ø"/>
                </a:pPr>
                <a14:m>
                  <m:oMath xmlns:m="http://schemas.openxmlformats.org/officeDocument/2006/math">
                    <m:nary>
                      <m:naryPr>
                        <m:chr m:val="∑"/>
                        <m:limLoc m:val="undOvr"/>
                        <m:subHide m:val="on"/>
                        <m:supHide m:val="on"/>
                        <m:ctrlPr>
                          <a:rPr lang="en-US" sz="2400" b="1" i="1" smtClean="0">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acc>
                          <m:accPr>
                            <m:chr m:val="⃗"/>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𝑭</m:t>
                            </m:r>
                          </m:e>
                        </m:acc>
                      </m:e>
                    </m:nary>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𝟎</m:t>
                    </m:r>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400" b="1" dirty="0">
                    <a:effectLst/>
                    <a:latin typeface="Calibri" panose="020F0502020204030204" pitchFamily="34" charset="0"/>
                    <a:ea typeface="Calibri" panose="020F0502020204030204" pitchFamily="34" charset="0"/>
                    <a:cs typeface="Times New Roman" panose="02020603050405020304" pitchFamily="18" charset="0"/>
                  </a:rPr>
                  <a:t>   when object is at rest or is moving with constant velocity </a:t>
                </a:r>
              </a:p>
              <a:p>
                <a:pPr marL="0" indent="0">
                  <a:buNone/>
                </a:pPr>
                <a:endParaRPr lang="en-CA" altLang="en-US" sz="2400" b="1" dirty="0">
                  <a:latin typeface="+mn-lt"/>
                </a:endParaRPr>
              </a:p>
            </p:txBody>
          </p:sp>
        </mc:Choice>
        <mc:Fallback xmlns="">
          <p:sp>
            <p:nvSpPr>
              <p:cNvPr id="16387" name="Rectangle 3"/>
              <p:cNvSpPr>
                <a:spLocks noGrp="1" noRot="1" noChangeAspect="1" noMove="1" noResize="1" noEditPoints="1" noAdjustHandles="1" noChangeArrowheads="1" noChangeShapeType="1" noTextEdit="1"/>
              </p:cNvSpPr>
              <p:nvPr>
                <p:ph idx="4294967295"/>
              </p:nvPr>
            </p:nvSpPr>
            <p:spPr>
              <a:xfrm>
                <a:off x="495079" y="1153736"/>
                <a:ext cx="8001147" cy="4741541"/>
              </a:xfrm>
              <a:blipFill>
                <a:blip r:embed="rId3"/>
                <a:stretch>
                  <a:fillRect l="-990" t="-900" r="-1523"/>
                </a:stretch>
              </a:blipFill>
            </p:spPr>
            <p:txBody>
              <a:bodyPr/>
              <a:lstStyle/>
              <a:p>
                <a:r>
                  <a:rPr lang="en-US">
                    <a:noFill/>
                  </a:rPr>
                  <a:t> </a:t>
                </a:r>
              </a:p>
            </p:txBody>
          </p:sp>
        </mc:Fallback>
      </mc:AlternateContent>
      <p:pic>
        <p:nvPicPr>
          <p:cNvPr id="2" name="Picture 1" descr="Raji K Physics Logo">
            <a:extLst>
              <a:ext uri="{FF2B5EF4-FFF2-40B4-BE49-F238E27FC236}">
                <a16:creationId xmlns:a16="http://schemas.microsoft.com/office/drawing/2014/main" id="{C2A1EB39-2B45-B6BC-FC10-DAD06AF336E4}"/>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830124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09405" y="205041"/>
            <a:ext cx="8718210" cy="677496"/>
          </a:xfrm>
        </p:spPr>
        <p:txBody>
          <a:bodyPr>
            <a:noAutofit/>
          </a:bodyPr>
          <a:lstStyle/>
          <a:p>
            <a:r>
              <a:rPr lang="en-US" sz="2800" dirty="0">
                <a:solidFill>
                  <a:schemeClr val="tx1"/>
                </a:solidFill>
              </a:rPr>
              <a:t>APPLYING </a:t>
            </a:r>
            <a:r>
              <a:rPr lang="en-US" sz="2800" b="1" dirty="0">
                <a:solidFill>
                  <a:schemeClr val="tx1"/>
                </a:solidFill>
              </a:rPr>
              <a:t>Newton’s First Law  to A Car </a:t>
            </a:r>
            <a:endParaRPr lang="en-US" sz="2800" dirty="0"/>
          </a:p>
        </p:txBody>
      </p:sp>
      <p:pic>
        <p:nvPicPr>
          <p:cNvPr id="2" name="Picture Placeholder 1" descr="Figure a shows a car at rest, with v equal to 0 and F net equal to 0. Figure b indicates that the car is in motion. Here, v is equal to 50 kilometers per hour and F net is unknown."/>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4351" b="-14351"/>
          <a:stretch>
            <a:fillRect/>
          </a:stretch>
        </p:blipFill>
        <p:spPr>
          <a:xfrm>
            <a:off x="1291328" y="982783"/>
            <a:ext cx="7117101" cy="3089499"/>
          </a:xfrm>
        </p:spPr>
      </p:pic>
      <p:sp>
        <p:nvSpPr>
          <p:cNvPr id="7" name="Text Placeholder 6"/>
          <p:cNvSpPr>
            <a:spLocks noGrp="1"/>
          </p:cNvSpPr>
          <p:nvPr>
            <p:ph type="body" sz="quarter" idx="14"/>
          </p:nvPr>
        </p:nvSpPr>
        <p:spPr>
          <a:xfrm>
            <a:off x="94232" y="4026274"/>
            <a:ext cx="8568138" cy="2685472"/>
          </a:xfrm>
        </p:spPr>
        <p:txBody>
          <a:bodyPr>
            <a:noAutofit/>
          </a:bodyPr>
          <a:lstStyle/>
          <a:p>
            <a:r>
              <a:rPr lang="en-US" b="1" dirty="0">
                <a:solidFill>
                  <a:schemeClr val="tx1"/>
                </a:solidFill>
              </a:rPr>
              <a:t>A car is shown (a) parked and  (b) moving at constant velocity. </a:t>
            </a:r>
          </a:p>
          <a:p>
            <a:r>
              <a:rPr lang="en-US" b="1" dirty="0">
                <a:solidFill>
                  <a:schemeClr val="tx1"/>
                </a:solidFill>
              </a:rPr>
              <a:t>How do Newton’s laws apply to the parked car? </a:t>
            </a:r>
          </a:p>
          <a:p>
            <a:r>
              <a:rPr lang="en-US" b="1" dirty="0">
                <a:solidFill>
                  <a:schemeClr val="tx1"/>
                </a:solidFill>
              </a:rPr>
              <a:t>What does the knowledge that the car is moving at constant velocity tell us about the net horizontal force on the car?</a:t>
            </a:r>
          </a:p>
          <a:p>
            <a:r>
              <a:rPr lang="en-US" sz="2000" b="1" dirty="0">
                <a:hlinkClick r:id="rId3"/>
              </a:rPr>
              <a:t>Click here for answer</a:t>
            </a:r>
            <a:endParaRPr lang="en-US" sz="2000" b="1" dirty="0"/>
          </a:p>
          <a:p>
            <a:endParaRPr lang="en-US" b="1" dirty="0">
              <a:solidFill>
                <a:schemeClr val="tx1"/>
              </a:solidFill>
            </a:endParaRPr>
          </a:p>
        </p:txBody>
      </p:sp>
      <p:pic>
        <p:nvPicPr>
          <p:cNvPr id="6" name="Picture 5" descr="OpenStax logo">
            <a:extLst>
              <a:ext uri="{FF2B5EF4-FFF2-40B4-BE49-F238E27FC236}">
                <a16:creationId xmlns:a16="http://schemas.microsoft.com/office/drawing/2014/main" id="{E2B2408B-2E92-EB17-E30B-DA22A5978710}"/>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580070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89210" y="101814"/>
            <a:ext cx="9054790" cy="678250"/>
          </a:xfrm>
        </p:spPr>
        <p:txBody>
          <a:bodyPr/>
          <a:lstStyle/>
          <a:p>
            <a:pPr algn="ctr" eaLnBrk="1" hangingPunct="1"/>
            <a:r>
              <a:rPr lang="en-US" sz="3600" b="1" dirty="0">
                <a:solidFill>
                  <a:schemeClr val="tx1"/>
                </a:solidFill>
              </a:rPr>
              <a:t>  </a:t>
            </a:r>
            <a:r>
              <a:rPr lang="en-US" sz="2800" b="1" dirty="0">
                <a:solidFill>
                  <a:schemeClr val="tx1"/>
                </a:solidFill>
              </a:rPr>
              <a:t>Newton’s First Law of Motion</a:t>
            </a:r>
          </a:p>
        </p:txBody>
      </p:sp>
      <p:sp>
        <p:nvSpPr>
          <p:cNvPr id="38916" name="Text Box 3"/>
          <p:cNvSpPr txBox="1">
            <a:spLocks noChangeArrowheads="1"/>
          </p:cNvSpPr>
          <p:nvPr/>
        </p:nvSpPr>
        <p:spPr bwMode="auto">
          <a:xfrm>
            <a:off x="122664" y="931915"/>
            <a:ext cx="8762574" cy="3662541"/>
          </a:xfrm>
          <a:prstGeom prst="rect">
            <a:avLst/>
          </a:prstGeom>
          <a:noFill/>
          <a:ln w="9525">
            <a:noFill/>
            <a:miter lim="800000"/>
            <a:headEnd/>
            <a:tailEnd/>
          </a:ln>
        </p:spPr>
        <p:txBody>
          <a:bodyPr wrap="square">
            <a:spAutoFit/>
          </a:bodyPr>
          <a:lstStyle/>
          <a:p>
            <a:pPr fontAlgn="base">
              <a:spcBef>
                <a:spcPct val="50000"/>
              </a:spcBef>
              <a:spcAft>
                <a:spcPct val="0"/>
              </a:spcAft>
            </a:pPr>
            <a:r>
              <a:rPr lang="en-US" sz="2400" b="1" dirty="0"/>
              <a:t>Newton’s first law is sometimes called the law of inertia:</a:t>
            </a:r>
          </a:p>
          <a:p>
            <a:pPr fontAlgn="base">
              <a:spcBef>
                <a:spcPct val="0"/>
              </a:spcBef>
              <a:spcAft>
                <a:spcPct val="0"/>
              </a:spcAft>
            </a:pPr>
            <a:r>
              <a:rPr lang="en-US" sz="2400" b="1" dirty="0"/>
              <a:t>In the absence of an unbalanced applied force (F</a:t>
            </a:r>
            <a:r>
              <a:rPr lang="en-US" sz="2400" b="1" baseline="-25000" dirty="0"/>
              <a:t>net</a:t>
            </a:r>
            <a:r>
              <a:rPr lang="en-US" sz="2400" b="1" dirty="0"/>
              <a:t> = 0), a body at rest remains at rest, and a body already in motion remains in motion with a constant velocity (constant speed and direction).</a:t>
            </a:r>
          </a:p>
          <a:p>
            <a:pPr fontAlgn="base">
              <a:spcBef>
                <a:spcPct val="0"/>
              </a:spcBef>
              <a:spcAft>
                <a:spcPct val="0"/>
              </a:spcAft>
            </a:pPr>
            <a:endParaRPr lang="en-US" sz="3200" b="1" dirty="0"/>
          </a:p>
          <a:p>
            <a:pPr fontAlgn="base">
              <a:spcBef>
                <a:spcPct val="0"/>
              </a:spcBef>
              <a:spcAft>
                <a:spcPct val="0"/>
              </a:spcAft>
            </a:pPr>
            <a:r>
              <a:rPr lang="en-US" sz="2400" b="1" dirty="0">
                <a:hlinkClick r:id="rId3"/>
              </a:rPr>
              <a:t>Newton's First Law of Motion Video</a:t>
            </a:r>
            <a:endParaRPr lang="en-US" sz="2400" b="1" dirty="0"/>
          </a:p>
          <a:p>
            <a:pPr fontAlgn="base">
              <a:spcBef>
                <a:spcPct val="0"/>
              </a:spcBef>
              <a:spcAft>
                <a:spcPct val="0"/>
              </a:spcAft>
            </a:pPr>
            <a:endParaRPr lang="en-US" sz="2400" b="1" dirty="0"/>
          </a:p>
          <a:p>
            <a:pPr fontAlgn="base">
              <a:spcBef>
                <a:spcPct val="0"/>
              </a:spcBef>
              <a:spcAft>
                <a:spcPct val="0"/>
              </a:spcAft>
            </a:pPr>
            <a:r>
              <a:rPr lang="en-US" sz="2400" b="1" dirty="0">
                <a:hlinkClick r:id="rId4"/>
              </a:rPr>
              <a:t>Mass and Inertia Video</a:t>
            </a:r>
            <a:endParaRPr lang="en-US" sz="2400" b="1" dirty="0"/>
          </a:p>
        </p:txBody>
      </p:sp>
      <p:pic>
        <p:nvPicPr>
          <p:cNvPr id="4" name="Picture 3" descr="OpenStax logo">
            <a:extLst>
              <a:ext uri="{FF2B5EF4-FFF2-40B4-BE49-F238E27FC236}">
                <a16:creationId xmlns:a16="http://schemas.microsoft.com/office/drawing/2014/main" id="{DEFE822D-4461-2FA0-49F7-3678ADB331F0}"/>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2351850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4"/>
          <p:cNvSpPr>
            <a:spLocks noGrp="1"/>
          </p:cNvSpPr>
          <p:nvPr>
            <p:ph type="title"/>
          </p:nvPr>
        </p:nvSpPr>
        <p:spPr>
          <a:xfrm>
            <a:off x="262562" y="123109"/>
            <a:ext cx="9032488" cy="765065"/>
          </a:xfrm>
        </p:spPr>
        <p:txBody>
          <a:bodyPr>
            <a:noAutofit/>
          </a:bodyPr>
          <a:lstStyle/>
          <a:p>
            <a:pPr algn="ctr" fontAlgn="auto">
              <a:spcAft>
                <a:spcPts val="0"/>
              </a:spcAft>
              <a:defRPr/>
            </a:pPr>
            <a:r>
              <a:rPr lang="en-US" sz="2800" b="1" dirty="0">
                <a:solidFill>
                  <a:schemeClr val="tx1"/>
                </a:solidFill>
              </a:rPr>
              <a:t>Newton’s Second  Law of Motion</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9" name="Text Box 3"/>
              <p:cNvSpPr txBox="1">
                <a:spLocks noChangeArrowheads="1"/>
              </p:cNvSpPr>
              <p:nvPr/>
            </p:nvSpPr>
            <p:spPr bwMode="auto">
              <a:xfrm>
                <a:off x="253750" y="1009684"/>
                <a:ext cx="8792228" cy="4469300"/>
              </a:xfrm>
              <a:prstGeom prst="rect">
                <a:avLst/>
              </a:prstGeom>
              <a:noFill/>
              <a:ln w="9525">
                <a:noFill/>
                <a:miter lim="800000"/>
                <a:headEnd/>
                <a:tailEnd/>
              </a:ln>
              <a:effectLst/>
            </p:spPr>
            <p:txBody>
              <a:bodyPr wrap="square">
                <a:spAutoFit/>
              </a:bodyPr>
              <a:lstStyle/>
              <a:p>
                <a:pPr fontAlgn="base">
                  <a:spcBef>
                    <a:spcPct val="50000"/>
                  </a:spcBef>
                  <a:spcAft>
                    <a:spcPct val="0"/>
                  </a:spcAft>
                </a:pPr>
                <a:r>
                  <a:rPr lang="en-US" sz="2400" b="1" i="1" dirty="0"/>
                  <a:t>Acceleration</a:t>
                </a:r>
                <a:r>
                  <a:rPr lang="en-US" sz="2400" b="1" dirty="0"/>
                  <a:t> of an object is proportional to the </a:t>
                </a:r>
                <a:r>
                  <a:rPr lang="en-US" sz="2400" b="1" i="1" dirty="0"/>
                  <a:t>force</a:t>
                </a:r>
                <a:r>
                  <a:rPr lang="en-US" sz="2400" b="1" dirty="0"/>
                  <a:t> exerted on it &amp; inversely proportional to its </a:t>
                </a:r>
                <a:r>
                  <a:rPr lang="en-US" sz="2400" b="1" i="1" dirty="0"/>
                  <a:t>mass</a:t>
                </a:r>
                <a:r>
                  <a:rPr lang="en-US" sz="2400" b="1" dirty="0"/>
                  <a:t>.</a:t>
                </a:r>
              </a:p>
              <a:p>
                <a:pPr fontAlgn="base">
                  <a:spcBef>
                    <a:spcPct val="50000"/>
                  </a:spcBef>
                  <a:spcAft>
                    <a:spcPct val="0"/>
                  </a:spcAft>
                </a:pP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panose="02040503050406030204" pitchFamily="18" charset="0"/>
                          </a:rPr>
                          <m:t>𝒂</m:t>
                        </m:r>
                        <m:r>
                          <a:rPr lang="en-US" sz="2800" b="1" i="1" smtClean="0">
                            <a:latin typeface="Cambria Math" panose="02040503050406030204" pitchFamily="18" charset="0"/>
                          </a:rPr>
                          <m:t> </m:t>
                        </m:r>
                      </m:e>
                    </m:acc>
                  </m:oMath>
                </a14:m>
                <a:r>
                  <a:rPr lang="en-US" sz="2800" b="1" dirty="0"/>
                  <a:t> </a:t>
                </a:r>
                <a14:m>
                  <m:oMath xmlns:m="http://schemas.openxmlformats.org/officeDocument/2006/math">
                    <m:r>
                      <a:rPr lang="en-US" sz="2800" b="1" i="1" dirty="0" smtClean="0">
                        <a:latin typeface="Cambria Math" panose="02040503050406030204" pitchFamily="18" charset="0"/>
                        <a:ea typeface="Cambria Math" panose="02040503050406030204" pitchFamily="18" charset="0"/>
                      </a:rPr>
                      <m:t>=</m:t>
                    </m:r>
                    <m:f>
                      <m:fPr>
                        <m:ctrlPr>
                          <a:rPr lang="en-US" sz="2800" b="1" i="1" dirty="0" smtClean="0">
                            <a:latin typeface="Cambria Math" panose="02040503050406030204" pitchFamily="18" charset="0"/>
                            <a:ea typeface="Cambria Math" panose="02040503050406030204" pitchFamily="18" charset="0"/>
                          </a:rPr>
                        </m:ctrlPr>
                      </m:fPr>
                      <m:num>
                        <m:acc>
                          <m:accPr>
                            <m:chr m:val="⃗"/>
                            <m:ctrlPr>
                              <a:rPr lang="en-US" sz="2800" b="1" i="1" dirty="0" smtClean="0">
                                <a:latin typeface="Cambria Math" panose="02040503050406030204" pitchFamily="18" charset="0"/>
                                <a:ea typeface="Cambria Math" panose="02040503050406030204" pitchFamily="18" charset="0"/>
                              </a:rPr>
                            </m:ctrlPr>
                          </m:accPr>
                          <m:e>
                            <m:r>
                              <a:rPr lang="en-US" sz="2800" b="1" i="1" dirty="0" smtClean="0">
                                <a:latin typeface="Cambria Math" panose="02040503050406030204" pitchFamily="18" charset="0"/>
                                <a:ea typeface="Cambria Math" panose="02040503050406030204" pitchFamily="18" charset="0"/>
                              </a:rPr>
                              <m:t>𝑭</m:t>
                            </m:r>
                          </m:e>
                        </m:acc>
                      </m:num>
                      <m:den>
                        <m:r>
                          <a:rPr lang="en-US" sz="2800" b="1" i="1" dirty="0" smtClean="0">
                            <a:latin typeface="Cambria Math" panose="02040503050406030204" pitchFamily="18" charset="0"/>
                            <a:ea typeface="Cambria Math" panose="02040503050406030204" pitchFamily="18" charset="0"/>
                          </a:rPr>
                          <m:t>𝒎</m:t>
                        </m:r>
                      </m:den>
                    </m:f>
                  </m:oMath>
                </a14:m>
                <a:endParaRPr lang="en-US" sz="2800" b="1" dirty="0"/>
              </a:p>
              <a:p>
                <a:pPr fontAlgn="base">
                  <a:spcBef>
                    <a:spcPct val="50000"/>
                  </a:spcBef>
                  <a:spcAft>
                    <a:spcPct val="0"/>
                  </a:spcAft>
                </a:pPr>
                <a:r>
                  <a:rPr lang="en-US" sz="2400" b="1" dirty="0"/>
                  <a:t>The direction of the acceleration is in the direction of the applied net force. The net external force is the vector sum of all external forces and can be determined graphically, using the head-to-tail method, or analytically, using components.</a:t>
                </a:r>
              </a:p>
              <a:p>
                <a:pPr fontAlgn="base">
                  <a:spcBef>
                    <a:spcPct val="50000"/>
                  </a:spcBef>
                  <a:spcAft>
                    <a:spcPct val="0"/>
                  </a:spcAft>
                </a:pPr>
                <a:r>
                  <a:rPr lang="en-US" sz="2400" b="1" dirty="0">
                    <a:solidFill>
                      <a:srgbClr val="0000FF"/>
                    </a:solidFill>
                    <a:hlinkClick r:id="rId3">
                      <a:extLst>
                        <a:ext uri="{A12FA001-AC4F-418D-AE19-62706E023703}">
                          <ahyp:hlinkClr xmlns:ahyp="http://schemas.microsoft.com/office/drawing/2018/hyperlinkcolor" val="tx"/>
                        </a:ext>
                      </a:extLst>
                    </a:hlinkClick>
                  </a:rPr>
                  <a:t>Newton's Second Law of Motion Video</a:t>
                </a:r>
                <a:endParaRPr lang="en-US" sz="2400" b="1" dirty="0">
                  <a:solidFill>
                    <a:srgbClr val="0000FF"/>
                  </a:solidFill>
                </a:endParaRPr>
              </a:p>
            </p:txBody>
          </p:sp>
        </mc:Choice>
        <mc:Fallback xmlns="">
          <p:sp>
            <p:nvSpPr>
              <p:cNvPr id="9" name="Text Box 3"/>
              <p:cNvSpPr txBox="1">
                <a:spLocks noRot="1" noChangeAspect="1" noMove="1" noResize="1" noEditPoints="1" noAdjustHandles="1" noChangeArrowheads="1" noChangeShapeType="1" noTextEdit="1"/>
              </p:cNvSpPr>
              <p:nvPr/>
            </p:nvSpPr>
            <p:spPr bwMode="auto">
              <a:xfrm>
                <a:off x="253750" y="1009684"/>
                <a:ext cx="8792228" cy="4469300"/>
              </a:xfrm>
              <a:prstGeom prst="rect">
                <a:avLst/>
              </a:prstGeom>
              <a:blipFill>
                <a:blip r:embed="rId4"/>
                <a:stretch>
                  <a:fillRect l="-1110" t="-955" b="-2319"/>
                </a:stretch>
              </a:blipFill>
              <a:ln w="9525">
                <a:noFill/>
                <a:miter lim="800000"/>
                <a:headEnd/>
                <a:tailEnd/>
              </a:ln>
              <a:effectLst/>
            </p:spPr>
            <p:txBody>
              <a:bodyPr/>
              <a:lstStyle/>
              <a:p>
                <a:r>
                  <a:rPr lang="en-US">
                    <a:noFill/>
                  </a:rPr>
                  <a:t> </a:t>
                </a:r>
              </a:p>
            </p:txBody>
          </p:sp>
        </mc:Fallback>
      </mc:AlternateContent>
      <p:pic>
        <p:nvPicPr>
          <p:cNvPr id="4" name="Picture 3" descr="OpenStax logo">
            <a:extLst>
              <a:ext uri="{FF2B5EF4-FFF2-40B4-BE49-F238E27FC236}">
                <a16:creationId xmlns:a16="http://schemas.microsoft.com/office/drawing/2014/main" id="{E63C421F-2780-6AD9-FDD0-D16ADD3C6B58}"/>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4017986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144C1-C4DC-96E4-91AD-F0074B9D480D}"/>
              </a:ext>
            </a:extLst>
          </p:cNvPr>
          <p:cNvSpPr>
            <a:spLocks noGrp="1"/>
          </p:cNvSpPr>
          <p:nvPr>
            <p:ph type="title"/>
          </p:nvPr>
        </p:nvSpPr>
        <p:spPr/>
        <p:txBody>
          <a:bodyPr>
            <a:normAutofit/>
          </a:bodyPr>
          <a:lstStyle/>
          <a:p>
            <a:pPr algn="ctr"/>
            <a:r>
              <a:rPr lang="en-US" sz="2800" b="1" dirty="0">
                <a:solidFill>
                  <a:schemeClr val="tx1"/>
                </a:solidFill>
              </a:rPr>
              <a:t>Force</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58EE1115-4A7C-D79E-D63D-4EB86ED61C9F}"/>
                  </a:ext>
                </a:extLst>
              </p:cNvPr>
              <p:cNvSpPr>
                <a:spLocks noGrp="1"/>
              </p:cNvSpPr>
              <p:nvPr>
                <p:ph type="body" sz="quarter" idx="14"/>
              </p:nvPr>
            </p:nvSpPr>
            <p:spPr>
              <a:xfrm>
                <a:off x="457200" y="1235243"/>
                <a:ext cx="8329961" cy="4865411"/>
              </a:xfrm>
            </p:spPr>
            <p:txBody>
              <a:bodyPr>
                <a:normAutofit fontScale="85000" lnSpcReduction="20000"/>
              </a:bodyPr>
              <a:lstStyle/>
              <a:p>
                <a:pPr marL="0" indent="0">
                  <a:spcBef>
                    <a:spcPct val="50000"/>
                  </a:spcBef>
                  <a:buNone/>
                </a:pPr>
                <a:r>
                  <a:rPr lang="en-US" sz="3100" b="1" dirty="0">
                    <a:solidFill>
                      <a:schemeClr val="tx2">
                        <a:lumMod val="50000"/>
                      </a:schemeClr>
                    </a:solidFill>
                  </a:rPr>
                  <a:t>The units of force are called  </a:t>
                </a:r>
                <a:r>
                  <a:rPr lang="en-US" sz="3100" b="1" dirty="0">
                    <a:solidFill>
                      <a:schemeClr val="tx1"/>
                    </a:solidFill>
                  </a:rPr>
                  <a:t>Newton.  </a:t>
                </a:r>
              </a:p>
              <a:p>
                <a:pPr>
                  <a:spcBef>
                    <a:spcPct val="50000"/>
                  </a:spcBef>
                </a:pPr>
                <a:r>
                  <a:rPr lang="en-US" sz="3200" b="1"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acc>
                      <m:accPr>
                        <m:chr m:val="⃗"/>
                        <m:ctrlPr>
                          <a:rPr lang="en-US" sz="3100" b="1" i="1">
                            <a:latin typeface="Cambria Math" panose="02040503050406030204" pitchFamily="18" charset="0"/>
                            <a:ea typeface="Cambria Math" panose="02040503050406030204" pitchFamily="18" charset="0"/>
                          </a:rPr>
                        </m:ctrlPr>
                      </m:accPr>
                      <m:e>
                        <m:r>
                          <a:rPr lang="en-US" sz="3100" b="1" i="1">
                            <a:latin typeface="Cambria Math" panose="02040503050406030204" pitchFamily="18" charset="0"/>
                            <a:ea typeface="Cambria Math" panose="02040503050406030204" pitchFamily="18" charset="0"/>
                          </a:rPr>
                          <m:t>𝑭</m:t>
                        </m:r>
                      </m:e>
                    </m:acc>
                  </m:oMath>
                </a14:m>
                <a:r>
                  <a:rPr lang="en-US" sz="3100" b="1" i="1" baseline="-25000" dirty="0">
                    <a:solidFill>
                      <a:schemeClr val="tx2">
                        <a:lumMod val="50000"/>
                      </a:schemeClr>
                    </a:solidFill>
                    <a:latin typeface="Cambria Math" panose="02040503050406030204" pitchFamily="18" charset="0"/>
                    <a:ea typeface="Cambria Math" panose="02040503050406030204" pitchFamily="18" charset="0"/>
                  </a:rPr>
                  <a:t>net </a:t>
                </a:r>
                <a:r>
                  <a:rPr lang="en-US" sz="3100" b="1"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a:rPr lang="en-US" sz="3100" b="1" i="1" smtClean="0">
                        <a:latin typeface="Cambria Math" panose="02040503050406030204" pitchFamily="18" charset="0"/>
                        <a:ea typeface="Cambria Math" panose="02040503050406030204" pitchFamily="18" charset="0"/>
                      </a:rPr>
                      <m:t> </m:t>
                    </m:r>
                    <m:r>
                      <a:rPr lang="en-US" sz="3100" b="1" i="1" smtClean="0">
                        <a:latin typeface="Cambria Math" panose="02040503050406030204" pitchFamily="18" charset="0"/>
                        <a:ea typeface="Cambria Math" panose="02040503050406030204" pitchFamily="18" charset="0"/>
                      </a:rPr>
                      <m:t>𝒐𝒓</m:t>
                    </m:r>
                    <m:r>
                      <a:rPr lang="en-US" sz="3100" b="1" i="1" smtClean="0">
                        <a:latin typeface="Cambria Math" panose="02040503050406030204" pitchFamily="18" charset="0"/>
                        <a:ea typeface="Cambria Math" panose="02040503050406030204" pitchFamily="18" charset="0"/>
                      </a:rPr>
                      <m:t>  </m:t>
                    </m:r>
                    <m:nary>
                      <m:naryPr>
                        <m:chr m:val="∑"/>
                        <m:limLoc m:val="undOvr"/>
                        <m:subHide m:val="on"/>
                        <m:supHide m:val="on"/>
                        <m:ctrlPr>
                          <a:rPr lang="en-US" sz="3100" b="1" i="1">
                            <a:latin typeface="Cambria Math" panose="02040503050406030204" pitchFamily="18" charset="0"/>
                            <a:ea typeface="Cambria Math" panose="02040503050406030204" pitchFamily="18" charset="0"/>
                          </a:rPr>
                        </m:ctrlPr>
                      </m:naryPr>
                      <m:sub/>
                      <m:sup/>
                      <m:e>
                        <m:acc>
                          <m:accPr>
                            <m:chr m:val="⃗"/>
                            <m:ctrlPr>
                              <a:rPr lang="en-US" sz="3100" b="1" i="1">
                                <a:latin typeface="Cambria Math" panose="02040503050406030204" pitchFamily="18" charset="0"/>
                                <a:ea typeface="Cambria Math" panose="02040503050406030204" pitchFamily="18" charset="0"/>
                              </a:rPr>
                            </m:ctrlPr>
                          </m:accPr>
                          <m:e>
                            <m:r>
                              <a:rPr lang="en-US" sz="3100" b="1" i="1">
                                <a:latin typeface="Cambria Math" panose="02040503050406030204" pitchFamily="18" charset="0"/>
                                <a:ea typeface="Cambria Math" panose="02040503050406030204" pitchFamily="18" charset="0"/>
                              </a:rPr>
                              <m:t>𝑭</m:t>
                            </m:r>
                          </m:e>
                        </m:acc>
                      </m:e>
                    </m:nary>
                    <m:r>
                      <a:rPr lang="en-US" sz="3100" b="1" i="1">
                        <a:latin typeface="Cambria Math" panose="02040503050406030204" pitchFamily="18" charset="0"/>
                        <a:ea typeface="Cambria Math" panose="02040503050406030204" pitchFamily="18" charset="0"/>
                      </a:rPr>
                      <m:t>=</m:t>
                    </m:r>
                    <m:r>
                      <a:rPr lang="en-US" sz="3100" b="1" i="1">
                        <a:latin typeface="Cambria Math" panose="02040503050406030204" pitchFamily="18" charset="0"/>
                        <a:ea typeface="Cambria Math" panose="02040503050406030204" pitchFamily="18" charset="0"/>
                      </a:rPr>
                      <m:t>𝒎𝒂</m:t>
                    </m:r>
                    <m:r>
                      <a:rPr lang="en-US" sz="3100" b="1" i="1">
                        <a:latin typeface="Cambria Math" panose="02040503050406030204" pitchFamily="18" charset="0"/>
                        <a:ea typeface="Cambria Math" panose="02040503050406030204" pitchFamily="18" charset="0"/>
                      </a:rPr>
                      <m:t>    </m:t>
                    </m:r>
                  </m:oMath>
                </a14:m>
                <a:r>
                  <a:rPr lang="en-US" sz="3100" b="1" dirty="0">
                    <a:solidFill>
                      <a:schemeClr val="tx2">
                        <a:lumMod val="50000"/>
                      </a:schemeClr>
                    </a:solidFill>
                    <a:latin typeface="Cambria Math" panose="02040503050406030204" pitchFamily="18" charset="0"/>
                    <a:ea typeface="Cambria Math" panose="02040503050406030204" pitchFamily="18" charset="0"/>
                  </a:rPr>
                  <a:t>                  1 N = 1 kg </a:t>
                </a:r>
                <a:r>
                  <a:rPr lang="en-US" sz="3100" b="1" baseline="30000" dirty="0">
                    <a:solidFill>
                      <a:schemeClr val="tx2">
                        <a:lumMod val="50000"/>
                      </a:schemeClr>
                    </a:solidFill>
                    <a:latin typeface="Cambria Math" panose="02040503050406030204" pitchFamily="18" charset="0"/>
                    <a:ea typeface="Cambria Math" panose="02040503050406030204" pitchFamily="18" charset="0"/>
                  </a:rPr>
                  <a:t>. </a:t>
                </a:r>
                <a:r>
                  <a:rPr lang="en-US" sz="3100" b="1" dirty="0">
                    <a:solidFill>
                      <a:schemeClr val="tx2">
                        <a:lumMod val="50000"/>
                      </a:schemeClr>
                    </a:solidFill>
                    <a:latin typeface="Cambria Math" panose="02040503050406030204" pitchFamily="18" charset="0"/>
                    <a:ea typeface="Cambria Math" panose="02040503050406030204" pitchFamily="18" charset="0"/>
                  </a:rPr>
                  <a:t>m/s</a:t>
                </a:r>
                <a:r>
                  <a:rPr lang="en-US" sz="3100" b="1" baseline="30000" dirty="0">
                    <a:solidFill>
                      <a:schemeClr val="tx2">
                        <a:lumMod val="50000"/>
                      </a:schemeClr>
                    </a:solidFill>
                    <a:latin typeface="Cambria Math" panose="02040503050406030204" pitchFamily="18" charset="0"/>
                    <a:ea typeface="Cambria Math" panose="02040503050406030204" pitchFamily="18" charset="0"/>
                  </a:rPr>
                  <a:t>2</a:t>
                </a:r>
                <a:endParaRPr lang="en-US" sz="3100" b="1" dirty="0"/>
              </a:p>
              <a:p>
                <a:pPr>
                  <a:spcBef>
                    <a:spcPct val="50000"/>
                  </a:spcBef>
                </a:pPr>
                <a:r>
                  <a:rPr lang="en-US" sz="2400" b="1" dirty="0"/>
                  <a:t>Component Form of Newton’s Second Law</a:t>
                </a:r>
              </a:p>
              <a:p>
                <a:pPr>
                  <a:spcBef>
                    <a:spcPct val="50000"/>
                  </a:spcBef>
                </a:pPr>
                <a:endParaRPr lang="en-US" sz="2800" b="1" baseline="30000" dirty="0">
                  <a:solidFill>
                    <a:schemeClr val="tx2">
                      <a:lumMod val="50000"/>
                    </a:schemeClr>
                  </a:solidFill>
                  <a:latin typeface="Cambria Math" panose="02040503050406030204" pitchFamily="18" charset="0"/>
                  <a:ea typeface="Cambria Math" panose="02040503050406030204" pitchFamily="18" charset="0"/>
                </a:endParaRPr>
              </a:p>
              <a:p>
                <a:pPr marL="0" marR="0">
                  <a:spcBef>
                    <a:spcPts val="0"/>
                  </a:spcBef>
                  <a:spcAft>
                    <a:spcPts val="0"/>
                  </a:spcAft>
                </a:pPr>
                <a14:m>
                  <m:oMath xmlns:m="http://schemas.openxmlformats.org/officeDocument/2006/math">
                    <m:nary>
                      <m:naryPr>
                        <m:chr m:val="∑"/>
                        <m:limLoc m:val="undOvr"/>
                        <m:subHide m:val="on"/>
                        <m:supHide m:val="on"/>
                        <m:ctrlPr>
                          <a:rPr lang="en-US" sz="3000" b="1" i="1" smtClean="0">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𝑭</m:t>
                                </m:r>
                              </m:e>
                            </m:acc>
                          </m:e>
                          <m: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𝒙</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 </m:t>
                            </m:r>
                          </m:sub>
                        </m:sSub>
                      </m:e>
                    </m:nary>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𝒎</m:t>
                    </m:r>
                    <m:sSub>
                      <m:sSubPr>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𝒂</m:t>
                        </m:r>
                      </m:e>
                      <m: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𝒙</m:t>
                        </m:r>
                      </m:sub>
                    </m:sSub>
                  </m:oMath>
                </a14:m>
                <a:r>
                  <a:rPr lang="en-US" sz="3000" b="1" i="1"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3000" b="1" i="1" dirty="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3000" b="1" dirty="0">
                    <a:effectLst/>
                    <a:latin typeface="Cambria Math" panose="02040503050406030204" pitchFamily="18" charset="0"/>
                    <a:ea typeface="Times New Roman" panose="02020603050405020304" pitchFamily="18" charset="0"/>
                    <a:cs typeface="Times New Roman" panose="02020603050405020304" pitchFamily="18" charset="0"/>
                  </a:rPr>
                  <a:t>or</a:t>
                </a:r>
                <a:r>
                  <a:rPr lang="en-US" sz="3000" b="1" i="1" dirty="0">
                    <a:effectLst/>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𝑭</m:t>
                            </m:r>
                          </m:e>
                        </m:acc>
                      </m:e>
                      <m: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𝒙</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𝒏𝒆𝒕</m:t>
                        </m:r>
                      </m:sub>
                    </m:s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𝒎</m:t>
                    </m:r>
                    <m:sSub>
                      <m:sSubPr>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𝒂</m:t>
                        </m:r>
                      </m:e>
                      <m: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𝒙</m:t>
                        </m:r>
                      </m:sub>
                    </m:sSub>
                  </m:oMath>
                </a14:m>
                <a:endParaRPr lang="en-US" sz="3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3000" b="1" i="1"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3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14:m>
                  <m:oMath xmlns:m="http://schemas.openxmlformats.org/officeDocument/2006/math">
                    <m:nary>
                      <m:naryPr>
                        <m:chr m:val="∑"/>
                        <m:limLoc m:val="undOvr"/>
                        <m:subHide m:val="on"/>
                        <m:supHide m:val="on"/>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𝑭</m:t>
                                </m:r>
                              </m:e>
                            </m:acc>
                          </m:e>
                          <m: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𝒚</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 </m:t>
                            </m:r>
                          </m:sub>
                        </m:sSub>
                      </m:e>
                    </m:nary>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𝒎</m:t>
                    </m:r>
                    <m:sSub>
                      <m:sSubPr>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𝒂</m:t>
                        </m:r>
                      </m:e>
                      <m: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𝒚</m:t>
                        </m:r>
                      </m:sub>
                    </m:sSub>
                  </m:oMath>
                </a14:m>
                <a:r>
                  <a:rPr lang="en-US" sz="3000" b="1" i="1"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3000" b="1" i="1" dirty="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3000" b="1" dirty="0">
                    <a:effectLst/>
                    <a:latin typeface="Cambria Math" panose="02040503050406030204" pitchFamily="18" charset="0"/>
                    <a:ea typeface="Times New Roman" panose="02020603050405020304" pitchFamily="18" charset="0"/>
                    <a:cs typeface="Times New Roman" panose="02020603050405020304" pitchFamily="18" charset="0"/>
                  </a:rPr>
                  <a:t>or</a:t>
                </a:r>
                <a:r>
                  <a:rPr lang="en-US" sz="3000" b="1" i="1" dirty="0">
                    <a:effectLst/>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𝑭</m:t>
                            </m:r>
                          </m:e>
                        </m:acc>
                      </m:e>
                      <m: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𝒚</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𝒏𝒆𝒕</m:t>
                        </m:r>
                      </m:sub>
                    </m:s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𝒎</m:t>
                    </m:r>
                    <m:sSub>
                      <m:sSubPr>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𝒂</m:t>
                        </m:r>
                      </m:e>
                      <m: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𝒚</m:t>
                        </m:r>
                      </m:sub>
                    </m:sSub>
                  </m:oMath>
                </a14:m>
                <a:endParaRPr lang="en-US" sz="3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3000" b="1" i="1"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3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14:m>
                  <m:oMath xmlns:m="http://schemas.openxmlformats.org/officeDocument/2006/math">
                    <m:nary>
                      <m:naryPr>
                        <m:chr m:val="∑"/>
                        <m:limLoc m:val="undOvr"/>
                        <m:subHide m:val="on"/>
                        <m:supHide m:val="on"/>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𝑭</m:t>
                                </m:r>
                              </m:e>
                            </m:acc>
                          </m:e>
                          <m: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𝒛</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 </m:t>
                            </m:r>
                          </m:sub>
                        </m:sSub>
                      </m:e>
                    </m:nary>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𝒎</m:t>
                    </m:r>
                    <m:sSub>
                      <m:sSubPr>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𝒂</m:t>
                        </m:r>
                      </m:e>
                      <m: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𝒛</m:t>
                        </m:r>
                      </m:sub>
                    </m:sSub>
                  </m:oMath>
                </a14:m>
                <a:r>
                  <a:rPr lang="en-US" sz="3000" b="1" i="1"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3000" b="1" i="1" dirty="0">
                    <a:effectLst/>
                    <a:latin typeface="Cambria Math" panose="02040503050406030204" pitchFamily="18" charset="0"/>
                    <a:ea typeface="Times New Roman" panose="02020603050405020304" pitchFamily="18" charset="0"/>
                    <a:cs typeface="Times New Roman" panose="02020603050405020304" pitchFamily="18" charset="0"/>
                  </a:rPr>
                  <a:t>       </a:t>
                </a:r>
                <a:r>
                  <a:rPr lang="en-US" sz="3000" b="1" dirty="0">
                    <a:effectLst/>
                    <a:latin typeface="Cambria Math" panose="02040503050406030204" pitchFamily="18" charset="0"/>
                    <a:ea typeface="Times New Roman" panose="02020603050405020304" pitchFamily="18" charset="0"/>
                    <a:cs typeface="Times New Roman" panose="02020603050405020304" pitchFamily="18" charset="0"/>
                  </a:rPr>
                  <a:t>or</a:t>
                </a:r>
                <a:r>
                  <a:rPr lang="en-US" sz="3000" b="1" i="1" dirty="0">
                    <a:effectLst/>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𝑭</m:t>
                            </m:r>
                          </m:e>
                        </m:acc>
                      </m:e>
                      <m: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𝒚</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𝒏𝒆𝒕</m:t>
                        </m:r>
                      </m:sub>
                    </m:s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𝒎</m:t>
                    </m:r>
                    <m:sSub>
                      <m:sSubPr>
                        <m:ctrlP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𝒂</m:t>
                        </m:r>
                      </m:e>
                      <m:sub>
                        <m:r>
                          <a:rPr lang="en-US" sz="3000" b="1" i="1">
                            <a:effectLst/>
                            <a:latin typeface="Cambria Math" panose="02040503050406030204" pitchFamily="18" charset="0"/>
                            <a:ea typeface="Times New Roman" panose="02020603050405020304" pitchFamily="18" charset="0"/>
                            <a:cs typeface="Times New Roman" panose="02020603050405020304" pitchFamily="18" charset="0"/>
                          </a:rPr>
                          <m:t>𝒛</m:t>
                        </m:r>
                      </m:sub>
                    </m:sSub>
                  </m:oMath>
                </a14:m>
                <a:endParaRPr lang="en-US" sz="3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endParaRPr lang="en-US" sz="3000" b="1" dirty="0">
                  <a:effectLst/>
                  <a:latin typeface="Calibri" panose="020F0502020204030204" pitchFamily="34" charset="0"/>
                  <a:ea typeface="Calibri" panose="020F0502020204030204" pitchFamily="34" charset="0"/>
                  <a:cs typeface="Times New Roman" panose="02020603050405020304" pitchFamily="18" charset="0"/>
                </a:endParaRPr>
              </a:p>
              <a:p>
                <a:pPr>
                  <a:spcBef>
                    <a:spcPct val="50000"/>
                  </a:spcBef>
                </a:pPr>
                <a:r>
                  <a:rPr lang="en-US" sz="2800" b="1" baseline="30000" dirty="0">
                    <a:solidFill>
                      <a:schemeClr val="tx2">
                        <a:lumMod val="50000"/>
                      </a:schemeClr>
                    </a:solidFill>
                    <a:latin typeface="Cambria Math" panose="02040503050406030204" pitchFamily="18" charset="0"/>
                    <a:ea typeface="Cambria Math" panose="02040503050406030204" pitchFamily="18" charset="0"/>
                    <a:hlinkClick r:id="rId2"/>
                  </a:rPr>
                  <a:t> </a:t>
                </a:r>
                <a:r>
                  <a:rPr lang="en-US" sz="4000" b="1" baseline="30000" dirty="0">
                    <a:solidFill>
                      <a:schemeClr val="tx2">
                        <a:lumMod val="50000"/>
                      </a:schemeClr>
                    </a:solidFill>
                    <a:latin typeface="Cambria Math" panose="02040503050406030204" pitchFamily="18" charset="0"/>
                    <a:ea typeface="Cambria Math" panose="02040503050406030204" pitchFamily="18" charset="0"/>
                    <a:hlinkClick r:id="rId2"/>
                  </a:rPr>
                  <a:t>Application of Second Law of Motion Video</a:t>
                </a:r>
                <a:endParaRPr lang="en-US" sz="4000" b="1" baseline="30000" dirty="0">
                  <a:solidFill>
                    <a:schemeClr val="tx2">
                      <a:lumMod val="50000"/>
                    </a:schemeClr>
                  </a:solidFill>
                  <a:latin typeface="Cambria Math" panose="02040503050406030204" pitchFamily="18" charset="0"/>
                  <a:ea typeface="Cambria Math" panose="02040503050406030204" pitchFamily="18" charset="0"/>
                </a:endParaRPr>
              </a:p>
              <a:p>
                <a:pPr marL="0" indent="0">
                  <a:spcBef>
                    <a:spcPct val="50000"/>
                  </a:spcBef>
                  <a:buNone/>
                </a:pPr>
                <a:endParaRPr lang="en-US" sz="2000" b="1" dirty="0"/>
              </a:p>
              <a:p>
                <a:pPr marL="514350" indent="-514350">
                  <a:buClr>
                    <a:schemeClr val="tx1"/>
                  </a:buClr>
                  <a:buFont typeface="+mj-lt"/>
                  <a:buAutoNum type="alphaLcParenR"/>
                </a:pPr>
                <a:endParaRPr lang="en-US" sz="2000" b="1" dirty="0">
                  <a:solidFill>
                    <a:srgbClr val="D95301"/>
                  </a:solidFill>
                </a:endParaRPr>
              </a:p>
              <a:p>
                <a:endParaRPr lang="en-US" dirty="0"/>
              </a:p>
            </p:txBody>
          </p:sp>
        </mc:Choice>
        <mc:Fallback xmlns="">
          <p:sp>
            <p:nvSpPr>
              <p:cNvPr id="4" name="Text Placeholder 3">
                <a:extLst>
                  <a:ext uri="{FF2B5EF4-FFF2-40B4-BE49-F238E27FC236}">
                    <a16:creationId xmlns:a16="http://schemas.microsoft.com/office/drawing/2014/main" id="{58EE1115-4A7C-D79E-D63D-4EB86ED61C9F}"/>
                  </a:ext>
                </a:extLst>
              </p:cNvPr>
              <p:cNvSpPr>
                <a:spLocks noGrp="1" noRot="1" noChangeAspect="1" noMove="1" noResize="1" noEditPoints="1" noAdjustHandles="1" noChangeArrowheads="1" noChangeShapeType="1" noTextEdit="1"/>
              </p:cNvSpPr>
              <p:nvPr>
                <p:ph type="body" sz="quarter" idx="14"/>
              </p:nvPr>
            </p:nvSpPr>
            <p:spPr>
              <a:xfrm>
                <a:off x="457200" y="1235243"/>
                <a:ext cx="8329961" cy="4865411"/>
              </a:xfrm>
              <a:blipFill>
                <a:blip r:embed="rId3"/>
                <a:stretch>
                  <a:fillRect l="-1318" t="-2882"/>
                </a:stretch>
              </a:blipFill>
            </p:spPr>
            <p:txBody>
              <a:bodyPr/>
              <a:lstStyle/>
              <a:p>
                <a:r>
                  <a:rPr lang="en-US">
                    <a:noFill/>
                  </a:rPr>
                  <a:t> </a:t>
                </a:r>
              </a:p>
            </p:txBody>
          </p:sp>
        </mc:Fallback>
      </mc:AlternateContent>
      <p:pic>
        <p:nvPicPr>
          <p:cNvPr id="3" name="Picture 2" descr="Raji K Physics Logo">
            <a:extLst>
              <a:ext uri="{FF2B5EF4-FFF2-40B4-BE49-F238E27FC236}">
                <a16:creationId xmlns:a16="http://schemas.microsoft.com/office/drawing/2014/main" id="{1CFA171D-F8E6-D9E5-2CD0-D3730514285F}"/>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1082591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82D4-A437-3E61-9EBD-69A4C2ED8A00}"/>
              </a:ext>
            </a:extLst>
          </p:cNvPr>
          <p:cNvSpPr>
            <a:spLocks noGrp="1"/>
          </p:cNvSpPr>
          <p:nvPr>
            <p:ph type="title"/>
          </p:nvPr>
        </p:nvSpPr>
        <p:spPr/>
        <p:txBody>
          <a:bodyPr>
            <a:normAutofit/>
          </a:bodyPr>
          <a:lstStyle/>
          <a:p>
            <a:pPr algn="ctr"/>
            <a:r>
              <a:rPr lang="en-US" sz="2800" b="1" dirty="0">
                <a:solidFill>
                  <a:schemeClr val="tx1"/>
                </a:solidFill>
              </a:rPr>
              <a:t>WEIGHT</a:t>
            </a:r>
            <a:endParaRPr lang="en-US" sz="2800" dirty="0">
              <a:solidFill>
                <a:schemeClr val="tx1"/>
              </a:solidFill>
            </a:endParaRPr>
          </a:p>
        </p:txBody>
      </p:sp>
      <p:sp>
        <p:nvSpPr>
          <p:cNvPr id="4" name="Text Placeholder 3">
            <a:extLst>
              <a:ext uri="{FF2B5EF4-FFF2-40B4-BE49-F238E27FC236}">
                <a16:creationId xmlns:a16="http://schemas.microsoft.com/office/drawing/2014/main" id="{3F40B9BD-4025-5045-6DB1-F4B9796C1B71}"/>
              </a:ext>
            </a:extLst>
          </p:cNvPr>
          <p:cNvSpPr>
            <a:spLocks noGrp="1"/>
          </p:cNvSpPr>
          <p:nvPr>
            <p:ph type="body" sz="quarter" idx="14"/>
          </p:nvPr>
        </p:nvSpPr>
        <p:spPr>
          <a:xfrm>
            <a:off x="318431" y="1173577"/>
            <a:ext cx="8201681" cy="4017786"/>
          </a:xfrm>
        </p:spPr>
        <p:txBody>
          <a:bodyPr/>
          <a:lstStyle/>
          <a:p>
            <a:pPr marL="342900" indent="-342900">
              <a:spcBef>
                <a:spcPct val="50000"/>
              </a:spcBef>
              <a:buClrTx/>
              <a:buFont typeface="Wingdings" panose="05000000000000000000" pitchFamily="2" charset="2"/>
              <a:buChar char="Ø"/>
            </a:pPr>
            <a:r>
              <a:rPr lang="en-US" sz="2000" b="1" dirty="0">
                <a:solidFill>
                  <a:schemeClr val="tx2">
                    <a:lumMod val="50000"/>
                  </a:schemeClr>
                </a:solidFill>
                <a:latin typeface="+mn-lt"/>
              </a:rPr>
              <a:t>An object’s weight is the force exerted on it by gravity.</a:t>
            </a:r>
          </a:p>
          <a:p>
            <a:pPr>
              <a:spcBef>
                <a:spcPct val="50000"/>
              </a:spcBef>
            </a:pPr>
            <a:r>
              <a:rPr lang="en-US" sz="2000" b="1" dirty="0" err="1">
                <a:solidFill>
                  <a:schemeClr val="tx2">
                    <a:lumMod val="50000"/>
                  </a:schemeClr>
                </a:solidFill>
                <a:latin typeface="+mn-lt"/>
              </a:rPr>
              <a:t>F</a:t>
            </a:r>
            <a:r>
              <a:rPr lang="en-US" sz="2000" b="1" baseline="-25000" dirty="0" err="1">
                <a:solidFill>
                  <a:schemeClr val="tx2">
                    <a:lumMod val="50000"/>
                  </a:schemeClr>
                </a:solidFill>
                <a:latin typeface="+mn-lt"/>
              </a:rPr>
              <a:t>net</a:t>
            </a:r>
            <a:r>
              <a:rPr lang="en-US" sz="2000" b="1" dirty="0">
                <a:solidFill>
                  <a:schemeClr val="tx2">
                    <a:lumMod val="50000"/>
                  </a:schemeClr>
                </a:solidFill>
                <a:latin typeface="+mn-lt"/>
              </a:rPr>
              <a:t> = ma</a:t>
            </a:r>
          </a:p>
          <a:p>
            <a:pPr>
              <a:spcBef>
                <a:spcPct val="50000"/>
              </a:spcBef>
            </a:pPr>
            <a:r>
              <a:rPr lang="en-US" sz="2000" b="1" dirty="0">
                <a:solidFill>
                  <a:schemeClr val="tx2">
                    <a:lumMod val="50000"/>
                  </a:schemeClr>
                </a:solidFill>
                <a:latin typeface="+mn-lt"/>
              </a:rPr>
              <a:t>W = mg</a:t>
            </a:r>
          </a:p>
          <a:p>
            <a:pPr>
              <a:spcBef>
                <a:spcPct val="50000"/>
              </a:spcBef>
            </a:pPr>
            <a:r>
              <a:rPr lang="en-US" sz="2000" b="1" dirty="0"/>
              <a:t>Here, </a:t>
            </a:r>
            <a:r>
              <a:rPr lang="en-US" sz="2000" b="1" i="1" dirty="0"/>
              <a:t>g</a:t>
            </a:r>
            <a:r>
              <a:rPr lang="en-US" sz="2000" b="1" dirty="0"/>
              <a:t> is the </a:t>
            </a:r>
            <a:r>
              <a:rPr lang="en-US" sz="2000" b="1" i="1" dirty="0"/>
              <a:t>acceleration of gravity</a:t>
            </a:r>
            <a:r>
              <a:rPr lang="en-US" sz="2000" b="1" dirty="0"/>
              <a:t>:</a:t>
            </a:r>
          </a:p>
          <a:p>
            <a:pPr>
              <a:spcBef>
                <a:spcPct val="50000"/>
              </a:spcBef>
            </a:pPr>
            <a:r>
              <a:rPr lang="en-US" sz="2000" b="1" i="1" dirty="0"/>
              <a:t>g</a:t>
            </a:r>
            <a:r>
              <a:rPr lang="en-US" sz="2000" b="1" dirty="0"/>
              <a:t> = 9.81 m/s</a:t>
            </a:r>
            <a:r>
              <a:rPr lang="en-US" sz="2000" b="1" baseline="30000" dirty="0"/>
              <a:t>2</a:t>
            </a:r>
            <a:endParaRPr lang="en-US" sz="2000" b="1" dirty="0"/>
          </a:p>
          <a:p>
            <a:pPr marL="342900" indent="-342900">
              <a:spcBef>
                <a:spcPct val="50000"/>
              </a:spcBef>
              <a:buClrTx/>
              <a:buFont typeface="Wingdings" panose="05000000000000000000" pitchFamily="2" charset="2"/>
              <a:buChar char="Ø"/>
            </a:pPr>
            <a:r>
              <a:rPr lang="en-US" sz="2000" b="1" dirty="0"/>
              <a:t>Weight therefore has the same units as force —Newtons. </a:t>
            </a:r>
          </a:p>
          <a:p>
            <a:pPr marL="342900" indent="-342900">
              <a:spcBef>
                <a:spcPct val="50000"/>
              </a:spcBef>
              <a:buClrTx/>
              <a:buFont typeface="Wingdings" panose="05000000000000000000" pitchFamily="2" charset="2"/>
              <a:buChar char="Ø"/>
            </a:pPr>
            <a:r>
              <a:rPr lang="en-US" sz="2000" b="1" dirty="0"/>
              <a:t>Do scales measure weight or mass?</a:t>
            </a:r>
          </a:p>
          <a:p>
            <a:endParaRPr lang="en-US" dirty="0"/>
          </a:p>
        </p:txBody>
      </p:sp>
      <p:pic>
        <p:nvPicPr>
          <p:cNvPr id="5" name="Picture 4" descr="OpenStax logo">
            <a:extLst>
              <a:ext uri="{FF2B5EF4-FFF2-40B4-BE49-F238E27FC236}">
                <a16:creationId xmlns:a16="http://schemas.microsoft.com/office/drawing/2014/main" id="{494DB908-82F8-5551-B845-9D09CA9FFFB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01454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40544" y="56703"/>
            <a:ext cx="8062912" cy="659535"/>
          </a:xfrm>
        </p:spPr>
        <p:txBody>
          <a:bodyPr/>
          <a:lstStyle/>
          <a:p>
            <a:r>
              <a:rPr lang="en-US" dirty="0"/>
              <a:t> </a:t>
            </a:r>
            <a:r>
              <a:rPr lang="en-US" sz="2800" dirty="0">
                <a:solidFill>
                  <a:schemeClr val="tx1"/>
                </a:solidFill>
              </a:rPr>
              <a:t>FORCE, MASS and acceleration</a:t>
            </a:r>
          </a:p>
        </p:txBody>
      </p:sp>
      <p:pic>
        <p:nvPicPr>
          <p:cNvPr id="2" name="Picture Placeholder 1" descr="Figure a shows two people pushing a car with forces F1 and F2 in the right direction. Acceleration a is also in the same direction. Frictional force f is shown near the tire in the opposite direction, left. Upward force N and downward force W are equal in magnitude and are shown near the ground. Figure b puts all the forces of figure a together and shows a net force F net. These forces are also shown in a free body diagram. Figure c shows the car being towed by a tow-truck. Here, the forces N, W and f are the same as those in figure a. F subscript tow truck has a greater magnitude than F1 or F2. Acceleration a prime has a greater magnitude than a. All forces of this system are also shown in a free body diagram."/>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53412" r="-53412"/>
          <a:stretch>
            <a:fillRect/>
          </a:stretch>
        </p:blipFill>
        <p:spPr>
          <a:xfrm>
            <a:off x="1058773" y="852878"/>
            <a:ext cx="7544683" cy="3275110"/>
          </a:xfrm>
        </p:spPr>
      </p:pic>
      <p:sp>
        <p:nvSpPr>
          <p:cNvPr id="7" name="Text Placeholder 6"/>
          <p:cNvSpPr>
            <a:spLocks noGrp="1"/>
          </p:cNvSpPr>
          <p:nvPr>
            <p:ph type="body" sz="quarter" idx="14"/>
          </p:nvPr>
        </p:nvSpPr>
        <p:spPr>
          <a:xfrm>
            <a:off x="83762" y="4264629"/>
            <a:ext cx="8801973" cy="2478198"/>
          </a:xfrm>
        </p:spPr>
        <p:txBody>
          <a:bodyPr>
            <a:noAutofit/>
          </a:bodyPr>
          <a:lstStyle/>
          <a:p>
            <a:pPr marL="457200" indent="-457200">
              <a:buClrTx/>
              <a:buFont typeface="+mj-lt"/>
              <a:buAutoNum type="alphaLcParenR"/>
            </a:pPr>
            <a:r>
              <a:rPr lang="en-US" sz="1800" b="1" dirty="0">
                <a:solidFill>
                  <a:schemeClr val="tx1"/>
                </a:solidFill>
              </a:rPr>
              <a:t>Different forces exerted on the same mass produce different accelerations.</a:t>
            </a:r>
          </a:p>
          <a:p>
            <a:pPr marL="457200" indent="-457200">
              <a:buClrTx/>
              <a:buFont typeface="+mj-lt"/>
              <a:buAutoNum type="alphaLcParenR"/>
            </a:pPr>
            <a:r>
              <a:rPr lang="en-US" sz="1800" b="1" dirty="0">
                <a:solidFill>
                  <a:schemeClr val="tx1"/>
                </a:solidFill>
              </a:rPr>
              <a:t>Two students push a stalled car. All external forces acting on the car are shown.</a:t>
            </a:r>
          </a:p>
          <a:p>
            <a:pPr marL="457200" indent="-457200">
              <a:buClrTx/>
              <a:buFont typeface="+mj-lt"/>
              <a:buAutoNum type="alphaLcParenR"/>
            </a:pPr>
            <a:r>
              <a:rPr lang="en-US" sz="1800" b="1" dirty="0">
                <a:solidFill>
                  <a:schemeClr val="tx1"/>
                </a:solidFill>
              </a:rPr>
              <a:t>The forces acting on the car are transferred to a coordinate plane (free-body diagram) for simpler analysis.</a:t>
            </a:r>
          </a:p>
          <a:p>
            <a:pPr marL="457200" indent="-457200">
              <a:buClrTx/>
              <a:buFont typeface="+mj-lt"/>
              <a:buAutoNum type="alphaLcParenR"/>
            </a:pPr>
            <a:r>
              <a:rPr lang="en-US" sz="1800" b="1" dirty="0">
                <a:solidFill>
                  <a:schemeClr val="tx1"/>
                </a:solidFill>
              </a:rPr>
              <a:t>The tow truck can produce greater external force on the same mass, and thus greater acceleration.</a:t>
            </a:r>
          </a:p>
        </p:txBody>
      </p:sp>
      <p:pic>
        <p:nvPicPr>
          <p:cNvPr id="6" name="Picture 5" descr="OpenStax logo">
            <a:extLst>
              <a:ext uri="{FF2B5EF4-FFF2-40B4-BE49-F238E27FC236}">
                <a16:creationId xmlns:a16="http://schemas.microsoft.com/office/drawing/2014/main" id="{33D3E3F6-DDC9-29B6-26FD-681EF62C5C03}"/>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620052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58664"/>
            <a:ext cx="8062912" cy="659535"/>
          </a:xfrm>
        </p:spPr>
        <p:txBody>
          <a:bodyPr>
            <a:normAutofit/>
          </a:bodyPr>
          <a:lstStyle/>
          <a:p>
            <a:pPr algn="ctr"/>
            <a:r>
              <a:rPr lang="en-US" sz="2800" b="1" dirty="0">
                <a:solidFill>
                  <a:schemeClr val="tx1"/>
                </a:solidFill>
              </a:rPr>
              <a:t>Acceleration on a Lawn Mower </a:t>
            </a:r>
          </a:p>
        </p:txBody>
      </p:sp>
      <p:pic>
        <p:nvPicPr>
          <p:cNvPr id="2" name="Picture Placeholder 1" descr="Figure a shows a person using a lawn mower on a lawn. Force F net points right, from the person’s hands. Figure b shows the force F net along the positive x axis."/>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4365" b="-4365"/>
          <a:stretch>
            <a:fillRect/>
          </a:stretch>
        </p:blipFill>
        <p:spPr>
          <a:xfrm>
            <a:off x="2408153" y="1122386"/>
            <a:ext cx="6111959" cy="2653171"/>
          </a:xfrm>
        </p:spPr>
      </p:pic>
      <p:sp>
        <p:nvSpPr>
          <p:cNvPr id="7" name="Text Placeholder 6"/>
          <p:cNvSpPr>
            <a:spLocks noGrp="1"/>
          </p:cNvSpPr>
          <p:nvPr>
            <p:ph type="body" sz="quarter" idx="14"/>
          </p:nvPr>
        </p:nvSpPr>
        <p:spPr>
          <a:xfrm>
            <a:off x="457200" y="4739279"/>
            <a:ext cx="8247050" cy="1780183"/>
          </a:xfrm>
        </p:spPr>
        <p:txBody>
          <a:bodyPr>
            <a:normAutofit fontScale="92500" lnSpcReduction="10000"/>
          </a:bodyPr>
          <a:lstStyle/>
          <a:p>
            <a:pPr marL="457200" indent="-457200">
              <a:buClrTx/>
              <a:buFont typeface="+mj-lt"/>
              <a:buAutoNum type="alphaLcParenR"/>
            </a:pPr>
            <a:r>
              <a:rPr lang="en-US" b="1" dirty="0">
                <a:solidFill>
                  <a:schemeClr val="tx1"/>
                </a:solidFill>
              </a:rPr>
              <a:t>The net force on a lawn mower is 51 N to the right. The mass of the mower is 24 kg. At what what rate does the lawn mower accelerate to the right? </a:t>
            </a:r>
          </a:p>
          <a:p>
            <a:pPr marL="457200" indent="-457200">
              <a:buClrTx/>
              <a:buFont typeface="+mj-lt"/>
              <a:buAutoNum type="alphaLcParenR"/>
            </a:pPr>
            <a:r>
              <a:rPr lang="en-US" b="1" dirty="0">
                <a:solidFill>
                  <a:schemeClr val="tx1"/>
                </a:solidFill>
              </a:rPr>
              <a:t>The free-body diagram for this problem is shown.</a:t>
            </a:r>
          </a:p>
          <a:p>
            <a:pPr>
              <a:buClrTx/>
            </a:pPr>
            <a:r>
              <a:rPr lang="en-US" b="1" dirty="0">
                <a:solidFill>
                  <a:schemeClr val="tx1"/>
                </a:solidFill>
                <a:hlinkClick r:id="rId3"/>
              </a:rPr>
              <a:t> Click here for solution</a:t>
            </a:r>
            <a:endParaRPr lang="en-US" b="1" dirty="0">
              <a:solidFill>
                <a:schemeClr val="tx1"/>
              </a:solidFill>
            </a:endParaRPr>
          </a:p>
          <a:p>
            <a:pPr>
              <a:buClrTx/>
            </a:pPr>
            <a:endParaRPr lang="en-US" b="1" dirty="0">
              <a:solidFill>
                <a:schemeClr val="tx1"/>
              </a:solidFill>
            </a:endParaRPr>
          </a:p>
        </p:txBody>
      </p:sp>
      <p:pic>
        <p:nvPicPr>
          <p:cNvPr id="3" name="Picture 2" descr="OpenStax logo">
            <a:extLst>
              <a:ext uri="{FF2B5EF4-FFF2-40B4-BE49-F238E27FC236}">
                <a16:creationId xmlns:a16="http://schemas.microsoft.com/office/drawing/2014/main" id="{D60F7E80-8202-0F74-B3B2-A68B7F32E279}"/>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080106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9428"/>
            <a:ext cx="8062912" cy="659535"/>
          </a:xfrm>
        </p:spPr>
        <p:txBody>
          <a:bodyPr>
            <a:normAutofit/>
          </a:bodyPr>
          <a:lstStyle/>
          <a:p>
            <a:pPr algn="ctr"/>
            <a:r>
              <a:rPr lang="en-US" sz="2800" b="1" dirty="0">
                <a:solidFill>
                  <a:schemeClr val="tx1"/>
                </a:solidFill>
              </a:rPr>
              <a:t>Which Force Is Bigger?</a:t>
            </a:r>
          </a:p>
        </p:txBody>
      </p:sp>
      <p:pic>
        <p:nvPicPr>
          <p:cNvPr id="2" name="Picture Placeholder 1" descr="Figure a shows a car with velocity 10 meters per second, moving right. F subscript engine right and F subscript friction points left. Figure b shows the car moving with an acceleration of 10 meters per second squared, towards the right. Forces F subscript engine and F subscript friction are the same as those in figure a."/>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7712" r="-37712"/>
          <a:stretch>
            <a:fillRect/>
          </a:stretch>
        </p:blipFill>
        <p:spPr>
          <a:xfrm>
            <a:off x="1409991" y="698963"/>
            <a:ext cx="7026360" cy="3050109"/>
          </a:xfrm>
        </p:spPr>
      </p:pic>
      <p:sp>
        <p:nvSpPr>
          <p:cNvPr id="7" name="Text Placeholder 6"/>
          <p:cNvSpPr>
            <a:spLocks noGrp="1"/>
          </p:cNvSpPr>
          <p:nvPr>
            <p:ph type="body" sz="quarter" idx="14"/>
          </p:nvPr>
        </p:nvSpPr>
        <p:spPr>
          <a:xfrm>
            <a:off x="273970" y="3882009"/>
            <a:ext cx="8596059" cy="2763095"/>
          </a:xfrm>
        </p:spPr>
        <p:txBody>
          <a:bodyPr>
            <a:noAutofit/>
          </a:bodyPr>
          <a:lstStyle/>
          <a:p>
            <a:pPr marL="228600" indent="-228600">
              <a:buClrTx/>
              <a:buFont typeface="+mj-lt"/>
              <a:buAutoNum type="alphaLcParenR"/>
            </a:pPr>
            <a:r>
              <a:rPr lang="en-US" sz="1800" b="1" dirty="0">
                <a:solidFill>
                  <a:schemeClr val="tx1"/>
                </a:solidFill>
              </a:rPr>
              <a:t>A car is shown (a) moving at constant speed and (b) accelerating. How do the forces acting on the car compare in each case?</a:t>
            </a:r>
          </a:p>
          <a:p>
            <a:pPr marL="342900" indent="-342900">
              <a:buClrTx/>
              <a:buFont typeface="+mj-lt"/>
              <a:buAutoNum type="alphaLcParenR"/>
            </a:pPr>
            <a:r>
              <a:rPr lang="en-US" sz="1800" b="1" dirty="0">
                <a:solidFill>
                  <a:schemeClr val="tx1"/>
                </a:solidFill>
              </a:rPr>
              <a:t>What does the knowledge that the car is moving at constant velocity tell us about the net horizontal force on the car compared to the friction force?</a:t>
            </a:r>
          </a:p>
          <a:p>
            <a:pPr marL="342900" indent="-342900">
              <a:buClrTx/>
              <a:buFont typeface="+mj-lt"/>
              <a:buAutoNum type="alphaLcParenR"/>
            </a:pPr>
            <a:r>
              <a:rPr lang="en-US" sz="1800" b="1" dirty="0">
                <a:solidFill>
                  <a:schemeClr val="tx1"/>
                </a:solidFill>
              </a:rPr>
              <a:t>What does the knowledge that the car is accelerating tell us about the horizontal force on the car compared to the friction force?</a:t>
            </a:r>
          </a:p>
          <a:p>
            <a:pPr>
              <a:buClrTx/>
            </a:pPr>
            <a:r>
              <a:rPr lang="en-US" sz="1800" b="1" dirty="0">
                <a:solidFill>
                  <a:schemeClr val="tx1"/>
                </a:solidFill>
                <a:hlinkClick r:id="rId3"/>
              </a:rPr>
              <a:t>Click here for solution</a:t>
            </a:r>
            <a:endParaRPr lang="en-US" sz="1800" b="1" dirty="0">
              <a:solidFill>
                <a:schemeClr val="tx1"/>
              </a:solidFill>
            </a:endParaRPr>
          </a:p>
          <a:p>
            <a:pPr>
              <a:buClrTx/>
            </a:pPr>
            <a:endParaRPr lang="en-US" sz="1800" b="1" dirty="0">
              <a:solidFill>
                <a:schemeClr val="tx1"/>
              </a:solidFill>
            </a:endParaRPr>
          </a:p>
        </p:txBody>
      </p:sp>
      <p:pic>
        <p:nvPicPr>
          <p:cNvPr id="6" name="Picture 5" descr="OpenStax logo">
            <a:extLst>
              <a:ext uri="{FF2B5EF4-FFF2-40B4-BE49-F238E27FC236}">
                <a16:creationId xmlns:a16="http://schemas.microsoft.com/office/drawing/2014/main" id="{D2500A01-9C12-F3A1-D603-812D7F4BCE2A}"/>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728717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31921"/>
            <a:ext cx="8062912" cy="659535"/>
          </a:xfrm>
        </p:spPr>
        <p:txBody>
          <a:bodyPr>
            <a:normAutofit fontScale="90000"/>
          </a:bodyPr>
          <a:lstStyle/>
          <a:p>
            <a:pPr algn="ctr"/>
            <a:r>
              <a:rPr lang="en-US" sz="2000" b="1" dirty="0"/>
              <a:t> </a:t>
            </a:r>
            <a:br>
              <a:rPr lang="en-US" sz="2000" b="1" dirty="0"/>
            </a:br>
            <a:r>
              <a:rPr lang="en-US" sz="3100" b="1" dirty="0">
                <a:solidFill>
                  <a:schemeClr val="tx1"/>
                </a:solidFill>
              </a:rPr>
              <a:t>Several Forces on a Particle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31EE526-5145-862C-8705-8805001E5883}"/>
                  </a:ext>
                </a:extLst>
              </p:cNvPr>
              <p:cNvSpPr txBox="1"/>
              <p:nvPr/>
            </p:nvSpPr>
            <p:spPr>
              <a:xfrm>
                <a:off x="457199" y="1661276"/>
                <a:ext cx="4338165" cy="3505832"/>
              </a:xfrm>
              <a:prstGeom prst="rect">
                <a:avLst/>
              </a:prstGeom>
              <a:noFill/>
            </p:spPr>
            <p:txBody>
              <a:bodyPr wrap="square" rtlCol="0">
                <a:spAutoFit/>
              </a:bodyPr>
              <a:lstStyle/>
              <a:p>
                <a:r>
                  <a:rPr lang="en-US" sz="2400" b="1" dirty="0"/>
                  <a:t>Four forces act on a particle of mass 4.00Kg.</a:t>
                </a:r>
              </a:p>
              <a:p>
                <a:r>
                  <a:rPr lang="en-US" sz="2400" b="1" dirty="0"/>
                  <a:t>  </a:t>
                </a:r>
                <a14:m>
                  <m:oMath xmlns:m="http://schemas.openxmlformats.org/officeDocument/2006/math">
                    <m:acc>
                      <m:accPr>
                        <m:chr m:val="⃗"/>
                        <m:ctrlPr>
                          <a:rPr lang="en-US" sz="2400" b="1" i="1" smtClean="0">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b="1" i="1" smtClean="0">
                                <a:effectLst/>
                                <a:latin typeface="Cambria Math" panose="02040503050406030204" pitchFamily="18" charset="0"/>
                                <a:ea typeface="Times New Roman" panose="02020603050405020304" pitchFamily="18" charset="0"/>
                                <a:cs typeface="Times New Roman" panose="02020603050405020304" pitchFamily="18" charset="0"/>
                              </a:rPr>
                              <m:t>𝑭</m:t>
                            </m:r>
                          </m:e>
                          <m:sub>
                            <m:r>
                              <a:rPr lang="en-US" sz="2400" b="1" i="1" smtClean="0">
                                <a:effectLst/>
                                <a:latin typeface="Cambria Math" panose="02040503050406030204" pitchFamily="18" charset="0"/>
                                <a:ea typeface="Times New Roman" panose="02020603050405020304" pitchFamily="18" charset="0"/>
                                <a:cs typeface="Times New Roman" panose="02020603050405020304" pitchFamily="18" charset="0"/>
                              </a:rPr>
                              <m:t>𝟏</m:t>
                            </m:r>
                          </m:sub>
                        </m:sSub>
                      </m:e>
                    </m:acc>
                    <m:r>
                      <a:rPr lang="en-US" sz="2400" b="1" i="1" smtClean="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400" b="1" dirty="0">
                    <a:effectLst/>
                    <a:latin typeface="Calibri" panose="020F0502020204030204" pitchFamily="34" charset="0"/>
                    <a:ea typeface="Calibri" panose="020F0502020204030204" pitchFamily="34" charset="0"/>
                    <a:cs typeface="Times New Roman" panose="02020603050405020304" pitchFamily="18" charset="0"/>
                  </a:rPr>
                  <a:t>10.0N,   </a:t>
                </a:r>
                <a14:m>
                  <m:oMath xmlns:m="http://schemas.openxmlformats.org/officeDocument/2006/math">
                    <m:acc>
                      <m:accPr>
                        <m:chr m:val="⃗"/>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b="1" i="1" smtClean="0">
                                <a:effectLst/>
                                <a:latin typeface="Cambria Math" panose="02040503050406030204" pitchFamily="18" charset="0"/>
                                <a:ea typeface="Times New Roman" panose="02020603050405020304" pitchFamily="18" charset="0"/>
                                <a:cs typeface="Times New Roman" panose="02020603050405020304" pitchFamily="18" charset="0"/>
                              </a:rPr>
                              <m:t>𝑭</m:t>
                            </m:r>
                          </m:e>
                          <m:sub>
                            <m:r>
                              <a:rPr lang="en-US" sz="2400" b="1" i="1" smtClean="0">
                                <a:effectLst/>
                                <a:latin typeface="Cambria Math" panose="02040503050406030204" pitchFamily="18" charset="0"/>
                                <a:ea typeface="Times New Roman" panose="02020603050405020304" pitchFamily="18" charset="0"/>
                                <a:cs typeface="Times New Roman" panose="02020603050405020304" pitchFamily="18" charset="0"/>
                              </a:rPr>
                              <m:t>𝟐</m:t>
                            </m:r>
                          </m:sub>
                        </m:sSub>
                      </m:e>
                    </m:acc>
                  </m:oMath>
                </a14:m>
                <a:r>
                  <a:rPr lang="en-US" sz="2400" b="1"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400" b="1" dirty="0">
                    <a:effectLst/>
                    <a:latin typeface="Calibri" panose="020F0502020204030204" pitchFamily="34" charset="0"/>
                    <a:ea typeface="Calibri" panose="020F0502020204030204" pitchFamily="34" charset="0"/>
                    <a:cs typeface="Times New Roman" panose="02020603050405020304" pitchFamily="18" charset="0"/>
                  </a:rPr>
                  <a:t>40.0N   </a:t>
                </a:r>
                <a14:m>
                  <m:oMath xmlns:m="http://schemas.openxmlformats.org/officeDocument/2006/math">
                    <m:acc>
                      <m:accPr>
                        <m:chr m:val="⃗"/>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b="1" i="1" smtClean="0">
                                <a:effectLst/>
                                <a:latin typeface="Cambria Math" panose="02040503050406030204" pitchFamily="18" charset="0"/>
                                <a:ea typeface="Times New Roman" panose="02020603050405020304" pitchFamily="18" charset="0"/>
                                <a:cs typeface="Times New Roman" panose="02020603050405020304" pitchFamily="18" charset="0"/>
                              </a:rPr>
                              <m:t>𝑭</m:t>
                            </m:r>
                          </m:e>
                          <m:sub>
                            <m:r>
                              <a:rPr lang="en-US" sz="2400" b="1" i="1" smtClean="0">
                                <a:effectLst/>
                                <a:latin typeface="Cambria Math" panose="02040503050406030204" pitchFamily="18" charset="0"/>
                                <a:ea typeface="Times New Roman" panose="02020603050405020304" pitchFamily="18" charset="0"/>
                                <a:cs typeface="Times New Roman" panose="02020603050405020304" pitchFamily="18" charset="0"/>
                              </a:rPr>
                              <m:t>𝟑</m:t>
                            </m:r>
                          </m:sub>
                        </m:sSub>
                      </m:e>
                    </m:acc>
                    <m:r>
                      <a:rPr lang="en-US" sz="24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𝟓</m:t>
                    </m:r>
                    <m:r>
                      <a:rPr lang="en-US" sz="2400" b="1">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𝟎𝐍</m:t>
                    </m:r>
                  </m:oMath>
                </a14:m>
                <a:r>
                  <a:rPr lang="en-US" sz="2400" b="1" dirty="0">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acc>
                      <m:accPr>
                        <m:chr m:val="⃗"/>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b="1" i="1" smtClean="0">
                                <a:effectLst/>
                                <a:latin typeface="Cambria Math" panose="02040503050406030204" pitchFamily="18" charset="0"/>
                                <a:ea typeface="Times New Roman" panose="02020603050405020304" pitchFamily="18" charset="0"/>
                                <a:cs typeface="Times New Roman" panose="02020603050405020304" pitchFamily="18" charset="0"/>
                              </a:rPr>
                              <m:t>𝑭</m:t>
                            </m:r>
                          </m:e>
                          <m:sub>
                            <m:r>
                              <a:rPr lang="en-US" sz="2400" b="1" i="1" smtClean="0">
                                <a:effectLst/>
                                <a:latin typeface="Cambria Math" panose="02040503050406030204" pitchFamily="18" charset="0"/>
                                <a:ea typeface="Times New Roman" panose="02020603050405020304" pitchFamily="18" charset="0"/>
                                <a:cs typeface="Times New Roman" panose="02020603050405020304" pitchFamily="18" charset="0"/>
                              </a:rPr>
                              <m:t>𝟒</m:t>
                            </m:r>
                          </m:sub>
                        </m:sSub>
                      </m:e>
                    </m:acc>
                    <m:r>
                      <a:rPr lang="en-US" sz="24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𝟐</m:t>
                    </m:r>
                    <m:r>
                      <a:rPr lang="en-US" sz="2400" b="1">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𝟎𝐍</m:t>
                    </m:r>
                  </m:oMath>
                </a14:m>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r>
                  <a:rPr lang="en-US" sz="2400" b="1" dirty="0"/>
                  <a:t> </a:t>
                </a:r>
              </a:p>
              <a:p>
                <a:r>
                  <a:rPr lang="en-US" sz="2400" b="1" dirty="0"/>
                  <a:t>What is the acceleration of the particle? </a:t>
                </a:r>
              </a:p>
              <a:p>
                <a:r>
                  <a:rPr lang="en-US" sz="2400" b="1" dirty="0">
                    <a:solidFill>
                      <a:schemeClr val="tx1"/>
                    </a:solidFill>
                    <a:hlinkClick r:id="rId2"/>
                  </a:rPr>
                  <a:t>Click here for solution</a:t>
                </a:r>
                <a:endParaRPr lang="en-US" sz="2400" b="1" dirty="0">
                  <a:solidFill>
                    <a:schemeClr val="tx1"/>
                  </a:solidFill>
                </a:endParaRPr>
              </a:p>
              <a:p>
                <a:endParaRPr lang="en-US" sz="2400" b="1" dirty="0"/>
              </a:p>
            </p:txBody>
          </p:sp>
        </mc:Choice>
        <mc:Fallback xmlns="">
          <p:sp>
            <p:nvSpPr>
              <p:cNvPr id="10" name="TextBox 9">
                <a:extLst>
                  <a:ext uri="{FF2B5EF4-FFF2-40B4-BE49-F238E27FC236}">
                    <a16:creationId xmlns:a16="http://schemas.microsoft.com/office/drawing/2014/main" id="{031EE526-5145-862C-8705-8805001E5883}"/>
                  </a:ext>
                </a:extLst>
              </p:cNvPr>
              <p:cNvSpPr txBox="1">
                <a:spLocks noRot="1" noChangeAspect="1" noMove="1" noResize="1" noEditPoints="1" noAdjustHandles="1" noChangeArrowheads="1" noChangeShapeType="1" noTextEdit="1"/>
              </p:cNvSpPr>
              <p:nvPr/>
            </p:nvSpPr>
            <p:spPr>
              <a:xfrm>
                <a:off x="457199" y="1661276"/>
                <a:ext cx="4338165" cy="3505832"/>
              </a:xfrm>
              <a:prstGeom prst="rect">
                <a:avLst/>
              </a:prstGeom>
              <a:blipFill>
                <a:blip r:embed="rId4"/>
                <a:stretch>
                  <a:fillRect l="-2107" t="-1217" r="-2247"/>
                </a:stretch>
              </a:blipFill>
            </p:spPr>
            <p:txBody>
              <a:bodyPr/>
              <a:lstStyle/>
              <a:p>
                <a:r>
                  <a:rPr lang="en-US">
                    <a:noFill/>
                  </a:rPr>
                  <a:t> </a:t>
                </a:r>
              </a:p>
            </p:txBody>
          </p:sp>
        </mc:Fallback>
      </mc:AlternateContent>
      <p:pic>
        <p:nvPicPr>
          <p:cNvPr id="2" name="Picture Placeholder 1" descr="A particle is shown in the xy plane. Force F1 is at an angle of 30 degrees with the positive x axis, force F2 is in the downward direction, force F3 points left and force F4 points upwards."/>
          <p:cNvPicPr>
            <a:picLocks noGrp="1" noChangeAspect="1"/>
          </p:cNvPicPr>
          <p:nvPr>
            <p:ph type="pic" sz="quarter" idx="13"/>
          </p:nvPr>
        </p:nvPicPr>
        <p:blipFill>
          <a:blip r:embed="rId5" cstate="email">
            <a:extLst>
              <a:ext uri="{28A0092B-C50C-407E-A947-70E740481C1C}">
                <a14:useLocalDpi xmlns:a14="http://schemas.microsoft.com/office/drawing/2010/main" val="0"/>
              </a:ext>
            </a:extLst>
          </a:blip>
          <a:srcRect l="-13417" r="-13417"/>
          <a:stretch>
            <a:fillRect/>
          </a:stretch>
        </p:blipFill>
        <p:spPr>
          <a:xfrm>
            <a:off x="5191168" y="1661276"/>
            <a:ext cx="3091617" cy="3414870"/>
          </a:xfrm>
        </p:spPr>
      </p:pic>
      <p:pic>
        <p:nvPicPr>
          <p:cNvPr id="6" name="Picture 5" descr="OpenStax logo">
            <a:extLst>
              <a:ext uri="{FF2B5EF4-FFF2-40B4-BE49-F238E27FC236}">
                <a16:creationId xmlns:a16="http://schemas.microsoft.com/office/drawing/2014/main" id="{7D3FD419-E117-D49B-B66B-8592D359BC08}"/>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2820967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4"/>
          <p:cNvSpPr>
            <a:spLocks noGrp="1"/>
          </p:cNvSpPr>
          <p:nvPr>
            <p:ph type="title"/>
          </p:nvPr>
        </p:nvSpPr>
        <p:spPr>
          <a:xfrm>
            <a:off x="115015" y="260205"/>
            <a:ext cx="8331200" cy="658813"/>
          </a:xfrm>
        </p:spPr>
        <p:txBody>
          <a:bodyPr>
            <a:noAutofit/>
          </a:bodyPr>
          <a:lstStyle/>
          <a:p>
            <a:pPr algn="ctr" fontAlgn="auto">
              <a:spcAft>
                <a:spcPts val="0"/>
              </a:spcAft>
              <a:defRPr/>
            </a:pPr>
            <a:r>
              <a:rPr lang="en-US" sz="2800" b="1" dirty="0">
                <a:solidFill>
                  <a:schemeClr val="tx1"/>
                </a:solidFill>
              </a:rPr>
              <a:t>Newton’s Third Law of Motion</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6" name="Text Box 4"/>
              <p:cNvSpPr txBox="1">
                <a:spLocks noChangeArrowheads="1"/>
              </p:cNvSpPr>
              <p:nvPr/>
            </p:nvSpPr>
            <p:spPr bwMode="auto">
              <a:xfrm>
                <a:off x="158677" y="1702893"/>
                <a:ext cx="8999034" cy="4695068"/>
              </a:xfrm>
              <a:prstGeom prst="rect">
                <a:avLst/>
              </a:prstGeom>
              <a:noFill/>
              <a:ln w="9525">
                <a:noFill/>
                <a:miter lim="800000"/>
                <a:headEnd/>
                <a:tailEnd/>
              </a:ln>
              <a:effectLst/>
            </p:spPr>
            <p:txBody>
              <a:bodyPr wrap="square">
                <a:spAutoFit/>
              </a:bodyPr>
              <a:lstStyle/>
              <a:p>
                <a:pPr>
                  <a:spcBef>
                    <a:spcPct val="50000"/>
                  </a:spcBef>
                </a:pPr>
                <a:r>
                  <a:rPr lang="en-US" sz="2800" b="1" dirty="0">
                    <a:latin typeface="+mn-lt"/>
                  </a:rPr>
                  <a:t>For every force (action), there is an equal and opposite force (reaction).                 </a:t>
                </a:r>
                <a:endParaRPr lang="en-US" sz="2800" b="1" i="1" dirty="0">
                  <a:latin typeface="Cambria Math" panose="02040503050406030204" pitchFamily="18" charset="0"/>
                </a:endParaRPr>
              </a:p>
              <a:p>
                <a:pPr algn="ctr">
                  <a:spcBef>
                    <a:spcPct val="50000"/>
                  </a:spcBef>
                </a:pPr>
                <a14:m>
                  <m:oMath xmlns:m="http://schemas.openxmlformats.org/officeDocument/2006/math">
                    <m:acc>
                      <m:accPr>
                        <m:chr m:val="⃗"/>
                        <m:ctrlPr>
                          <a:rPr lang="en-US" sz="2800" b="1" i="1" smtClean="0">
                            <a:latin typeface="Cambria Math" panose="02040503050406030204" pitchFamily="18" charset="0"/>
                          </a:rPr>
                        </m:ctrlPr>
                      </m:accPr>
                      <m:e>
                        <m:r>
                          <a:rPr lang="en-US" sz="2800" b="1" i="0" smtClean="0">
                            <a:latin typeface="Cambria Math" panose="02040503050406030204" pitchFamily="18" charset="0"/>
                          </a:rPr>
                          <m:t>𝐅</m:t>
                        </m:r>
                        <m:r>
                          <a:rPr lang="en-US" sz="2800" b="1" i="0" baseline="-25000">
                            <a:latin typeface="Cambria Math" panose="02040503050406030204" pitchFamily="18" charset="0"/>
                          </a:rPr>
                          <m:t>𝟏</m:t>
                        </m:r>
                        <m:r>
                          <a:rPr lang="en-US" sz="2800" b="1" i="0" baseline="-25000" smtClean="0">
                            <a:latin typeface="Cambria Math" panose="02040503050406030204" pitchFamily="18" charset="0"/>
                          </a:rPr>
                          <m:t>𝟐</m:t>
                        </m:r>
                      </m:e>
                    </m:acc>
                  </m:oMath>
                </a14:m>
                <a:r>
                  <a:rPr lang="en-US" sz="2800" b="1" dirty="0"/>
                  <a:t> = </a:t>
                </a:r>
                <a14:m>
                  <m:oMath xmlns:m="http://schemas.openxmlformats.org/officeDocument/2006/math">
                    <m:r>
                      <a:rPr lang="en-US" sz="2800" b="1" i="0" smtClean="0">
                        <a:latin typeface="Cambria Math" panose="02040503050406030204" pitchFamily="18" charset="0"/>
                        <a:ea typeface="Cambria Math" panose="02040503050406030204" pitchFamily="18" charset="0"/>
                      </a:rPr>
                      <m:t>−</m:t>
                    </m:r>
                  </m:oMath>
                </a14:m>
                <a:r>
                  <a:rPr lang="en-US" sz="2800" b="1" dirty="0"/>
                  <a:t> </a:t>
                </a:r>
                <a14:m>
                  <m:oMath xmlns:m="http://schemas.openxmlformats.org/officeDocument/2006/math">
                    <m:acc>
                      <m:accPr>
                        <m:chr m:val="⃗"/>
                        <m:ctrlPr>
                          <a:rPr lang="en-US" sz="2800" b="1" i="1">
                            <a:latin typeface="Cambria Math" panose="02040503050406030204" pitchFamily="18" charset="0"/>
                          </a:rPr>
                        </m:ctrlPr>
                      </m:accPr>
                      <m:e>
                        <m:r>
                          <a:rPr lang="en-US" sz="2800" b="1" i="0">
                            <a:latin typeface="Cambria Math" panose="02040503050406030204" pitchFamily="18" charset="0"/>
                          </a:rPr>
                          <m:t>𝐅</m:t>
                        </m:r>
                        <m:r>
                          <a:rPr lang="en-US" sz="2800" b="1" i="0" baseline="-25000" smtClean="0">
                            <a:latin typeface="Cambria Math" panose="02040503050406030204" pitchFamily="18" charset="0"/>
                          </a:rPr>
                          <m:t>𝟐𝟏</m:t>
                        </m:r>
                      </m:e>
                    </m:acc>
                  </m:oMath>
                </a14:m>
                <a:endParaRPr lang="en-US" sz="2800" b="1" dirty="0"/>
              </a:p>
              <a:p>
                <a:pPr>
                  <a:spcBef>
                    <a:spcPct val="50000"/>
                  </a:spcBef>
                </a:pPr>
                <a:r>
                  <a:rPr lang="en-US" sz="2800" b="1" dirty="0">
                    <a:solidFill>
                      <a:schemeClr val="tx2">
                        <a:lumMod val="50000"/>
                      </a:schemeClr>
                    </a:solidFill>
                    <a:latin typeface="+mn-lt"/>
                  </a:rPr>
                  <a:t>Note that the action and reaction forces act on </a:t>
                </a:r>
                <a:r>
                  <a:rPr lang="en-US" sz="2800" b="1" i="1" dirty="0">
                    <a:solidFill>
                      <a:schemeClr val="tx2">
                        <a:lumMod val="50000"/>
                      </a:schemeClr>
                    </a:solidFill>
                    <a:latin typeface="+mn-lt"/>
                  </a:rPr>
                  <a:t>different objects</a:t>
                </a:r>
                <a:r>
                  <a:rPr lang="en-US" sz="2800" b="1" dirty="0">
                    <a:solidFill>
                      <a:schemeClr val="tx2">
                        <a:lumMod val="50000"/>
                      </a:schemeClr>
                    </a:solidFill>
                    <a:latin typeface="+mn-lt"/>
                  </a:rPr>
                  <a:t>.</a:t>
                </a:r>
              </a:p>
              <a:p>
                <a:pPr>
                  <a:spcBef>
                    <a:spcPct val="50000"/>
                  </a:spcBef>
                </a:pPr>
                <a:r>
                  <a:rPr lang="en-US" sz="2800" b="1" dirty="0">
                    <a:hlinkClick r:id="rId3"/>
                  </a:rPr>
                  <a:t>Newton's Third Law of Motion Video</a:t>
                </a:r>
                <a:endParaRPr lang="en-US" sz="2800" dirty="0"/>
              </a:p>
              <a:p>
                <a:pPr>
                  <a:spcBef>
                    <a:spcPct val="50000"/>
                  </a:spcBef>
                </a:pPr>
                <a:endParaRPr lang="en-US" sz="2800" b="1" dirty="0">
                  <a:solidFill>
                    <a:schemeClr val="tx2">
                      <a:lumMod val="50000"/>
                    </a:schemeClr>
                  </a:solidFill>
                  <a:latin typeface="+mn-lt"/>
                </a:endParaRPr>
              </a:p>
              <a:p>
                <a:pPr>
                  <a:spcBef>
                    <a:spcPct val="50000"/>
                  </a:spcBef>
                </a:pPr>
                <a:endParaRPr lang="en-US" sz="2800" b="1" dirty="0">
                  <a:latin typeface="+mn-lt"/>
                </a:endParaRPr>
              </a:p>
            </p:txBody>
          </p:sp>
        </mc:Choice>
        <mc:Fallback xmlns="">
          <p:sp>
            <p:nvSpPr>
              <p:cNvPr id="6" name="Text Box 4"/>
              <p:cNvSpPr txBox="1">
                <a:spLocks noRot="1" noChangeAspect="1" noMove="1" noResize="1" noEditPoints="1" noAdjustHandles="1" noChangeArrowheads="1" noChangeShapeType="1" noTextEdit="1"/>
              </p:cNvSpPr>
              <p:nvPr/>
            </p:nvSpPr>
            <p:spPr bwMode="auto">
              <a:xfrm>
                <a:off x="158677" y="1702893"/>
                <a:ext cx="8999034" cy="4695068"/>
              </a:xfrm>
              <a:prstGeom prst="rect">
                <a:avLst/>
              </a:prstGeom>
              <a:blipFill>
                <a:blip r:embed="rId4"/>
                <a:stretch>
                  <a:fillRect l="-1355" t="-1297"/>
                </a:stretch>
              </a:blipFill>
              <a:ln w="9525">
                <a:noFill/>
                <a:miter lim="800000"/>
                <a:headEnd/>
                <a:tailEnd/>
              </a:ln>
              <a:effectLst/>
            </p:spPr>
            <p:txBody>
              <a:bodyPr/>
              <a:lstStyle/>
              <a:p>
                <a:r>
                  <a:rPr lang="en-US">
                    <a:noFill/>
                  </a:rPr>
                  <a:t> </a:t>
                </a:r>
              </a:p>
            </p:txBody>
          </p:sp>
        </mc:Fallback>
      </mc:AlternateContent>
      <p:pic>
        <p:nvPicPr>
          <p:cNvPr id="4" name="Picture 3" descr="OpenStax logo">
            <a:extLst>
              <a:ext uri="{FF2B5EF4-FFF2-40B4-BE49-F238E27FC236}">
                <a16:creationId xmlns:a16="http://schemas.microsoft.com/office/drawing/2014/main" id="{699DAE83-B422-A5C4-C9CC-A21113868706}"/>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696175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31557" y="31921"/>
            <a:ext cx="8062912" cy="659535"/>
          </a:xfrm>
        </p:spPr>
        <p:txBody>
          <a:bodyPr/>
          <a:lstStyle/>
          <a:p>
            <a:pPr algn="ctr"/>
            <a:r>
              <a:rPr lang="en-US" sz="2400" b="1" dirty="0">
                <a:solidFill>
                  <a:schemeClr val="tx1"/>
                </a:solidFill>
              </a:rPr>
              <a:t>Newton’s Third Law Example</a:t>
            </a:r>
            <a:endParaRPr lang="en-US" dirty="0"/>
          </a:p>
        </p:txBody>
      </p:sp>
      <p:pic>
        <p:nvPicPr>
          <p:cNvPr id="2" name="Picture Placeholder 1" descr="Figure shows a swimmer pushing against a wall with her feet. Direction of acceleration is towards the left. Force F subscript feet on wall points right and force F subscript wall on feet points left. The swimmer is circled and this circle is labeled system of interest. This does not include the wall, nor the force F subscript feet on wall. A free body diagram shows vector w pointing downwards, vector BF pointing upwards and vector F subscript wall on feet pointing left."/>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8082" b="-8082"/>
          <a:stretch>
            <a:fillRect/>
          </a:stretch>
        </p:blipFill>
        <p:spPr>
          <a:xfrm>
            <a:off x="1837728" y="691456"/>
            <a:ext cx="5754023" cy="2497793"/>
          </a:xfrm>
        </p:spPr>
      </p:pic>
      <p:sp>
        <p:nvSpPr>
          <p:cNvPr id="7" name="Text Placeholder 6"/>
          <p:cNvSpPr>
            <a:spLocks noGrp="1"/>
          </p:cNvSpPr>
          <p:nvPr>
            <p:ph type="body" sz="quarter" idx="14"/>
          </p:nvPr>
        </p:nvSpPr>
        <p:spPr>
          <a:xfrm>
            <a:off x="331557" y="3429000"/>
            <a:ext cx="8313361" cy="3192990"/>
          </a:xfrm>
        </p:spPr>
        <p:txBody>
          <a:bodyPr>
            <a:noAutofit/>
          </a:bodyPr>
          <a:lstStyle/>
          <a:p>
            <a:pPr marL="285750" indent="-285750">
              <a:buClrTx/>
              <a:buFont typeface="Wingdings" panose="05000000000000000000" pitchFamily="2" charset="2"/>
              <a:buChar char="Ø"/>
            </a:pPr>
            <a:r>
              <a:rPr lang="en-US" sz="1600" b="1" dirty="0"/>
              <a:t>When the swimmer exerts a force on the wall, she accelerates in the opposite direction; in other words, the net external force on her is in the direction opposite of </a:t>
            </a:r>
            <a:r>
              <a:rPr lang="en-US" sz="1600" b="1" i="1" dirty="0"/>
              <a:t>F</a:t>
            </a:r>
            <a:r>
              <a:rPr lang="en-US" sz="1600" b="1" baseline="-25000" dirty="0"/>
              <a:t>feet on wall</a:t>
            </a:r>
            <a:r>
              <a:rPr lang="en-US" sz="1600" b="1" dirty="0"/>
              <a:t>. </a:t>
            </a:r>
          </a:p>
          <a:p>
            <a:pPr marL="285750" indent="-285750">
              <a:buClrTx/>
              <a:buFont typeface="Wingdings" panose="05000000000000000000" pitchFamily="2" charset="2"/>
              <a:buChar char="Ø"/>
            </a:pPr>
            <a:r>
              <a:rPr lang="en-US" sz="1600" b="1" dirty="0"/>
              <a:t>This opposition occurs because, in accordance with Newton’s third law, the wall exerts a force </a:t>
            </a:r>
            <a:r>
              <a:rPr lang="en-US" sz="1600" b="1" i="1" dirty="0"/>
              <a:t>F</a:t>
            </a:r>
            <a:r>
              <a:rPr lang="en-US" sz="1600" b="1" baseline="-25000" dirty="0"/>
              <a:t>wall on feet</a:t>
            </a:r>
            <a:r>
              <a:rPr lang="en-US" sz="1600" b="1" dirty="0"/>
              <a:t> on the swimmer that is equal in magnitude but in the direction opposite to the one she exerts on it. </a:t>
            </a:r>
          </a:p>
          <a:p>
            <a:pPr marL="285750" indent="-285750">
              <a:buClrTx/>
              <a:buFont typeface="Wingdings" panose="05000000000000000000" pitchFamily="2" charset="2"/>
              <a:buChar char="Ø"/>
            </a:pPr>
            <a:r>
              <a:rPr lang="en-US" sz="1600" b="1" dirty="0"/>
              <a:t>The line around the swimmer indicates the system of interest.  </a:t>
            </a:r>
          </a:p>
          <a:p>
            <a:pPr marL="285750" indent="-285750">
              <a:buClrTx/>
              <a:buFont typeface="Wingdings" panose="05000000000000000000" pitchFamily="2" charset="2"/>
              <a:buChar char="Ø"/>
            </a:pPr>
            <a:r>
              <a:rPr lang="en-US" sz="1600" b="1" dirty="0"/>
              <a:t>The free-body diagram shows only </a:t>
            </a:r>
            <a:r>
              <a:rPr lang="en-US" sz="1600" b="1" i="1" dirty="0"/>
              <a:t>F</a:t>
            </a:r>
            <a:r>
              <a:rPr lang="en-US" sz="1600" b="1" baseline="-25000" dirty="0"/>
              <a:t>wall on feet</a:t>
            </a:r>
            <a:r>
              <a:rPr lang="en-US" sz="1600" b="1" dirty="0"/>
              <a:t>, </a:t>
            </a:r>
            <a:r>
              <a:rPr lang="en-US" sz="1600" b="1" i="1" dirty="0"/>
              <a:t>w</a:t>
            </a:r>
            <a:r>
              <a:rPr lang="en-US" sz="1600" b="1" dirty="0"/>
              <a:t> (the gravitational force), and </a:t>
            </a:r>
            <a:r>
              <a:rPr lang="en-US" sz="1600" b="1" i="1" dirty="0"/>
              <a:t>BF</a:t>
            </a:r>
            <a:r>
              <a:rPr lang="en-US" sz="1600" b="1" dirty="0"/>
              <a:t>, which is the buoyant force of the water supporting the swimmer’s weight. </a:t>
            </a:r>
          </a:p>
          <a:p>
            <a:pPr marL="285750" indent="-285750">
              <a:buClrTx/>
              <a:buFont typeface="Wingdings" panose="05000000000000000000" pitchFamily="2" charset="2"/>
              <a:buChar char="Ø"/>
            </a:pPr>
            <a:r>
              <a:rPr lang="en-US" sz="1600" b="1" dirty="0"/>
              <a:t>The vertical forces </a:t>
            </a:r>
            <a:r>
              <a:rPr lang="en-US" sz="1600" b="1" i="1" dirty="0"/>
              <a:t>w</a:t>
            </a:r>
            <a:r>
              <a:rPr lang="en-US" sz="1600" b="1" dirty="0"/>
              <a:t> and </a:t>
            </a:r>
            <a:r>
              <a:rPr lang="en-US" sz="1600" b="1" i="1" dirty="0"/>
              <a:t>BF</a:t>
            </a:r>
            <a:r>
              <a:rPr lang="en-US" sz="1600" b="1" dirty="0"/>
              <a:t> cancel because there is no vertical acceleration.</a:t>
            </a:r>
          </a:p>
        </p:txBody>
      </p:sp>
      <p:pic>
        <p:nvPicPr>
          <p:cNvPr id="6" name="Picture 5" descr="OpenStax logo">
            <a:extLst>
              <a:ext uri="{FF2B5EF4-FFF2-40B4-BE49-F238E27FC236}">
                <a16:creationId xmlns:a16="http://schemas.microsoft.com/office/drawing/2014/main" id="{5F4F40B8-C05B-F039-8F45-0E66630CCF33}"/>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214774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068" y="109628"/>
            <a:ext cx="9031910" cy="1124439"/>
          </a:xfrm>
        </p:spPr>
        <p:txBody>
          <a:bodyPr>
            <a:noAutofit/>
          </a:bodyPr>
          <a:lstStyle/>
          <a:p>
            <a:pPr algn="ctr"/>
            <a:r>
              <a:rPr lang="en-US" sz="2800" dirty="0">
                <a:solidFill>
                  <a:schemeClr val="tx1"/>
                </a:solidFill>
              </a:rPr>
              <a:t> EXAMPLES OF </a:t>
            </a:r>
            <a:r>
              <a:rPr lang="en-US" sz="2800" b="1" dirty="0">
                <a:solidFill>
                  <a:schemeClr val="tx1"/>
                </a:solidFill>
              </a:rPr>
              <a:t>Newton’s Third Law of Motion</a:t>
            </a:r>
            <a:endParaRPr lang="en-US" sz="2800" dirty="0">
              <a:solidFill>
                <a:schemeClr val="tx1"/>
              </a:solidFill>
            </a:endParaRPr>
          </a:p>
        </p:txBody>
      </p:sp>
      <p:pic>
        <p:nvPicPr>
          <p:cNvPr id="2" name="Picture Placeholder 1" descr=" The runner experiences Newton’s third law.&#10;"/>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1554" r="-31554"/>
          <a:stretch>
            <a:fillRect/>
          </a:stretch>
        </p:blipFill>
        <p:spPr>
          <a:xfrm>
            <a:off x="996176" y="1297834"/>
            <a:ext cx="6947790" cy="3016002"/>
          </a:xfrm>
        </p:spPr>
      </p:pic>
      <p:sp>
        <p:nvSpPr>
          <p:cNvPr id="7" name="Text Placeholder 6" descr="a) The runner experiences Newton’s third law.&#10;b) A force is exerted by the runner on the ground.&#10;c) The reaction force of the ground on the runner pushes him forward.&#10;"/>
          <p:cNvSpPr>
            <a:spLocks noGrp="1"/>
          </p:cNvSpPr>
          <p:nvPr>
            <p:ph type="body" sz="quarter" idx="14"/>
          </p:nvPr>
        </p:nvSpPr>
        <p:spPr>
          <a:xfrm>
            <a:off x="364273" y="4607972"/>
            <a:ext cx="7873506" cy="2014018"/>
          </a:xfrm>
        </p:spPr>
        <p:txBody>
          <a:bodyPr>
            <a:noAutofit/>
          </a:bodyPr>
          <a:lstStyle/>
          <a:p>
            <a:pPr>
              <a:buClrTx/>
            </a:pPr>
            <a:r>
              <a:rPr lang="en-US" sz="2400" b="1" dirty="0"/>
              <a:t>The runner experiences Newton’s third law.</a:t>
            </a:r>
          </a:p>
          <a:p>
            <a:pPr marL="514350" indent="-514350">
              <a:buClrTx/>
              <a:buFont typeface="+mj-lt"/>
              <a:buAutoNum type="alphaLcParenR"/>
            </a:pPr>
            <a:r>
              <a:rPr lang="en-US" sz="2400" b="1" dirty="0"/>
              <a:t>A force is exerted by the runner on the ground.</a:t>
            </a:r>
          </a:p>
          <a:p>
            <a:pPr marL="514350" indent="-514350">
              <a:buClrTx/>
              <a:buFont typeface="+mj-lt"/>
              <a:buAutoNum type="alphaLcParenR"/>
            </a:pPr>
            <a:r>
              <a:rPr lang="en-US" sz="2400" b="1" dirty="0"/>
              <a:t>The reaction force of the ground on the runner pushes him forward.</a:t>
            </a:r>
          </a:p>
        </p:txBody>
      </p:sp>
      <p:pic>
        <p:nvPicPr>
          <p:cNvPr id="6" name="Picture 5" descr="OpenStax logo">
            <a:extLst>
              <a:ext uri="{FF2B5EF4-FFF2-40B4-BE49-F238E27FC236}">
                <a16:creationId xmlns:a16="http://schemas.microsoft.com/office/drawing/2014/main" id="{6836DE3C-5246-1704-1D12-00760FF6B924}"/>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670829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A3DB0-1833-4DD0-D94C-8941E4AABD7D}"/>
              </a:ext>
            </a:extLst>
          </p:cNvPr>
          <p:cNvSpPr>
            <a:spLocks noGrp="1"/>
          </p:cNvSpPr>
          <p:nvPr>
            <p:ph type="title"/>
          </p:nvPr>
        </p:nvSpPr>
        <p:spPr>
          <a:xfrm>
            <a:off x="275716" y="146584"/>
            <a:ext cx="8062912" cy="900861"/>
          </a:xfrm>
        </p:spPr>
        <p:txBody>
          <a:bodyPr>
            <a:noAutofit/>
          </a:bodyPr>
          <a:lstStyle/>
          <a:p>
            <a:pPr algn="ctr"/>
            <a:r>
              <a:rPr lang="en-US" sz="2800" b="1" dirty="0">
                <a:solidFill>
                  <a:schemeClr val="tx1"/>
                </a:solidFill>
              </a:rPr>
              <a:t>PROBLEM SOLVING TIPS- NEWTON’S SECOND LAW OF MOTION</a:t>
            </a:r>
            <a:endParaRPr lang="en-US" sz="2800" dirty="0">
              <a:solidFill>
                <a:schemeClr val="tx1"/>
              </a:solidFill>
            </a:endParaRPr>
          </a:p>
        </p:txBody>
      </p:sp>
      <p:sp>
        <p:nvSpPr>
          <p:cNvPr id="4" name="Text Placeholder 3">
            <a:extLst>
              <a:ext uri="{FF2B5EF4-FFF2-40B4-BE49-F238E27FC236}">
                <a16:creationId xmlns:a16="http://schemas.microsoft.com/office/drawing/2014/main" id="{B368009C-E20E-877E-FD0C-70CF4E6228CD}"/>
              </a:ext>
            </a:extLst>
          </p:cNvPr>
          <p:cNvSpPr>
            <a:spLocks noGrp="1"/>
          </p:cNvSpPr>
          <p:nvPr>
            <p:ph type="body" sz="quarter" idx="14"/>
          </p:nvPr>
        </p:nvSpPr>
        <p:spPr>
          <a:xfrm>
            <a:off x="457200" y="1374845"/>
            <a:ext cx="8062912" cy="3964971"/>
          </a:xfrm>
        </p:spPr>
        <p:txBody>
          <a:bodyPr/>
          <a:lstStyle/>
          <a:p>
            <a:pPr marL="514350" indent="-514350" eaLnBrk="1" fontAlgn="base" hangingPunct="1">
              <a:spcBef>
                <a:spcPct val="50000"/>
              </a:spcBef>
              <a:spcAft>
                <a:spcPct val="0"/>
              </a:spcAft>
              <a:buClrTx/>
              <a:buFont typeface="+mj-lt"/>
              <a:buAutoNum type="arabicParenR"/>
            </a:pPr>
            <a:r>
              <a:rPr lang="en-US" sz="2000" b="1" dirty="0"/>
              <a:t>Choose a convenient coordinate system</a:t>
            </a:r>
          </a:p>
          <a:p>
            <a:pPr marL="514350" indent="-514350" eaLnBrk="1" fontAlgn="base" hangingPunct="1">
              <a:spcBef>
                <a:spcPct val="50000"/>
              </a:spcBef>
              <a:spcAft>
                <a:spcPct val="0"/>
              </a:spcAft>
              <a:buClrTx/>
              <a:buFont typeface="+mj-lt"/>
              <a:buAutoNum type="arabicParenR"/>
            </a:pPr>
            <a:r>
              <a:rPr lang="en-US" sz="2000" b="1" dirty="0"/>
              <a:t>Isolate the object of interest</a:t>
            </a:r>
          </a:p>
          <a:p>
            <a:pPr marL="514350" indent="-514350" eaLnBrk="1" fontAlgn="base" hangingPunct="1">
              <a:spcBef>
                <a:spcPct val="50000"/>
              </a:spcBef>
              <a:spcAft>
                <a:spcPct val="0"/>
              </a:spcAft>
              <a:buClrTx/>
              <a:buFont typeface="+mj-lt"/>
              <a:buAutoNum type="arabicParenR"/>
            </a:pPr>
            <a:r>
              <a:rPr lang="en-US" sz="2000" b="1" dirty="0"/>
              <a:t>Free-body diagrams </a:t>
            </a:r>
            <a:r>
              <a:rPr lang="en-US" sz="2000" b="1" dirty="0">
                <a:sym typeface="Wingdings" panose="05000000000000000000" pitchFamily="2" charset="2"/>
              </a:rPr>
              <a:t>(</a:t>
            </a:r>
            <a:r>
              <a:rPr lang="en-US" sz="2000" b="1" dirty="0"/>
              <a:t>Sketch the forces). A free-body diagram shows every force acting on an object.</a:t>
            </a:r>
          </a:p>
          <a:p>
            <a:pPr marL="514350" indent="-514350" eaLnBrk="1" fontAlgn="base" hangingPunct="1">
              <a:spcBef>
                <a:spcPct val="50000"/>
              </a:spcBef>
              <a:spcAft>
                <a:spcPct val="0"/>
              </a:spcAft>
              <a:buClrTx/>
              <a:buFont typeface="+mj-lt"/>
              <a:buAutoNum type="arabicParenR"/>
            </a:pPr>
            <a:r>
              <a:rPr lang="en-US" sz="2000" b="1" dirty="0"/>
              <a:t>Resolve the forces into components.</a:t>
            </a:r>
          </a:p>
          <a:p>
            <a:pPr marL="514350" indent="-514350" eaLnBrk="1" fontAlgn="base" hangingPunct="1">
              <a:spcBef>
                <a:spcPct val="50000"/>
              </a:spcBef>
              <a:spcAft>
                <a:spcPct val="0"/>
              </a:spcAft>
              <a:buClrTx/>
              <a:buFont typeface="+mj-lt"/>
              <a:buAutoNum type="arabicParenR"/>
            </a:pPr>
            <a:r>
              <a:rPr lang="en-US" sz="2000" b="1" dirty="0"/>
              <a:t>Apply Newton’s second law to each coordinate direction.</a:t>
            </a:r>
          </a:p>
          <a:p>
            <a:pPr marL="514350" indent="-514350" eaLnBrk="1" fontAlgn="base" hangingPunct="1">
              <a:spcBef>
                <a:spcPct val="50000"/>
              </a:spcBef>
              <a:spcAft>
                <a:spcPct val="0"/>
              </a:spcAft>
              <a:buClrTx/>
              <a:buFont typeface="+mj-lt"/>
              <a:buAutoNum type="arabicParenR"/>
            </a:pPr>
            <a:r>
              <a:rPr lang="en-US" sz="2000" b="1" dirty="0"/>
              <a:t> Solve for the unknown. (Core objectives: </a:t>
            </a:r>
            <a:r>
              <a:rPr lang="en-US" sz="1600" b="1" dirty="0"/>
              <a:t>critical thinking, Empirical and quantitative thinking)</a:t>
            </a:r>
          </a:p>
          <a:p>
            <a:endParaRPr lang="en-US" dirty="0"/>
          </a:p>
        </p:txBody>
      </p:sp>
      <p:pic>
        <p:nvPicPr>
          <p:cNvPr id="3" name="Picture 2" descr="Raji K Physics Logo">
            <a:extLst>
              <a:ext uri="{FF2B5EF4-FFF2-40B4-BE49-F238E27FC236}">
                <a16:creationId xmlns:a16="http://schemas.microsoft.com/office/drawing/2014/main" id="{580F35DB-D479-DAE3-808F-D0607572985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1096474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1616" y="0"/>
            <a:ext cx="9132384" cy="969818"/>
          </a:xfrm>
        </p:spPr>
        <p:txBody>
          <a:bodyPr>
            <a:normAutofit/>
          </a:bodyPr>
          <a:lstStyle/>
          <a:p>
            <a:pPr marL="0" indent="0" algn="ctr"/>
            <a:r>
              <a:rPr lang="en-US" altLang="en-US" sz="2800" dirty="0">
                <a:solidFill>
                  <a:schemeClr val="tx1"/>
                </a:solidFill>
              </a:rPr>
              <a:t>Problem-solving strategy for equilibrium situations</a:t>
            </a:r>
          </a:p>
        </p:txBody>
      </p:sp>
      <p:sp>
        <p:nvSpPr>
          <p:cNvPr id="5123" name="Rectangle 3"/>
          <p:cNvSpPr>
            <a:spLocks noGrp="1" noChangeArrowheads="1"/>
          </p:cNvSpPr>
          <p:nvPr>
            <p:ph idx="1"/>
          </p:nvPr>
        </p:nvSpPr>
        <p:spPr>
          <a:xfrm>
            <a:off x="383908" y="1277368"/>
            <a:ext cx="8222619" cy="5430559"/>
          </a:xfrm>
        </p:spPr>
        <p:txBody>
          <a:bodyPr/>
          <a:lstStyle/>
          <a:p>
            <a:pPr marL="735013" lvl="1" indent="-457200">
              <a:lnSpc>
                <a:spcPct val="150000"/>
              </a:lnSpc>
              <a:buClrTx/>
              <a:buFont typeface="+mj-lt"/>
              <a:buAutoNum type="arabicPeriod"/>
            </a:pPr>
            <a:r>
              <a:rPr lang="en-CA" b="1" dirty="0">
                <a:latin typeface="+mn-lt"/>
              </a:rPr>
              <a:t>Set the sum of all </a:t>
            </a:r>
            <a:r>
              <a:rPr lang="en-CA" b="1" i="1" dirty="0">
                <a:latin typeface="+mn-lt"/>
              </a:rPr>
              <a:t>x</a:t>
            </a:r>
            <a:r>
              <a:rPr lang="en-CA" b="1" dirty="0">
                <a:latin typeface="+mn-lt"/>
              </a:rPr>
              <a:t>-components of force equal to zero. In a separate equation, set the sum of all </a:t>
            </a:r>
            <a:r>
              <a:rPr lang="en-CA" b="1" i="1" dirty="0">
                <a:latin typeface="+mn-lt"/>
              </a:rPr>
              <a:t>y</a:t>
            </a:r>
            <a:r>
              <a:rPr lang="en-CA" b="1" dirty="0">
                <a:latin typeface="+mn-lt"/>
              </a:rPr>
              <a:t>-components equal to zero.</a:t>
            </a:r>
          </a:p>
          <a:p>
            <a:pPr marL="792163" lvl="1" indent="-514350">
              <a:lnSpc>
                <a:spcPct val="150000"/>
              </a:lnSpc>
              <a:buClrTx/>
              <a:buFont typeface="+mj-lt"/>
              <a:buAutoNum type="arabicPeriod"/>
            </a:pPr>
            <a:r>
              <a:rPr lang="en-CA" b="1" dirty="0">
                <a:latin typeface="+mn-lt"/>
              </a:rPr>
              <a:t>If there are two or more bodies, repeat all of the above steps for each body. If the bodies interact with each other, use Newton’s third law to relate the forces they exert on each other.</a:t>
            </a:r>
          </a:p>
          <a:p>
            <a:pPr marL="792163" lvl="1" indent="-514350">
              <a:lnSpc>
                <a:spcPct val="150000"/>
              </a:lnSpc>
              <a:buClrTx/>
              <a:buFont typeface="+mj-lt"/>
              <a:buAutoNum type="arabicPeriod"/>
            </a:pPr>
            <a:r>
              <a:rPr lang="en-CA" b="1" dirty="0">
                <a:latin typeface="+mn-lt"/>
              </a:rPr>
              <a:t>Make sure that you have as many independent equations as the number of unknown quantities. Then solve these equations to obtain the target variables.</a:t>
            </a:r>
          </a:p>
          <a:p>
            <a:pPr>
              <a:lnSpc>
                <a:spcPct val="150000"/>
              </a:lnSpc>
            </a:pPr>
            <a:r>
              <a:rPr lang="en-CA" b="1" dirty="0">
                <a:latin typeface="+mn-lt"/>
              </a:rPr>
              <a:t>Evaluate your answer.</a:t>
            </a:r>
            <a:endParaRPr lang="en-US" altLang="en-US" b="1" dirty="0">
              <a:latin typeface="+mn-lt"/>
            </a:endParaRPr>
          </a:p>
        </p:txBody>
      </p:sp>
      <p:pic>
        <p:nvPicPr>
          <p:cNvPr id="2" name="Picture 1" descr="Raji K Physics Logo">
            <a:extLst>
              <a:ext uri="{FF2B5EF4-FFF2-40B4-BE49-F238E27FC236}">
                <a16:creationId xmlns:a16="http://schemas.microsoft.com/office/drawing/2014/main" id="{FAAB5A7C-09AF-A7DA-3A65-F7FE4600428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769447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167525"/>
            <a:ext cx="8932128" cy="986408"/>
          </a:xfrm>
        </p:spPr>
        <p:txBody>
          <a:bodyPr>
            <a:noAutofit/>
          </a:bodyPr>
          <a:lstStyle/>
          <a:p>
            <a:pPr marL="0" indent="0" algn="ctr"/>
            <a:r>
              <a:rPr lang="en-US" altLang="en-US" sz="2800" b="1" dirty="0">
                <a:solidFill>
                  <a:schemeClr val="tx1"/>
                </a:solidFill>
              </a:rPr>
              <a:t> </a:t>
            </a:r>
            <a:br>
              <a:rPr lang="en-US" altLang="en-US" sz="2800" b="1" dirty="0">
                <a:solidFill>
                  <a:schemeClr val="tx1"/>
                </a:solidFill>
              </a:rPr>
            </a:br>
            <a:r>
              <a:rPr lang="en-US" altLang="en-US" sz="2800" dirty="0">
                <a:solidFill>
                  <a:schemeClr val="tx1"/>
                </a:solidFill>
              </a:rPr>
              <a:t>Problem-solving strategy for  dynamics situations</a:t>
            </a:r>
            <a:endParaRPr lang="en-US" altLang="en-US" sz="2800" b="1" dirty="0">
              <a:solidFill>
                <a:schemeClr val="tx1"/>
              </a:solidFill>
            </a:endParaRPr>
          </a:p>
        </p:txBody>
      </p:sp>
      <mc:AlternateContent xmlns:mc="http://schemas.openxmlformats.org/markup-compatibility/2006" xmlns:a14="http://schemas.microsoft.com/office/drawing/2010/main">
        <mc:Choice Requires="a14">
          <p:sp>
            <p:nvSpPr>
              <p:cNvPr id="12292" name="Rectangle 3"/>
              <p:cNvSpPr>
                <a:spLocks noGrp="1" noChangeArrowheads="1"/>
              </p:cNvSpPr>
              <p:nvPr>
                <p:ph idx="1"/>
              </p:nvPr>
            </p:nvSpPr>
            <p:spPr>
              <a:xfrm>
                <a:off x="429790" y="1294791"/>
                <a:ext cx="8421043" cy="5315413"/>
              </a:xfrm>
            </p:spPr>
            <p:txBody>
              <a:bodyPr/>
              <a:lstStyle/>
              <a:p>
                <a:r>
                  <a:rPr lang="en-CA" b="1" dirty="0"/>
                  <a:t>In dynamics problems, we apply Newton’s second law to bodies on which the net force is not zero. </a:t>
                </a:r>
              </a:p>
              <a:p>
                <a:r>
                  <a:rPr lang="en-CA" b="1" dirty="0"/>
                  <a:t>These bodies are not in equilibrium and hence are accelerating:</a:t>
                </a:r>
              </a:p>
              <a:p>
                <a:pPr>
                  <a:spcBef>
                    <a:spcPct val="50000"/>
                  </a:spcBef>
                </a:pPr>
                <a:r>
                  <a:rPr lang="en-US" b="1" dirty="0">
                    <a:effectLst/>
                    <a:ea typeface="Cambria Math" panose="02040503050406030204" pitchFamily="18" charset="0"/>
                    <a:cs typeface="Times New Roman" panose="02020603050405020304" pitchFamily="18" charset="0"/>
                  </a:rPr>
                  <a:t>If the net fore is not zero, </a:t>
                </a:r>
                <a14:m>
                  <m:oMath xmlns:m="http://schemas.openxmlformats.org/officeDocument/2006/math">
                    <m:r>
                      <a:rPr lang="en-US" b="1" i="1" smtClean="0">
                        <a:effectLst/>
                        <a:latin typeface="Cambria Math" panose="02040503050406030204" pitchFamily="18" charset="0"/>
                        <a:ea typeface="Cambria Math" panose="02040503050406030204" pitchFamily="18" charset="0"/>
                        <a:cs typeface="Times New Roman" panose="02020603050405020304" pitchFamily="18" charset="0"/>
                      </a:rPr>
                      <m:t> </m:t>
                    </m:r>
                  </m:oMath>
                </a14:m>
                <a:r>
                  <a:rPr lang="en-US" b="1" dirty="0">
                    <a:effectLst/>
                    <a:ea typeface="Cambria Math" panose="02040503050406030204" pitchFamily="18" charset="0"/>
                    <a:cs typeface="Times New Roman" panose="02020603050405020304" pitchFamily="18" charset="0"/>
                  </a:rPr>
                  <a:t>then object has acceleration in the same direction as the net force. Apply Newtons law</a:t>
                </a:r>
                <a:r>
                  <a:rPr lang="en-US" b="1" dirty="0">
                    <a:ea typeface="Cambria Math" panose="02040503050406030204" pitchFamily="18" charset="0"/>
                  </a:rPr>
                  <a:t> in the Component form.</a:t>
                </a:r>
              </a:p>
              <a:p>
                <a:pPr marL="0" marR="0">
                  <a:spcBef>
                    <a:spcPts val="0"/>
                  </a:spcBef>
                  <a:spcAft>
                    <a:spcPts val="0"/>
                  </a:spcAft>
                </a:pPr>
                <a:r>
                  <a:rPr lang="en-US" b="1" dirty="0">
                    <a:latin typeface="Cambria Math" panose="02040503050406030204" pitchFamily="18" charset="0"/>
                    <a:ea typeface="Cambria Math" panose="02040503050406030204" pitchFamily="18" charset="0"/>
                  </a:rPr>
                  <a:t> </a:t>
                </a:r>
                <a14:m>
                  <m:oMath xmlns:m="http://schemas.openxmlformats.org/officeDocument/2006/math">
                    <m:nary>
                      <m:naryPr>
                        <m:chr m:val="∑"/>
                        <m:limLoc m:val="undOvr"/>
                        <m:subHide m:val="on"/>
                        <m:supHide m:val="on"/>
                        <m:ctrlPr>
                          <a:rPr lang="en-US" sz="2000" b="1" i="1" smtClean="0">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b="1" i="1">
                                    <a:latin typeface="Cambria Math" panose="02040503050406030204" pitchFamily="18" charset="0"/>
                                    <a:ea typeface="Times New Roman" panose="02020603050405020304" pitchFamily="18" charset="0"/>
                                    <a:cs typeface="Times New Roman" panose="02020603050405020304" pitchFamily="18" charset="0"/>
                                  </a:rPr>
                                  <m:t>𝑭</m:t>
                                </m:r>
                              </m:e>
                            </m:acc>
                          </m:e>
                          <m:sub>
                            <m:r>
                              <a:rPr lang="en-US" sz="2000" b="1" i="1">
                                <a:latin typeface="Cambria Math" panose="02040503050406030204" pitchFamily="18" charset="0"/>
                                <a:ea typeface="Times New Roman" panose="02020603050405020304" pitchFamily="18" charset="0"/>
                                <a:cs typeface="Times New Roman" panose="02020603050405020304" pitchFamily="18" charset="0"/>
                              </a:rPr>
                              <m:t>𝒙</m:t>
                            </m:r>
                            <m:r>
                              <a:rPr lang="en-US" sz="2000" b="1" i="1">
                                <a:latin typeface="Cambria Math" panose="02040503050406030204" pitchFamily="18" charset="0"/>
                                <a:ea typeface="Times New Roman" panose="02020603050405020304" pitchFamily="18" charset="0"/>
                                <a:cs typeface="Times New Roman" panose="02020603050405020304" pitchFamily="18" charset="0"/>
                              </a:rPr>
                              <m:t> </m:t>
                            </m:r>
                          </m:sub>
                        </m:sSub>
                      </m:e>
                    </m:nary>
                    <m:r>
                      <a:rPr lang="en-US" sz="2000" b="1" i="1">
                        <a:latin typeface="Cambria Math" panose="02040503050406030204" pitchFamily="18" charset="0"/>
                        <a:ea typeface="Times New Roman" panose="02020603050405020304" pitchFamily="18" charset="0"/>
                        <a:cs typeface="Times New Roman" panose="02020603050405020304" pitchFamily="18" charset="0"/>
                      </a:rPr>
                      <m:t>=</m:t>
                    </m:r>
                    <m:r>
                      <a:rPr lang="en-US" sz="2000" b="1" i="1">
                        <a:latin typeface="Cambria Math" panose="02040503050406030204" pitchFamily="18" charset="0"/>
                        <a:ea typeface="Times New Roman" panose="02020603050405020304" pitchFamily="18" charset="0"/>
                        <a:cs typeface="Times New Roman" panose="02020603050405020304" pitchFamily="18" charset="0"/>
                      </a:rPr>
                      <m:t>𝒎</m:t>
                    </m:r>
                    <m:sSub>
                      <m:sSubPr>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1">
                            <a:latin typeface="Cambria Math" panose="02040503050406030204" pitchFamily="18" charset="0"/>
                            <a:ea typeface="Times New Roman" panose="02020603050405020304" pitchFamily="18" charset="0"/>
                            <a:cs typeface="Times New Roman" panose="02020603050405020304" pitchFamily="18" charset="0"/>
                          </a:rPr>
                          <m:t>𝒂</m:t>
                        </m:r>
                      </m:e>
                      <m:sub>
                        <m:r>
                          <a:rPr lang="en-US" sz="2000" b="1" i="1">
                            <a:latin typeface="Cambria Math" panose="02040503050406030204" pitchFamily="18" charset="0"/>
                            <a:ea typeface="Times New Roman" panose="02020603050405020304" pitchFamily="18" charset="0"/>
                            <a:cs typeface="Times New Roman" panose="02020603050405020304" pitchFamily="18" charset="0"/>
                          </a:rPr>
                          <m:t>𝒙</m:t>
                        </m:r>
                      </m:sub>
                    </m:sSub>
                  </m:oMath>
                </a14:m>
                <a:r>
                  <a:rPr lang="en-US" sz="2000" b="1" i="1" dirty="0">
                    <a:latin typeface="Calibri" panose="020F0502020204030204" pitchFamily="34" charset="0"/>
                    <a:ea typeface="Times New Roman" panose="02020603050405020304" pitchFamily="18" charset="0"/>
                    <a:cs typeface="Times New Roman" panose="02020603050405020304" pitchFamily="18" charset="0"/>
                  </a:rPr>
                  <a:t>  </a:t>
                </a:r>
                <a:r>
                  <a:rPr lang="en-US" sz="2000" b="1" i="1" dirty="0">
                    <a:latin typeface="Cambria Math" panose="02040503050406030204" pitchFamily="18" charset="0"/>
                    <a:ea typeface="Times New Roman" panose="02020603050405020304" pitchFamily="18" charset="0"/>
                    <a:cs typeface="Times New Roman" panose="02020603050405020304" pitchFamily="18" charset="0"/>
                  </a:rPr>
                  <a:t>       </a:t>
                </a:r>
                <a:r>
                  <a:rPr lang="en-US" sz="2000" b="1" dirty="0">
                    <a:latin typeface="Cambria Math" panose="02040503050406030204" pitchFamily="18" charset="0"/>
                    <a:ea typeface="Times New Roman" panose="02020603050405020304" pitchFamily="18" charset="0"/>
                    <a:cs typeface="Times New Roman" panose="02020603050405020304" pitchFamily="18" charset="0"/>
                  </a:rPr>
                  <a:t>or</a:t>
                </a:r>
                <a:r>
                  <a:rPr lang="en-US" sz="2000" b="1" i="1" dirty="0">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b="1" i="1">
                                <a:latin typeface="Cambria Math" panose="02040503050406030204" pitchFamily="18" charset="0"/>
                                <a:ea typeface="Times New Roman" panose="02020603050405020304" pitchFamily="18" charset="0"/>
                                <a:cs typeface="Times New Roman" panose="02020603050405020304" pitchFamily="18" charset="0"/>
                              </a:rPr>
                              <m:t>𝑭</m:t>
                            </m:r>
                          </m:e>
                        </m:acc>
                      </m:e>
                      <m:sub>
                        <m:r>
                          <a:rPr lang="en-US" sz="2000" b="1" i="1">
                            <a:latin typeface="Cambria Math" panose="02040503050406030204" pitchFamily="18" charset="0"/>
                            <a:ea typeface="Times New Roman" panose="02020603050405020304" pitchFamily="18" charset="0"/>
                            <a:cs typeface="Times New Roman" panose="02020603050405020304" pitchFamily="18" charset="0"/>
                          </a:rPr>
                          <m:t>𝒙</m:t>
                        </m:r>
                        <m:r>
                          <a:rPr lang="en-US" sz="2000" b="1" i="1">
                            <a:latin typeface="Cambria Math" panose="02040503050406030204" pitchFamily="18" charset="0"/>
                            <a:ea typeface="Times New Roman" panose="02020603050405020304" pitchFamily="18" charset="0"/>
                            <a:cs typeface="Times New Roman" panose="02020603050405020304" pitchFamily="18" charset="0"/>
                          </a:rPr>
                          <m:t> </m:t>
                        </m:r>
                        <m:r>
                          <a:rPr lang="en-US" sz="2000" b="1" i="1">
                            <a:latin typeface="Cambria Math" panose="02040503050406030204" pitchFamily="18" charset="0"/>
                            <a:ea typeface="Times New Roman" panose="02020603050405020304" pitchFamily="18" charset="0"/>
                            <a:cs typeface="Times New Roman" panose="02020603050405020304" pitchFamily="18" charset="0"/>
                          </a:rPr>
                          <m:t>𝒏𝒆𝒕</m:t>
                        </m:r>
                      </m:sub>
                    </m:sSub>
                    <m:r>
                      <a:rPr lang="en-US" sz="2000" b="1" i="1">
                        <a:latin typeface="Cambria Math" panose="02040503050406030204" pitchFamily="18" charset="0"/>
                        <a:ea typeface="Times New Roman" panose="02020603050405020304" pitchFamily="18" charset="0"/>
                        <a:cs typeface="Times New Roman" panose="02020603050405020304" pitchFamily="18" charset="0"/>
                      </a:rPr>
                      <m:t>=</m:t>
                    </m:r>
                    <m:r>
                      <a:rPr lang="en-US" sz="2000" b="1" i="1">
                        <a:latin typeface="Cambria Math" panose="02040503050406030204" pitchFamily="18" charset="0"/>
                        <a:ea typeface="Times New Roman" panose="02020603050405020304" pitchFamily="18" charset="0"/>
                        <a:cs typeface="Times New Roman" panose="02020603050405020304" pitchFamily="18" charset="0"/>
                      </a:rPr>
                      <m:t>𝒎</m:t>
                    </m:r>
                    <m:sSub>
                      <m:sSubPr>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1">
                            <a:latin typeface="Cambria Math" panose="02040503050406030204" pitchFamily="18" charset="0"/>
                            <a:ea typeface="Times New Roman" panose="02020603050405020304" pitchFamily="18" charset="0"/>
                            <a:cs typeface="Times New Roman" panose="02020603050405020304" pitchFamily="18" charset="0"/>
                          </a:rPr>
                          <m:t>𝒂</m:t>
                        </m:r>
                      </m:e>
                      <m:sub>
                        <m:r>
                          <a:rPr lang="en-US" sz="2000" b="1" i="1">
                            <a:latin typeface="Cambria Math" panose="02040503050406030204" pitchFamily="18" charset="0"/>
                            <a:ea typeface="Times New Roman" panose="02020603050405020304" pitchFamily="18" charset="0"/>
                            <a:cs typeface="Times New Roman" panose="02020603050405020304" pitchFamily="18" charset="0"/>
                          </a:rPr>
                          <m:t>𝒙</m:t>
                        </m:r>
                      </m:sub>
                    </m:sSub>
                  </m:oMath>
                </a14:m>
                <a:endParaRPr lang="en-US" sz="2000" b="1" dirty="0">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2000" b="1" i="1" dirty="0">
                    <a:latin typeface="Calibri" panose="020F0502020204030204" pitchFamily="34" charset="0"/>
                    <a:ea typeface="Times New Roman" panose="02020603050405020304" pitchFamily="18" charset="0"/>
                    <a:cs typeface="Times New Roman" panose="02020603050405020304" pitchFamily="18" charset="0"/>
                  </a:rPr>
                  <a:t>   </a:t>
                </a:r>
                <a:endParaRPr lang="en-US" sz="2000" b="1" dirty="0">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14:m>
                  <m:oMath xmlns:m="http://schemas.openxmlformats.org/officeDocument/2006/math">
                    <m:nary>
                      <m:naryPr>
                        <m:chr m:val="∑"/>
                        <m:limLoc m:val="undOvr"/>
                        <m:subHide m:val="on"/>
                        <m:supHide m:val="on"/>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b="1" i="1">
                                    <a:latin typeface="Cambria Math" panose="02040503050406030204" pitchFamily="18" charset="0"/>
                                    <a:ea typeface="Times New Roman" panose="02020603050405020304" pitchFamily="18" charset="0"/>
                                    <a:cs typeface="Times New Roman" panose="02020603050405020304" pitchFamily="18" charset="0"/>
                                  </a:rPr>
                                  <m:t>𝑭</m:t>
                                </m:r>
                              </m:e>
                            </m:acc>
                          </m:e>
                          <m:sub>
                            <m:r>
                              <a:rPr lang="en-US" sz="2000" b="1" i="1">
                                <a:latin typeface="Cambria Math" panose="02040503050406030204" pitchFamily="18" charset="0"/>
                                <a:ea typeface="Times New Roman" panose="02020603050405020304" pitchFamily="18" charset="0"/>
                                <a:cs typeface="Times New Roman" panose="02020603050405020304" pitchFamily="18" charset="0"/>
                              </a:rPr>
                              <m:t>𝒚</m:t>
                            </m:r>
                            <m:r>
                              <a:rPr lang="en-US" sz="2000" b="1" i="1">
                                <a:latin typeface="Cambria Math" panose="02040503050406030204" pitchFamily="18" charset="0"/>
                                <a:ea typeface="Times New Roman" panose="02020603050405020304" pitchFamily="18" charset="0"/>
                                <a:cs typeface="Times New Roman" panose="02020603050405020304" pitchFamily="18" charset="0"/>
                              </a:rPr>
                              <m:t> </m:t>
                            </m:r>
                          </m:sub>
                        </m:sSub>
                      </m:e>
                    </m:nary>
                    <m:r>
                      <a:rPr lang="en-US" sz="2000" b="1" i="1">
                        <a:latin typeface="Cambria Math" panose="02040503050406030204" pitchFamily="18" charset="0"/>
                        <a:ea typeface="Times New Roman" panose="02020603050405020304" pitchFamily="18" charset="0"/>
                        <a:cs typeface="Times New Roman" panose="02020603050405020304" pitchFamily="18" charset="0"/>
                      </a:rPr>
                      <m:t>=</m:t>
                    </m:r>
                    <m:r>
                      <a:rPr lang="en-US" sz="2000" b="1" i="1">
                        <a:latin typeface="Cambria Math" panose="02040503050406030204" pitchFamily="18" charset="0"/>
                        <a:ea typeface="Times New Roman" panose="02020603050405020304" pitchFamily="18" charset="0"/>
                        <a:cs typeface="Times New Roman" panose="02020603050405020304" pitchFamily="18" charset="0"/>
                      </a:rPr>
                      <m:t>𝒎</m:t>
                    </m:r>
                    <m:sSub>
                      <m:sSubPr>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1">
                            <a:latin typeface="Cambria Math" panose="02040503050406030204" pitchFamily="18" charset="0"/>
                            <a:ea typeface="Times New Roman" panose="02020603050405020304" pitchFamily="18" charset="0"/>
                            <a:cs typeface="Times New Roman" panose="02020603050405020304" pitchFamily="18" charset="0"/>
                          </a:rPr>
                          <m:t>𝒂</m:t>
                        </m:r>
                      </m:e>
                      <m:sub>
                        <m:r>
                          <a:rPr lang="en-US" sz="2000" b="1" i="1">
                            <a:latin typeface="Cambria Math" panose="02040503050406030204" pitchFamily="18" charset="0"/>
                            <a:ea typeface="Times New Roman" panose="02020603050405020304" pitchFamily="18" charset="0"/>
                            <a:cs typeface="Times New Roman" panose="02020603050405020304" pitchFamily="18" charset="0"/>
                          </a:rPr>
                          <m:t>𝒚</m:t>
                        </m:r>
                      </m:sub>
                    </m:sSub>
                  </m:oMath>
                </a14:m>
                <a:r>
                  <a:rPr lang="en-US" sz="2000" b="1" i="1" dirty="0">
                    <a:latin typeface="Calibri" panose="020F0502020204030204" pitchFamily="34" charset="0"/>
                    <a:ea typeface="Times New Roman" panose="02020603050405020304" pitchFamily="18" charset="0"/>
                    <a:cs typeface="Times New Roman" panose="02020603050405020304" pitchFamily="18" charset="0"/>
                  </a:rPr>
                  <a:t>  </a:t>
                </a:r>
                <a:r>
                  <a:rPr lang="en-US" sz="2000" b="1" i="1" dirty="0">
                    <a:latin typeface="Cambria Math" panose="02040503050406030204" pitchFamily="18" charset="0"/>
                    <a:ea typeface="Times New Roman" panose="02020603050405020304" pitchFamily="18" charset="0"/>
                    <a:cs typeface="Times New Roman" panose="02020603050405020304" pitchFamily="18" charset="0"/>
                  </a:rPr>
                  <a:t>       </a:t>
                </a:r>
                <a:r>
                  <a:rPr lang="en-US" sz="2000" b="1" dirty="0">
                    <a:latin typeface="Cambria Math" panose="02040503050406030204" pitchFamily="18" charset="0"/>
                    <a:ea typeface="Times New Roman" panose="02020603050405020304" pitchFamily="18" charset="0"/>
                    <a:cs typeface="Times New Roman" panose="02020603050405020304" pitchFamily="18" charset="0"/>
                  </a:rPr>
                  <a:t>or</a:t>
                </a:r>
                <a:r>
                  <a:rPr lang="en-US" sz="2000" b="1" i="1" dirty="0">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b="1" i="1">
                                <a:latin typeface="Cambria Math" panose="02040503050406030204" pitchFamily="18" charset="0"/>
                                <a:ea typeface="Times New Roman" panose="02020603050405020304" pitchFamily="18" charset="0"/>
                                <a:cs typeface="Times New Roman" panose="02020603050405020304" pitchFamily="18" charset="0"/>
                              </a:rPr>
                              <m:t>𝑭</m:t>
                            </m:r>
                          </m:e>
                        </m:acc>
                      </m:e>
                      <m:sub>
                        <m:r>
                          <a:rPr lang="en-US" sz="2000" b="1" i="1">
                            <a:latin typeface="Cambria Math" panose="02040503050406030204" pitchFamily="18" charset="0"/>
                            <a:ea typeface="Times New Roman" panose="02020603050405020304" pitchFamily="18" charset="0"/>
                            <a:cs typeface="Times New Roman" panose="02020603050405020304" pitchFamily="18" charset="0"/>
                          </a:rPr>
                          <m:t>𝒚</m:t>
                        </m:r>
                        <m:r>
                          <a:rPr lang="en-US" sz="2000" b="1" i="1">
                            <a:latin typeface="Cambria Math" panose="02040503050406030204" pitchFamily="18" charset="0"/>
                            <a:ea typeface="Times New Roman" panose="02020603050405020304" pitchFamily="18" charset="0"/>
                            <a:cs typeface="Times New Roman" panose="02020603050405020304" pitchFamily="18" charset="0"/>
                          </a:rPr>
                          <m:t> </m:t>
                        </m:r>
                        <m:r>
                          <a:rPr lang="en-US" sz="2000" b="1" i="1">
                            <a:latin typeface="Cambria Math" panose="02040503050406030204" pitchFamily="18" charset="0"/>
                            <a:ea typeface="Times New Roman" panose="02020603050405020304" pitchFamily="18" charset="0"/>
                            <a:cs typeface="Times New Roman" panose="02020603050405020304" pitchFamily="18" charset="0"/>
                          </a:rPr>
                          <m:t>𝒏𝒆𝒕</m:t>
                        </m:r>
                      </m:sub>
                    </m:sSub>
                    <m:r>
                      <a:rPr lang="en-US" sz="2000" b="1" i="1">
                        <a:latin typeface="Cambria Math" panose="02040503050406030204" pitchFamily="18" charset="0"/>
                        <a:ea typeface="Times New Roman" panose="02020603050405020304" pitchFamily="18" charset="0"/>
                        <a:cs typeface="Times New Roman" panose="02020603050405020304" pitchFamily="18" charset="0"/>
                      </a:rPr>
                      <m:t>=</m:t>
                    </m:r>
                    <m:r>
                      <a:rPr lang="en-US" sz="2000" b="1" i="1">
                        <a:latin typeface="Cambria Math" panose="02040503050406030204" pitchFamily="18" charset="0"/>
                        <a:ea typeface="Times New Roman" panose="02020603050405020304" pitchFamily="18" charset="0"/>
                        <a:cs typeface="Times New Roman" panose="02020603050405020304" pitchFamily="18" charset="0"/>
                      </a:rPr>
                      <m:t>𝒎</m:t>
                    </m:r>
                    <m:sSub>
                      <m:sSubPr>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1">
                            <a:latin typeface="Cambria Math" panose="02040503050406030204" pitchFamily="18" charset="0"/>
                            <a:ea typeface="Times New Roman" panose="02020603050405020304" pitchFamily="18" charset="0"/>
                            <a:cs typeface="Times New Roman" panose="02020603050405020304" pitchFamily="18" charset="0"/>
                          </a:rPr>
                          <m:t>𝒂</m:t>
                        </m:r>
                      </m:e>
                      <m:sub>
                        <m:r>
                          <a:rPr lang="en-US" sz="2000" b="1" i="1">
                            <a:latin typeface="Cambria Math" panose="02040503050406030204" pitchFamily="18" charset="0"/>
                            <a:ea typeface="Times New Roman" panose="02020603050405020304" pitchFamily="18" charset="0"/>
                            <a:cs typeface="Times New Roman" panose="02020603050405020304" pitchFamily="18" charset="0"/>
                          </a:rPr>
                          <m:t>𝒚</m:t>
                        </m:r>
                      </m:sub>
                    </m:sSub>
                  </m:oMath>
                </a14:m>
                <a:endParaRPr lang="en-US" sz="2000" b="1" dirty="0">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2000" b="1" i="1" dirty="0">
                    <a:latin typeface="Calibri" panose="020F0502020204030204" pitchFamily="34" charset="0"/>
                    <a:ea typeface="Times New Roman" panose="02020603050405020304" pitchFamily="18" charset="0"/>
                    <a:cs typeface="Times New Roman" panose="02020603050405020304" pitchFamily="18" charset="0"/>
                  </a:rPr>
                  <a:t> </a:t>
                </a:r>
                <a:endParaRPr lang="en-US" sz="2000" b="1" dirty="0">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14:m>
                  <m:oMath xmlns:m="http://schemas.openxmlformats.org/officeDocument/2006/math">
                    <m:nary>
                      <m:naryPr>
                        <m:chr m:val="∑"/>
                        <m:limLoc m:val="undOvr"/>
                        <m:subHide m:val="on"/>
                        <m:supHide m:val="on"/>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b="1" i="1">
                                    <a:latin typeface="Cambria Math" panose="02040503050406030204" pitchFamily="18" charset="0"/>
                                    <a:ea typeface="Times New Roman" panose="02020603050405020304" pitchFamily="18" charset="0"/>
                                    <a:cs typeface="Times New Roman" panose="02020603050405020304" pitchFamily="18" charset="0"/>
                                  </a:rPr>
                                  <m:t>𝑭</m:t>
                                </m:r>
                              </m:e>
                            </m:acc>
                          </m:e>
                          <m:sub>
                            <m:r>
                              <a:rPr lang="en-US" sz="2000" b="1" i="1">
                                <a:latin typeface="Cambria Math" panose="02040503050406030204" pitchFamily="18" charset="0"/>
                                <a:ea typeface="Times New Roman" panose="02020603050405020304" pitchFamily="18" charset="0"/>
                                <a:cs typeface="Times New Roman" panose="02020603050405020304" pitchFamily="18" charset="0"/>
                              </a:rPr>
                              <m:t>𝒛</m:t>
                            </m:r>
                            <m:r>
                              <a:rPr lang="en-US" sz="2000" b="1" i="1">
                                <a:latin typeface="Cambria Math" panose="02040503050406030204" pitchFamily="18" charset="0"/>
                                <a:ea typeface="Times New Roman" panose="02020603050405020304" pitchFamily="18" charset="0"/>
                                <a:cs typeface="Times New Roman" panose="02020603050405020304" pitchFamily="18" charset="0"/>
                              </a:rPr>
                              <m:t> </m:t>
                            </m:r>
                          </m:sub>
                        </m:sSub>
                      </m:e>
                    </m:nary>
                    <m:r>
                      <a:rPr lang="en-US" sz="2000" b="1" i="1">
                        <a:latin typeface="Cambria Math" panose="02040503050406030204" pitchFamily="18" charset="0"/>
                        <a:ea typeface="Times New Roman" panose="02020603050405020304" pitchFamily="18" charset="0"/>
                        <a:cs typeface="Times New Roman" panose="02020603050405020304" pitchFamily="18" charset="0"/>
                      </a:rPr>
                      <m:t>=</m:t>
                    </m:r>
                    <m:r>
                      <a:rPr lang="en-US" sz="2000" b="1" i="1">
                        <a:latin typeface="Cambria Math" panose="02040503050406030204" pitchFamily="18" charset="0"/>
                        <a:ea typeface="Times New Roman" panose="02020603050405020304" pitchFamily="18" charset="0"/>
                        <a:cs typeface="Times New Roman" panose="02020603050405020304" pitchFamily="18" charset="0"/>
                      </a:rPr>
                      <m:t>𝒎</m:t>
                    </m:r>
                    <m:sSub>
                      <m:sSubPr>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1">
                            <a:latin typeface="Cambria Math" panose="02040503050406030204" pitchFamily="18" charset="0"/>
                            <a:ea typeface="Times New Roman" panose="02020603050405020304" pitchFamily="18" charset="0"/>
                            <a:cs typeface="Times New Roman" panose="02020603050405020304" pitchFamily="18" charset="0"/>
                          </a:rPr>
                          <m:t>𝒂</m:t>
                        </m:r>
                      </m:e>
                      <m:sub>
                        <m:r>
                          <a:rPr lang="en-US" sz="2000" b="1" i="1">
                            <a:latin typeface="Cambria Math" panose="02040503050406030204" pitchFamily="18" charset="0"/>
                            <a:ea typeface="Times New Roman" panose="02020603050405020304" pitchFamily="18" charset="0"/>
                            <a:cs typeface="Times New Roman" panose="02020603050405020304" pitchFamily="18" charset="0"/>
                          </a:rPr>
                          <m:t>𝒛</m:t>
                        </m:r>
                      </m:sub>
                    </m:sSub>
                  </m:oMath>
                </a14:m>
                <a:r>
                  <a:rPr lang="en-US" sz="2000" b="1" i="1" dirty="0">
                    <a:latin typeface="Calibri" panose="020F0502020204030204" pitchFamily="34" charset="0"/>
                    <a:ea typeface="Times New Roman" panose="02020603050405020304" pitchFamily="18" charset="0"/>
                    <a:cs typeface="Times New Roman" panose="02020603050405020304" pitchFamily="18" charset="0"/>
                  </a:rPr>
                  <a:t>  </a:t>
                </a:r>
                <a:r>
                  <a:rPr lang="en-US" sz="2000" b="1" i="1" dirty="0">
                    <a:latin typeface="Cambria Math" panose="02040503050406030204" pitchFamily="18" charset="0"/>
                    <a:ea typeface="Times New Roman" panose="02020603050405020304" pitchFamily="18" charset="0"/>
                    <a:cs typeface="Times New Roman" panose="02020603050405020304" pitchFamily="18" charset="0"/>
                  </a:rPr>
                  <a:t>       </a:t>
                </a:r>
                <a:r>
                  <a:rPr lang="en-US" sz="2000" b="1" dirty="0">
                    <a:latin typeface="Cambria Math" panose="02040503050406030204" pitchFamily="18" charset="0"/>
                    <a:ea typeface="Times New Roman" panose="02020603050405020304" pitchFamily="18" charset="0"/>
                    <a:cs typeface="Times New Roman" panose="02020603050405020304" pitchFamily="18" charset="0"/>
                  </a:rPr>
                  <a:t>or</a:t>
                </a:r>
                <a:r>
                  <a:rPr lang="en-US" sz="2000" b="1" i="1" dirty="0">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b="1" i="1">
                                <a:latin typeface="Cambria Math" panose="02040503050406030204" pitchFamily="18" charset="0"/>
                                <a:ea typeface="Times New Roman" panose="02020603050405020304" pitchFamily="18" charset="0"/>
                                <a:cs typeface="Times New Roman" panose="02020603050405020304" pitchFamily="18" charset="0"/>
                              </a:rPr>
                              <m:t>𝑭</m:t>
                            </m:r>
                          </m:e>
                        </m:acc>
                      </m:e>
                      <m:sub>
                        <m:r>
                          <a:rPr lang="en-US" sz="2000" b="1" i="1">
                            <a:latin typeface="Cambria Math" panose="02040503050406030204" pitchFamily="18" charset="0"/>
                            <a:ea typeface="Times New Roman" panose="02020603050405020304" pitchFamily="18" charset="0"/>
                            <a:cs typeface="Times New Roman" panose="02020603050405020304" pitchFamily="18" charset="0"/>
                          </a:rPr>
                          <m:t>𝒚</m:t>
                        </m:r>
                        <m:r>
                          <a:rPr lang="en-US" sz="2000" b="1" i="1">
                            <a:latin typeface="Cambria Math" panose="02040503050406030204" pitchFamily="18" charset="0"/>
                            <a:ea typeface="Times New Roman" panose="02020603050405020304" pitchFamily="18" charset="0"/>
                            <a:cs typeface="Times New Roman" panose="02020603050405020304" pitchFamily="18" charset="0"/>
                          </a:rPr>
                          <m:t> </m:t>
                        </m:r>
                        <m:r>
                          <a:rPr lang="en-US" sz="2000" b="1" i="1">
                            <a:latin typeface="Cambria Math" panose="02040503050406030204" pitchFamily="18" charset="0"/>
                            <a:ea typeface="Times New Roman" panose="02020603050405020304" pitchFamily="18" charset="0"/>
                            <a:cs typeface="Times New Roman" panose="02020603050405020304" pitchFamily="18" charset="0"/>
                          </a:rPr>
                          <m:t>𝒏𝒆𝒕</m:t>
                        </m:r>
                      </m:sub>
                    </m:sSub>
                    <m:r>
                      <a:rPr lang="en-US" sz="2000" b="1" i="1">
                        <a:latin typeface="Cambria Math" panose="02040503050406030204" pitchFamily="18" charset="0"/>
                        <a:ea typeface="Times New Roman" panose="02020603050405020304" pitchFamily="18" charset="0"/>
                        <a:cs typeface="Times New Roman" panose="02020603050405020304" pitchFamily="18" charset="0"/>
                      </a:rPr>
                      <m:t>=</m:t>
                    </m:r>
                    <m:r>
                      <a:rPr lang="en-US" sz="2000" b="1" i="1">
                        <a:latin typeface="Cambria Math" panose="02040503050406030204" pitchFamily="18" charset="0"/>
                        <a:ea typeface="Times New Roman" panose="02020603050405020304" pitchFamily="18" charset="0"/>
                        <a:cs typeface="Times New Roman" panose="02020603050405020304" pitchFamily="18" charset="0"/>
                      </a:rPr>
                      <m:t>𝒎</m:t>
                    </m:r>
                    <m:sSub>
                      <m:sSubPr>
                        <m:ctrlPr>
                          <a:rPr lang="en-US" sz="2000" b="1"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b="1" i="1">
                            <a:latin typeface="Cambria Math" panose="02040503050406030204" pitchFamily="18" charset="0"/>
                            <a:ea typeface="Times New Roman" panose="02020603050405020304" pitchFamily="18" charset="0"/>
                            <a:cs typeface="Times New Roman" panose="02020603050405020304" pitchFamily="18" charset="0"/>
                          </a:rPr>
                          <m:t>𝒂</m:t>
                        </m:r>
                      </m:e>
                      <m:sub>
                        <m:r>
                          <a:rPr lang="en-US" sz="2000" b="1" i="1">
                            <a:latin typeface="Cambria Math" panose="02040503050406030204" pitchFamily="18" charset="0"/>
                            <a:ea typeface="Times New Roman" panose="02020603050405020304" pitchFamily="18" charset="0"/>
                            <a:cs typeface="Times New Roman" panose="02020603050405020304" pitchFamily="18" charset="0"/>
                          </a:rPr>
                          <m:t>𝒛</m:t>
                        </m:r>
                      </m:sub>
                    </m:sSub>
                  </m:oMath>
                </a14:m>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0"/>
                  </a:spcBef>
                  <a:spcAft>
                    <a:spcPts val="0"/>
                  </a:spcAft>
                </a:pPr>
                <a:r>
                  <a:rPr lang="en-CA" sz="2000" b="1" dirty="0">
                    <a:hlinkClick r:id="rId3"/>
                  </a:rPr>
                  <a:t>Free Body Diagram Video</a:t>
                </a:r>
                <a:endParaRPr lang="en-US" sz="2000" dirty="0"/>
              </a:p>
              <a:p>
                <a:pPr marL="0" marR="0">
                  <a:spcBef>
                    <a:spcPts val="0"/>
                  </a:spcBef>
                  <a:spcAft>
                    <a:spcPts val="0"/>
                  </a:spcAft>
                </a:pPr>
                <a:br>
                  <a:rPr lang="en-US" sz="2000" dirty="0">
                    <a:effectLst/>
                    <a:latin typeface="Calibri" panose="020F0502020204030204" pitchFamily="34" charset="0"/>
                    <a:ea typeface="Calibri" panose="020F0502020204030204" pitchFamily="34" charset="0"/>
                    <a:cs typeface="Times New Roman" panose="02020603050405020304" pitchFamily="18" charset="0"/>
                  </a:rPr>
                </a:b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spcBef>
                    <a:spcPct val="50000"/>
                  </a:spcBef>
                </a:pPr>
                <a:endParaRPr lang="en-US" b="1" dirty="0">
                  <a:latin typeface="Cambria Math" panose="02040503050406030204" pitchFamily="18" charset="0"/>
                  <a:ea typeface="Cambria Math" panose="02040503050406030204" pitchFamily="18" charset="0"/>
                </a:endParaRPr>
              </a:p>
              <a:p>
                <a:pPr>
                  <a:spcBef>
                    <a:spcPct val="50000"/>
                  </a:spcBef>
                </a:pPr>
                <a:endParaRPr lang="en-US" sz="1600" b="1" baseline="30000" dirty="0">
                  <a:solidFill>
                    <a:schemeClr val="tx2">
                      <a:lumMod val="50000"/>
                    </a:schemeClr>
                  </a:solidFill>
                  <a:latin typeface="Cambria Math" panose="02040503050406030204" pitchFamily="18" charset="0"/>
                  <a:ea typeface="Cambria Math" panose="02040503050406030204" pitchFamily="18" charset="0"/>
                </a:endParaRPr>
              </a:p>
              <a:p>
                <a:r>
                  <a:rPr lang="en-US" altLang="en-US" b="1" dirty="0"/>
                  <a:t> </a:t>
                </a:r>
              </a:p>
            </p:txBody>
          </p:sp>
        </mc:Choice>
        <mc:Fallback xmlns="">
          <p:sp>
            <p:nvSpPr>
              <p:cNvPr id="12292" name="Rectangle 3"/>
              <p:cNvSpPr>
                <a:spLocks noGrp="1" noRot="1" noChangeAspect="1" noMove="1" noResize="1" noEditPoints="1" noAdjustHandles="1" noChangeArrowheads="1" noChangeShapeType="1" noTextEdit="1"/>
              </p:cNvSpPr>
              <p:nvPr>
                <p:ph idx="1"/>
              </p:nvPr>
            </p:nvSpPr>
            <p:spPr>
              <a:xfrm>
                <a:off x="429790" y="1294791"/>
                <a:ext cx="8421043" cy="5315413"/>
              </a:xfrm>
              <a:blipFill>
                <a:blip r:embed="rId4"/>
                <a:stretch>
                  <a:fillRect l="-4490" t="-459"/>
                </a:stretch>
              </a:blipFill>
            </p:spPr>
            <p:txBody>
              <a:bodyPr/>
              <a:lstStyle/>
              <a:p>
                <a:r>
                  <a:rPr lang="en-US">
                    <a:noFill/>
                  </a:rPr>
                  <a:t> </a:t>
                </a:r>
              </a:p>
            </p:txBody>
          </p:sp>
        </mc:Fallback>
      </mc:AlternateContent>
      <p:pic>
        <p:nvPicPr>
          <p:cNvPr id="2" name="Picture 1" descr="Raji K Physics Logo">
            <a:extLst>
              <a:ext uri="{FF2B5EF4-FFF2-40B4-BE49-F238E27FC236}">
                <a16:creationId xmlns:a16="http://schemas.microsoft.com/office/drawing/2014/main" id="{AB2CAC72-3D60-3121-1869-961CD5A7312B}"/>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1856160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40543" y="0"/>
            <a:ext cx="8062913" cy="628214"/>
          </a:xfrm>
        </p:spPr>
        <p:txBody>
          <a:bodyPr/>
          <a:lstStyle/>
          <a:p>
            <a:pPr algn="ctr" fontAlgn="auto">
              <a:spcAft>
                <a:spcPts val="0"/>
              </a:spcAft>
              <a:defRPr/>
            </a:pPr>
            <a:r>
              <a:rPr lang="en-US" sz="2800" dirty="0">
                <a:solidFill>
                  <a:schemeClr val="tx1"/>
                </a:solidFill>
              </a:rPr>
              <a:t>Normal Force</a:t>
            </a:r>
          </a:p>
        </p:txBody>
      </p:sp>
      <p:pic>
        <p:nvPicPr>
          <p:cNvPr id="2" name="Picture Placeholder 1" descr="a) The person holding the bag of dog food must supply an upward force Fhand equal in magnitude and opposite in direction to the weight of the food w .&#10;b)The card table sags when the dog food is placed on it, much like a stiff trampoline. Elastic restoring forces in the table grow as it sags until they supply a force N equal in magnitude and opposite in direction to the weight of the load.&#10;"/>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65170" r="-65170"/>
          <a:stretch>
            <a:fillRect/>
          </a:stretch>
        </p:blipFill>
        <p:spPr>
          <a:xfrm>
            <a:off x="1353939" y="628214"/>
            <a:ext cx="6436118" cy="2520010"/>
          </a:xfrm>
        </p:spPr>
      </p:pic>
      <mc:AlternateContent xmlns:mc="http://schemas.openxmlformats.org/markup-compatibility/2006" xmlns:a14="http://schemas.microsoft.com/office/drawing/2010/main">
        <mc:Choice Requires="a14">
          <p:sp>
            <p:nvSpPr>
              <p:cNvPr id="9219" name="Text Placeholder 6"/>
              <p:cNvSpPr>
                <a:spLocks noGrp="1"/>
              </p:cNvSpPr>
              <p:nvPr>
                <p:ph type="body" sz="quarter" idx="14"/>
              </p:nvPr>
            </p:nvSpPr>
            <p:spPr>
              <a:xfrm>
                <a:off x="122151" y="3275630"/>
                <a:ext cx="8899695" cy="3285714"/>
              </a:xfrm>
            </p:spPr>
            <p:txBody>
              <a:bodyPr/>
              <a:lstStyle/>
              <a:p>
                <a:pPr marL="342900" indent="-342900">
                  <a:buClrTx/>
                  <a:buFont typeface="+mj-lt"/>
                  <a:buAutoNum type="alphaLcParenR"/>
                </a:pPr>
                <a:r>
                  <a:rPr lang="en-US" sz="1800" b="1" dirty="0"/>
                  <a:t>The person holding the bag of dog food must supply an upward force </a:t>
                </a:r>
                <a:r>
                  <a:rPr lang="en-US" sz="1800" b="1" dirty="0" err="1"/>
                  <a:t>F</a:t>
                </a:r>
                <a:r>
                  <a:rPr lang="en-US" sz="1800" b="1" baseline="-25000" dirty="0" err="1"/>
                  <a:t>hand</a:t>
                </a:r>
                <a:r>
                  <a:rPr lang="en-US" sz="1800" b="1" baseline="-25000" dirty="0"/>
                  <a:t> </a:t>
                </a:r>
                <a:r>
                  <a:rPr lang="en-US" sz="1800" b="1" dirty="0"/>
                  <a:t>equal in magnitude and opposite in direction to the weight of the food w </a:t>
                </a:r>
                <a:r>
                  <a:rPr lang="en-US" sz="2400" b="1" dirty="0"/>
                  <a:t>.</a:t>
                </a:r>
              </a:p>
              <a:p>
                <a:pPr marL="342900" indent="-342900">
                  <a:buClrTx/>
                  <a:buFont typeface="+mj-lt"/>
                  <a:buAutoNum type="alphaLcParenR"/>
                </a:pPr>
                <a:r>
                  <a:rPr lang="en-US" sz="1800" b="1" dirty="0"/>
                  <a:t>The card table sags when the dog food is placed on it, much like a stiff trampoline. Elastic restoring forces in the table grow as it sags until they supply a force N equal in magnitude and opposite in direction to the weight of the load.</a:t>
                </a:r>
              </a:p>
              <a:p>
                <a:r>
                  <a:rPr lang="en-US" b="1" dirty="0"/>
                  <a:t>Here,</a:t>
                </a:r>
                <a14:m>
                  <m:oMath xmlns:m="http://schemas.openxmlformats.org/officeDocument/2006/math">
                    <m:nary>
                      <m:naryPr>
                        <m:chr m:val="∑"/>
                        <m:limLoc m:val="undOvr"/>
                        <m:subHide m:val="on"/>
                        <m:supHide m:val="on"/>
                        <m:ctrlPr>
                          <a:rPr lang="en-US" sz="2400" b="1" i="1">
                            <a:latin typeface="Cambria Math" panose="02040503050406030204" pitchFamily="18" charset="0"/>
                          </a:rPr>
                        </m:ctrlPr>
                      </m:naryPr>
                      <m:sub/>
                      <m:sup/>
                      <m:e>
                        <m:sSub>
                          <m:sSubPr>
                            <m:ctrlPr>
                              <a:rPr lang="en-US" sz="2400" b="1"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𝐹</m:t>
                                </m:r>
                              </m:e>
                            </m:acc>
                          </m:e>
                          <m:sub>
                            <m:r>
                              <a:rPr lang="en-US" sz="2400" b="1" i="1">
                                <a:latin typeface="Cambria Math" panose="02040503050406030204" pitchFamily="18" charset="0"/>
                              </a:rPr>
                              <m:t>𝒚</m:t>
                            </m:r>
                            <m:r>
                              <a:rPr lang="en-US" sz="2400" b="1" i="1">
                                <a:latin typeface="Cambria Math" panose="02040503050406030204" pitchFamily="18" charset="0"/>
                              </a:rPr>
                              <m:t> </m:t>
                            </m:r>
                          </m:sub>
                        </m:sSub>
                      </m:e>
                    </m:nary>
                    <m:r>
                      <a:rPr lang="en-US" sz="2400" b="1" i="1">
                        <a:latin typeface="Cambria Math" panose="02040503050406030204" pitchFamily="18" charset="0"/>
                      </a:rPr>
                      <m:t>=</m:t>
                    </m:r>
                    <m:r>
                      <a:rPr lang="en-US" sz="2400" b="1" i="1">
                        <a:latin typeface="Cambria Math" panose="02040503050406030204" pitchFamily="18" charset="0"/>
                      </a:rPr>
                      <m:t>𝒎</m:t>
                    </m:r>
                    <m:sSub>
                      <m:sSubPr>
                        <m:ctrlPr>
                          <a:rPr lang="en-US" sz="2400" b="1" i="1">
                            <a:latin typeface="Cambria Math" panose="02040503050406030204" pitchFamily="18" charset="0"/>
                          </a:rPr>
                        </m:ctrlPr>
                      </m:sSubPr>
                      <m:e>
                        <m:r>
                          <a:rPr lang="en-US" sz="2400" b="1" i="1">
                            <a:latin typeface="Cambria Math" panose="02040503050406030204" pitchFamily="18" charset="0"/>
                          </a:rPr>
                          <m:t>𝒂</m:t>
                        </m:r>
                      </m:e>
                      <m:sub>
                        <m:r>
                          <a:rPr lang="en-US" sz="2400" b="1" i="1">
                            <a:latin typeface="Cambria Math" panose="02040503050406030204" pitchFamily="18" charset="0"/>
                          </a:rPr>
                          <m:t>𝒚</m:t>
                        </m:r>
                      </m:sub>
                    </m:sSub>
                  </m:oMath>
                </a14:m>
                <a:r>
                  <a:rPr lang="en-US" sz="2400" b="1" dirty="0"/>
                  <a:t> </a:t>
                </a:r>
                <a14:m>
                  <m:oMath xmlns:m="http://schemas.openxmlformats.org/officeDocument/2006/math">
                    <m:r>
                      <a:rPr lang="en-US" sz="2400" b="1" i="1">
                        <a:latin typeface="Cambria Math" panose="02040503050406030204" pitchFamily="18" charset="0"/>
                      </a:rPr>
                      <m:t>=</m:t>
                    </m:r>
                    <m:r>
                      <a:rPr lang="en-US" sz="2400" b="1" i="1">
                        <a:latin typeface="Cambria Math" panose="02040503050406030204" pitchFamily="18" charset="0"/>
                      </a:rPr>
                      <m:t>𝟎</m:t>
                    </m:r>
                  </m:oMath>
                </a14:m>
                <a:r>
                  <a:rPr lang="en-US" sz="2400" b="1" dirty="0"/>
                  <a:t>   because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𝒂</m:t>
                        </m:r>
                      </m:e>
                      <m:sub>
                        <m:r>
                          <a:rPr lang="en-US" sz="2400" b="1" i="1">
                            <a:latin typeface="Cambria Math" panose="02040503050406030204" pitchFamily="18" charset="0"/>
                          </a:rPr>
                          <m:t>𝒚</m:t>
                        </m:r>
                      </m:sub>
                    </m:sSub>
                  </m:oMath>
                </a14:m>
                <a:r>
                  <a:rPr lang="en-US" sz="2400" b="1" dirty="0"/>
                  <a:t> </a:t>
                </a:r>
                <a14:m>
                  <m:oMath xmlns:m="http://schemas.openxmlformats.org/officeDocument/2006/math">
                    <m:r>
                      <a:rPr lang="en-US" sz="2400" b="1" i="1">
                        <a:latin typeface="Cambria Math" panose="02040503050406030204" pitchFamily="18" charset="0"/>
                      </a:rPr>
                      <m:t>=</m:t>
                    </m:r>
                    <m:r>
                      <a:rPr lang="en-US" sz="2400" b="1" i="1">
                        <a:latin typeface="Cambria Math" panose="02040503050406030204" pitchFamily="18" charset="0"/>
                      </a:rPr>
                      <m:t>𝟎</m:t>
                    </m:r>
                  </m:oMath>
                </a14:m>
                <a:r>
                  <a:rPr lang="en-US" sz="2400" b="1" dirty="0"/>
                  <a:t>   </a:t>
                </a:r>
                <a:endParaRPr lang="en-US" sz="2400" dirty="0"/>
              </a:p>
              <a:p>
                <a14:m>
                  <m:oMath xmlns:m="http://schemas.openxmlformats.org/officeDocument/2006/math">
                    <m:nary>
                      <m:naryPr>
                        <m:chr m:val="∑"/>
                        <m:limLoc m:val="undOvr"/>
                        <m:subHide m:val="on"/>
                        <m:supHide m:val="on"/>
                        <m:ctrlPr>
                          <a:rPr lang="en-US" sz="2400" b="1" i="1">
                            <a:latin typeface="Cambria Math" panose="02040503050406030204" pitchFamily="18" charset="0"/>
                          </a:rPr>
                        </m:ctrlPr>
                      </m:naryPr>
                      <m:sub/>
                      <m:sup/>
                      <m:e>
                        <m:sSub>
                          <m:sSubPr>
                            <m:ctrlPr>
                              <a:rPr lang="en-US" sz="2400" b="1"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𝐹</m:t>
                                </m:r>
                              </m:e>
                            </m:acc>
                          </m:e>
                          <m:sub>
                            <m:r>
                              <a:rPr lang="en-US" sz="2400" b="1" i="1">
                                <a:latin typeface="Cambria Math" panose="02040503050406030204" pitchFamily="18" charset="0"/>
                              </a:rPr>
                              <m:t>𝒚</m:t>
                            </m:r>
                            <m:r>
                              <a:rPr lang="en-US" sz="2400" b="1" i="1">
                                <a:latin typeface="Cambria Math" panose="02040503050406030204" pitchFamily="18" charset="0"/>
                              </a:rPr>
                              <m:t> </m:t>
                            </m:r>
                          </m:sub>
                        </m:sSub>
                      </m:e>
                    </m:nary>
                    <m:r>
                      <a:rPr lang="en-US" sz="2400" b="1" i="1">
                        <a:latin typeface="Cambria Math" panose="02040503050406030204" pitchFamily="18" charset="0"/>
                      </a:rPr>
                      <m:t>=</m:t>
                    </m:r>
                    <m:r>
                      <a:rPr lang="en-US" sz="2400" b="1" i="1">
                        <a:latin typeface="Cambria Math" panose="02040503050406030204" pitchFamily="18" charset="0"/>
                      </a:rPr>
                      <m:t>𝑵</m:t>
                    </m:r>
                    <m:r>
                      <a:rPr lang="en-US" sz="2400" b="1" i="1">
                        <a:latin typeface="Cambria Math" panose="02040503050406030204" pitchFamily="18" charset="0"/>
                      </a:rPr>
                      <m:t>−</m:t>
                    </m:r>
                    <m:r>
                      <a:rPr lang="en-US" sz="2400" b="1" i="1">
                        <a:latin typeface="Cambria Math" panose="02040503050406030204" pitchFamily="18" charset="0"/>
                      </a:rPr>
                      <m:t>𝒎𝒈</m:t>
                    </m:r>
                    <m:r>
                      <a:rPr lang="en-US" sz="2400" b="1" i="1">
                        <a:latin typeface="Cambria Math" panose="02040503050406030204" pitchFamily="18" charset="0"/>
                      </a:rPr>
                      <m:t>=</m:t>
                    </m:r>
                    <m:r>
                      <a:rPr lang="en-US" sz="2400" b="1" i="1">
                        <a:latin typeface="Cambria Math" panose="02040503050406030204" pitchFamily="18" charset="0"/>
                      </a:rPr>
                      <m:t>𝟎</m:t>
                    </m:r>
                    <m:r>
                      <a:rPr lang="en-US" b="1" i="1">
                        <a:latin typeface="Cambria Math" panose="02040503050406030204" pitchFamily="18" charset="0"/>
                      </a:rPr>
                      <m:t>∴</m:t>
                    </m:r>
                    <m:r>
                      <a:rPr lang="en-US" b="1" i="1">
                        <a:latin typeface="Cambria Math" panose="02040503050406030204" pitchFamily="18" charset="0"/>
                      </a:rPr>
                      <m:t>𝑵</m:t>
                    </m:r>
                    <m:r>
                      <a:rPr lang="en-US" b="1" i="1">
                        <a:latin typeface="Cambria Math" panose="02040503050406030204" pitchFamily="18" charset="0"/>
                      </a:rPr>
                      <m:t>=</m:t>
                    </m:r>
                    <m:r>
                      <a:rPr lang="en-US" b="1" i="1">
                        <a:latin typeface="Cambria Math" panose="02040503050406030204" pitchFamily="18" charset="0"/>
                      </a:rPr>
                      <m:t>𝒎𝒈</m:t>
                    </m:r>
                    <m:r>
                      <a:rPr lang="en-US" b="1" i="1" smtClean="0">
                        <a:latin typeface="Cambria Math" panose="02040503050406030204" pitchFamily="18" charset="0"/>
                      </a:rPr>
                      <m:t>        </m:t>
                    </m:r>
                  </m:oMath>
                </a14:m>
                <a:r>
                  <a:rPr lang="en-US" b="1" dirty="0">
                    <a:hlinkClick r:id="rId3">
                      <a:extLst>
                        <a:ext uri="{A12FA001-AC4F-418D-AE19-62706E023703}">
                          <ahyp:hlinkClr xmlns:ahyp="http://schemas.microsoft.com/office/drawing/2018/hyperlinkcolor" val="tx"/>
                        </a:ext>
                      </a:extLst>
                    </a:hlinkClick>
                  </a:rPr>
                  <a:t> </a:t>
                </a:r>
                <a:r>
                  <a:rPr lang="en-US" b="1" dirty="0">
                    <a:solidFill>
                      <a:srgbClr val="0000FF"/>
                    </a:solidFill>
                    <a:latin typeface="+mn-lt"/>
                    <a:hlinkClick r:id="rId3">
                      <a:extLst>
                        <a:ext uri="{A12FA001-AC4F-418D-AE19-62706E023703}">
                          <ahyp:hlinkClr xmlns:ahyp="http://schemas.microsoft.com/office/drawing/2018/hyperlinkcolor" val="tx"/>
                        </a:ext>
                      </a:extLst>
                    </a:hlinkClick>
                  </a:rPr>
                  <a:t>Weight and Normal Force Video</a:t>
                </a:r>
                <a:endParaRPr lang="en-US" b="1" dirty="0"/>
              </a:p>
            </p:txBody>
          </p:sp>
        </mc:Choice>
        <mc:Fallback xmlns="">
          <p:sp>
            <p:nvSpPr>
              <p:cNvPr id="9219" name="Text Placeholder 6"/>
              <p:cNvSpPr>
                <a:spLocks noGrp="1" noRot="1" noChangeAspect="1" noMove="1" noResize="1" noEditPoints="1" noAdjustHandles="1" noChangeArrowheads="1" noChangeShapeType="1" noTextEdit="1"/>
              </p:cNvSpPr>
              <p:nvPr>
                <p:ph type="body" sz="quarter" idx="14"/>
              </p:nvPr>
            </p:nvSpPr>
            <p:spPr>
              <a:xfrm>
                <a:off x="122151" y="3275630"/>
                <a:ext cx="8899695" cy="3285714"/>
              </a:xfrm>
              <a:blipFill>
                <a:blip r:embed="rId4"/>
                <a:stretch>
                  <a:fillRect l="-685" t="-928"/>
                </a:stretch>
              </a:blipFill>
            </p:spPr>
            <p:txBody>
              <a:bodyPr/>
              <a:lstStyle/>
              <a:p>
                <a:r>
                  <a:rPr lang="en-US">
                    <a:noFill/>
                  </a:rPr>
                  <a:t> </a:t>
                </a:r>
              </a:p>
            </p:txBody>
          </p:sp>
        </mc:Fallback>
      </mc:AlternateContent>
      <p:pic>
        <p:nvPicPr>
          <p:cNvPr id="6" name="Picture 5" descr="OpenStax logo">
            <a:extLst>
              <a:ext uri="{FF2B5EF4-FFF2-40B4-BE49-F238E27FC236}">
                <a16:creationId xmlns:a16="http://schemas.microsoft.com/office/drawing/2014/main" id="{ACFC0E9E-D26F-79A3-C549-E271C864E406}"/>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528817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pPr algn="ctr"/>
            <a:r>
              <a:rPr lang="en-US" sz="2800" dirty="0">
                <a:solidFill>
                  <a:schemeClr val="tx1"/>
                </a:solidFill>
              </a:rPr>
              <a:t>Is Normal force equal to Weight? </a:t>
            </a:r>
          </a:p>
        </p:txBody>
      </p:sp>
      <p:pic>
        <p:nvPicPr>
          <p:cNvPr id="2" name="Picture Placeholder 1" descr="Figure a shows a sled of 15 kg. An arrow labeled P pointing right and up forms an angle of 30 degrees with the horizontal. Figure b is a free body diagram with P, N pointing up and w pointing down. Figure c is a free body diagram with P, N, w and two components of P: Px pointing right and Py pointing up.&#10;&#10;"/>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5067" b="-25067"/>
          <a:stretch>
            <a:fillRect/>
          </a:stretch>
        </p:blipFill>
        <p:spPr/>
      </p:pic>
      <p:sp>
        <p:nvSpPr>
          <p:cNvPr id="7" name="Text Placeholder 6"/>
          <p:cNvSpPr>
            <a:spLocks noGrp="1"/>
          </p:cNvSpPr>
          <p:nvPr>
            <p:ph type="body" sz="quarter" idx="14"/>
          </p:nvPr>
        </p:nvSpPr>
        <p:spPr>
          <a:xfrm>
            <a:off x="457200" y="4843982"/>
            <a:ext cx="8062912" cy="1579120"/>
          </a:xfrm>
        </p:spPr>
        <p:txBody>
          <a:bodyPr>
            <a:normAutofit lnSpcReduction="10000"/>
          </a:bodyPr>
          <a:lstStyle/>
          <a:p>
            <a:pPr marL="457200" indent="-457200">
              <a:buClrTx/>
              <a:buFont typeface="+mj-lt"/>
              <a:buAutoNum type="alphaLcParenR"/>
            </a:pPr>
            <a:r>
              <a:rPr lang="en-US" sz="2400" b="1" dirty="0">
                <a:solidFill>
                  <a:schemeClr val="tx1"/>
                </a:solidFill>
              </a:rPr>
              <a:t>A moving sled is shown as (b) a free-body diagram and (c) a free-body diagram with force components.</a:t>
            </a:r>
          </a:p>
          <a:p>
            <a:r>
              <a:rPr lang="en-US" sz="2400" b="1" dirty="0">
                <a:solidFill>
                  <a:schemeClr val="tx1"/>
                </a:solidFill>
                <a:hlinkClick r:id="rId3"/>
              </a:rPr>
              <a:t>Normal Force Example # 1 Video</a:t>
            </a:r>
            <a:endParaRPr lang="en-US" sz="2400" b="1" dirty="0">
              <a:solidFill>
                <a:schemeClr val="tx1"/>
              </a:solidFill>
            </a:endParaRPr>
          </a:p>
        </p:txBody>
      </p:sp>
      <p:pic>
        <p:nvPicPr>
          <p:cNvPr id="6" name="Picture 5" descr="OpenStax logo">
            <a:extLst>
              <a:ext uri="{FF2B5EF4-FFF2-40B4-BE49-F238E27FC236}">
                <a16:creationId xmlns:a16="http://schemas.microsoft.com/office/drawing/2014/main" id="{B00F5FD8-304C-6B0E-BA2D-C9919B821F2B}"/>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23542114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22664"/>
            <a:ext cx="8062912" cy="659535"/>
          </a:xfrm>
        </p:spPr>
        <p:txBody>
          <a:bodyPr>
            <a:normAutofit/>
          </a:bodyPr>
          <a:lstStyle/>
          <a:p>
            <a:pPr algn="ctr"/>
            <a:r>
              <a:rPr lang="en-US" sz="2800" dirty="0">
                <a:solidFill>
                  <a:schemeClr val="tx1"/>
                </a:solidFill>
              </a:rPr>
              <a:t>An object rests on an incline</a:t>
            </a:r>
          </a:p>
        </p:txBody>
      </p:sp>
      <p:pic>
        <p:nvPicPr>
          <p:cNvPr id="2" name="Picture Placeholder 1" descr="Figure shows a point object on a slope of angle theta with the horizontal. Force w points vertically down from the point. Wx points down and parallel to the slope. Wy points down and perpendicular to the slope. The angle between w and wy is theta. The figure includes these equations: wx is equal to w sine theta is equal to mg sine theta, and wy is equal to w cos theta is equal to mg cos theta."/>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5596" b="-5596"/>
          <a:stretch>
            <a:fillRect/>
          </a:stretch>
        </p:blipFill>
        <p:spPr>
          <a:xfrm>
            <a:off x="2469386" y="782199"/>
            <a:ext cx="5552637" cy="2410373"/>
          </a:xfrm>
        </p:spPr>
      </p:pic>
      <p:sp>
        <p:nvSpPr>
          <p:cNvPr id="7" name="Text Placeholder 6"/>
          <p:cNvSpPr>
            <a:spLocks noGrp="1"/>
          </p:cNvSpPr>
          <p:nvPr>
            <p:ph type="body" sz="quarter" idx="14"/>
          </p:nvPr>
        </p:nvSpPr>
        <p:spPr>
          <a:xfrm>
            <a:off x="209823" y="3182842"/>
            <a:ext cx="8836155" cy="3552493"/>
          </a:xfrm>
        </p:spPr>
        <p:txBody>
          <a:bodyPr>
            <a:noAutofit/>
          </a:bodyPr>
          <a:lstStyle/>
          <a:p>
            <a:r>
              <a:rPr lang="en-US" b="1" dirty="0"/>
              <a:t> When an object rests on an incline that makes an angle θ with the horizontal, the force of gravity acting on the object is divided into two components: a force acting perpendicular to the plane, w</a:t>
            </a:r>
            <a:r>
              <a:rPr lang="en-US" b="1" baseline="-25000" dirty="0"/>
              <a:t>⊥</a:t>
            </a:r>
            <a:r>
              <a:rPr lang="en-US" b="1" dirty="0"/>
              <a:t> , and a force acting parallel to the plane, w</a:t>
            </a:r>
            <a:r>
              <a:rPr lang="en-US" b="1" baseline="-25000" dirty="0"/>
              <a:t>∥</a:t>
            </a:r>
            <a:r>
              <a:rPr lang="en-US" b="1" dirty="0"/>
              <a:t> . </a:t>
            </a:r>
          </a:p>
          <a:p>
            <a:r>
              <a:rPr lang="en-US" b="1" dirty="0"/>
              <a:t>The perpendicular force of weight, w</a:t>
            </a:r>
            <a:r>
              <a:rPr lang="en-US" b="1" baseline="-25000" dirty="0"/>
              <a:t>⊥</a:t>
            </a:r>
            <a:r>
              <a:rPr lang="en-US" b="1" dirty="0"/>
              <a:t> , is typically equal in magnitude and opposite in direction to the normal force, N. </a:t>
            </a:r>
          </a:p>
          <a:p>
            <a:r>
              <a:rPr lang="en-US" b="1" dirty="0"/>
              <a:t>The force acting parallel to the plane, w</a:t>
            </a:r>
            <a:r>
              <a:rPr lang="en-US" b="1" baseline="-25000" dirty="0"/>
              <a:t>∥</a:t>
            </a:r>
            <a:r>
              <a:rPr lang="en-US" b="1" dirty="0"/>
              <a:t> , causes the object to accelerate down the incline. </a:t>
            </a:r>
          </a:p>
          <a:p>
            <a:r>
              <a:rPr lang="en-US" b="1" dirty="0"/>
              <a:t>The force of friction, f, opposes the motion of the object, so it acts upward along the plane.</a:t>
            </a:r>
          </a:p>
        </p:txBody>
      </p:sp>
      <p:pic>
        <p:nvPicPr>
          <p:cNvPr id="6" name="Picture 5" descr="OpenStax logo">
            <a:extLst>
              <a:ext uri="{FF2B5EF4-FFF2-40B4-BE49-F238E27FC236}">
                <a16:creationId xmlns:a16="http://schemas.microsoft.com/office/drawing/2014/main" id="{685DD71C-3295-FDFC-39D7-7017CE0F1EA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4078882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1" y="100077"/>
            <a:ext cx="8062912" cy="659535"/>
          </a:xfrm>
        </p:spPr>
        <p:txBody>
          <a:bodyPr>
            <a:normAutofit/>
          </a:bodyPr>
          <a:lstStyle/>
          <a:p>
            <a:pPr algn="ctr"/>
            <a:r>
              <a:rPr lang="en-US" sz="2800" dirty="0">
                <a:solidFill>
                  <a:schemeClr val="tx1"/>
                </a:solidFill>
              </a:rPr>
              <a:t> Inclined SURFACE</a:t>
            </a:r>
          </a:p>
        </p:txBody>
      </p:sp>
      <p:pic>
        <p:nvPicPr>
          <p:cNvPr id="2" name="Picture Placeholder 1" descr=" SampleFBDs "/>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46607" b="-46607"/>
          <a:stretch>
            <a:fillRect/>
          </a:stretch>
        </p:blipFill>
        <p:spPr>
          <a:xfrm>
            <a:off x="457201" y="759612"/>
            <a:ext cx="8062913" cy="3500071"/>
          </a:xfrm>
        </p:spPr>
      </p:pic>
      <mc:AlternateContent xmlns:mc="http://schemas.openxmlformats.org/markup-compatibility/2006" xmlns:a14="http://schemas.microsoft.com/office/drawing/2010/main">
        <mc:Choice Requires="a14">
          <p:sp>
            <p:nvSpPr>
              <p:cNvPr id="7" name="Text Placeholder 6"/>
              <p:cNvSpPr>
                <a:spLocks noGrp="1"/>
              </p:cNvSpPr>
              <p:nvPr>
                <p:ph type="body" sz="quarter" idx="14"/>
              </p:nvPr>
            </p:nvSpPr>
            <p:spPr>
              <a:xfrm>
                <a:off x="150832" y="4259683"/>
                <a:ext cx="8675649" cy="2290511"/>
              </a:xfrm>
            </p:spPr>
            <p:txBody>
              <a:bodyPr>
                <a:noAutofit/>
              </a:bodyPr>
              <a:lstStyle/>
              <a:p>
                <a:r>
                  <a:rPr lang="en-US" sz="2400" b="1" dirty="0"/>
                  <a:t>In these free-body diagrams, </a:t>
                </a:r>
                <a14:m>
                  <m:oMath xmlns:m="http://schemas.openxmlformats.org/officeDocument/2006/math">
                    <m:acc>
                      <m:accPr>
                        <m:chr m:val="⃗"/>
                        <m:ctrlPr>
                          <a:rPr lang="en-US" sz="2400" b="1" i="1" smtClean="0">
                            <a:latin typeface="Cambria Math" panose="02040503050406030204" pitchFamily="18" charset="0"/>
                          </a:rPr>
                        </m:ctrlPr>
                      </m:accPr>
                      <m:e>
                        <m:r>
                          <a:rPr lang="en-US" sz="2400" b="1" i="0" smtClean="0">
                            <a:latin typeface="Cambria Math"/>
                          </a:rPr>
                          <m:t>𝐍</m:t>
                        </m:r>
                      </m:e>
                    </m:acc>
                    <m:r>
                      <a:rPr lang="en-US" sz="2400" b="1" i="1" smtClean="0">
                        <a:latin typeface="Cambria Math"/>
                      </a:rPr>
                      <m:t>  </m:t>
                    </m:r>
                  </m:oMath>
                </a14:m>
                <a:r>
                  <a:rPr lang="en-US" sz="2400" b="1" dirty="0"/>
                  <a:t>is the normal force, </a:t>
                </a:r>
                <a14:m>
                  <m:oMath xmlns:m="http://schemas.openxmlformats.org/officeDocument/2006/math">
                    <m:acc>
                      <m:accPr>
                        <m:chr m:val="⃗"/>
                        <m:ctrlPr>
                          <a:rPr lang="en-US" sz="2400" b="1" i="1">
                            <a:latin typeface="Cambria Math" panose="02040503050406030204" pitchFamily="18" charset="0"/>
                          </a:rPr>
                        </m:ctrlPr>
                      </m:accPr>
                      <m:e>
                        <m:r>
                          <a:rPr lang="en-US" sz="2400" b="1" i="0" smtClean="0">
                            <a:latin typeface="Cambria Math"/>
                          </a:rPr>
                          <m:t>𝐰</m:t>
                        </m:r>
                      </m:e>
                    </m:acc>
                    <m:r>
                      <a:rPr lang="en-US" sz="2400" b="1" i="1">
                        <a:latin typeface="Cambria Math"/>
                      </a:rPr>
                      <m:t> </m:t>
                    </m:r>
                  </m:oMath>
                </a14:m>
                <a:r>
                  <a:rPr lang="en-US" sz="2400" b="1" dirty="0"/>
                  <a:t> is the weight of the object, and </a:t>
                </a:r>
                <a14:m>
                  <m:oMath xmlns:m="http://schemas.openxmlformats.org/officeDocument/2006/math">
                    <m:acc>
                      <m:accPr>
                        <m:chr m:val="⃗"/>
                        <m:ctrlPr>
                          <a:rPr lang="en-US" sz="2400" b="1" i="1">
                            <a:latin typeface="Cambria Math" panose="02040503050406030204" pitchFamily="18" charset="0"/>
                          </a:rPr>
                        </m:ctrlPr>
                      </m:accPr>
                      <m:e>
                        <m:r>
                          <a:rPr lang="en-US" sz="2400" b="1" i="0" smtClean="0">
                            <a:latin typeface="Cambria Math"/>
                          </a:rPr>
                          <m:t>𝐟</m:t>
                        </m:r>
                      </m:e>
                    </m:acc>
                  </m:oMath>
                </a14:m>
                <a:r>
                  <a:rPr lang="en-US" sz="2400" b="1" dirty="0"/>
                  <a:t> is the friction.</a:t>
                </a:r>
              </a:p>
              <a:p>
                <a:r>
                  <a:rPr lang="en-US" sz="2400" b="1" dirty="0">
                    <a:hlinkClick r:id="rId3"/>
                  </a:rPr>
                  <a:t> Inclined Planes Video</a:t>
                </a:r>
                <a:endParaRPr lang="en-US" sz="2400" b="1" dirty="0"/>
              </a:p>
              <a:p>
                <a:r>
                  <a:rPr lang="en-US" sz="2400" b="1" dirty="0">
                    <a:hlinkClick r:id="rId4"/>
                  </a:rPr>
                  <a:t> Inclined Plane Example video</a:t>
                </a:r>
                <a:endParaRPr lang="en-US" sz="2400" b="1" dirty="0"/>
              </a:p>
              <a:p>
                <a:endParaRPr lang="en-US" sz="2800" b="1" dirty="0"/>
              </a:p>
            </p:txBody>
          </p:sp>
        </mc:Choice>
        <mc:Fallback xmlns="">
          <p:sp>
            <p:nvSpPr>
              <p:cNvPr id="7" name="Text Placeholder 6"/>
              <p:cNvSpPr>
                <a:spLocks noGrp="1" noRot="1" noChangeAspect="1" noMove="1" noResize="1" noEditPoints="1" noAdjustHandles="1" noChangeArrowheads="1" noChangeShapeType="1" noTextEdit="1"/>
              </p:cNvSpPr>
              <p:nvPr>
                <p:ph type="body" sz="quarter" idx="14"/>
              </p:nvPr>
            </p:nvSpPr>
            <p:spPr>
              <a:xfrm>
                <a:off x="150832" y="4259683"/>
                <a:ext cx="8675649" cy="2290511"/>
              </a:xfrm>
              <a:blipFill>
                <a:blip r:embed="rId5"/>
                <a:stretch>
                  <a:fillRect l="-1124"/>
                </a:stretch>
              </a:blipFill>
            </p:spPr>
            <p:txBody>
              <a:bodyPr/>
              <a:lstStyle/>
              <a:p>
                <a:r>
                  <a:rPr lang="en-US">
                    <a:noFill/>
                  </a:rPr>
                  <a:t> </a:t>
                </a:r>
              </a:p>
            </p:txBody>
          </p:sp>
        </mc:Fallback>
      </mc:AlternateContent>
      <p:pic>
        <p:nvPicPr>
          <p:cNvPr id="6" name="Picture 5" descr="OpenStax logo">
            <a:extLst>
              <a:ext uri="{FF2B5EF4-FFF2-40B4-BE49-F238E27FC236}">
                <a16:creationId xmlns:a16="http://schemas.microsoft.com/office/drawing/2014/main" id="{1FF9A79A-28D4-C157-C18D-7962CD5898A6}"/>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2591301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p:cNvSpPr>
            <a:spLocks noGrp="1"/>
          </p:cNvSpPr>
          <p:nvPr>
            <p:ph type="title"/>
          </p:nvPr>
        </p:nvSpPr>
        <p:spPr>
          <a:xfrm>
            <a:off x="72951" y="149731"/>
            <a:ext cx="8998098" cy="471530"/>
          </a:xfrm>
        </p:spPr>
        <p:txBody>
          <a:bodyPr>
            <a:noAutofit/>
          </a:bodyPr>
          <a:lstStyle/>
          <a:p>
            <a:pPr fontAlgn="auto">
              <a:spcAft>
                <a:spcPts val="0"/>
              </a:spcAft>
              <a:defRPr/>
            </a:pPr>
            <a:r>
              <a:rPr lang="en-US" sz="2800" b="1" dirty="0">
                <a:solidFill>
                  <a:schemeClr val="tx1"/>
                </a:solidFill>
              </a:rPr>
              <a:t>Weight on an Incline Example problem</a:t>
            </a:r>
            <a:endParaRPr lang="en-US" sz="2800" u="sng" dirty="0">
              <a:solidFill>
                <a:schemeClr val="tx1"/>
              </a:solidFill>
            </a:endParaRPr>
          </a:p>
        </p:txBody>
      </p:sp>
      <p:pic>
        <p:nvPicPr>
          <p:cNvPr id="2" name="Picture Placeholder 1" descr=" Skier on a slope."/>
          <p:cNvPicPr>
            <a:picLocks noGrp="1" noChangeAspect="1"/>
          </p:cNvPicPr>
          <p:nvPr>
            <p:ph type="pic" sz="quarter" idx="13"/>
          </p:nvPr>
        </p:nvPicPr>
        <p:blipFill>
          <a:blip r:embed="rId3" cstate="email">
            <a:extLst>
              <a:ext uri="{28A0092B-C50C-407E-A947-70E740481C1C}">
                <a14:useLocalDpi xmlns:a14="http://schemas.microsoft.com/office/drawing/2010/main" val="0"/>
              </a:ext>
            </a:extLst>
          </a:blip>
          <a:srcRect l="-4360" r="-4360"/>
          <a:stretch>
            <a:fillRect/>
          </a:stretch>
        </p:blipFill>
        <p:spPr>
          <a:xfrm>
            <a:off x="1633355" y="948582"/>
            <a:ext cx="6393372" cy="2775622"/>
          </a:xfrm>
        </p:spPr>
      </p:pic>
      <p:sp>
        <p:nvSpPr>
          <p:cNvPr id="9219" name="Text Placeholder 6"/>
          <p:cNvSpPr>
            <a:spLocks noGrp="1"/>
          </p:cNvSpPr>
          <p:nvPr>
            <p:ph type="body" sz="quarter" idx="14"/>
          </p:nvPr>
        </p:nvSpPr>
        <p:spPr>
          <a:xfrm>
            <a:off x="72951" y="4322159"/>
            <a:ext cx="8998098" cy="2113542"/>
          </a:xfrm>
        </p:spPr>
        <p:txBody>
          <a:bodyPr/>
          <a:lstStyle/>
          <a:p>
            <a:r>
              <a:rPr lang="en-US" sz="2400" b="1" dirty="0">
                <a:solidFill>
                  <a:schemeClr val="tx1"/>
                </a:solidFill>
              </a:rPr>
              <a:t>Consider the skier on a slope. Her mass including equipment is 60.0 kg. (a) What is her </a:t>
            </a:r>
            <a:r>
              <a:rPr lang="en-US" sz="2400" b="1" i="1" dirty="0">
                <a:solidFill>
                  <a:schemeClr val="tx1"/>
                </a:solidFill>
              </a:rPr>
              <a:t>acceleration</a:t>
            </a:r>
            <a:r>
              <a:rPr lang="en-US" sz="2400" b="1" dirty="0">
                <a:solidFill>
                  <a:schemeClr val="tx1"/>
                </a:solidFill>
              </a:rPr>
              <a:t> if friction is negligible? (b) What is her acceleration if </a:t>
            </a:r>
            <a:r>
              <a:rPr lang="en-US" sz="2400" b="1" i="1" dirty="0">
                <a:solidFill>
                  <a:schemeClr val="tx1"/>
                </a:solidFill>
              </a:rPr>
              <a:t>friction</a:t>
            </a:r>
            <a:r>
              <a:rPr lang="en-US" sz="2400" b="1" dirty="0">
                <a:solidFill>
                  <a:schemeClr val="tx1"/>
                </a:solidFill>
              </a:rPr>
              <a:t> is known to be 45.0 N?</a:t>
            </a:r>
          </a:p>
          <a:p>
            <a:r>
              <a:rPr lang="en-US" sz="2800" b="1" dirty="0">
                <a:solidFill>
                  <a:schemeClr val="tx1"/>
                </a:solidFill>
                <a:hlinkClick r:id="rId4"/>
              </a:rPr>
              <a:t> Click Here for Solution</a:t>
            </a:r>
            <a:endParaRPr lang="en-US" sz="2800" b="1" dirty="0">
              <a:solidFill>
                <a:schemeClr val="tx1"/>
              </a:solidFill>
            </a:endParaRPr>
          </a:p>
          <a:p>
            <a:endParaRPr lang="en-US" sz="2800" b="1" dirty="0">
              <a:solidFill>
                <a:schemeClr val="tx1"/>
              </a:solidFill>
            </a:endParaRPr>
          </a:p>
        </p:txBody>
      </p:sp>
      <p:pic>
        <p:nvPicPr>
          <p:cNvPr id="5" name="Picture 4" descr="OpenStax logo">
            <a:extLst>
              <a:ext uri="{FF2B5EF4-FFF2-40B4-BE49-F238E27FC236}">
                <a16:creationId xmlns:a16="http://schemas.microsoft.com/office/drawing/2014/main" id="{E7647245-D558-2FDC-0D04-24CB4F5E7511}"/>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59632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279206" y="23813"/>
            <a:ext cx="8697270" cy="850900"/>
          </a:xfrm>
        </p:spPr>
        <p:txBody>
          <a:bodyPr>
            <a:normAutofit/>
          </a:bodyPr>
          <a:lstStyle/>
          <a:p>
            <a:pPr algn="ctr"/>
            <a:r>
              <a:rPr lang="en-US" sz="2800" b="1" dirty="0">
                <a:solidFill>
                  <a:schemeClr val="tx1"/>
                </a:solidFill>
              </a:rPr>
              <a:t>TENSION FORCE</a:t>
            </a:r>
          </a:p>
        </p:txBody>
      </p:sp>
      <p:pic>
        <p:nvPicPr>
          <p:cNvPr id="2" name="Picture Placeholder 1" descr=" Mass hanging on a rope."/>
          <p:cNvPicPr>
            <a:picLocks noGrp="1" noChangeAspect="1"/>
          </p:cNvPicPr>
          <p:nvPr>
            <p:ph type="pic" sz="quarter" idx="4294967295"/>
          </p:nvPr>
        </p:nvPicPr>
        <p:blipFill>
          <a:blip r:embed="rId3" cstate="email">
            <a:extLst>
              <a:ext uri="{28A0092B-C50C-407E-A947-70E740481C1C}">
                <a14:useLocalDpi xmlns:a14="http://schemas.microsoft.com/office/drawing/2010/main" val="0"/>
              </a:ext>
            </a:extLst>
          </a:blip>
          <a:srcRect l="-3372" r="-3372"/>
          <a:stretch>
            <a:fillRect/>
          </a:stretch>
        </p:blipFill>
        <p:spPr>
          <a:xfrm>
            <a:off x="48862" y="874713"/>
            <a:ext cx="4032250" cy="5256213"/>
          </a:xfrm>
        </p:spPr>
      </p:pic>
      <p:sp>
        <p:nvSpPr>
          <p:cNvPr id="8195" name="Text Placeholder 13"/>
          <p:cNvSpPr>
            <a:spLocks noGrp="1"/>
          </p:cNvSpPr>
          <p:nvPr>
            <p:ph type="body" sz="quarter" idx="4294967295"/>
          </p:nvPr>
        </p:nvSpPr>
        <p:spPr>
          <a:xfrm>
            <a:off x="4634821" y="1152525"/>
            <a:ext cx="4341656" cy="5108672"/>
          </a:xfrm>
        </p:spPr>
        <p:txBody>
          <a:bodyPr/>
          <a:lstStyle/>
          <a:p>
            <a:pPr marL="0" indent="0">
              <a:lnSpc>
                <a:spcPts val="3000"/>
              </a:lnSpc>
              <a:buNone/>
            </a:pPr>
            <a:r>
              <a:rPr lang="en-US" b="1" dirty="0"/>
              <a:t>When a perfectly flexible connector (one requiring no force to bend it) such as this rope transmits a </a:t>
            </a:r>
            <a:r>
              <a:rPr lang="en-US" b="1" i="1" dirty="0"/>
              <a:t>tension force </a:t>
            </a:r>
            <a:r>
              <a:rPr lang="en-US" b="1" dirty="0"/>
              <a:t>T , that force must be </a:t>
            </a:r>
            <a:r>
              <a:rPr lang="en-US" b="1" i="1" dirty="0"/>
              <a:t>parallel</a:t>
            </a:r>
            <a:r>
              <a:rPr lang="en-US" b="1" dirty="0"/>
              <a:t> to the length of the rope. </a:t>
            </a:r>
          </a:p>
          <a:p>
            <a:pPr marL="0" indent="0">
              <a:lnSpc>
                <a:spcPts val="3000"/>
              </a:lnSpc>
              <a:buNone/>
            </a:pPr>
            <a:r>
              <a:rPr lang="en-US" b="1" dirty="0"/>
              <a:t>Note that the rope pulls with </a:t>
            </a:r>
            <a:r>
              <a:rPr lang="en-US" b="1" i="1" dirty="0"/>
              <a:t>equal</a:t>
            </a:r>
            <a:r>
              <a:rPr lang="en-US" b="1" dirty="0"/>
              <a:t> force but in </a:t>
            </a:r>
            <a:r>
              <a:rPr lang="en-US" b="1" i="1" dirty="0"/>
              <a:t>opposite</a:t>
            </a:r>
            <a:r>
              <a:rPr lang="en-US" b="1" dirty="0"/>
              <a:t> directions on the hand and the supported mass. This is an example of </a:t>
            </a:r>
            <a:r>
              <a:rPr lang="en-US" b="1" i="1" dirty="0"/>
              <a:t>Newton’s third law</a:t>
            </a:r>
            <a:r>
              <a:rPr lang="en-US" b="1" dirty="0"/>
              <a:t>. The tension anywhere in the rope between the hand and the mass is equal. </a:t>
            </a:r>
          </a:p>
        </p:txBody>
      </p:sp>
      <p:pic>
        <p:nvPicPr>
          <p:cNvPr id="5" name="Picture 4" descr="OpenStax logo">
            <a:extLst>
              <a:ext uri="{FF2B5EF4-FFF2-40B4-BE49-F238E27FC236}">
                <a16:creationId xmlns:a16="http://schemas.microsoft.com/office/drawing/2014/main" id="{B3621BC4-76AC-1051-AFAD-76DC47289B2F}"/>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41049950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78372" y="443242"/>
            <a:ext cx="8229600" cy="496887"/>
          </a:xfrm>
        </p:spPr>
        <p:txBody>
          <a:bodyPr>
            <a:normAutofit fontScale="90000"/>
          </a:bodyPr>
          <a:lstStyle/>
          <a:p>
            <a:pPr lvl="0" algn="ctr"/>
            <a:r>
              <a:rPr lang="en-US" sz="3200" b="1" kern="1200" dirty="0">
                <a:solidFill>
                  <a:schemeClr val="tx1"/>
                </a:solidFill>
              </a:rPr>
              <a:t>TENSION PROPERTIES</a:t>
            </a:r>
            <a:endParaRPr lang="en-US" dirty="0">
              <a:solidFill>
                <a:schemeClr val="tx1"/>
              </a:solidFill>
            </a:endParaRPr>
          </a:p>
        </p:txBody>
      </p:sp>
      <p:sp>
        <p:nvSpPr>
          <p:cNvPr id="61444" name="Text Box 5"/>
          <p:cNvSpPr txBox="1">
            <a:spLocks noChangeArrowheads="1"/>
          </p:cNvSpPr>
          <p:nvPr/>
        </p:nvSpPr>
        <p:spPr bwMode="auto">
          <a:xfrm>
            <a:off x="811072" y="1626925"/>
            <a:ext cx="7521856" cy="3016210"/>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effectLst/>
                <a:uLnTx/>
                <a:uFillTx/>
                <a:ea typeface="+mn-ea"/>
                <a:cs typeface="+mn-cs"/>
              </a:rPr>
              <a:t>This is the force exerted by a rope or a cable attached to an object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effectLst/>
                <a:uLnTx/>
                <a:uFillTx/>
                <a:ea typeface="+mn-ea"/>
                <a:cs typeface="+mn-cs"/>
              </a:rPr>
              <a:t>Tension has the following characteristics</a:t>
            </a:r>
            <a:r>
              <a:rPr kumimoji="0" lang="en-US" sz="2200" b="1" i="0" u="none" strike="noStrike" kern="1200" cap="none" spc="0" normalizeH="0" baseline="0" noProof="0" dirty="0">
                <a:ln>
                  <a:noFill/>
                </a:ln>
                <a:effectLst/>
                <a:uLnTx/>
                <a:uFillTx/>
                <a:ea typeface="+mn-ea"/>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dirty="0">
                <a:ln>
                  <a:noFill/>
                </a:ln>
                <a:effectLst/>
                <a:uLnTx/>
                <a:uFillTx/>
                <a:ea typeface="+mn-ea"/>
                <a:cs typeface="+mn-cs"/>
              </a:rPr>
              <a:t> </a:t>
            </a:r>
            <a:r>
              <a:rPr kumimoji="0" lang="en-US" sz="2400" b="1" i="0" u="none" strike="noStrike" kern="1200" cap="none" spc="0" normalizeH="0" baseline="0" noProof="0" dirty="0">
                <a:ln>
                  <a:noFill/>
                </a:ln>
                <a:effectLst/>
                <a:uLnTx/>
                <a:uFillTx/>
                <a:ea typeface="+mn-ea"/>
                <a:cs typeface="+mn-cs"/>
              </a:rPr>
              <a:t>1.  It is always directed along the rope.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effectLst/>
                <a:uLnTx/>
                <a:uFillTx/>
                <a:ea typeface="+mn-ea"/>
                <a:cs typeface="+mn-cs"/>
              </a:rPr>
              <a:t> 2.  It is always pulling the object.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effectLst/>
                <a:uLnTx/>
                <a:uFillTx/>
                <a:ea typeface="+mn-ea"/>
                <a:cs typeface="+mn-cs"/>
              </a:rPr>
              <a:t> 3.  It has the same value along the rope (for example, between points </a:t>
            </a:r>
            <a:r>
              <a:rPr kumimoji="0" lang="en-US" sz="2400" b="1" i="1" u="none" strike="noStrike" kern="1200" cap="none" spc="0" normalizeH="0" baseline="0" noProof="0" dirty="0">
                <a:ln>
                  <a:noFill/>
                </a:ln>
                <a:effectLst/>
                <a:uLnTx/>
                <a:uFillTx/>
                <a:ea typeface="+mn-ea"/>
                <a:cs typeface="+mn-cs"/>
              </a:rPr>
              <a:t>A</a:t>
            </a:r>
            <a:r>
              <a:rPr kumimoji="0" lang="en-US" sz="2400" b="1" i="0" u="none" strike="noStrike" kern="1200" cap="none" spc="0" normalizeH="0" baseline="0" noProof="0" dirty="0">
                <a:ln>
                  <a:noFill/>
                </a:ln>
                <a:effectLst/>
                <a:uLnTx/>
                <a:uFillTx/>
                <a:ea typeface="+mn-ea"/>
                <a:cs typeface="+mn-cs"/>
              </a:rPr>
              <a:t> and </a:t>
            </a:r>
            <a:r>
              <a:rPr kumimoji="0" lang="en-US" sz="2400" b="1" i="1" u="none" strike="noStrike" kern="1200" cap="none" spc="0" normalizeH="0" baseline="0" noProof="0" dirty="0">
                <a:ln>
                  <a:noFill/>
                </a:ln>
                <a:effectLst/>
                <a:uLnTx/>
                <a:uFillTx/>
                <a:ea typeface="+mn-ea"/>
                <a:cs typeface="+mn-cs"/>
              </a:rPr>
              <a:t>B</a:t>
            </a:r>
            <a:r>
              <a:rPr kumimoji="0" lang="en-US" sz="2400" b="1" i="0" u="none" strike="noStrike" kern="1200" cap="none" spc="0" normalizeH="0" baseline="0" noProof="0" dirty="0">
                <a:ln>
                  <a:noFill/>
                </a:ln>
                <a:effectLst/>
                <a:uLnTx/>
                <a:uFillTx/>
                <a:ea typeface="+mn-ea"/>
                <a:cs typeface="+mn-cs"/>
              </a:rPr>
              <a:t>).</a:t>
            </a:r>
            <a:endParaRPr kumimoji="0" lang="en-US" sz="2200" b="1" i="0" u="none" strike="noStrike" kern="1200" cap="none" spc="0" normalizeH="0" baseline="0" noProof="0" dirty="0">
              <a:ln>
                <a:noFill/>
              </a:ln>
              <a:effectLst/>
              <a:uLnTx/>
              <a:uFillTx/>
              <a:ea typeface="+mn-ea"/>
              <a:cs typeface="+mn-cs"/>
            </a:endParaRPr>
          </a:p>
        </p:txBody>
      </p:sp>
      <p:pic>
        <p:nvPicPr>
          <p:cNvPr id="3" name="Picture 2" descr="Raji K Physics Logo">
            <a:extLst>
              <a:ext uri="{FF2B5EF4-FFF2-40B4-BE49-F238E27FC236}">
                <a16:creationId xmlns:a16="http://schemas.microsoft.com/office/drawing/2014/main" id="{7382AF26-F9A3-4942-FB49-267A09E00FB9}"/>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4439462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242712" y="0"/>
            <a:ext cx="8229600" cy="673827"/>
          </a:xfrm>
        </p:spPr>
        <p:txBody>
          <a:bodyPr>
            <a:normAutofit/>
          </a:bodyPr>
          <a:lstStyle/>
          <a:p>
            <a:pPr algn="ctr"/>
            <a:r>
              <a:rPr lang="en-US" sz="2800" b="1" dirty="0">
                <a:solidFill>
                  <a:schemeClr val="tx1"/>
                </a:solidFill>
              </a:rPr>
              <a:t>CALCULATE THE TENSION</a:t>
            </a:r>
            <a:endParaRPr lang="en-US" sz="2800" dirty="0"/>
          </a:p>
        </p:txBody>
      </p:sp>
      <p:pic>
        <p:nvPicPr>
          <p:cNvPr id="2" name="Picture Placeholder 1" descr=" Tightrope walker "/>
          <p:cNvPicPr>
            <a:picLocks noGrp="1" noChangeAspect="1"/>
          </p:cNvPicPr>
          <p:nvPr>
            <p:ph type="pic" sz="quarter" idx="4294967295"/>
          </p:nvPr>
        </p:nvPicPr>
        <p:blipFill>
          <a:blip r:embed="rId3" cstate="email">
            <a:extLst>
              <a:ext uri="{28A0092B-C50C-407E-A947-70E740481C1C}">
                <a14:useLocalDpi xmlns:a14="http://schemas.microsoft.com/office/drawing/2010/main" val="0"/>
              </a:ext>
            </a:extLst>
          </a:blip>
          <a:srcRect l="-9888" r="-9888"/>
          <a:stretch>
            <a:fillRect/>
          </a:stretch>
        </p:blipFill>
        <p:spPr>
          <a:xfrm>
            <a:off x="492743" y="673827"/>
            <a:ext cx="8062913" cy="2855912"/>
          </a:xfrm>
        </p:spPr>
      </p:pic>
      <p:sp>
        <p:nvSpPr>
          <p:cNvPr id="9219" name="Text Placeholder 6"/>
          <p:cNvSpPr>
            <a:spLocks noGrp="1"/>
          </p:cNvSpPr>
          <p:nvPr>
            <p:ph type="body" sz="quarter" idx="4294967295"/>
          </p:nvPr>
        </p:nvSpPr>
        <p:spPr>
          <a:xfrm>
            <a:off x="123630" y="4045458"/>
            <a:ext cx="8922647" cy="2669449"/>
          </a:xfrm>
        </p:spPr>
        <p:txBody>
          <a:bodyPr/>
          <a:lstStyle/>
          <a:p>
            <a:pPr marL="0" indent="0">
              <a:buNone/>
            </a:pPr>
            <a:r>
              <a:rPr lang="en-US" sz="2400" b="1" dirty="0">
                <a:solidFill>
                  <a:schemeClr val="tx1"/>
                </a:solidFill>
              </a:rPr>
              <a:t>The weight of a tightrope walker causes a wire to sag by 5.0 degrees. The system of interest here is the point in the wire at which the tightrope walker is standing. Calculate the tension in the wire supporting the 70.0-kg tightrope walker. </a:t>
            </a:r>
          </a:p>
          <a:p>
            <a:pPr marL="0" indent="0">
              <a:buNone/>
            </a:pPr>
            <a:r>
              <a:rPr lang="en-US" sz="2400" b="1" dirty="0">
                <a:solidFill>
                  <a:schemeClr val="tx1"/>
                </a:solidFill>
              </a:rPr>
              <a:t>See next slide for FBD</a:t>
            </a:r>
          </a:p>
          <a:p>
            <a:pPr marL="0" indent="0">
              <a:buNone/>
            </a:pPr>
            <a:r>
              <a:rPr lang="en-US" sz="2800" b="1" dirty="0">
                <a:solidFill>
                  <a:schemeClr val="tx1"/>
                </a:solidFill>
                <a:hlinkClick r:id="rId4">
                  <a:extLst>
                    <a:ext uri="{A12FA001-AC4F-418D-AE19-62706E023703}">
                      <ahyp:hlinkClr xmlns:ahyp="http://schemas.microsoft.com/office/drawing/2018/hyperlinkcolor" val="tx"/>
                    </a:ext>
                  </a:extLst>
                </a:hlinkClick>
              </a:rPr>
              <a:t> </a:t>
            </a:r>
            <a:r>
              <a:rPr lang="en-US" sz="2400" b="1" dirty="0">
                <a:solidFill>
                  <a:srgbClr val="0000FF"/>
                </a:solidFill>
                <a:hlinkClick r:id="rId4">
                  <a:extLst>
                    <a:ext uri="{A12FA001-AC4F-418D-AE19-62706E023703}">
                      <ahyp:hlinkClr xmlns:ahyp="http://schemas.microsoft.com/office/drawing/2018/hyperlinkcolor" val="tx"/>
                    </a:ext>
                  </a:extLst>
                </a:hlinkClick>
              </a:rPr>
              <a:t>Click Here for Solution</a:t>
            </a:r>
            <a:endParaRPr lang="en-US" sz="2400" b="1" dirty="0">
              <a:solidFill>
                <a:srgbClr val="0000FF"/>
              </a:solidFill>
            </a:endParaRPr>
          </a:p>
        </p:txBody>
      </p:sp>
      <p:pic>
        <p:nvPicPr>
          <p:cNvPr id="5" name="Picture 4" descr="OpenStax logo">
            <a:extLst>
              <a:ext uri="{FF2B5EF4-FFF2-40B4-BE49-F238E27FC236}">
                <a16:creationId xmlns:a16="http://schemas.microsoft.com/office/drawing/2014/main" id="{924029BA-42E1-8C1D-84D0-7B116D72AE4F}"/>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69331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0" y="33338"/>
            <a:ext cx="8932862" cy="714375"/>
          </a:xfrm>
        </p:spPr>
        <p:txBody>
          <a:bodyPr>
            <a:normAutofit/>
          </a:bodyPr>
          <a:lstStyle/>
          <a:p>
            <a:pPr algn="ctr"/>
            <a:r>
              <a:rPr lang="en-US" sz="2800" b="1" dirty="0">
                <a:solidFill>
                  <a:schemeClr val="tx1"/>
                </a:solidFill>
              </a:rPr>
              <a:t>Calculate the tension-FBD</a:t>
            </a:r>
            <a:endParaRPr lang="en-US" sz="2800" dirty="0"/>
          </a:p>
        </p:txBody>
      </p:sp>
      <p:pic>
        <p:nvPicPr>
          <p:cNvPr id="2" name="Picture Placeholder 1" descr=" Calculate the tension-FBD"/>
          <p:cNvPicPr>
            <a:picLocks noGrp="1" noChangeAspect="1"/>
          </p:cNvPicPr>
          <p:nvPr>
            <p:ph type="pic" sz="quarter" idx="4294967295"/>
          </p:nvPr>
        </p:nvPicPr>
        <p:blipFill>
          <a:blip r:embed="rId3" cstate="email">
            <a:extLst>
              <a:ext uri="{28A0092B-C50C-407E-A947-70E740481C1C}">
                <a14:useLocalDpi xmlns:a14="http://schemas.microsoft.com/office/drawing/2010/main" val="0"/>
              </a:ext>
            </a:extLst>
          </a:blip>
          <a:srcRect t="-12284" b="-12284"/>
          <a:stretch>
            <a:fillRect/>
          </a:stretch>
        </p:blipFill>
        <p:spPr>
          <a:xfrm>
            <a:off x="993416" y="866666"/>
            <a:ext cx="7313803" cy="3175218"/>
          </a:xfrm>
        </p:spPr>
      </p:pic>
      <p:sp>
        <p:nvSpPr>
          <p:cNvPr id="9219" name="Text Placeholder 6"/>
          <p:cNvSpPr>
            <a:spLocks noGrp="1"/>
          </p:cNvSpPr>
          <p:nvPr>
            <p:ph type="body" sz="quarter" idx="4294967295"/>
          </p:nvPr>
        </p:nvSpPr>
        <p:spPr>
          <a:xfrm>
            <a:off x="320653" y="4613130"/>
            <a:ext cx="8291555" cy="1857472"/>
          </a:xfrm>
        </p:spPr>
        <p:txBody>
          <a:bodyPr/>
          <a:lstStyle/>
          <a:p>
            <a:r>
              <a:rPr lang="en-US" sz="2400" b="1" dirty="0">
                <a:solidFill>
                  <a:schemeClr val="tx1"/>
                </a:solidFill>
              </a:rPr>
              <a:t>When the vectors are projected onto vertical and horizontal axes, their components along those axes must add to zero, since the tightrope walker is stationary. The small angle results in T being much greater than the weight, w </a:t>
            </a:r>
            <a:r>
              <a:rPr lang="en-US" sz="2800" b="1" dirty="0">
                <a:solidFill>
                  <a:schemeClr val="tx1"/>
                </a:solidFill>
              </a:rPr>
              <a:t>.</a:t>
            </a:r>
          </a:p>
        </p:txBody>
      </p:sp>
      <p:pic>
        <p:nvPicPr>
          <p:cNvPr id="5" name="Picture 4" descr="OpenStax logo">
            <a:extLst>
              <a:ext uri="{FF2B5EF4-FFF2-40B4-BE49-F238E27FC236}">
                <a16:creationId xmlns:a16="http://schemas.microsoft.com/office/drawing/2014/main" id="{7CE7B222-4110-9612-4250-76429ED013C7}"/>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2081625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EA677-EEE7-4424-AFD4-D4671D3A7D5C}"/>
              </a:ext>
            </a:extLst>
          </p:cNvPr>
          <p:cNvSpPr>
            <a:spLocks noGrp="1"/>
          </p:cNvSpPr>
          <p:nvPr>
            <p:ph type="title" idx="4294967295"/>
          </p:nvPr>
        </p:nvSpPr>
        <p:spPr>
          <a:xfrm>
            <a:off x="0" y="274638"/>
            <a:ext cx="9053258" cy="1143000"/>
          </a:xfrm>
        </p:spPr>
        <p:txBody>
          <a:bodyPr/>
          <a:lstStyle/>
          <a:p>
            <a:pPr algn="ctr"/>
            <a:r>
              <a:rPr lang="en-US" sz="3200" b="1" dirty="0">
                <a:solidFill>
                  <a:schemeClr val="tx1"/>
                </a:solidFill>
              </a:rPr>
              <a:t>DIFFERENT TENSIONS AT DIFFERENT ANGLES</a:t>
            </a:r>
          </a:p>
        </p:txBody>
      </p:sp>
      <p:sp>
        <p:nvSpPr>
          <p:cNvPr id="3" name="Content Placeholder 2">
            <a:extLst>
              <a:ext uri="{FF2B5EF4-FFF2-40B4-BE49-F238E27FC236}">
                <a16:creationId xmlns:a16="http://schemas.microsoft.com/office/drawing/2014/main" id="{B99D5424-D685-4A11-8256-793BBB6BE991}"/>
              </a:ext>
            </a:extLst>
          </p:cNvPr>
          <p:cNvSpPr>
            <a:spLocks noGrp="1"/>
          </p:cNvSpPr>
          <p:nvPr>
            <p:ph idx="4294967295"/>
          </p:nvPr>
        </p:nvSpPr>
        <p:spPr>
          <a:xfrm>
            <a:off x="355600" y="1821821"/>
            <a:ext cx="8432800" cy="2641988"/>
          </a:xfrm>
        </p:spPr>
        <p:txBody>
          <a:bodyPr/>
          <a:lstStyle/>
          <a:p>
            <a:pPr marL="0" indent="0">
              <a:buNone/>
            </a:pPr>
            <a:r>
              <a:rPr lang="en-US" sz="2800" b="1" dirty="0"/>
              <a:t>Consider the traffic light (mass of 15.0 kg) suspended from two wires as shown in </a:t>
            </a:r>
            <a:r>
              <a:rPr lang="en-US" sz="2800" b="1" dirty="0">
                <a:solidFill>
                  <a:srgbClr val="0000FF"/>
                </a:solidFill>
                <a:hlinkClick r:id="rId2">
                  <a:extLst>
                    <a:ext uri="{A12FA001-AC4F-418D-AE19-62706E023703}">
                      <ahyp:hlinkClr xmlns:ahyp="http://schemas.microsoft.com/office/drawing/2018/hyperlinkcolor" val="tx"/>
                    </a:ext>
                  </a:extLst>
                </a:hlinkClick>
              </a:rPr>
              <a:t>Figure 6.3.</a:t>
            </a:r>
            <a:r>
              <a:rPr lang="en-US" sz="2800" b="1" dirty="0">
                <a:solidFill>
                  <a:srgbClr val="0000FF"/>
                </a:solidFill>
              </a:rPr>
              <a:t> </a:t>
            </a:r>
            <a:r>
              <a:rPr lang="en-US" sz="2800" b="1" dirty="0"/>
              <a:t>Find the tension in each wire, neglecting the masses of the wires.</a:t>
            </a:r>
          </a:p>
          <a:p>
            <a:pPr marL="0" indent="0">
              <a:buNone/>
            </a:pPr>
            <a:r>
              <a:rPr lang="en-US" sz="2800" b="1" dirty="0">
                <a:solidFill>
                  <a:srgbClr val="0000FF"/>
                </a:solidFill>
                <a:hlinkClick r:id="rId2">
                  <a:extLst>
                    <a:ext uri="{A12FA001-AC4F-418D-AE19-62706E023703}">
                      <ahyp:hlinkClr xmlns:ahyp="http://schemas.microsoft.com/office/drawing/2018/hyperlinkcolor" val="tx"/>
                    </a:ext>
                  </a:extLst>
                </a:hlinkClick>
              </a:rPr>
              <a:t> Click Here for solution</a:t>
            </a:r>
            <a:endParaRPr lang="en-US" sz="2800" b="1" dirty="0">
              <a:solidFill>
                <a:srgbClr val="0000FF"/>
              </a:solidFill>
            </a:endParaRPr>
          </a:p>
          <a:p>
            <a:endParaRPr lang="en-US" dirty="0"/>
          </a:p>
        </p:txBody>
      </p:sp>
      <p:pic>
        <p:nvPicPr>
          <p:cNvPr id="4" name="Picture 3" descr="OpenStax logo">
            <a:extLst>
              <a:ext uri="{FF2B5EF4-FFF2-40B4-BE49-F238E27FC236}">
                <a16:creationId xmlns:a16="http://schemas.microsoft.com/office/drawing/2014/main" id="{2994AF46-0998-256F-CC5A-103993FF107D}"/>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871585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a:xfrm>
            <a:off x="457993" y="164305"/>
            <a:ext cx="8062913" cy="658813"/>
          </a:xfrm>
        </p:spPr>
        <p:txBody>
          <a:bodyPr/>
          <a:lstStyle/>
          <a:p>
            <a:pPr algn="ctr" fontAlgn="auto">
              <a:spcAft>
                <a:spcPts val="0"/>
              </a:spcAft>
              <a:defRPr/>
            </a:pPr>
            <a:r>
              <a:rPr lang="en-US" dirty="0"/>
              <a:t> </a:t>
            </a:r>
            <a:r>
              <a:rPr lang="en-US" sz="2800" dirty="0">
                <a:solidFill>
                  <a:schemeClr val="tx1"/>
                </a:solidFill>
              </a:rPr>
              <a:t>Solution Problem 6.3</a:t>
            </a:r>
          </a:p>
        </p:txBody>
      </p:sp>
      <p:pic>
        <p:nvPicPr>
          <p:cNvPr id="2" name="Picture Placeholder 1" descr=" A sketch of a traffic light suspended from two wires supported by two poles is shown. (b) Some forces are shown in this system. Tension T sub one pulling the top of the left-hand pole is shown by the vector arrow along the left wire from the top of the pole, and an equal but opposite tension T sub one is shown by the arrow pointing up along the left-hand wire where it is attached to the light; the left-hand wire makes a thirty-degree angle with the horizontal. Tension T sub two is shown by a vector arrow pointing downward from the top of the right-hand pole along the right-hand wire, and an equal but opposite tension T sub two is shown by the arrow pointing up along the right-hand wire, which makes a forty-five degree angle with the horizontal. The traffic light is suspended at the lower end of the wires, and its weight W is shown by a vector arrow acting downward. (c) The traffic light is the system of interest, indicated by circling the traffic light. Tension T sub one starting from the traffic light is shown by an arrow along the wire making an angle of thirty degrees with the horizontal. Tension T sub two starting from the traffic light is shown by an arrow along the wire making an angle of forty-five degrees with the horizontal. The weight W is shown by a vector arrow pointing downward from the traffic light. A free-body diagram is shown with three forces acting on a point. Weight W acts downward; T sub one and T sub two act at an angle with the vertical. A coordinate system is shown, with positive x to the right and positive y upward. (d) Forces are shown with their components. T sub one is decomposed into T sub one y pointing vertically upward and T sub one x pointing along the negative x direction. The angle between T sub one and T sub one x is thirty degrees. T sub two is decomposed into T sub two y pointing vertically upward and T sub two x pointing along the positive x direction. The angle between T sub two and T sub two x is forty five degrees. Weight W is shown by a vector arrow acting downward. (e) The net vertical force is zero, so the vector equation is T sub one y plus T sub two y equals W. T sub one y and T sub two y are shown on a free body diagram as equal length arrows pointing up. W is shown as a downward pointing arrow whose length is twice as long as each of the T sub one y and T sub two y arrows. The net horizontal force is zero, so vector T sub one x is equal to minus vector T sub two x. T sub two x is shown by an arrow pointing toward the right, and T sub one x is shown by an arrow pointing toward the left."/>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552" r="-1552"/>
          <a:stretch>
            <a:fillRect/>
          </a:stretch>
        </p:blipFill>
        <p:spPr>
          <a:xfrm>
            <a:off x="457200" y="1108075"/>
            <a:ext cx="4032250" cy="5256213"/>
          </a:xfrm>
        </p:spPr>
      </p:pic>
      <p:sp>
        <p:nvSpPr>
          <p:cNvPr id="8195" name="Text Placeholder 13"/>
          <p:cNvSpPr>
            <a:spLocks noGrp="1"/>
          </p:cNvSpPr>
          <p:nvPr>
            <p:ph type="body" sz="quarter" idx="14"/>
          </p:nvPr>
        </p:nvSpPr>
        <p:spPr>
          <a:xfrm>
            <a:off x="5082710" y="1241890"/>
            <a:ext cx="3913188" cy="5256213"/>
          </a:xfrm>
        </p:spPr>
        <p:txBody>
          <a:bodyPr/>
          <a:lstStyle/>
          <a:p>
            <a:pPr marL="342900" indent="-342900">
              <a:buClrTx/>
              <a:buFont typeface="+mj-lt"/>
              <a:buAutoNum type="alphaLcParenR"/>
            </a:pPr>
            <a:r>
              <a:rPr lang="en-US" sz="1600" b="1" dirty="0">
                <a:solidFill>
                  <a:schemeClr val="tx1"/>
                </a:solidFill>
              </a:rPr>
              <a:t>A traffic light is suspended from two wires.</a:t>
            </a:r>
          </a:p>
          <a:p>
            <a:pPr marL="342900" indent="-342900">
              <a:buClrTx/>
              <a:buFont typeface="+mj-lt"/>
              <a:buAutoNum type="alphaLcParenR"/>
            </a:pPr>
            <a:r>
              <a:rPr lang="en-US" sz="1600" b="1" dirty="0">
                <a:solidFill>
                  <a:schemeClr val="tx1"/>
                </a:solidFill>
              </a:rPr>
              <a:t>Some of the forces involved.</a:t>
            </a:r>
          </a:p>
          <a:p>
            <a:pPr marL="342900" indent="-342900">
              <a:buClrTx/>
              <a:buFont typeface="+mj-lt"/>
              <a:buAutoNum type="alphaLcParenR"/>
            </a:pPr>
            <a:r>
              <a:rPr lang="en-US" sz="1600" b="1" dirty="0">
                <a:solidFill>
                  <a:schemeClr val="tx1"/>
                </a:solidFill>
              </a:rPr>
              <a:t>Only forces acting on the system are shown here. The free-body diagram for the traffic light is also shown.</a:t>
            </a:r>
          </a:p>
          <a:p>
            <a:pPr marL="342900" indent="-342900">
              <a:buClrTx/>
              <a:buFont typeface="+mj-lt"/>
              <a:buAutoNum type="alphaLcParenR"/>
            </a:pPr>
            <a:r>
              <a:rPr lang="en-US" sz="1600" b="1" dirty="0">
                <a:solidFill>
                  <a:schemeClr val="tx1"/>
                </a:solidFill>
              </a:rPr>
              <a:t>The forces projected onto vertical (</a:t>
            </a:r>
            <a:r>
              <a:rPr lang="en-US" sz="1600" b="1" i="1" dirty="0">
                <a:solidFill>
                  <a:schemeClr val="tx1"/>
                </a:solidFill>
              </a:rPr>
              <a:t>y</a:t>
            </a:r>
            <a:r>
              <a:rPr lang="en-US" sz="1600" b="1" dirty="0">
                <a:solidFill>
                  <a:schemeClr val="tx1"/>
                </a:solidFill>
              </a:rPr>
              <a:t>) and horizontal (</a:t>
            </a:r>
            <a:r>
              <a:rPr lang="en-US" sz="1600" b="1" i="1" dirty="0">
                <a:solidFill>
                  <a:schemeClr val="tx1"/>
                </a:solidFill>
              </a:rPr>
              <a:t>x</a:t>
            </a:r>
            <a:r>
              <a:rPr lang="en-US" sz="1600" b="1" dirty="0">
                <a:solidFill>
                  <a:schemeClr val="tx1"/>
                </a:solidFill>
              </a:rPr>
              <a:t>) axes. The horizontal components of the tensions must cancel, and the sum of the vertical components of the tensions must equal the weight of the traffic light.</a:t>
            </a:r>
          </a:p>
          <a:p>
            <a:pPr marL="342900" indent="-342900">
              <a:buClrTx/>
              <a:buFont typeface="+mj-lt"/>
              <a:buAutoNum type="alphaLcParenR"/>
            </a:pPr>
            <a:r>
              <a:rPr lang="en-US" sz="1600" b="1" dirty="0">
                <a:solidFill>
                  <a:schemeClr val="tx1"/>
                </a:solidFill>
              </a:rPr>
              <a:t> The free-body diagram shows the vertical and horizontal forces acting on the traffic light.</a:t>
            </a:r>
          </a:p>
        </p:txBody>
      </p:sp>
      <p:pic>
        <p:nvPicPr>
          <p:cNvPr id="6" name="Picture 5" descr="OpenStax logo">
            <a:extLst>
              <a:ext uri="{FF2B5EF4-FFF2-40B4-BE49-F238E27FC236}">
                <a16:creationId xmlns:a16="http://schemas.microsoft.com/office/drawing/2014/main" id="{D52D5C30-F93C-C618-03E5-1B39D055FB30}"/>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8630238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3F4E-5CFE-412C-B91F-F3563AFFE66E}"/>
              </a:ext>
            </a:extLst>
          </p:cNvPr>
          <p:cNvSpPr>
            <a:spLocks noGrp="1"/>
          </p:cNvSpPr>
          <p:nvPr>
            <p:ph type="title"/>
          </p:nvPr>
        </p:nvSpPr>
        <p:spPr/>
        <p:txBody>
          <a:bodyPr>
            <a:normAutofit/>
          </a:bodyPr>
          <a:lstStyle/>
          <a:p>
            <a:pPr algn="ctr"/>
            <a:r>
              <a:rPr lang="en-US" sz="2800" dirty="0">
                <a:solidFill>
                  <a:schemeClr val="tx1"/>
                </a:solidFill>
              </a:rPr>
              <a:t>Chapter 5 Review</a:t>
            </a:r>
          </a:p>
        </p:txBody>
      </p:sp>
      <p:sp>
        <p:nvSpPr>
          <p:cNvPr id="4" name="Text Placeholder 3">
            <a:extLst>
              <a:ext uri="{FF2B5EF4-FFF2-40B4-BE49-F238E27FC236}">
                <a16:creationId xmlns:a16="http://schemas.microsoft.com/office/drawing/2014/main" id="{8ACF2BEB-4CD7-4206-AF5F-C4652726325D}"/>
              </a:ext>
            </a:extLst>
          </p:cNvPr>
          <p:cNvSpPr>
            <a:spLocks noGrp="1"/>
          </p:cNvSpPr>
          <p:nvPr>
            <p:ph type="body" sz="quarter" idx="14"/>
          </p:nvPr>
        </p:nvSpPr>
        <p:spPr>
          <a:xfrm>
            <a:off x="457200" y="1277296"/>
            <a:ext cx="8062912" cy="3370904"/>
          </a:xfrm>
        </p:spPr>
        <p:txBody>
          <a:bodyPr>
            <a:normAutofit/>
          </a:bodyPr>
          <a:lstStyle/>
          <a:p>
            <a:r>
              <a:rPr lang="en-US" sz="3000" b="1" dirty="0"/>
              <a:t> </a:t>
            </a:r>
            <a:r>
              <a:rPr lang="en-US" sz="2800" dirty="0"/>
              <a:t> </a:t>
            </a:r>
          </a:p>
          <a:p>
            <a:r>
              <a:rPr lang="en-US" sz="2400" dirty="0"/>
              <a:t> </a:t>
            </a:r>
            <a:endParaRPr kumimoji="0" lang="en-US" altLang="en-US" sz="2800" b="1" i="0" u="none" strike="noStrike" cap="none" normalizeH="0" baseline="0" dirty="0">
              <a:ln>
                <a:noFill/>
              </a:ln>
              <a:solidFill>
                <a:srgbClr val="3333FF"/>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
                <a:srgbClr val="0000FF"/>
              </a:buClr>
              <a:buSzTx/>
              <a:buFont typeface="Arial" panose="020B0604020202020204" pitchFamily="34" charset="0"/>
              <a:buChar char="•"/>
              <a:tabLst/>
            </a:pPr>
            <a:r>
              <a:rPr kumimoji="0" lang="en-US" altLang="en-US" sz="2800" b="1" i="0" u="none" strike="noStrike" cap="none" normalizeH="0" baseline="0">
                <a:ln>
                  <a:noFill/>
                </a:ln>
                <a:solidFill>
                  <a:schemeClr val="tx1"/>
                </a:solidFill>
                <a:effectLst/>
                <a:latin typeface="Arial" panose="020B0604020202020204" pitchFamily="34" charset="0"/>
                <a:hlinkClick r:id="rId2"/>
              </a:rPr>
              <a:t>Key </a:t>
            </a:r>
            <a:r>
              <a:rPr kumimoji="0" lang="en-US" altLang="en-US" sz="2800" b="1" i="0" u="none" strike="noStrike" cap="none" normalizeH="0" baseline="0" dirty="0">
                <a:ln>
                  <a:noFill/>
                </a:ln>
                <a:solidFill>
                  <a:schemeClr val="tx1"/>
                </a:solidFill>
                <a:effectLst/>
                <a:latin typeface="Arial" panose="020B0604020202020204" pitchFamily="34" charset="0"/>
                <a:hlinkClick r:id="rId2"/>
              </a:rPr>
              <a:t>Terms</a:t>
            </a: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
                <a:srgbClr val="0000FF"/>
              </a:buClr>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Arial" panose="020B0604020202020204" pitchFamily="34" charset="0"/>
                <a:hlinkClick r:id="rId3"/>
              </a:rPr>
              <a:t>Key Equations</a:t>
            </a: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
                <a:srgbClr val="0000FF"/>
              </a:buClr>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Arial" panose="020B0604020202020204" pitchFamily="34" charset="0"/>
                <a:hlinkClick r:id="rId4"/>
              </a:rPr>
              <a:t>Summary</a:t>
            </a:r>
            <a:r>
              <a:rPr kumimoji="0" lang="en-US" altLang="en-US" sz="2800" b="1"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50000"/>
              </a:lnSpc>
              <a:spcBef>
                <a:spcPct val="0"/>
              </a:spcBef>
              <a:spcAft>
                <a:spcPct val="0"/>
              </a:spcAft>
              <a:buClr>
                <a:srgbClr val="0000FF"/>
              </a:buClr>
              <a:buSzTx/>
              <a:buFont typeface="Arial" panose="020B0604020202020204" pitchFamily="34" charset="0"/>
              <a:buChar char="•"/>
              <a:tabLst/>
            </a:pPr>
            <a:endParaRPr kumimoji="0" lang="en-US" altLang="en-US" sz="2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800" b="1" i="0" u="none" strike="noStrike" cap="none" normalizeH="0" baseline="0" dirty="0">
              <a:ln>
                <a:noFill/>
              </a:ln>
              <a:solidFill>
                <a:srgbClr val="3333FF"/>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800" b="1" i="0" u="none" strike="noStrike" cap="none" normalizeH="0" baseline="0" dirty="0">
              <a:ln>
                <a:noFill/>
              </a:ln>
              <a:solidFill>
                <a:srgbClr val="3333FF"/>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800" b="1" i="0" u="none" strike="noStrike" cap="none" normalizeH="0" baseline="0" dirty="0">
              <a:ln>
                <a:noFill/>
              </a:ln>
              <a:solidFill>
                <a:srgbClr val="3333FF"/>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
                <a:srgbClr val="0066FF"/>
              </a:buClr>
              <a:buSzTx/>
              <a:buFontTx/>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a:buClrTx/>
              <a:buFont typeface="+mj-lt"/>
              <a:buAutoNum type="arabicPeriod"/>
            </a:pPr>
            <a:endParaRPr lang="en-US" sz="2800" b="1" dirty="0">
              <a:solidFill>
                <a:srgbClr val="3333FF"/>
              </a:solidFill>
            </a:endParaRPr>
          </a:p>
          <a:p>
            <a:endParaRPr lang="en-US" sz="3000" b="1" dirty="0"/>
          </a:p>
          <a:p>
            <a:endParaRPr lang="en-US" dirty="0"/>
          </a:p>
        </p:txBody>
      </p:sp>
      <p:pic>
        <p:nvPicPr>
          <p:cNvPr id="3" name="Picture 2" descr="Raji K Physics Logo">
            <a:extLst>
              <a:ext uri="{FF2B5EF4-FFF2-40B4-BE49-F238E27FC236}">
                <a16:creationId xmlns:a16="http://schemas.microsoft.com/office/drawing/2014/main" id="{3D52324D-814C-EC58-2832-46BC06D4E257}"/>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41759395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2.xml><?xml version="1.0" encoding="utf-8"?>
<a:theme xmlns:a="http://schemas.openxmlformats.org/drawingml/2006/main" name="1_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3.xml><?xml version="1.0" encoding="utf-8"?>
<a:theme xmlns:a="http://schemas.openxmlformats.org/drawingml/2006/main" name="2_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4.xml><?xml version="1.0" encoding="utf-8"?>
<a:theme xmlns:a="http://schemas.openxmlformats.org/drawingml/2006/main" name="3_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5.xml><?xml version="1.0" encoding="utf-8"?>
<a:theme xmlns:a="http://schemas.openxmlformats.org/drawingml/2006/main" name="4_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6.xml><?xml version="1.0" encoding="utf-8"?>
<a:theme xmlns:a="http://schemas.openxmlformats.org/drawingml/2006/main" name="6_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7fa5be20-dc39-4186-a780-7e1bcec99d18}" enabled="1" method="Standard" siteId="{c5063431-d7f2-48db-ac62-eaeaa2e0bffc}" removed="0"/>
</clbl:labelList>
</file>

<file path=docProps/app.xml><?xml version="1.0" encoding="utf-8"?>
<Properties xmlns="http://schemas.openxmlformats.org/officeDocument/2006/extended-properties" xmlns:vt="http://schemas.openxmlformats.org/officeDocument/2006/docPropsVTypes">
  <Template/>
  <TotalTime>6090</TotalTime>
  <Words>2566</Words>
  <Application>Microsoft Office PowerPoint</Application>
  <PresentationFormat>On-screen Show (4:3)</PresentationFormat>
  <Paragraphs>223</Paragraphs>
  <Slides>37</Slides>
  <Notes>11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37</vt:i4>
      </vt:variant>
    </vt:vector>
  </HeadingPairs>
  <TitlesOfParts>
    <vt:vector size="51" baseType="lpstr">
      <vt:lpstr>Arial</vt:lpstr>
      <vt:lpstr>Arial Black</vt:lpstr>
      <vt:lpstr>Calibri</vt:lpstr>
      <vt:lpstr>Cambria Math</vt:lpstr>
      <vt:lpstr>Canva Sans</vt:lpstr>
      <vt:lpstr>Glacial Indifference Bold</vt:lpstr>
      <vt:lpstr>Times New Roman</vt:lpstr>
      <vt:lpstr>Wingdings</vt:lpstr>
      <vt:lpstr>Essential</vt:lpstr>
      <vt:lpstr>1_Essential</vt:lpstr>
      <vt:lpstr>2_Essential</vt:lpstr>
      <vt:lpstr>3_Essential</vt:lpstr>
      <vt:lpstr>4_Essential</vt:lpstr>
      <vt:lpstr>6_Essential</vt:lpstr>
      <vt:lpstr>UNIVERSITY PHYSICS I Lecture Slides  CHAPTERS 5 NEWTON’S LAWS OF MOTION</vt:lpstr>
      <vt:lpstr>CHAPTERS 5 NEWTON’S LAWS OF MOTION</vt:lpstr>
      <vt:lpstr> forces acting on the bridge</vt:lpstr>
      <vt:lpstr>Introduction</vt:lpstr>
      <vt:lpstr> Isaac Newton</vt:lpstr>
      <vt:lpstr> Dynamics</vt:lpstr>
      <vt:lpstr>Inertia</vt:lpstr>
      <vt:lpstr>air hockey table</vt:lpstr>
      <vt:lpstr>NET FORCE</vt:lpstr>
      <vt:lpstr>Net force and equilibrium </vt:lpstr>
      <vt:lpstr>APPLYING Newton’s First Law  to A Car </vt:lpstr>
      <vt:lpstr>  Newton’s First Law of Motion</vt:lpstr>
      <vt:lpstr>Newton’s Second  Law of Motion</vt:lpstr>
      <vt:lpstr>Force</vt:lpstr>
      <vt:lpstr>WEIGHT</vt:lpstr>
      <vt:lpstr> FORCE, MASS and acceleration</vt:lpstr>
      <vt:lpstr>Acceleration on a Lawn Mower </vt:lpstr>
      <vt:lpstr>Which Force Is Bigger?</vt:lpstr>
      <vt:lpstr>  Several Forces on a Particle</vt:lpstr>
      <vt:lpstr>Newton’s Third Law of Motion</vt:lpstr>
      <vt:lpstr>Newton’s Third Law Example</vt:lpstr>
      <vt:lpstr> EXAMPLES OF Newton’s Third Law of Motion</vt:lpstr>
      <vt:lpstr>PROBLEM SOLVING TIPS- NEWTON’S SECOND LAW OF MOTION</vt:lpstr>
      <vt:lpstr>Problem-solving strategy for equilibrium situations</vt:lpstr>
      <vt:lpstr>  Problem-solving strategy for  dynamics situations</vt:lpstr>
      <vt:lpstr>Normal Force</vt:lpstr>
      <vt:lpstr>Is Normal force equal to Weight? </vt:lpstr>
      <vt:lpstr>An object rests on an incline</vt:lpstr>
      <vt:lpstr> Inclined SURFACE</vt:lpstr>
      <vt:lpstr>Weight on an Incline Example problem</vt:lpstr>
      <vt:lpstr>TENSION FORCE</vt:lpstr>
      <vt:lpstr>TENSION PROPERTIES</vt:lpstr>
      <vt:lpstr>CALCULATE THE TENSION</vt:lpstr>
      <vt:lpstr>Calculate the tension-FBD</vt:lpstr>
      <vt:lpstr>DIFFERENT TENSIONS AT DIFFERENT ANGLES</vt:lpstr>
      <vt:lpstr> Solution Problem 6.3</vt:lpstr>
      <vt:lpstr>Chapter 5 Review</vt:lpstr>
    </vt:vector>
  </TitlesOfParts>
  <Company>WNI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Dr. Raji Kannampuzha</dc:creator>
  <cp:lastModifiedBy>Dr.Raji</cp:lastModifiedBy>
  <cp:revision>167</cp:revision>
  <dcterms:created xsi:type="dcterms:W3CDTF">2012-06-04T02:13:36Z</dcterms:created>
  <dcterms:modified xsi:type="dcterms:W3CDTF">2025-10-24T04:43:28Z</dcterms:modified>
</cp:coreProperties>
</file>